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47"/>
  </p:notesMasterIdLst>
  <p:handoutMasterIdLst>
    <p:handoutMasterId r:id="rId48"/>
  </p:handoutMasterIdLst>
  <p:sldIdLst>
    <p:sldId id="828" r:id="rId2"/>
    <p:sldId id="829" r:id="rId3"/>
    <p:sldId id="830" r:id="rId4"/>
    <p:sldId id="831" r:id="rId5"/>
    <p:sldId id="832" r:id="rId6"/>
    <p:sldId id="833" r:id="rId7"/>
    <p:sldId id="834" r:id="rId8"/>
    <p:sldId id="835" r:id="rId9"/>
    <p:sldId id="836" r:id="rId10"/>
    <p:sldId id="837" r:id="rId11"/>
    <p:sldId id="838" r:id="rId12"/>
    <p:sldId id="839" r:id="rId13"/>
    <p:sldId id="840" r:id="rId14"/>
    <p:sldId id="841" r:id="rId15"/>
    <p:sldId id="842" r:id="rId16"/>
    <p:sldId id="843" r:id="rId17"/>
    <p:sldId id="844" r:id="rId18"/>
    <p:sldId id="845" r:id="rId19"/>
    <p:sldId id="846" r:id="rId20"/>
    <p:sldId id="847" r:id="rId21"/>
    <p:sldId id="848" r:id="rId22"/>
    <p:sldId id="849" r:id="rId23"/>
    <p:sldId id="850" r:id="rId24"/>
    <p:sldId id="851" r:id="rId25"/>
    <p:sldId id="852" r:id="rId26"/>
    <p:sldId id="853" r:id="rId27"/>
    <p:sldId id="854" r:id="rId28"/>
    <p:sldId id="855" r:id="rId29"/>
    <p:sldId id="856" r:id="rId30"/>
    <p:sldId id="857" r:id="rId31"/>
    <p:sldId id="858" r:id="rId32"/>
    <p:sldId id="859" r:id="rId33"/>
    <p:sldId id="860" r:id="rId34"/>
    <p:sldId id="861" r:id="rId35"/>
    <p:sldId id="862" r:id="rId36"/>
    <p:sldId id="863" r:id="rId37"/>
    <p:sldId id="864" r:id="rId38"/>
    <p:sldId id="865" r:id="rId39"/>
    <p:sldId id="866" r:id="rId40"/>
    <p:sldId id="867" r:id="rId41"/>
    <p:sldId id="868" r:id="rId42"/>
    <p:sldId id="869" r:id="rId43"/>
    <p:sldId id="870" r:id="rId44"/>
    <p:sldId id="871" r:id="rId45"/>
    <p:sldId id="872" r:id="rId46"/>
  </p:sldIdLst>
  <p:sldSz cx="9144000" cy="5143500" type="screen16x9"/>
  <p:notesSz cx="7315200" cy="9601200"/>
  <p:custDataLst>
    <p:tags r:id="rId49"/>
  </p:custDataLst>
  <p:defaultTextStyle>
    <a:defPPr>
      <a:defRPr lang="en-US"/>
    </a:defPPr>
    <a:lvl1pPr marL="0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46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91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837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783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729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674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620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566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B7B11E-8D73-4F65-9FA8-CE9239B5D45B}">
          <p14:sldIdLst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36"/>
            <p14:sldId id="837"/>
            <p14:sldId id="838"/>
            <p14:sldId id="839"/>
            <p14:sldId id="840"/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861"/>
            <p14:sldId id="862"/>
            <p14:sldId id="863"/>
            <p14:sldId id="864"/>
            <p14:sldId id="865"/>
            <p14:sldId id="866"/>
            <p14:sldId id="867"/>
            <p14:sldId id="868"/>
            <p14:sldId id="869"/>
            <p14:sldId id="870"/>
            <p14:sldId id="871"/>
            <p14:sldId id="8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39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5" pos="5759" userDrawn="1">
          <p15:clr>
            <a:srgbClr val="A4A3A4"/>
          </p15:clr>
        </p15:guide>
        <p15:guide id="6" userDrawn="1">
          <p15:clr>
            <a:srgbClr val="A4A3A4"/>
          </p15:clr>
        </p15:guide>
        <p15:guide id="7" pos="5526" userDrawn="1">
          <p15:clr>
            <a:srgbClr val="A4A3A4"/>
          </p15:clr>
        </p15:guide>
        <p15:guide id="8" pos="2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ebra Wanamaker" initials="DW" lastIdx="78" clrIdx="0"/>
  <p:cmAuthor id="1" name="Melinda Breitmeyer" initials="MB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AFF"/>
    <a:srgbClr val="CDDDEF"/>
    <a:srgbClr val="C1E3FF"/>
    <a:srgbClr val="C5E5FF"/>
    <a:srgbClr val="B3DDFF"/>
    <a:srgbClr val="DDEEFF"/>
    <a:srgbClr val="E1F0FF"/>
    <a:srgbClr val="D6E8FE"/>
    <a:srgbClr val="DDF7FF"/>
    <a:srgbClr val="61AB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953" autoAdjust="0"/>
    <p:restoredTop sz="95392" autoAdjust="0"/>
  </p:normalViewPr>
  <p:slideViewPr>
    <p:cSldViewPr snapToGrid="0" snapToObjects="1" showGuides="1">
      <p:cViewPr varScale="1">
        <p:scale>
          <a:sx n="169" d="100"/>
          <a:sy n="169" d="100"/>
        </p:scale>
        <p:origin x="579" y="53"/>
      </p:cViewPr>
      <p:guideLst>
        <p:guide orient="horz" pos="3239"/>
        <p:guide orient="horz"/>
        <p:guide pos="5759"/>
        <p:guide/>
        <p:guide pos="5526"/>
        <p:guide pos="237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9426"/>
    </p:cViewPr>
  </p:sorterViewPr>
  <p:notesViewPr>
    <p:cSldViewPr snapToGrid="0" snapToObjects="1" showGuides="1">
      <p:cViewPr varScale="1">
        <p:scale>
          <a:sx n="77" d="100"/>
          <a:sy n="77" d="100"/>
        </p:scale>
        <p:origin x="2034" y="11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475" cy="479403"/>
          </a:xfrm>
          <a:prstGeom prst="rect">
            <a:avLst/>
          </a:prstGeom>
        </p:spPr>
        <p:txBody>
          <a:bodyPr vert="horz" lIns="95069" tIns="47534" rIns="95069" bIns="4753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065" y="0"/>
            <a:ext cx="3170475" cy="479403"/>
          </a:xfrm>
          <a:prstGeom prst="rect">
            <a:avLst/>
          </a:prstGeom>
        </p:spPr>
        <p:txBody>
          <a:bodyPr vert="horz" lIns="95069" tIns="47534" rIns="95069" bIns="47534" rtlCol="0"/>
          <a:lstStyle>
            <a:lvl1pPr algn="r">
              <a:defRPr sz="1200"/>
            </a:lvl1pPr>
          </a:lstStyle>
          <a:p>
            <a:fld id="{C3F06587-74EA-41E5-80DF-91513B9D691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56"/>
            <a:ext cx="3170475" cy="479403"/>
          </a:xfrm>
          <a:prstGeom prst="rect">
            <a:avLst/>
          </a:prstGeom>
        </p:spPr>
        <p:txBody>
          <a:bodyPr vert="horz" lIns="95069" tIns="47534" rIns="95069" bIns="4753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065" y="9120156"/>
            <a:ext cx="3170475" cy="479403"/>
          </a:xfrm>
          <a:prstGeom prst="rect">
            <a:avLst/>
          </a:prstGeom>
        </p:spPr>
        <p:txBody>
          <a:bodyPr vert="horz" lIns="95069" tIns="47534" rIns="95069" bIns="47534" rtlCol="0" anchor="b"/>
          <a:lstStyle>
            <a:lvl1pPr algn="r">
              <a:defRPr sz="1200"/>
            </a:lvl1pPr>
          </a:lstStyle>
          <a:p>
            <a:fld id="{8541475C-F4C2-400F-B720-6A0D5898F3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097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2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200"/>
            </a:lvl1pPr>
          </a:lstStyle>
          <a:p>
            <a:fld id="{892CCC08-F30F-4692-908C-45BF9095BEA2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200"/>
            </a:lvl1pPr>
          </a:lstStyle>
          <a:p>
            <a:fld id="{55786D4B-7A59-43F1-AF76-928D0ACC90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7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46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91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837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783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729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674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620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566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127ED34-A4A8-9D2B-74FF-6F1F419A21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BD53D-DAA8-4375-8D31-5BBC824121E7}" type="slidenum">
              <a:rPr lang="ko-KR" altLang="en-US"/>
              <a:pPr/>
              <a:t>1</a:t>
            </a:fld>
            <a:endParaRPr lang="en-US" altLang="ko-KR"/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7E9D1589-7131-DC02-86EF-5F13B05C0C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D8AFEF34-5EDE-10BA-7C68-7B1A19A60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80EDFE7-D9B6-353F-25A6-482B321737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1F3DFB-C8D2-41F4-8F5B-684513370B43}" type="slidenum">
              <a:rPr lang="ko-KR" altLang="en-US"/>
              <a:pPr/>
              <a:t>2</a:t>
            </a:fld>
            <a:endParaRPr lang="en-US" altLang="ko-KR"/>
          </a:p>
        </p:txBody>
      </p:sp>
      <p:sp>
        <p:nvSpPr>
          <p:cNvPr id="165890" name="Rectangle 2">
            <a:extLst>
              <a:ext uri="{FF2B5EF4-FFF2-40B4-BE49-F238E27FC236}">
                <a16:creationId xmlns:a16="http://schemas.microsoft.com/office/drawing/2014/main" id="{19526A64-1550-4D80-CEBD-81527572C8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E2774C27-DF6C-3FD5-C1FE-2697A7CB9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F2C9D3D-E024-33B1-8E65-D2B580681D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E987CC-C2C5-4A1D-A2B4-F242822938F1}" type="slidenum">
              <a:rPr lang="ko-KR" altLang="en-US"/>
              <a:pPr/>
              <a:t>3</a:t>
            </a:fld>
            <a:endParaRPr lang="en-US" altLang="ko-KR"/>
          </a:p>
        </p:txBody>
      </p:sp>
      <p:sp>
        <p:nvSpPr>
          <p:cNvPr id="166914" name="Rectangle 2">
            <a:extLst>
              <a:ext uri="{FF2B5EF4-FFF2-40B4-BE49-F238E27FC236}">
                <a16:creationId xmlns:a16="http://schemas.microsoft.com/office/drawing/2014/main" id="{F0FD0714-16C7-8808-6F74-D1E5FFBF18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35FB1641-B5AF-156A-0E39-5F5045F795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8DB129E-70F8-EB75-A436-4D8B523DB0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F10F75-1DD7-4BFD-9731-5A0AB0C57D15}" type="slidenum">
              <a:rPr lang="ko-KR" altLang="en-US"/>
              <a:pPr/>
              <a:t>4</a:t>
            </a:fld>
            <a:endParaRPr lang="en-US" altLang="ko-KR"/>
          </a:p>
        </p:txBody>
      </p:sp>
      <p:sp>
        <p:nvSpPr>
          <p:cNvPr id="167938" name="Rectangle 2">
            <a:extLst>
              <a:ext uri="{FF2B5EF4-FFF2-40B4-BE49-F238E27FC236}">
                <a16:creationId xmlns:a16="http://schemas.microsoft.com/office/drawing/2014/main" id="{C7F11C9D-83DE-7D46-6545-136087F21F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7FEF82C0-1C4B-7020-3D26-B9F7CC5982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40B1FFF-8670-32B6-53D6-5A69415900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7F6536-DB69-4DCF-8C4B-FFEB18DC0858}" type="slidenum">
              <a:rPr lang="ko-KR" altLang="en-US"/>
              <a:pPr/>
              <a:t>5</a:t>
            </a:fld>
            <a:endParaRPr lang="en-US" altLang="ko-KR"/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D98BF4A2-26B8-B26B-32F2-7AADC382E9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2089567E-9B9D-3FA8-8BB9-6B0B0D859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0C2D443-29A0-C1BB-7463-0E4C31700A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A3886A-FCB8-4045-964B-EDA13480EAC1}" type="slidenum">
              <a:rPr lang="ko-KR" altLang="en-US"/>
              <a:pPr/>
              <a:t>6</a:t>
            </a:fld>
            <a:endParaRPr lang="en-US" altLang="ko-KR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D309607F-A5CD-7026-F1A4-121A709965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141AFEDD-5F59-6771-43FB-E5D71AA16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C82915-DA2A-E3BF-26B4-FE23C39FE5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2505EB-4069-4593-B23B-B1FF5036326A}" type="slidenum">
              <a:rPr lang="ko-KR" altLang="en-US"/>
              <a:pPr/>
              <a:t>7</a:t>
            </a:fld>
            <a:endParaRPr lang="en-US" altLang="ko-KR"/>
          </a:p>
        </p:txBody>
      </p:sp>
      <p:sp>
        <p:nvSpPr>
          <p:cNvPr id="171010" name="Rectangle 2">
            <a:extLst>
              <a:ext uri="{FF2B5EF4-FFF2-40B4-BE49-F238E27FC236}">
                <a16:creationId xmlns:a16="http://schemas.microsoft.com/office/drawing/2014/main" id="{88C6BD40-B323-9E82-7312-DC43B9D711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93C29DD4-1240-29D5-1C37-AE95A1FE0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A6D87AA-5BD4-4D7C-246C-D845E1F48B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298790-1F8E-4719-BEC3-75DF68BBF0C4}" type="slidenum">
              <a:rPr lang="ko-KR" altLang="en-US"/>
              <a:pPr/>
              <a:t>8</a:t>
            </a:fld>
            <a:endParaRPr lang="en-US" altLang="ko-KR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4E5FC833-10C5-6B53-F241-A88C93E48F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54CC33A6-98C9-6D5A-0C0C-6182025234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F02969E-BC12-C9C1-9E29-6E1BC5CEC7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0799CE-0387-4ECE-871C-44E65FA5AC58}" type="slidenum">
              <a:rPr lang="ko-KR" altLang="en-US"/>
              <a:pPr/>
              <a:t>9</a:t>
            </a:fld>
            <a:endParaRPr lang="en-US" altLang="ko-KR"/>
          </a:p>
        </p:txBody>
      </p:sp>
      <p:sp>
        <p:nvSpPr>
          <p:cNvPr id="174082" name="Rectangle 2">
            <a:extLst>
              <a:ext uri="{FF2B5EF4-FFF2-40B4-BE49-F238E27FC236}">
                <a16:creationId xmlns:a16="http://schemas.microsoft.com/office/drawing/2014/main" id="{3D3D8490-7179-3D45-F484-DD16A4F28D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EB634DD6-E78F-81A4-06AD-5E4583E98A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028080C-6A7F-2EEB-C0F7-EC30D765AD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2FA40E-5529-4A03-89F3-0C318D171528}" type="slidenum">
              <a:rPr lang="ko-KR" altLang="en-US"/>
              <a:pPr/>
              <a:t>10</a:t>
            </a:fld>
            <a:endParaRPr lang="en-US" altLang="ko-KR"/>
          </a:p>
        </p:txBody>
      </p:sp>
      <p:sp>
        <p:nvSpPr>
          <p:cNvPr id="175106" name="Rectangle 2">
            <a:extLst>
              <a:ext uri="{FF2B5EF4-FFF2-40B4-BE49-F238E27FC236}">
                <a16:creationId xmlns:a16="http://schemas.microsoft.com/office/drawing/2014/main" id="{7BA28677-6751-5C44-205B-7214DF0C07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E03FDD5A-E946-FB54-6C1F-74BA94C46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E68DF5F-C2A6-9633-E785-8F97E610F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EA90D-2488-4160-837D-525966B245F0}" type="slidenum">
              <a:rPr lang="ko-KR" altLang="en-US"/>
              <a:pPr/>
              <a:t>11</a:t>
            </a:fld>
            <a:endParaRPr lang="en-US" altLang="ko-KR"/>
          </a:p>
        </p:txBody>
      </p:sp>
      <p:sp>
        <p:nvSpPr>
          <p:cNvPr id="176130" name="Rectangle 2">
            <a:extLst>
              <a:ext uri="{FF2B5EF4-FFF2-40B4-BE49-F238E27FC236}">
                <a16:creationId xmlns:a16="http://schemas.microsoft.com/office/drawing/2014/main" id="{3463D08B-6D4F-E76D-3E58-76476D8DC5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15E919E-F6B5-2985-FFC7-D427DA6BE4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E20E306-D86A-BC37-8BDA-808B1D07C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3DC297-E005-437E-86E2-20A1747891EA}" type="slidenum">
              <a:rPr lang="ko-KR" altLang="en-US"/>
              <a:pPr/>
              <a:t>12</a:t>
            </a:fld>
            <a:endParaRPr lang="en-US" altLang="ko-KR"/>
          </a:p>
        </p:txBody>
      </p:sp>
      <p:sp>
        <p:nvSpPr>
          <p:cNvPr id="177154" name="Rectangle 2">
            <a:extLst>
              <a:ext uri="{FF2B5EF4-FFF2-40B4-BE49-F238E27FC236}">
                <a16:creationId xmlns:a16="http://schemas.microsoft.com/office/drawing/2014/main" id="{3236A220-B085-C290-E69E-CA6A0A997F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FBAFA922-602A-F581-6CA2-CC0ECBA5C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28EB38D-7350-9259-3699-3C5943DDDD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3D735F-2564-4A8C-BE4A-C6D1548A7EF0}" type="slidenum">
              <a:rPr lang="ko-KR" altLang="en-US"/>
              <a:pPr/>
              <a:t>13</a:t>
            </a:fld>
            <a:endParaRPr lang="en-US" altLang="ko-KR"/>
          </a:p>
        </p:txBody>
      </p:sp>
      <p:sp>
        <p:nvSpPr>
          <p:cNvPr id="178178" name="Rectangle 2">
            <a:extLst>
              <a:ext uri="{FF2B5EF4-FFF2-40B4-BE49-F238E27FC236}">
                <a16:creationId xmlns:a16="http://schemas.microsoft.com/office/drawing/2014/main" id="{0122C2ED-CB9F-5CB1-0394-4D7452DECB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2AF17629-589E-3D98-4C2E-8543B9B80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725B559-6F79-FAAB-6C70-D3619A4A8B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7C6347-89FB-40FB-90DA-CA584222BE11}" type="slidenum">
              <a:rPr lang="ko-KR" altLang="en-US"/>
              <a:pPr/>
              <a:t>14</a:t>
            </a:fld>
            <a:endParaRPr lang="en-US" altLang="ko-KR"/>
          </a:p>
        </p:txBody>
      </p:sp>
      <p:sp>
        <p:nvSpPr>
          <p:cNvPr id="179202" name="Rectangle 2">
            <a:extLst>
              <a:ext uri="{FF2B5EF4-FFF2-40B4-BE49-F238E27FC236}">
                <a16:creationId xmlns:a16="http://schemas.microsoft.com/office/drawing/2014/main" id="{FBC4B4C8-CB85-DF8A-6FB4-F2F9C9DC3C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50882494-63F0-163C-1041-0BC2F6BE7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6210A4B-C56E-18B9-7EF1-AF79522639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A72779-A69C-4998-97F5-9B28B9FF1F76}" type="slidenum">
              <a:rPr lang="ko-KR" altLang="en-US"/>
              <a:pPr/>
              <a:t>15</a:t>
            </a:fld>
            <a:endParaRPr lang="en-US" altLang="ko-KR"/>
          </a:p>
        </p:txBody>
      </p:sp>
      <p:sp>
        <p:nvSpPr>
          <p:cNvPr id="180226" name="Rectangle 2">
            <a:extLst>
              <a:ext uri="{FF2B5EF4-FFF2-40B4-BE49-F238E27FC236}">
                <a16:creationId xmlns:a16="http://schemas.microsoft.com/office/drawing/2014/main" id="{AC586D7F-16D2-E370-33FE-935A0FCA51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B68AA90B-1119-50CD-DE1E-71B3E5FB2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2E93C7D-2124-1E64-EB15-19C28B808D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53486A-69DB-42B3-8A48-90ED40CDF431}" type="slidenum">
              <a:rPr lang="ko-KR" altLang="en-US"/>
              <a:pPr/>
              <a:t>16</a:t>
            </a:fld>
            <a:endParaRPr lang="en-US" altLang="ko-KR"/>
          </a:p>
        </p:txBody>
      </p:sp>
      <p:sp>
        <p:nvSpPr>
          <p:cNvPr id="206850" name="Rectangle 2">
            <a:extLst>
              <a:ext uri="{FF2B5EF4-FFF2-40B4-BE49-F238E27FC236}">
                <a16:creationId xmlns:a16="http://schemas.microsoft.com/office/drawing/2014/main" id="{0030011F-A39A-1CC9-A2E1-90749DB7C4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B9EC16EC-55EE-9005-3C98-E7B1928A1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72B03E0-1609-73AA-F311-2ECA231913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4A0AA5-AC63-4664-9BD1-B1481E8A1874}" type="slidenum">
              <a:rPr lang="ko-KR" altLang="en-US"/>
              <a:pPr/>
              <a:t>17</a:t>
            </a:fld>
            <a:endParaRPr lang="en-US" altLang="ko-KR"/>
          </a:p>
        </p:txBody>
      </p:sp>
      <p:sp>
        <p:nvSpPr>
          <p:cNvPr id="207874" name="Rectangle 2">
            <a:extLst>
              <a:ext uri="{FF2B5EF4-FFF2-40B4-BE49-F238E27FC236}">
                <a16:creationId xmlns:a16="http://schemas.microsoft.com/office/drawing/2014/main" id="{479F5185-0AE1-2ED8-2832-793FF25D56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CAFC251-8A25-DE84-B50C-1F95F77DB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EBF8367-4B16-6CA2-8E3C-FAB6795B93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DCC5F9-B7DE-447E-A8B4-E47CD114615F}" type="slidenum">
              <a:rPr lang="ko-KR" altLang="en-US"/>
              <a:pPr/>
              <a:t>18</a:t>
            </a:fld>
            <a:endParaRPr lang="en-US" altLang="ko-KR"/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25A5343A-5FE4-9D6A-C071-62AC7819A4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7742520C-FA74-A3A9-244A-EB915BADE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253983D-EB15-0398-87D0-2B3CF5481E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3FDA56-CB1A-445A-925B-5990CACFFF72}" type="slidenum">
              <a:rPr lang="ko-KR" altLang="en-US"/>
              <a:pPr/>
              <a:t>19</a:t>
            </a:fld>
            <a:endParaRPr lang="en-US" altLang="ko-KR"/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6922A5C0-86AD-ED1D-ABAC-9BB3F2619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A09F243A-640C-6350-90F5-0A398FC19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365D27C-2A80-E0A7-6109-D86A8C96C7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759AB5-7712-449D-BDC6-6693C95B90B9}" type="slidenum">
              <a:rPr lang="ko-KR" altLang="en-US"/>
              <a:pPr/>
              <a:t>20</a:t>
            </a:fld>
            <a:endParaRPr lang="en-US" altLang="ko-KR"/>
          </a:p>
        </p:txBody>
      </p:sp>
      <p:sp>
        <p:nvSpPr>
          <p:cNvPr id="210946" name="Rectangle 2">
            <a:extLst>
              <a:ext uri="{FF2B5EF4-FFF2-40B4-BE49-F238E27FC236}">
                <a16:creationId xmlns:a16="http://schemas.microsoft.com/office/drawing/2014/main" id="{D799CF6E-ED69-0865-F36F-F80381CCD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3BF22B7C-4992-4F44-BAA3-6CA4AEDF39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9B1F2F8-A298-5D92-41E4-61E9F30258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5424E5-CC8A-491B-8029-543FB9669051}" type="slidenum">
              <a:rPr lang="ko-KR" altLang="en-US"/>
              <a:pPr/>
              <a:t>21</a:t>
            </a:fld>
            <a:endParaRPr lang="en-US" altLang="ko-KR"/>
          </a:p>
        </p:txBody>
      </p:sp>
      <p:sp>
        <p:nvSpPr>
          <p:cNvPr id="211970" name="Rectangle 2">
            <a:extLst>
              <a:ext uri="{FF2B5EF4-FFF2-40B4-BE49-F238E27FC236}">
                <a16:creationId xmlns:a16="http://schemas.microsoft.com/office/drawing/2014/main" id="{3F49962C-9A1D-374B-68C6-9B6094718B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079314C3-B7F8-1C82-58EA-D95320DD5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9E6B5FD-BBE7-472A-5BAE-BD6E3897A6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1477DE-7754-4BFB-9257-ED203A17A511}" type="slidenum">
              <a:rPr lang="ko-KR" altLang="en-US"/>
              <a:pPr/>
              <a:t>22</a:t>
            </a:fld>
            <a:endParaRPr lang="en-US" altLang="ko-KR"/>
          </a:p>
        </p:txBody>
      </p:sp>
      <p:sp>
        <p:nvSpPr>
          <p:cNvPr id="212994" name="Rectangle 2">
            <a:extLst>
              <a:ext uri="{FF2B5EF4-FFF2-40B4-BE49-F238E27FC236}">
                <a16:creationId xmlns:a16="http://schemas.microsoft.com/office/drawing/2014/main" id="{B8FF88CA-08EC-1E12-4347-95839F0C73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6C21D10D-AD67-9444-9C3E-AD92F40998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4F0225E-B6AC-13DF-4B03-0AFB0F3938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51B03F-CD45-4631-86F1-7B9951E3D3CE}" type="slidenum">
              <a:rPr lang="ko-KR" altLang="en-US"/>
              <a:pPr/>
              <a:t>23</a:t>
            </a:fld>
            <a:endParaRPr lang="en-US" altLang="ko-KR"/>
          </a:p>
        </p:txBody>
      </p:sp>
      <p:sp>
        <p:nvSpPr>
          <p:cNvPr id="214018" name="Rectangle 2">
            <a:extLst>
              <a:ext uri="{FF2B5EF4-FFF2-40B4-BE49-F238E27FC236}">
                <a16:creationId xmlns:a16="http://schemas.microsoft.com/office/drawing/2014/main" id="{A9F76828-6793-C546-ADBB-EEF160961B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ADB83866-E743-9FBA-E773-8072B04715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153CDF7-42A1-6B49-5052-37B68C4612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61AD4E-CCD2-49B1-A21F-C53B70D2C526}" type="slidenum">
              <a:rPr lang="ko-KR" altLang="en-US"/>
              <a:pPr/>
              <a:t>24</a:t>
            </a:fld>
            <a:endParaRPr lang="en-US" altLang="ko-KR"/>
          </a:p>
        </p:txBody>
      </p:sp>
      <p:sp>
        <p:nvSpPr>
          <p:cNvPr id="215042" name="Rectangle 2">
            <a:extLst>
              <a:ext uri="{FF2B5EF4-FFF2-40B4-BE49-F238E27FC236}">
                <a16:creationId xmlns:a16="http://schemas.microsoft.com/office/drawing/2014/main" id="{8F83819E-9877-A3E5-D6B8-0CCE5E2C08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D3167804-5FD0-7DC8-D6E6-0C1CC8FCE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E800904-DEE1-CAD0-3ED8-C7BC6FC14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E01A4A-00F5-43DF-85C6-49217F8E3A7F}" type="slidenum">
              <a:rPr lang="ko-KR" altLang="en-US"/>
              <a:pPr/>
              <a:t>25</a:t>
            </a:fld>
            <a:endParaRPr lang="en-US" altLang="ko-KR"/>
          </a:p>
        </p:txBody>
      </p:sp>
      <p:sp>
        <p:nvSpPr>
          <p:cNvPr id="216066" name="Rectangle 2">
            <a:extLst>
              <a:ext uri="{FF2B5EF4-FFF2-40B4-BE49-F238E27FC236}">
                <a16:creationId xmlns:a16="http://schemas.microsoft.com/office/drawing/2014/main" id="{42054F0B-4A2A-005E-A65C-88BED90B0C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29203165-9953-C5F2-ACF3-76E167286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0B2CD2D-C30D-F73B-E7B5-2A35AD4705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9DEC6C-C68A-4F9D-AC7B-74BEC2AF3346}" type="slidenum">
              <a:rPr lang="ko-KR" altLang="en-US"/>
              <a:pPr/>
              <a:t>26</a:t>
            </a:fld>
            <a:endParaRPr lang="en-US" altLang="ko-KR"/>
          </a:p>
        </p:txBody>
      </p:sp>
      <p:sp>
        <p:nvSpPr>
          <p:cNvPr id="217090" name="Rectangle 2">
            <a:extLst>
              <a:ext uri="{FF2B5EF4-FFF2-40B4-BE49-F238E27FC236}">
                <a16:creationId xmlns:a16="http://schemas.microsoft.com/office/drawing/2014/main" id="{9B01015B-F927-21B1-17E8-DCCC407E92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79DFB2D5-640C-6DE5-BDC2-03FD7D7017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D81C0FA-4654-A329-9B98-1C24EC4B92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3C428F-9065-4F47-BE08-AF55D2016170}" type="slidenum">
              <a:rPr lang="ko-KR" altLang="en-US"/>
              <a:pPr/>
              <a:t>27</a:t>
            </a:fld>
            <a:endParaRPr lang="en-US" altLang="ko-KR"/>
          </a:p>
        </p:txBody>
      </p:sp>
      <p:sp>
        <p:nvSpPr>
          <p:cNvPr id="218114" name="Rectangle 2">
            <a:extLst>
              <a:ext uri="{FF2B5EF4-FFF2-40B4-BE49-F238E27FC236}">
                <a16:creationId xmlns:a16="http://schemas.microsoft.com/office/drawing/2014/main" id="{C15CB5C6-65B6-ABE8-E82E-543BBA47FE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302203C5-2A11-1534-15B3-D79AEDC49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F273878-12D1-89D5-D9F0-128E07C941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606C8-1FB3-4014-BF55-3FFF93DE996F}" type="slidenum">
              <a:rPr lang="ko-KR" altLang="en-US"/>
              <a:pPr/>
              <a:t>28</a:t>
            </a:fld>
            <a:endParaRPr lang="en-US" altLang="ko-KR"/>
          </a:p>
        </p:txBody>
      </p:sp>
      <p:sp>
        <p:nvSpPr>
          <p:cNvPr id="219138" name="Rectangle 2">
            <a:extLst>
              <a:ext uri="{FF2B5EF4-FFF2-40B4-BE49-F238E27FC236}">
                <a16:creationId xmlns:a16="http://schemas.microsoft.com/office/drawing/2014/main" id="{CBE62052-FDB6-325F-AA17-A4F1531F69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5FAB5ABB-4845-10A8-7DE7-DCC2AD4EFE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0927D40-AA85-71EE-693A-FA4E1ADB48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FE73DF-36D9-4A7D-BC33-8036E6F2C461}" type="slidenum">
              <a:rPr lang="ko-KR" altLang="en-US"/>
              <a:pPr/>
              <a:t>29</a:t>
            </a:fld>
            <a:endParaRPr lang="en-US" altLang="ko-KR"/>
          </a:p>
        </p:txBody>
      </p:sp>
      <p:sp>
        <p:nvSpPr>
          <p:cNvPr id="220162" name="Rectangle 2">
            <a:extLst>
              <a:ext uri="{FF2B5EF4-FFF2-40B4-BE49-F238E27FC236}">
                <a16:creationId xmlns:a16="http://schemas.microsoft.com/office/drawing/2014/main" id="{3C6C20D8-D8EE-10FF-7E69-1F403B0FC6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28BDB2D8-A53C-E67C-F112-CF592E1CA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0F11F48-7307-2EB0-79BE-21EAE82BB6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275F03-DCAF-40A9-9758-01C9D5A9BD5D}" type="slidenum">
              <a:rPr lang="ko-KR" altLang="en-US"/>
              <a:pPr/>
              <a:t>30</a:t>
            </a:fld>
            <a:endParaRPr lang="en-US" altLang="ko-KR"/>
          </a:p>
        </p:txBody>
      </p:sp>
      <p:sp>
        <p:nvSpPr>
          <p:cNvPr id="221186" name="Rectangle 2">
            <a:extLst>
              <a:ext uri="{FF2B5EF4-FFF2-40B4-BE49-F238E27FC236}">
                <a16:creationId xmlns:a16="http://schemas.microsoft.com/office/drawing/2014/main" id="{705D40E2-C4C5-229D-DD40-B2CBF20E1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23832F5D-73C9-5D7B-565A-54C3455B2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C09137F-7711-9A9A-C906-B1BFE08222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C53A37-1D29-4063-8FF5-0A8CC3968B4D}" type="slidenum">
              <a:rPr lang="ko-KR" altLang="en-US"/>
              <a:pPr/>
              <a:t>31</a:t>
            </a:fld>
            <a:endParaRPr lang="en-US" altLang="ko-KR"/>
          </a:p>
        </p:txBody>
      </p:sp>
      <p:sp>
        <p:nvSpPr>
          <p:cNvPr id="222210" name="Rectangle 2">
            <a:extLst>
              <a:ext uri="{FF2B5EF4-FFF2-40B4-BE49-F238E27FC236}">
                <a16:creationId xmlns:a16="http://schemas.microsoft.com/office/drawing/2014/main" id="{F86073CB-6889-BBFA-5FA1-762B79121A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FA407E8B-19E6-B09B-A6D4-9591386A9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65FC451-F180-AA7C-B85F-A2D8B777FD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867947-0D2F-42EA-8FBD-F7C99D72BC96}" type="slidenum">
              <a:rPr lang="ko-KR" altLang="en-US"/>
              <a:pPr/>
              <a:t>32</a:t>
            </a:fld>
            <a:endParaRPr lang="en-US" altLang="ko-KR"/>
          </a:p>
        </p:txBody>
      </p:sp>
      <p:sp>
        <p:nvSpPr>
          <p:cNvPr id="223234" name="Rectangle 2">
            <a:extLst>
              <a:ext uri="{FF2B5EF4-FFF2-40B4-BE49-F238E27FC236}">
                <a16:creationId xmlns:a16="http://schemas.microsoft.com/office/drawing/2014/main" id="{59459391-1036-C8F6-52FA-51B4F76AB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27195E6B-EBCA-663C-1FA7-F9588B6E7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C87893F-C24B-7124-DF57-9720F4CDF1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467DE4-EF17-45A1-B56A-F8E2C779A7C4}" type="slidenum">
              <a:rPr lang="ko-KR" altLang="en-US"/>
              <a:pPr/>
              <a:t>33</a:t>
            </a:fld>
            <a:endParaRPr lang="en-US" altLang="ko-KR"/>
          </a:p>
        </p:txBody>
      </p:sp>
      <p:sp>
        <p:nvSpPr>
          <p:cNvPr id="224258" name="Rectangle 2">
            <a:extLst>
              <a:ext uri="{FF2B5EF4-FFF2-40B4-BE49-F238E27FC236}">
                <a16:creationId xmlns:a16="http://schemas.microsoft.com/office/drawing/2014/main" id="{400D0B91-6FDE-EE3D-A811-05090D4D69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9881B6FB-E056-D19B-82DA-30D4BC11D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F04CC46-F939-87D8-84C0-08594845A4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B651AB-1BE8-410C-AEDC-70E2D1A95091}" type="slidenum">
              <a:rPr lang="ko-KR" altLang="en-US"/>
              <a:pPr/>
              <a:t>34</a:t>
            </a:fld>
            <a:endParaRPr lang="en-US" altLang="ko-KR"/>
          </a:p>
        </p:txBody>
      </p:sp>
      <p:sp>
        <p:nvSpPr>
          <p:cNvPr id="225282" name="Rectangle 2">
            <a:extLst>
              <a:ext uri="{FF2B5EF4-FFF2-40B4-BE49-F238E27FC236}">
                <a16:creationId xmlns:a16="http://schemas.microsoft.com/office/drawing/2014/main" id="{86D5E7E3-7F6C-E1AB-4E70-2A9AEAB094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FECE43A7-F4BC-E686-F4B4-DC5935055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789765C-2251-93DE-A576-E91FDF2D8D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EDFCC2-2AA0-40AC-B770-D06BBC701822}" type="slidenum">
              <a:rPr lang="ko-KR" altLang="en-US"/>
              <a:pPr/>
              <a:t>35</a:t>
            </a:fld>
            <a:endParaRPr lang="en-US" altLang="ko-KR"/>
          </a:p>
        </p:txBody>
      </p:sp>
      <p:sp>
        <p:nvSpPr>
          <p:cNvPr id="226306" name="Rectangle 2">
            <a:extLst>
              <a:ext uri="{FF2B5EF4-FFF2-40B4-BE49-F238E27FC236}">
                <a16:creationId xmlns:a16="http://schemas.microsoft.com/office/drawing/2014/main" id="{4AC88D7A-0B32-3BE6-7E03-CB42E500A6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0EA69F33-A436-DDCF-E310-87591EC101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4DB5C97-DA78-3E83-1966-C35BE15BA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F86B28-E1C5-4DA4-8E99-184F9CA1774E}" type="slidenum">
              <a:rPr lang="ko-KR" altLang="en-US"/>
              <a:pPr/>
              <a:t>36</a:t>
            </a:fld>
            <a:endParaRPr lang="en-US" altLang="ko-KR"/>
          </a:p>
        </p:txBody>
      </p:sp>
      <p:sp>
        <p:nvSpPr>
          <p:cNvPr id="227330" name="Rectangle 2">
            <a:extLst>
              <a:ext uri="{FF2B5EF4-FFF2-40B4-BE49-F238E27FC236}">
                <a16:creationId xmlns:a16="http://schemas.microsoft.com/office/drawing/2014/main" id="{1A5798FE-60D5-E91C-0A1D-302BAABE45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F5634387-7238-2981-B739-5F8120564E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F05557-D1B9-D4C1-CC31-328EF188EA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8915FC-0772-4654-BEC8-D0EA94059505}" type="slidenum">
              <a:rPr lang="ko-KR" altLang="en-US"/>
              <a:pPr/>
              <a:t>37</a:t>
            </a:fld>
            <a:endParaRPr lang="en-US" altLang="ko-KR"/>
          </a:p>
        </p:txBody>
      </p:sp>
      <p:sp>
        <p:nvSpPr>
          <p:cNvPr id="228354" name="Rectangle 2">
            <a:extLst>
              <a:ext uri="{FF2B5EF4-FFF2-40B4-BE49-F238E27FC236}">
                <a16:creationId xmlns:a16="http://schemas.microsoft.com/office/drawing/2014/main" id="{08A864EC-B8A6-4808-1AA8-9E153648DF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C4A1A05E-594A-B96A-DC15-253D7D774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9DFB7C5-D962-7B84-2F62-B6C98785E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4BB4E1-5160-4EE2-8DFD-6757D4D8F35F}" type="slidenum">
              <a:rPr lang="ko-KR" altLang="en-US"/>
              <a:pPr/>
              <a:t>38</a:t>
            </a:fld>
            <a:endParaRPr lang="en-US" altLang="ko-KR"/>
          </a:p>
        </p:txBody>
      </p:sp>
      <p:sp>
        <p:nvSpPr>
          <p:cNvPr id="229378" name="Rectangle 2">
            <a:extLst>
              <a:ext uri="{FF2B5EF4-FFF2-40B4-BE49-F238E27FC236}">
                <a16:creationId xmlns:a16="http://schemas.microsoft.com/office/drawing/2014/main" id="{D3AD5FFF-38A0-F3BD-3C26-7B04705930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B18F8ADA-0B20-B054-52AB-56854F63E8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AD22263-AA0A-139D-61E3-235144CF3B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7A7481-6045-4475-81F5-04B1DFDDE1C7}" type="slidenum">
              <a:rPr lang="ko-KR" altLang="en-US"/>
              <a:pPr/>
              <a:t>39</a:t>
            </a:fld>
            <a:endParaRPr lang="en-US" altLang="ko-KR"/>
          </a:p>
        </p:txBody>
      </p:sp>
      <p:sp>
        <p:nvSpPr>
          <p:cNvPr id="230402" name="Rectangle 2">
            <a:extLst>
              <a:ext uri="{FF2B5EF4-FFF2-40B4-BE49-F238E27FC236}">
                <a16:creationId xmlns:a16="http://schemas.microsoft.com/office/drawing/2014/main" id="{DA13D00A-3F02-0906-687B-C445E274AB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D84358F4-8C7B-BB53-0D58-CBACD14CC5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5379322-5E85-6570-93F1-1A04EFB20D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4CA979-9711-4C13-A242-B10DB4344EF7}" type="slidenum">
              <a:rPr lang="ko-KR" altLang="en-US"/>
              <a:pPr/>
              <a:t>40</a:t>
            </a:fld>
            <a:endParaRPr lang="en-US" altLang="ko-KR"/>
          </a:p>
        </p:txBody>
      </p:sp>
      <p:sp>
        <p:nvSpPr>
          <p:cNvPr id="231426" name="Rectangle 2">
            <a:extLst>
              <a:ext uri="{FF2B5EF4-FFF2-40B4-BE49-F238E27FC236}">
                <a16:creationId xmlns:a16="http://schemas.microsoft.com/office/drawing/2014/main" id="{11CF0ED0-5A9F-BBA3-EE1C-3230A39F9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0FA8B23D-AA1A-99BC-2754-1C7911526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ED29E4F-B853-9ACD-4187-D9F87533B9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6B8FB7-077E-4F51-A8EB-8CBB65CCE4A1}" type="slidenum">
              <a:rPr lang="ko-KR" altLang="en-US"/>
              <a:pPr/>
              <a:t>41</a:t>
            </a:fld>
            <a:endParaRPr lang="en-US" altLang="ko-KR"/>
          </a:p>
        </p:txBody>
      </p:sp>
      <p:sp>
        <p:nvSpPr>
          <p:cNvPr id="232450" name="Rectangle 2">
            <a:extLst>
              <a:ext uri="{FF2B5EF4-FFF2-40B4-BE49-F238E27FC236}">
                <a16:creationId xmlns:a16="http://schemas.microsoft.com/office/drawing/2014/main" id="{4B13EE90-9398-DF99-978D-5A87402EB2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06FB50FA-7ECC-3B77-C059-BFB71F2B3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C6F194D-A158-5D7E-60F7-CBA90E3BFF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748CA3-A2EA-4D57-A04A-8EACB1A74372}" type="slidenum">
              <a:rPr lang="ko-KR" altLang="en-US"/>
              <a:pPr/>
              <a:t>42</a:t>
            </a:fld>
            <a:endParaRPr lang="en-US" altLang="ko-KR"/>
          </a:p>
        </p:txBody>
      </p:sp>
      <p:sp>
        <p:nvSpPr>
          <p:cNvPr id="233474" name="Rectangle 2">
            <a:extLst>
              <a:ext uri="{FF2B5EF4-FFF2-40B4-BE49-F238E27FC236}">
                <a16:creationId xmlns:a16="http://schemas.microsoft.com/office/drawing/2014/main" id="{89555943-7D73-7A35-C1DD-E8CFB68719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7DB19072-618D-D27D-C229-3DFC99C06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620F727-5EE0-7C4B-9CE0-419690F4B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C7BAF-E865-4292-B046-F646FDD2133D}" type="slidenum">
              <a:rPr lang="ko-KR" altLang="en-US"/>
              <a:pPr/>
              <a:t>43</a:t>
            </a:fld>
            <a:endParaRPr lang="en-US" altLang="ko-KR"/>
          </a:p>
        </p:txBody>
      </p:sp>
      <p:sp>
        <p:nvSpPr>
          <p:cNvPr id="234498" name="Rectangle 2">
            <a:extLst>
              <a:ext uri="{FF2B5EF4-FFF2-40B4-BE49-F238E27FC236}">
                <a16:creationId xmlns:a16="http://schemas.microsoft.com/office/drawing/2014/main" id="{8012D852-A95A-5E9D-06D2-474BF6CF49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C9CF4DFE-81F5-B4EC-6437-2AA9A4CAC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1C7524A-2CFA-6067-A9AB-5DEFD656F4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28E07-BAC0-4466-B29A-9724736DED5E}" type="slidenum">
              <a:rPr lang="ko-KR" altLang="en-US"/>
              <a:pPr/>
              <a:t>44</a:t>
            </a:fld>
            <a:endParaRPr lang="en-US" altLang="ko-KR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F6CFD4F0-0DF7-C005-7D78-EBDC618A36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C1BD334C-EFB1-570B-5FA0-3C1378AD0D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BBFF999-5A2C-36EF-4EFA-D4443731A4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AA1EE3-7A58-4691-BC9F-71B8FFC6B9DA}" type="slidenum">
              <a:rPr lang="ko-KR" altLang="en-US"/>
              <a:pPr/>
              <a:t>45</a:t>
            </a:fld>
            <a:endParaRPr lang="en-US" altLang="ko-KR"/>
          </a:p>
        </p:txBody>
      </p:sp>
      <p:sp>
        <p:nvSpPr>
          <p:cNvPr id="236546" name="Rectangle 2">
            <a:extLst>
              <a:ext uri="{FF2B5EF4-FFF2-40B4-BE49-F238E27FC236}">
                <a16:creationId xmlns:a16="http://schemas.microsoft.com/office/drawing/2014/main" id="{6685D0B2-B87D-C06B-9B5C-D3FBF1B427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75AEF941-88D5-D6F2-EFBB-0B42830FE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1639818" y="2121378"/>
            <a:ext cx="6934915" cy="5502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4426" rIns="90434" bIns="44426" numCol="1" anchor="b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lang="en-US" sz="3150" b="1" kern="1200" cap="none" spc="0" baseline="0" dirty="0" smtClean="0">
                <a:solidFill>
                  <a:srgbClr val="00559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1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639820" y="2836709"/>
            <a:ext cx="6934915" cy="45078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100584" tIns="44426" rIns="90434" bIns="44426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lnSpc>
                <a:spcPct val="101000"/>
              </a:lnSpc>
              <a:spcBef>
                <a:spcPct val="0"/>
              </a:spcBef>
              <a:spcAft>
                <a:spcPct val="0"/>
              </a:spcAft>
              <a:buNone/>
              <a:defRPr lang="en-US" sz="2400" b="1" i="0" kern="1200" cap="none" spc="0" baseline="0" dirty="0" smtClean="0">
                <a:solidFill>
                  <a:srgbClr val="00A8E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456903" indent="-456903" defTabSz="228453">
              <a:buFontTx/>
              <a:buNone/>
              <a:defRPr lang="en-US" sz="1575" baseline="0" dirty="0" smtClean="0">
                <a:solidFill>
                  <a:schemeClr val="bg1"/>
                </a:solidFill>
              </a:defRPr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 dirty="0"/>
              <a:t>Presenter’s name here</a:t>
            </a:r>
          </a:p>
        </p:txBody>
      </p:sp>
      <p:sp>
        <p:nvSpPr>
          <p:cNvPr id="13" name="Text Placeholder 27"/>
          <p:cNvSpPr>
            <a:spLocks noGrp="1"/>
          </p:cNvSpPr>
          <p:nvPr>
            <p:ph type="body" sz="quarter" idx="14" hasCustomPrompt="1"/>
          </p:nvPr>
        </p:nvSpPr>
        <p:spPr>
          <a:xfrm>
            <a:off x="1639820" y="3314701"/>
            <a:ext cx="6934915" cy="3604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109728" tIns="44426" rIns="90434" bIns="44426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lnSpc>
                <a:spcPct val="101000"/>
              </a:lnSpc>
              <a:spcBef>
                <a:spcPct val="0"/>
              </a:spcBef>
              <a:spcAft>
                <a:spcPct val="0"/>
              </a:spcAft>
              <a:buNone/>
              <a:defRPr lang="en-US" sz="1800" b="1" i="0" kern="1200" cap="none" spc="0" baseline="0" dirty="0" smtClean="0">
                <a:solidFill>
                  <a:srgbClr val="00559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456903" indent="-456903" defTabSz="228453">
              <a:buFontTx/>
              <a:buNone/>
              <a:defRPr lang="en-US" sz="1575" baseline="0" dirty="0" smtClean="0">
                <a:solidFill>
                  <a:schemeClr val="bg1"/>
                </a:solidFill>
              </a:defRPr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 dirty="0"/>
              <a:t>Presenter’s title here</a:t>
            </a:r>
          </a:p>
        </p:txBody>
      </p:sp>
    </p:spTree>
    <p:extLst>
      <p:ext uri="{BB962C8B-B14F-4D97-AF65-F5344CB8AC3E}">
        <p14:creationId xmlns:p14="http://schemas.microsoft.com/office/powerpoint/2010/main" val="475615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-1" y="1919760"/>
            <a:ext cx="9144001" cy="926792"/>
          </a:xfrm>
          <a:prstGeom prst="rect">
            <a:avLst/>
          </a:prstGeom>
          <a:solidFill>
            <a:srgbClr val="005596"/>
          </a:solidFill>
          <a:ln w="12700">
            <a:noFill/>
            <a:miter lim="800000"/>
            <a:headEnd/>
            <a:tailEnd/>
          </a:ln>
        </p:spPr>
        <p:txBody>
          <a:bodyPr wrap="square" lIns="274320" tIns="219456" rIns="274320" bIns="256032" anchor="ctr" anchorCtr="0">
            <a:spAutoFit/>
          </a:bodyPr>
          <a:lstStyle>
            <a:lvl1pPr>
              <a:defRPr lang="en-US" sz="3225" i="0" kern="1200" baseline="0" dirty="0">
                <a:solidFill>
                  <a:schemeClr val="bg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</a:lstStyle>
          <a:p>
            <a:pPr lvl="0" algn="ctr" eaLnBrk="0" hangingPunct="0">
              <a:lnSpc>
                <a:spcPct val="90000"/>
              </a:lnSpc>
            </a:pPr>
            <a:r>
              <a:rPr lang="en-US" dirty="0"/>
              <a:t>Click to edit title</a:t>
            </a:r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4" hasCustomPrompt="1"/>
          </p:nvPr>
        </p:nvSpPr>
        <p:spPr>
          <a:xfrm>
            <a:off x="1190" y="2901913"/>
            <a:ext cx="9141620" cy="42558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4426" rIns="90434" bIns="44426" numCol="1" anchor="t" anchorCtr="0" compatLnSpc="1">
            <a:prstTxWarp prst="textNoShape">
              <a:avLst/>
            </a:prstTxWarp>
            <a:spAutoFit/>
          </a:bodyPr>
          <a:lstStyle>
            <a:lvl1pPr marL="0" indent="0" algn="ctr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None/>
              <a:defRPr lang="en-US" sz="2250" b="1" i="0" kern="1200" cap="none" spc="0" baseline="0" dirty="0" smtClean="0">
                <a:solidFill>
                  <a:srgbClr val="00559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456903" indent="-456903" defTabSz="228453">
              <a:buFontTx/>
              <a:buNone/>
              <a:defRPr lang="en-US" sz="1575" baseline="0" dirty="0" smtClean="0">
                <a:solidFill>
                  <a:schemeClr val="bg1"/>
                </a:solidFill>
              </a:defRPr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4965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FXSHAPE"/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599642"/>
            <a:ext cx="6115046" cy="50335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Click to enter Section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77968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/>
          <p:cNvSpPr>
            <a:spLocks noGrp="1"/>
          </p:cNvSpPr>
          <p:nvPr>
            <p:ph type="title" hasCustomPrompt="1"/>
          </p:nvPr>
        </p:nvSpPr>
        <p:spPr>
          <a:xfrm>
            <a:off x="251520" y="127790"/>
            <a:ext cx="8640960" cy="5400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</a:p>
        </p:txBody>
      </p:sp>
      <p:sp>
        <p:nvSpPr>
          <p:cNvPr id="7" name="IFXSHAPE"/>
          <p:cNvSpPr>
            <a:spLocks noGrp="1"/>
          </p:cNvSpPr>
          <p:nvPr>
            <p:ph sz="quarter" idx="13" hasCustomPrompt="1"/>
          </p:nvPr>
        </p:nvSpPr>
        <p:spPr>
          <a:xfrm>
            <a:off x="250825" y="951310"/>
            <a:ext cx="8641655" cy="38350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02321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/>
          <p:cNvSpPr>
            <a:spLocks noGrp="1"/>
          </p:cNvSpPr>
          <p:nvPr>
            <p:ph type="title" hasCustomPrompt="1"/>
          </p:nvPr>
        </p:nvSpPr>
        <p:spPr>
          <a:xfrm>
            <a:off x="251520" y="127790"/>
            <a:ext cx="8640960" cy="5400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319345094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/>
          <p:cNvSpPr>
            <a:spLocks noGrp="1"/>
          </p:cNvSpPr>
          <p:nvPr>
            <p:ph type="title" hasCustomPrompt="1"/>
          </p:nvPr>
        </p:nvSpPr>
        <p:spPr>
          <a:xfrm>
            <a:off x="251520" y="127790"/>
            <a:ext cx="8640960" cy="5400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</a:p>
        </p:txBody>
      </p:sp>
      <p:sp>
        <p:nvSpPr>
          <p:cNvPr id="7" name="IFXSHAPE"/>
          <p:cNvSpPr>
            <a:spLocks noGrp="1"/>
          </p:cNvSpPr>
          <p:nvPr>
            <p:ph sz="quarter" idx="13" hasCustomPrompt="1"/>
          </p:nvPr>
        </p:nvSpPr>
        <p:spPr>
          <a:xfrm>
            <a:off x="250825" y="951310"/>
            <a:ext cx="4248472" cy="38350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IFXSHAPE"/>
          <p:cNvSpPr>
            <a:spLocks noGrp="1"/>
          </p:cNvSpPr>
          <p:nvPr>
            <p:ph sz="quarter" idx="14" hasCustomPrompt="1"/>
          </p:nvPr>
        </p:nvSpPr>
        <p:spPr>
          <a:xfrm>
            <a:off x="4643438" y="951310"/>
            <a:ext cx="4249042" cy="38350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2069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C91895-40F7-4960-B3D8-1794B1B9E7F9}"/>
              </a:ext>
            </a:extLst>
          </p:cNvPr>
          <p:cNvSpPr/>
          <p:nvPr userDrawn="1"/>
        </p:nvSpPr>
        <p:spPr>
          <a:xfrm>
            <a:off x="8719748" y="4900842"/>
            <a:ext cx="31931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5596"/>
              </a:buClr>
              <a:buSzPct val="100000"/>
              <a:buFont typeface="Wingdings" pitchFamily="2" charset="2"/>
              <a:buNone/>
              <a:tabLst/>
              <a:defRPr/>
            </a:pPr>
            <a:fld id="{DAAEE642-D065-4BBA-AB0A-FA69033CF351}" type="slidenum">
              <a:rPr kumimoji="0" lang="en-US" sz="900" b="0" i="0" u="none" strike="noStrike" kern="8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685800" rtl="0" eaLnBrk="0" fontAlgn="base" latinLnBrk="0" hangingPunct="0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005596"/>
                </a:buClr>
                <a:buSzPct val="100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US" sz="900" b="0" i="0" u="none" strike="noStrike" kern="8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685316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BFA330E-9D5B-A4D9-2927-0D6E40C27DC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ko-KR" noProof="0"/>
              <a:t>Click to edit Master title style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F9625C2-5BE4-C3D7-EC22-1D95E9F698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en-US" altLang="ko-KR" noProof="0"/>
              <a:t>Click to edit Master subtitle style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4839BE38-81ED-16C6-2D80-02147529CD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6F73EA97-E0E4-8F5C-EF8F-C47E74C40FC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5C1AD980-F702-855C-8677-250BF8CFC6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5990189-F0EC-4675-9BD4-4E35356D1BB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376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7E73-4C3E-9EBF-F100-A5CFE27C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21573-7547-D21A-8FA9-72116C1B8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2E6D3-889E-AEE2-296E-61EF064E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22E5-C6B2-0FAF-EBEF-03578690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57168-53B3-8D52-7230-C84D0291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8E5F16-8338-4865-8D2F-6068DFFBFC1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319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977C-2B43-9D97-4DA9-2D75FB48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D88F-5DB1-CCAA-CCD7-79270AEF83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2288" y="1028701"/>
            <a:ext cx="4005262" cy="3565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A10B1-C78D-8149-0539-B948B2AD3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9950" y="1028701"/>
            <a:ext cx="4006850" cy="3565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DDD08-6F79-ED0C-5CC6-6C2F1A12C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D34C8-5F44-CE37-7094-F9F07EEE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6B529-9A29-1F18-2BAB-4DA33A14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7851AD-C3E5-4AEA-A67D-D741F0F0E17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157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51209-CCA5-C812-FDBA-04B27F433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651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D31EF-EAFA-5366-FAAF-6D9F722FB46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22288" y="1028701"/>
            <a:ext cx="4005262" cy="3565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08315-5AF7-E1F3-8B71-FA38580AA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9950" y="1028701"/>
            <a:ext cx="4006850" cy="3565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75153-F48C-0313-5210-B4489BBB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85CDF-2034-7C85-274B-BEF5C972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8BB1F-F0B5-D838-DEC9-6BB6B67B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2D6FC8C5-C707-4AD4-9C82-1ADD056CB0D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0365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3B53-88AA-9FBE-5579-D18963734755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05978"/>
            <a:ext cx="8229600" cy="651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8544D-50EB-2038-01CF-4EC75EF93E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22288" y="1028700"/>
            <a:ext cx="4005262" cy="1725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58A80-616C-1412-3FE4-00C12139691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79950" y="1028700"/>
            <a:ext cx="4006850" cy="1725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34F57E-B9C5-CE62-C979-BB75CE09526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522288" y="2868217"/>
            <a:ext cx="4005262" cy="1726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4B9B0-82DF-8E35-8ECD-02FDEA250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79950" y="2868217"/>
            <a:ext cx="4006850" cy="1726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BC0F0-4999-3DB6-A028-5F2B3144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B5812E-C2BD-2DA0-6444-4D9FCDF6A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BA7973-2156-5118-A5A6-C6B3F9CD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5813A327-4A56-444A-ADEA-4C1092BB277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953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759CDF-2A22-4F8E-AAEF-2496B42DA96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4870312"/>
            <a:ext cx="9144000" cy="266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E9356F-AFE2-46F4-8471-6C07E61677E4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8942"/>
            <a:ext cx="9144000" cy="671994"/>
          </a:xfrm>
          <a:prstGeom prst="rect">
            <a:avLst/>
          </a:prstGeom>
        </p:spPr>
      </p:pic>
      <p:sp>
        <p:nvSpPr>
          <p:cNvPr id="15" name="IFXSHAPE"/>
          <p:cNvSpPr>
            <a:spLocks noGrp="1"/>
          </p:cNvSpPr>
          <p:nvPr>
            <p:ph type="title"/>
          </p:nvPr>
        </p:nvSpPr>
        <p:spPr>
          <a:xfrm>
            <a:off x="251520" y="127790"/>
            <a:ext cx="8640068" cy="54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GB" noProof="0" dirty="0"/>
              <a:t>Click to edit title</a:t>
            </a:r>
          </a:p>
        </p:txBody>
      </p:sp>
      <p:sp>
        <p:nvSpPr>
          <p:cNvPr id="16" name="IFXSHAPE"/>
          <p:cNvSpPr>
            <a:spLocks noGrp="1"/>
          </p:cNvSpPr>
          <p:nvPr>
            <p:ph type="body" idx="1"/>
          </p:nvPr>
        </p:nvSpPr>
        <p:spPr>
          <a:xfrm>
            <a:off x="250825" y="951310"/>
            <a:ext cx="8640763" cy="38350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4B3B20-5512-4A8E-AB9A-1D7DC2D59CC2}"/>
              </a:ext>
            </a:extLst>
          </p:cNvPr>
          <p:cNvSpPr/>
          <p:nvPr userDrawn="1"/>
        </p:nvSpPr>
        <p:spPr>
          <a:xfrm>
            <a:off x="8719748" y="4900842"/>
            <a:ext cx="31931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5596"/>
              </a:buClr>
              <a:buSzPct val="100000"/>
              <a:buFont typeface="Wingdings" pitchFamily="2" charset="2"/>
              <a:buNone/>
              <a:tabLst/>
              <a:defRPr/>
            </a:pPr>
            <a:fld id="{DAAEE642-D065-4BBA-AB0A-FA69033CF351}" type="slidenum">
              <a:rPr kumimoji="0" lang="en-US" sz="900" b="0" i="0" u="none" strike="noStrike" kern="8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685800" rtl="0" eaLnBrk="0" fontAlgn="base" latinLnBrk="0" hangingPunct="0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005596"/>
                </a:buClr>
                <a:buSzPct val="100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US" sz="900" b="0" i="0" u="none" strike="noStrike" kern="8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2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8" r:id="rId5"/>
    <p:sldLayoutId id="2147483737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1900" b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</a:defRPr>
      </a:lvl9pPr>
    </p:titleStyle>
    <p:bodyStyle>
      <a:lvl1pPr marL="288000" indent="-288000" algn="l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›"/>
        <a:defRPr sz="18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Verdana" panose="020B0604030504040204" pitchFamily="34" charset="0"/>
        <a:buChar char="–"/>
        <a:defRPr sz="1800">
          <a:solidFill>
            <a:schemeClr val="tx1"/>
          </a:solidFill>
          <a:latin typeface="Arial" panose="020B0604020202020204" pitchFamily="34" charset="0"/>
        </a:defRPr>
      </a:lvl2pPr>
      <a:lvl3pPr marL="864000" indent="-288000" algn="l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Verdana" pitchFamily="34" charset="0"/>
        <a:buChar char="–"/>
        <a:defRPr sz="1600" baseline="0">
          <a:solidFill>
            <a:schemeClr val="tx1"/>
          </a:solidFill>
          <a:latin typeface="Arial" panose="020B0604020202020204" pitchFamily="34" charset="0"/>
        </a:defRPr>
      </a:lvl3pPr>
      <a:lvl4pPr marL="1080000" indent="-216000" algn="l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Verdana" panose="020B0604030504040204" pitchFamily="34" charset="0"/>
        <a:buChar char="–"/>
        <a:defRPr sz="1400" baseline="0">
          <a:solidFill>
            <a:schemeClr val="tx1"/>
          </a:solidFill>
          <a:latin typeface="Arial" panose="020B0604020202020204" pitchFamily="34" charset="0"/>
        </a:defRPr>
      </a:lvl4pPr>
      <a:lvl5pPr marL="1296000" indent="-216000" algn="l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Verdana" panose="020B0604030504040204" pitchFamily="34" charset="0"/>
        <a:buChar char="–"/>
        <a:defRPr sz="1200" baseline="0">
          <a:solidFill>
            <a:schemeClr val="tx1"/>
          </a:solidFill>
          <a:latin typeface="Arial" panose="020B0604020202020204" pitchFamily="34" charset="0"/>
        </a:defRPr>
      </a:lvl5pPr>
      <a:lvl6pPr marL="1296000" indent="-216000" algn="l" rtl="0" eaLnBrk="1" fontAlgn="base" hangingPunct="1">
        <a:spcBef>
          <a:spcPts val="0"/>
        </a:spcBef>
        <a:spcAft>
          <a:spcPts val="300"/>
        </a:spcAft>
        <a:buClr>
          <a:schemeClr val="accent1"/>
        </a:buClr>
        <a:buFont typeface="Verdana" pitchFamily="34" charset="0"/>
        <a:buNone/>
        <a:defRPr sz="1400" baseline="0">
          <a:solidFill>
            <a:schemeClr val="tx1"/>
          </a:solidFill>
          <a:latin typeface="Verdana" pitchFamily="34" charset="0"/>
        </a:defRPr>
      </a:lvl6pPr>
      <a:lvl7pPr marL="2514600" indent="-228600" algn="l" rtl="0" eaLnBrk="1" fontAlgn="base" hangingPunct="1">
        <a:spcBef>
          <a:spcPct val="25000"/>
        </a:spcBef>
        <a:spcAft>
          <a:spcPct val="0"/>
        </a:spcAft>
        <a:buClr>
          <a:schemeClr val="tx1"/>
        </a:buClr>
        <a:buChar char="–"/>
        <a:defRPr sz="2000">
          <a:solidFill>
            <a:srgbClr val="666666"/>
          </a:solidFill>
          <a:latin typeface="+mn-lt"/>
        </a:defRPr>
      </a:lvl7pPr>
      <a:lvl8pPr marL="2971800" indent="-228600" algn="l" rtl="0" eaLnBrk="1" fontAlgn="base" hangingPunct="1">
        <a:spcBef>
          <a:spcPct val="25000"/>
        </a:spcBef>
        <a:spcAft>
          <a:spcPct val="0"/>
        </a:spcAft>
        <a:buClr>
          <a:schemeClr val="tx1"/>
        </a:buClr>
        <a:buChar char="–"/>
        <a:defRPr sz="2000">
          <a:solidFill>
            <a:srgbClr val="666666"/>
          </a:solidFill>
          <a:latin typeface="+mn-lt"/>
        </a:defRPr>
      </a:lvl8pPr>
      <a:lvl9pPr marL="3429000" indent="-228600" algn="l" rtl="0" eaLnBrk="1" fontAlgn="base" hangingPunct="1">
        <a:spcBef>
          <a:spcPct val="25000"/>
        </a:spcBef>
        <a:spcAft>
          <a:spcPct val="0"/>
        </a:spcAft>
        <a:buClr>
          <a:schemeClr val="tx1"/>
        </a:buClr>
        <a:buChar char="–"/>
        <a:defRPr sz="2000">
          <a:solidFill>
            <a:srgbClr val="666666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60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30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9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8.png"/><Relationship Id="rId4" Type="http://schemas.openxmlformats.org/officeDocument/2006/relationships/image" Target="../media/image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wmf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4.wmf"/><Relationship Id="rId4" Type="http://schemas.openxmlformats.org/officeDocument/2006/relationships/oleObject" Target="../embeddings/oleObject3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3.png"/><Relationship Id="rId4" Type="http://schemas.openxmlformats.org/officeDocument/2006/relationships/image" Target="../media/image1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A06BDF-0ECE-8F81-ED79-8A6B72549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143" y="1534027"/>
            <a:ext cx="6934915" cy="1493181"/>
          </a:xfrm>
        </p:spPr>
        <p:txBody>
          <a:bodyPr/>
          <a:lstStyle/>
          <a:p>
            <a:r>
              <a:rPr lang="en-US" altLang="ko-KR" sz="3200" dirty="0">
                <a:ea typeface="굴림" panose="020B0600000101010101" pitchFamily="34" charset="-127"/>
              </a:rPr>
              <a:t>Electrooptic Matched Filter Controlled by Independent Voltages Applied to Multiple Sets of Electrodes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8191F234-FAF1-CF56-497E-DC267982F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Contents</a:t>
            </a:r>
          </a:p>
        </p:txBody>
      </p:sp>
      <p:sp>
        <p:nvSpPr>
          <p:cNvPr id="117764" name="Rectangle 4">
            <a:extLst>
              <a:ext uri="{FF2B5EF4-FFF2-40B4-BE49-F238E27FC236}">
                <a16:creationId xmlns:a16="http://schemas.microsoft.com/office/drawing/2014/main" id="{EE15E451-4C00-7A74-E55B-46A5D75E67A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Tx/>
              <a:buAutoNum type="romanUcPeriod"/>
            </a:pPr>
            <a:r>
              <a:rPr lang="en-US" altLang="ko-KR" sz="1200" b="1" dirty="0">
                <a:ea typeface="굴림" panose="020B0600000101010101" pitchFamily="34" charset="-127"/>
              </a:rPr>
              <a:t>Introduction</a:t>
            </a:r>
          </a:p>
          <a:p>
            <a:pPr marL="457200" indent="-457200">
              <a:buClr>
                <a:schemeClr val="tx1"/>
              </a:buClr>
              <a:buFontTx/>
              <a:buAutoNum type="romanUcPeriod"/>
            </a:pPr>
            <a:r>
              <a:rPr lang="en-US" altLang="ko-KR" sz="1200" b="1" dirty="0">
                <a:ea typeface="굴림" panose="020B0600000101010101" pitchFamily="34" charset="-127"/>
              </a:rPr>
              <a:t>Mode Coupling in Optical Waveguide</a:t>
            </a:r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en-US" sz="1200" noProof="1"/>
              <a:t>TE and TM Modes in Slab Dielectric Waveguide</a:t>
            </a:r>
            <a:endParaRPr lang="en-US" altLang="ko-KR" sz="1200" dirty="0">
              <a:ea typeface="굴림" panose="020B0600000101010101" pitchFamily="34" charset="-127"/>
            </a:endParaRPr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ko-KR" sz="1200" noProof="1"/>
              <a:t>TE/TM Polarization Converter</a:t>
            </a:r>
            <a:endParaRPr lang="en-US" altLang="ko-KR" sz="1200" dirty="0">
              <a:ea typeface="굴림" panose="020B0600000101010101" pitchFamily="34" charset="-127"/>
            </a:endParaRPr>
          </a:p>
          <a:p>
            <a:pPr marL="457200" indent="-457200">
              <a:buClr>
                <a:schemeClr val="tx1"/>
              </a:buClr>
              <a:buFontTx/>
              <a:buAutoNum type="romanUcPeriod"/>
            </a:pPr>
            <a:r>
              <a:rPr lang="en-US" altLang="ko-KR" sz="1200" b="1" dirty="0">
                <a:ea typeface="굴림" panose="020B0600000101010101" pitchFamily="34" charset="-127"/>
              </a:rPr>
              <a:t>Design of Electrooptic Matched Filter</a:t>
            </a:r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en-US" sz="1200" noProof="1"/>
              <a:t>The Principal Characteristics of EMF</a:t>
            </a:r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en-US" sz="1200" noProof="1"/>
              <a:t>The EMF Structure for Two Sidebands</a:t>
            </a:r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en-US" sz="1200" noProof="1"/>
              <a:t>The EMF Structure for Single Sideband</a:t>
            </a:r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en-US" sz="1200" noProof="1"/>
              <a:t>Matrix Formulation and Simulation Results</a:t>
            </a:r>
            <a:endParaRPr lang="en-US" altLang="ko-KR" sz="1200" dirty="0">
              <a:ea typeface="굴림" panose="020B0600000101010101" pitchFamily="34" charset="-127"/>
            </a:endParaRPr>
          </a:p>
          <a:p>
            <a:pPr marL="457200" indent="-457200">
              <a:buClr>
                <a:schemeClr val="tx1"/>
              </a:buClr>
              <a:buFontTx/>
              <a:buAutoNum type="romanUcPeriod"/>
            </a:pPr>
            <a:r>
              <a:rPr lang="en-US" altLang="ko-KR" sz="1200" b="1" dirty="0">
                <a:ea typeface="굴림" panose="020B0600000101010101" pitchFamily="34" charset="-127"/>
              </a:rPr>
              <a:t>Electronic Driving Circuit for EMF</a:t>
            </a:r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ko-KR" sz="1200" dirty="0">
                <a:ea typeface="굴림" panose="020B0600000101010101" pitchFamily="34" charset="-127"/>
              </a:rPr>
              <a:t>Digital-to-Analog Converter Driving </a:t>
            </a:r>
            <a:r>
              <a:rPr lang="en-US" altLang="ko-KR" sz="1200" dirty="0" err="1">
                <a:ea typeface="굴림" panose="020B0600000101010101" pitchFamily="34" charset="-127"/>
              </a:rPr>
              <a:t>Driving</a:t>
            </a:r>
            <a:r>
              <a:rPr lang="en-US" altLang="ko-KR" sz="1200" dirty="0">
                <a:ea typeface="굴림" panose="020B0600000101010101" pitchFamily="34" charset="-127"/>
              </a:rPr>
              <a:t> Circuit</a:t>
            </a:r>
            <a:endParaRPr lang="en-US" altLang="en-US" sz="1200" noProof="1"/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ko-KR" sz="1200" dirty="0">
                <a:ea typeface="굴림" panose="020B0600000101010101" pitchFamily="34" charset="-127"/>
              </a:rPr>
              <a:t>Loading DAC Channels</a:t>
            </a:r>
            <a:endParaRPr lang="en-US" altLang="ko-KR" sz="1200" b="1" dirty="0">
              <a:ea typeface="굴림" panose="020B0600000101010101" pitchFamily="34" charset="-127"/>
            </a:endParaRPr>
          </a:p>
          <a:p>
            <a:pPr marL="457200" indent="-457200">
              <a:buClr>
                <a:schemeClr val="tx1"/>
              </a:buClr>
              <a:buFontTx/>
              <a:buAutoNum type="romanUcPeriod"/>
            </a:pPr>
            <a:r>
              <a:rPr lang="en-US" altLang="ko-KR" sz="1200" b="1" dirty="0">
                <a:ea typeface="굴림" panose="020B0600000101010101" pitchFamily="34" charset="-127"/>
              </a:rPr>
              <a:t>Experimental Results</a:t>
            </a:r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en-US" sz="1200" noProof="1"/>
              <a:t>Experimental Configuration</a:t>
            </a:r>
          </a:p>
          <a:p>
            <a:pPr marL="990600" lvl="2" indent="-304800">
              <a:buClr>
                <a:schemeClr val="tx1"/>
              </a:buClr>
              <a:buFontTx/>
              <a:buAutoNum type="alphaUcPeriod"/>
            </a:pPr>
            <a:r>
              <a:rPr lang="en-US" altLang="en-US" sz="1200" noProof="1"/>
              <a:t>Test Results</a:t>
            </a:r>
            <a:endParaRPr lang="en-US" altLang="ko-KR" sz="1200" dirty="0">
              <a:ea typeface="굴림" panose="020B0600000101010101" pitchFamily="34" charset="-127"/>
            </a:endParaRPr>
          </a:p>
          <a:p>
            <a:pPr marL="457200" indent="-457200">
              <a:buClr>
                <a:schemeClr val="tx1"/>
              </a:buClr>
              <a:buFontTx/>
              <a:buAutoNum type="romanUcPeriod"/>
            </a:pPr>
            <a:r>
              <a:rPr lang="en-US" altLang="ko-KR" sz="1200" b="1" dirty="0">
                <a:ea typeface="굴림" panose="020B0600000101010101" pitchFamily="34" charset="-127"/>
              </a:rPr>
              <a:t>Conclusions</a:t>
            </a:r>
          </a:p>
          <a:p>
            <a:pPr marL="457200" indent="-457200">
              <a:buClr>
                <a:schemeClr val="tx1"/>
              </a:buClr>
              <a:buFontTx/>
              <a:buAutoNum type="romanUcPeriod"/>
            </a:pPr>
            <a:r>
              <a:rPr lang="en-US" altLang="ko-KR" sz="1200" b="1" dirty="0">
                <a:ea typeface="굴림" panose="020B0600000101010101" pitchFamily="34" charset="-127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5">
            <a:extLst>
              <a:ext uri="{FF2B5EF4-FFF2-40B4-BE49-F238E27FC236}">
                <a16:creationId xmlns:a16="http://schemas.microsoft.com/office/drawing/2014/main" id="{5B4A25E1-A25C-B168-B521-47D6FD28D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I. Introduction</a:t>
            </a:r>
          </a:p>
        </p:txBody>
      </p:sp>
      <p:sp>
        <p:nvSpPr>
          <p:cNvPr id="118790" name="Rectangle 6">
            <a:extLst>
              <a:ext uri="{FF2B5EF4-FFF2-40B4-BE49-F238E27FC236}">
                <a16:creationId xmlns:a16="http://schemas.microsoft.com/office/drawing/2014/main" id="{48EB468A-BEF7-C694-6812-50DF50C1005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>
                <a:ea typeface="굴림" panose="020B0600000101010101" pitchFamily="34" charset="-127"/>
              </a:rPr>
              <a:t>Optical filters - essential components in a wavelength-division multiplexed (WDM) optical networks </a:t>
            </a: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r>
              <a:rPr lang="en-US" altLang="ko-KR" sz="1400" dirty="0">
                <a:ea typeface="굴림" panose="020B0600000101010101" pitchFamily="34" charset="-127"/>
              </a:rPr>
              <a:t>Electrooptic tunable filters (EOTFs) - a good solution for sub-microsecond tunability through TE-TM mode coupling</a:t>
            </a: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r>
              <a:rPr lang="en-US" altLang="ko-KR" sz="1400" dirty="0">
                <a:ea typeface="굴림" panose="020B0600000101010101" pitchFamily="34" charset="-127"/>
              </a:rPr>
              <a:t>Conventional EOTF - a Mach-Zehnder interferometer structure, phase-matched polarization conversion, and polarization beam splitter </a:t>
            </a: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r>
              <a:rPr lang="en-US" altLang="ko-KR" sz="1400" dirty="0">
                <a:ea typeface="굴림" panose="020B0600000101010101" pitchFamily="34" charset="-127"/>
              </a:rPr>
              <a:t>Electrooptic matched filter (EMF) is a new type of EOTF providing wide spectral tuning range and rapid tuning </a:t>
            </a: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r>
              <a:rPr lang="en-US" altLang="ko-KR" sz="1400" dirty="0">
                <a:ea typeface="굴림" panose="020B0600000101010101" pitchFamily="34" charset="-127"/>
              </a:rPr>
              <a:t>EMF - designed for operation in the 1550 nm wavelength regime for 100 GHz (0.8 nm) channel spacing corresponding to the ITU–T grid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8941DA9E-5497-578E-6054-40753A7C1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II. Mode Coupling in Optical Waveguide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598C3F9E-0127-50AD-1AB7-E23489B54C1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042592"/>
            <a:ext cx="8641655" cy="2153444"/>
          </a:xfrm>
        </p:spPr>
        <p:txBody>
          <a:bodyPr>
            <a:normAutofit/>
          </a:bodyPr>
          <a:lstStyle/>
          <a:p>
            <a:r>
              <a:rPr lang="en-US" altLang="ko-KR" sz="1500" dirty="0">
                <a:ea typeface="굴림" panose="020B0600000101010101" pitchFamily="34" charset="-127"/>
              </a:rPr>
              <a:t>Optical waveguide</a:t>
            </a:r>
          </a:p>
          <a:p>
            <a:endParaRPr lang="en-US" altLang="ko-KR" sz="1500" dirty="0">
              <a:ea typeface="굴림" panose="020B0600000101010101" pitchFamily="34" charset="-127"/>
            </a:endParaRPr>
          </a:p>
          <a:p>
            <a:endParaRPr lang="en-US" altLang="ko-KR" sz="1500" dirty="0">
              <a:ea typeface="굴림" panose="020B0600000101010101" pitchFamily="34" charset="-127"/>
            </a:endParaRPr>
          </a:p>
          <a:p>
            <a:endParaRPr lang="en-US" altLang="ko-KR" sz="1500" dirty="0">
              <a:ea typeface="굴림" panose="020B0600000101010101" pitchFamily="34" charset="-127"/>
            </a:endParaRPr>
          </a:p>
          <a:p>
            <a:endParaRPr lang="en-US" altLang="ko-KR" sz="1500" dirty="0">
              <a:ea typeface="굴림" panose="020B0600000101010101" pitchFamily="34" charset="-127"/>
            </a:endParaRPr>
          </a:p>
          <a:p>
            <a:endParaRPr lang="en-US" altLang="ko-KR" sz="1500" dirty="0">
              <a:ea typeface="굴림" panose="020B0600000101010101" pitchFamily="34" charset="-127"/>
            </a:endParaRPr>
          </a:p>
          <a:p>
            <a:endParaRPr lang="en-US" altLang="ko-KR" sz="1500" dirty="0">
              <a:ea typeface="굴림" panose="020B0600000101010101" pitchFamily="34" charset="-127"/>
            </a:endParaRPr>
          </a:p>
          <a:p>
            <a:r>
              <a:rPr lang="en-US" altLang="ko-KR" sz="1500" dirty="0">
                <a:ea typeface="굴림" panose="020B0600000101010101" pitchFamily="34" charset="-127"/>
              </a:rPr>
              <a:t>The step-index planar waveguide is the simplest structure for discussing fundamental properties of guided modes </a:t>
            </a:r>
          </a:p>
        </p:txBody>
      </p:sp>
      <p:sp>
        <p:nvSpPr>
          <p:cNvPr id="121861" name="Text Box 5">
            <a:extLst>
              <a:ext uri="{FF2B5EF4-FFF2-40B4-BE49-F238E27FC236}">
                <a16:creationId xmlns:a16="http://schemas.microsoft.com/office/drawing/2014/main" id="{1A95547C-C444-2658-4888-448706785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667790"/>
            <a:ext cx="61769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dirty="0">
                <a:ea typeface="굴림" panose="020B0600000101010101" pitchFamily="34" charset="-127"/>
              </a:rPr>
              <a:t>A. </a:t>
            </a:r>
            <a:r>
              <a:rPr lang="en-US" altLang="en-US" sz="1600" b="1" noProof="1"/>
              <a:t>TE and TM Modes in Slab Dielectric Waveguide</a:t>
            </a:r>
            <a:endParaRPr lang="en-US" altLang="ko-KR" sz="1600" b="1" dirty="0">
              <a:ea typeface="굴림" panose="020B0600000101010101" pitchFamily="34" charset="-127"/>
            </a:endParaRPr>
          </a:p>
        </p:txBody>
      </p:sp>
      <p:grpSp>
        <p:nvGrpSpPr>
          <p:cNvPr id="121922" name="Group 66">
            <a:extLst>
              <a:ext uri="{FF2B5EF4-FFF2-40B4-BE49-F238E27FC236}">
                <a16:creationId xmlns:a16="http://schemas.microsoft.com/office/drawing/2014/main" id="{2DFF5421-B557-86B3-45B4-46D9FA07FF93}"/>
              </a:ext>
            </a:extLst>
          </p:cNvPr>
          <p:cNvGrpSpPr>
            <a:grpSpLocks/>
          </p:cNvGrpSpPr>
          <p:nvPr/>
        </p:nvGrpSpPr>
        <p:grpSpPr bwMode="auto">
          <a:xfrm>
            <a:off x="2652713" y="3176587"/>
            <a:ext cx="2339578" cy="1414463"/>
            <a:chOff x="1837" y="2475"/>
            <a:chExt cx="1965" cy="1188"/>
          </a:xfrm>
        </p:grpSpPr>
        <p:sp>
          <p:nvSpPr>
            <p:cNvPr id="121885" name="Text Box 29">
              <a:extLst>
                <a:ext uri="{FF2B5EF4-FFF2-40B4-BE49-F238E27FC236}">
                  <a16:creationId xmlns:a16="http://schemas.microsoft.com/office/drawing/2014/main" id="{90F40D75-BFF9-4051-F5A6-7CB7784F8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" y="3115"/>
              <a:ext cx="93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Region II	n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2</a:t>
              </a:r>
            </a:p>
          </p:txBody>
        </p:sp>
        <p:sp>
          <p:nvSpPr>
            <p:cNvPr id="121886" name="Text Box 30">
              <a:extLst>
                <a:ext uri="{FF2B5EF4-FFF2-40B4-BE49-F238E27FC236}">
                  <a16:creationId xmlns:a16="http://schemas.microsoft.com/office/drawing/2014/main" id="{D6233198-E761-9433-E43F-E681B1C42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" y="2840"/>
              <a:ext cx="93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Region I	n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1</a:t>
              </a:r>
            </a:p>
          </p:txBody>
        </p:sp>
        <p:sp>
          <p:nvSpPr>
            <p:cNvPr id="121887" name="Text Box 31">
              <a:extLst>
                <a:ext uri="{FF2B5EF4-FFF2-40B4-BE49-F238E27FC236}">
                  <a16:creationId xmlns:a16="http://schemas.microsoft.com/office/drawing/2014/main" id="{19C9757D-44D2-021F-2ABF-8D748ADB9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" y="3391"/>
              <a:ext cx="93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Region III	n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3</a:t>
              </a:r>
            </a:p>
          </p:txBody>
        </p:sp>
        <p:sp>
          <p:nvSpPr>
            <p:cNvPr id="121888" name="Line 32">
              <a:extLst>
                <a:ext uri="{FF2B5EF4-FFF2-40B4-BE49-F238E27FC236}">
                  <a16:creationId xmlns:a16="http://schemas.microsoft.com/office/drawing/2014/main" id="{1621FEC1-5C67-990F-03F2-BF2EC12F2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0" y="2635"/>
              <a:ext cx="4" cy="10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889" name="Text Box 33">
              <a:extLst>
                <a:ext uri="{FF2B5EF4-FFF2-40B4-BE49-F238E27FC236}">
                  <a16:creationId xmlns:a16="http://schemas.microsoft.com/office/drawing/2014/main" id="{1F36448D-DE23-2FFC-88B4-B5B1DC7D1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" y="2475"/>
              <a:ext cx="17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x</a:t>
              </a:r>
            </a:p>
          </p:txBody>
        </p:sp>
        <p:sp>
          <p:nvSpPr>
            <p:cNvPr id="121890" name="Text Box 34">
              <a:extLst>
                <a:ext uri="{FF2B5EF4-FFF2-40B4-BE49-F238E27FC236}">
                  <a16:creationId xmlns:a16="http://schemas.microsoft.com/office/drawing/2014/main" id="{711BDEB4-65A5-39FA-C027-F38C5882B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2923"/>
              <a:ext cx="277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0</a:t>
              </a:r>
            </a:p>
            <a:p>
              <a:pPr algn="r">
                <a:spcBef>
                  <a:spcPct val="50000"/>
                </a:spcBef>
              </a:pPr>
              <a:endParaRPr lang="en-US" altLang="ko-KR" sz="9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  <a:p>
              <a:pPr algn="r"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-t</a:t>
              </a:r>
            </a:p>
          </p:txBody>
        </p:sp>
        <p:sp>
          <p:nvSpPr>
            <p:cNvPr id="121891" name="Line 35">
              <a:extLst>
                <a:ext uri="{FF2B5EF4-FFF2-40B4-BE49-F238E27FC236}">
                  <a16:creationId xmlns:a16="http://schemas.microsoft.com/office/drawing/2014/main" id="{C914FBF2-1F7D-E1F6-0312-5E5DF3B91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" y="3039"/>
              <a:ext cx="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892" name="Text Box 36">
              <a:extLst>
                <a:ext uri="{FF2B5EF4-FFF2-40B4-BE49-F238E27FC236}">
                  <a16:creationId xmlns:a16="http://schemas.microsoft.com/office/drawing/2014/main" id="{748A6853-C5F9-AA2B-6789-13F673C85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" y="2948"/>
              <a:ext cx="17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</a:p>
          </p:txBody>
        </p:sp>
        <p:sp>
          <p:nvSpPr>
            <p:cNvPr id="121893" name="Line 37">
              <a:extLst>
                <a:ext uri="{FF2B5EF4-FFF2-40B4-BE49-F238E27FC236}">
                  <a16:creationId xmlns:a16="http://schemas.microsoft.com/office/drawing/2014/main" id="{F8415D44-0F70-9140-DC7B-A7391D77C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3039"/>
              <a:ext cx="12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894" name="Line 38">
              <a:extLst>
                <a:ext uri="{FF2B5EF4-FFF2-40B4-BE49-F238E27FC236}">
                  <a16:creationId xmlns:a16="http://schemas.microsoft.com/office/drawing/2014/main" id="{557A31AA-E2DE-69B8-FF62-0A6E5B700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3373"/>
              <a:ext cx="12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</p:grpSp>
      <p:grpSp>
        <p:nvGrpSpPr>
          <p:cNvPr id="121899" name="Group 43">
            <a:extLst>
              <a:ext uri="{FF2B5EF4-FFF2-40B4-BE49-F238E27FC236}">
                <a16:creationId xmlns:a16="http://schemas.microsoft.com/office/drawing/2014/main" id="{FC10B167-D474-3AD0-2D9C-9AA8C066F4D7}"/>
              </a:ext>
            </a:extLst>
          </p:cNvPr>
          <p:cNvGrpSpPr>
            <a:grpSpLocks/>
          </p:cNvGrpSpPr>
          <p:nvPr/>
        </p:nvGrpSpPr>
        <p:grpSpPr bwMode="auto">
          <a:xfrm>
            <a:off x="2513410" y="1509317"/>
            <a:ext cx="3442097" cy="1122012"/>
            <a:chOff x="1151" y="1508"/>
            <a:chExt cx="3221" cy="1249"/>
          </a:xfrm>
        </p:grpSpPr>
        <p:sp>
          <p:nvSpPr>
            <p:cNvPr id="121900" name="Rectangle 44">
              <a:extLst>
                <a:ext uri="{FF2B5EF4-FFF2-40B4-BE49-F238E27FC236}">
                  <a16:creationId xmlns:a16="http://schemas.microsoft.com/office/drawing/2014/main" id="{FBDE7F2C-CDAA-07C7-92AD-B3E70C988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2163"/>
              <a:ext cx="573" cy="2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1901" name="Rectangle 45">
              <a:extLst>
                <a:ext uri="{FF2B5EF4-FFF2-40B4-BE49-F238E27FC236}">
                  <a16:creationId xmlns:a16="http://schemas.microsoft.com/office/drawing/2014/main" id="{E407F448-9AF1-FC2F-5AD8-8592912A3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268"/>
              <a:ext cx="572" cy="5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1902" name="AutoShape 46">
              <a:extLst>
                <a:ext uri="{FF2B5EF4-FFF2-40B4-BE49-F238E27FC236}">
                  <a16:creationId xmlns:a16="http://schemas.microsoft.com/office/drawing/2014/main" id="{2A64EEFF-B9DD-14A6-B3D6-E7030A51D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1510"/>
              <a:ext cx="1020" cy="652"/>
            </a:xfrm>
            <a:prstGeom prst="parallelogram">
              <a:avLst>
                <a:gd name="adj" fmla="val 82198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1903" name="Freeform 47">
              <a:extLst>
                <a:ext uri="{FF2B5EF4-FFF2-40B4-BE49-F238E27FC236}">
                  <a16:creationId xmlns:a16="http://schemas.microsoft.com/office/drawing/2014/main" id="{86B9BF86-A060-AECA-6E8D-FC3CAD9E6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3" y="1610"/>
              <a:ext cx="452" cy="716"/>
            </a:xfrm>
            <a:custGeom>
              <a:avLst/>
              <a:gdLst>
                <a:gd name="T0" fmla="*/ 1 w 452"/>
                <a:gd name="T1" fmla="*/ 654 h 716"/>
                <a:gd name="T2" fmla="*/ 452 w 452"/>
                <a:gd name="T3" fmla="*/ 0 h 716"/>
                <a:gd name="T4" fmla="*/ 452 w 452"/>
                <a:gd name="T5" fmla="*/ 75 h 716"/>
                <a:gd name="T6" fmla="*/ 0 w 452"/>
                <a:gd name="T7" fmla="*/ 716 h 716"/>
                <a:gd name="T8" fmla="*/ 1 w 452"/>
                <a:gd name="T9" fmla="*/ 654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2" h="716">
                  <a:moveTo>
                    <a:pt x="1" y="654"/>
                  </a:moveTo>
                  <a:lnTo>
                    <a:pt x="452" y="0"/>
                  </a:lnTo>
                  <a:lnTo>
                    <a:pt x="452" y="75"/>
                  </a:lnTo>
                  <a:lnTo>
                    <a:pt x="0" y="716"/>
                  </a:lnTo>
                  <a:lnTo>
                    <a:pt x="1" y="654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04" name="Freeform 48">
              <a:extLst>
                <a:ext uri="{FF2B5EF4-FFF2-40B4-BE49-F238E27FC236}">
                  <a16:creationId xmlns:a16="http://schemas.microsoft.com/office/drawing/2014/main" id="{BA74F0BD-9E2E-7C68-604B-B0F6ABED9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508"/>
              <a:ext cx="456" cy="915"/>
            </a:xfrm>
            <a:custGeom>
              <a:avLst/>
              <a:gdLst>
                <a:gd name="T0" fmla="*/ 0 w 456"/>
                <a:gd name="T1" fmla="*/ 915 h 915"/>
                <a:gd name="T2" fmla="*/ 456 w 456"/>
                <a:gd name="T3" fmla="*/ 270 h 915"/>
                <a:gd name="T4" fmla="*/ 453 w 456"/>
                <a:gd name="T5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6" h="915">
                  <a:moveTo>
                    <a:pt x="0" y="915"/>
                  </a:moveTo>
                  <a:lnTo>
                    <a:pt x="456" y="270"/>
                  </a:lnTo>
                  <a:lnTo>
                    <a:pt x="45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05" name="Rectangle 49">
              <a:extLst>
                <a:ext uri="{FF2B5EF4-FFF2-40B4-BE49-F238E27FC236}">
                  <a16:creationId xmlns:a16="http://schemas.microsoft.com/office/drawing/2014/main" id="{A3AC4017-3B04-7DB2-58E4-DAC7C5B86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254"/>
              <a:ext cx="392" cy="14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1906" name="Freeform 50">
              <a:extLst>
                <a:ext uri="{FF2B5EF4-FFF2-40B4-BE49-F238E27FC236}">
                  <a16:creationId xmlns:a16="http://schemas.microsoft.com/office/drawing/2014/main" id="{0416F6E2-0F01-AB2C-DB35-1B818EFA7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1596"/>
              <a:ext cx="442" cy="802"/>
            </a:xfrm>
            <a:custGeom>
              <a:avLst/>
              <a:gdLst>
                <a:gd name="T0" fmla="*/ 0 w 442"/>
                <a:gd name="T1" fmla="*/ 802 h 802"/>
                <a:gd name="T2" fmla="*/ 442 w 442"/>
                <a:gd name="T3" fmla="*/ 129 h 802"/>
                <a:gd name="T4" fmla="*/ 442 w 442"/>
                <a:gd name="T5" fmla="*/ 0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2" h="802">
                  <a:moveTo>
                    <a:pt x="0" y="802"/>
                  </a:moveTo>
                  <a:lnTo>
                    <a:pt x="442" y="129"/>
                  </a:lnTo>
                  <a:lnTo>
                    <a:pt x="4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07" name="Freeform 51">
              <a:extLst>
                <a:ext uri="{FF2B5EF4-FFF2-40B4-BE49-F238E27FC236}">
                  <a16:creationId xmlns:a16="http://schemas.microsoft.com/office/drawing/2014/main" id="{6478D09E-80A7-13BA-C8F1-25A99FC72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1593"/>
              <a:ext cx="546" cy="661"/>
            </a:xfrm>
            <a:custGeom>
              <a:avLst/>
              <a:gdLst>
                <a:gd name="T0" fmla="*/ 429 w 546"/>
                <a:gd name="T1" fmla="*/ 0 h 661"/>
                <a:gd name="T2" fmla="*/ 0 w 546"/>
                <a:gd name="T3" fmla="*/ 661 h 661"/>
                <a:gd name="T4" fmla="*/ 113 w 546"/>
                <a:gd name="T5" fmla="*/ 661 h 661"/>
                <a:gd name="T6" fmla="*/ 546 w 546"/>
                <a:gd name="T7" fmla="*/ 0 h 661"/>
                <a:gd name="T8" fmla="*/ 429 w 546"/>
                <a:gd name="T9" fmla="*/ 0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661">
                  <a:moveTo>
                    <a:pt x="429" y="0"/>
                  </a:moveTo>
                  <a:lnTo>
                    <a:pt x="0" y="661"/>
                  </a:lnTo>
                  <a:lnTo>
                    <a:pt x="113" y="661"/>
                  </a:lnTo>
                  <a:lnTo>
                    <a:pt x="546" y="0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08" name="Rectangle 52">
              <a:extLst>
                <a:ext uri="{FF2B5EF4-FFF2-40B4-BE49-F238E27FC236}">
                  <a16:creationId xmlns:a16="http://schemas.microsoft.com/office/drawing/2014/main" id="{03DECCDC-A161-1543-CF32-CE9B8F446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2" y="2251"/>
              <a:ext cx="113" cy="57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1909" name="Oval 53">
              <a:extLst>
                <a:ext uri="{FF2B5EF4-FFF2-40B4-BE49-F238E27FC236}">
                  <a16:creationId xmlns:a16="http://schemas.microsoft.com/office/drawing/2014/main" id="{B97DC902-F3DD-81AE-0E1D-E58F5A56F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1536"/>
              <a:ext cx="198" cy="19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1910" name="Line 54">
              <a:extLst>
                <a:ext uri="{FF2B5EF4-FFF2-40B4-BE49-F238E27FC236}">
                  <a16:creationId xmlns:a16="http://schemas.microsoft.com/office/drawing/2014/main" id="{53B7692F-657F-68BE-E591-07346574F2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5" y="1576"/>
              <a:ext cx="466" cy="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11" name="Freeform 55">
              <a:extLst>
                <a:ext uri="{FF2B5EF4-FFF2-40B4-BE49-F238E27FC236}">
                  <a16:creationId xmlns:a16="http://schemas.microsoft.com/office/drawing/2014/main" id="{58F4F1E4-0AD8-26AF-1927-3544F78A8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" y="1629"/>
              <a:ext cx="510" cy="738"/>
            </a:xfrm>
            <a:custGeom>
              <a:avLst/>
              <a:gdLst>
                <a:gd name="T0" fmla="*/ 465 w 510"/>
                <a:gd name="T1" fmla="*/ 0 h 738"/>
                <a:gd name="T2" fmla="*/ 0 w 510"/>
                <a:gd name="T3" fmla="*/ 713 h 738"/>
                <a:gd name="T4" fmla="*/ 40 w 510"/>
                <a:gd name="T5" fmla="*/ 738 h 738"/>
                <a:gd name="T6" fmla="*/ 510 w 510"/>
                <a:gd name="T7" fmla="*/ 18 h 738"/>
                <a:gd name="T8" fmla="*/ 465 w 510"/>
                <a:gd name="T9" fmla="*/ 0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38">
                  <a:moveTo>
                    <a:pt x="465" y="0"/>
                  </a:moveTo>
                  <a:lnTo>
                    <a:pt x="0" y="713"/>
                  </a:lnTo>
                  <a:lnTo>
                    <a:pt x="40" y="738"/>
                  </a:lnTo>
                  <a:lnTo>
                    <a:pt x="510" y="18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chemeClr val="bg2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12" name="Oval 56">
              <a:extLst>
                <a:ext uri="{FF2B5EF4-FFF2-40B4-BE49-F238E27FC236}">
                  <a16:creationId xmlns:a16="http://schemas.microsoft.com/office/drawing/2014/main" id="{382DF316-453F-8580-A274-3FEB09455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8" y="1610"/>
              <a:ext cx="53" cy="53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1913" name="Oval 57">
              <a:extLst>
                <a:ext uri="{FF2B5EF4-FFF2-40B4-BE49-F238E27FC236}">
                  <a16:creationId xmlns:a16="http://schemas.microsoft.com/office/drawing/2014/main" id="{4AEC92CF-0D6B-31FD-931D-50D0D38CE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246"/>
              <a:ext cx="198" cy="19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1914" name="Line 58">
              <a:extLst>
                <a:ext uri="{FF2B5EF4-FFF2-40B4-BE49-F238E27FC236}">
                  <a16:creationId xmlns:a16="http://schemas.microsoft.com/office/drawing/2014/main" id="{926A115D-5EAE-E1C4-22D9-B3F6A77815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0" y="2255"/>
              <a:ext cx="55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15" name="Line 59">
              <a:extLst>
                <a:ext uri="{FF2B5EF4-FFF2-40B4-BE49-F238E27FC236}">
                  <a16:creationId xmlns:a16="http://schemas.microsoft.com/office/drawing/2014/main" id="{50944A21-FB59-E1EA-00E6-7A7C4A42B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1" y="2277"/>
              <a:ext cx="55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16" name="Oval 60">
              <a:extLst>
                <a:ext uri="{FF2B5EF4-FFF2-40B4-BE49-F238E27FC236}">
                  <a16:creationId xmlns:a16="http://schemas.microsoft.com/office/drawing/2014/main" id="{B3DA7E3A-532E-F626-C8EE-956CBD648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2325"/>
              <a:ext cx="53" cy="53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1917" name="Freeform 61">
              <a:extLst>
                <a:ext uri="{FF2B5EF4-FFF2-40B4-BE49-F238E27FC236}">
                  <a16:creationId xmlns:a16="http://schemas.microsoft.com/office/drawing/2014/main" id="{AC173C70-63B8-DC5E-9407-9D9DC5AA4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4" y="1593"/>
              <a:ext cx="834" cy="659"/>
            </a:xfrm>
            <a:custGeom>
              <a:avLst/>
              <a:gdLst>
                <a:gd name="T0" fmla="*/ 0 w 834"/>
                <a:gd name="T1" fmla="*/ 659 h 659"/>
                <a:gd name="T2" fmla="*/ 397 w 834"/>
                <a:gd name="T3" fmla="*/ 659 h 659"/>
                <a:gd name="T4" fmla="*/ 834 w 834"/>
                <a:gd name="T5" fmla="*/ 0 h 659"/>
                <a:gd name="T6" fmla="*/ 435 w 834"/>
                <a:gd name="T7" fmla="*/ 0 h 659"/>
                <a:gd name="T8" fmla="*/ 0 w 834"/>
                <a:gd name="T9" fmla="*/ 659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4" h="659">
                  <a:moveTo>
                    <a:pt x="0" y="659"/>
                  </a:moveTo>
                  <a:lnTo>
                    <a:pt x="397" y="659"/>
                  </a:lnTo>
                  <a:lnTo>
                    <a:pt x="834" y="0"/>
                  </a:lnTo>
                  <a:lnTo>
                    <a:pt x="435" y="0"/>
                  </a:lnTo>
                  <a:lnTo>
                    <a:pt x="0" y="6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18" name="Line 62">
              <a:extLst>
                <a:ext uri="{FF2B5EF4-FFF2-40B4-BE49-F238E27FC236}">
                  <a16:creationId xmlns:a16="http://schemas.microsoft.com/office/drawing/2014/main" id="{908BCBA7-E1AD-BBDC-5311-6AE52B7A2D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93" y="1683"/>
              <a:ext cx="466" cy="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1919" name="Text Box 63">
              <a:extLst>
                <a:ext uri="{FF2B5EF4-FFF2-40B4-BE49-F238E27FC236}">
                  <a16:creationId xmlns:a16="http://schemas.microsoft.com/office/drawing/2014/main" id="{8DF4D011-5DAD-05A9-43A0-BD0379E5F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2500"/>
              <a:ext cx="39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(a)</a:t>
              </a:r>
            </a:p>
          </p:txBody>
        </p:sp>
        <p:sp>
          <p:nvSpPr>
            <p:cNvPr id="121920" name="Text Box 64">
              <a:extLst>
                <a:ext uri="{FF2B5EF4-FFF2-40B4-BE49-F238E27FC236}">
                  <a16:creationId xmlns:a16="http://schemas.microsoft.com/office/drawing/2014/main" id="{A2609DD0-3552-312A-F22B-6CCC7442E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2" y="2500"/>
              <a:ext cx="38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(b)</a:t>
              </a:r>
            </a:p>
          </p:txBody>
        </p:sp>
        <p:sp>
          <p:nvSpPr>
            <p:cNvPr id="121921" name="Text Box 65">
              <a:extLst>
                <a:ext uri="{FF2B5EF4-FFF2-40B4-BE49-F238E27FC236}">
                  <a16:creationId xmlns:a16="http://schemas.microsoft.com/office/drawing/2014/main" id="{B808FC45-226E-147C-EF27-506C080C5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2500"/>
              <a:ext cx="255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(c)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E5A716F9-4675-DEAE-3662-932B88717B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Wave Equation in Slab Waveguide</a:t>
            </a:r>
          </a:p>
        </p:txBody>
      </p:sp>
      <p:sp>
        <p:nvSpPr>
          <p:cNvPr id="122898" name="Rectangle 18">
            <a:extLst>
              <a:ext uri="{FF2B5EF4-FFF2-40B4-BE49-F238E27FC236}">
                <a16:creationId xmlns:a16="http://schemas.microsoft.com/office/drawing/2014/main" id="{49A056E1-E487-B861-7888-D0D7172DF63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065610"/>
            <a:ext cx="8641655" cy="3274615"/>
          </a:xfrm>
        </p:spPr>
        <p:txBody>
          <a:bodyPr>
            <a:normAutofit/>
          </a:bodyPr>
          <a:lstStyle/>
          <a:p>
            <a:r>
              <a:rPr lang="en-US" altLang="ko-KR" sz="1400" dirty="0">
                <a:ea typeface="굴림" panose="020B0600000101010101" pitchFamily="34" charset="-127"/>
              </a:rPr>
              <a:t>The allowed modes of this waveguide are obtained from the wave equation given by</a:t>
            </a: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r>
              <a:rPr lang="en-US" altLang="ko-KR" sz="1400" dirty="0">
                <a:ea typeface="굴림" panose="020B0600000101010101" pitchFamily="34" charset="-127"/>
              </a:rPr>
              <a:t>The solutions are subject to the boundary conditions: tangential components of  E and H are continuous at the interfaces x = 0 and –t</a:t>
            </a: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r>
              <a:rPr lang="en-US" altLang="ko-KR" sz="1400" dirty="0">
                <a:ea typeface="굴림" panose="020B0600000101010101" pitchFamily="34" charset="-127"/>
              </a:rPr>
              <a:t>Assuming an isotropic and lossless medium in the waveguide, Maxwell’s equations written by</a:t>
            </a:r>
            <a:br>
              <a:rPr lang="en-US" altLang="ko-KR" sz="1400" dirty="0">
                <a:ea typeface="굴림" panose="020B0600000101010101" pitchFamily="34" charset="-127"/>
              </a:rPr>
            </a:br>
            <a:endParaRPr lang="en-US" altLang="ko-KR" sz="1400" dirty="0">
              <a:ea typeface="굴림" panose="020B0600000101010101" pitchFamily="34" charset="-127"/>
            </a:endParaRPr>
          </a:p>
          <a:p>
            <a:pPr marL="288000" lvl="1" indent="0">
              <a:buNone/>
            </a:pPr>
            <a:r>
              <a:rPr lang="en-US" altLang="ko-KR" sz="1400" dirty="0">
                <a:ea typeface="굴림" panose="020B0600000101010101" pitchFamily="34" charset="-127"/>
              </a:rPr>
              <a:t>                                                      and</a:t>
            </a:r>
            <a:br>
              <a:rPr lang="en-US" altLang="ko-KR" sz="1400" dirty="0">
                <a:ea typeface="굴림" panose="020B0600000101010101" pitchFamily="34" charset="-127"/>
              </a:rPr>
            </a:br>
            <a:br>
              <a:rPr lang="en-US" altLang="ko-KR" sz="1400" dirty="0">
                <a:ea typeface="굴림" panose="020B0600000101010101" pitchFamily="34" charset="-127"/>
              </a:rPr>
            </a:br>
            <a:r>
              <a:rPr lang="en-US" altLang="ko-KR" sz="1400" dirty="0">
                <a:ea typeface="굴림" panose="020B0600000101010101" pitchFamily="34" charset="-127"/>
              </a:rPr>
              <a:t>yields two orthogonal modes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896" name="Object 16">
                <a:extLst>
                  <a:ext uri="{FF2B5EF4-FFF2-40B4-BE49-F238E27FC236}">
                    <a16:creationId xmlns:a16="http://schemas.microsoft.com/office/drawing/2014/main" id="{DF0FA109-51C3-F45C-C903-D131EB5101FF}"/>
                  </a:ext>
                </a:extLst>
              </p:cNvPr>
              <p:cNvSpPr txBox="1"/>
              <p:nvPr/>
            </p:nvSpPr>
            <p:spPr bwMode="auto">
              <a:xfrm>
                <a:off x="3022600" y="1593056"/>
                <a:ext cx="2359026" cy="2571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Sup>
                        <m:sSub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22896" name="Object 16">
                <a:extLst>
                  <a:ext uri="{FF2B5EF4-FFF2-40B4-BE49-F238E27FC236}">
                    <a16:creationId xmlns:a16="http://schemas.microsoft.com/office/drawing/2014/main" id="{DF0FA109-51C3-F45C-C903-D131EB510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2600" y="1593056"/>
                <a:ext cx="2359026" cy="257175"/>
              </a:xfrm>
              <a:prstGeom prst="rect">
                <a:avLst/>
              </a:prstGeom>
              <a:blipFill>
                <a:blip r:embed="rId3"/>
                <a:stretch>
                  <a:fillRect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899" name="Object 19">
                <a:extLst>
                  <a:ext uri="{FF2B5EF4-FFF2-40B4-BE49-F238E27FC236}">
                    <a16:creationId xmlns:a16="http://schemas.microsoft.com/office/drawing/2014/main" id="{F7A67486-93FD-2868-1C0E-8F659EF33709}"/>
                  </a:ext>
                </a:extLst>
              </p:cNvPr>
              <p:cNvSpPr txBox="1"/>
              <p:nvPr/>
            </p:nvSpPr>
            <p:spPr bwMode="auto">
              <a:xfrm>
                <a:off x="3862388" y="3120626"/>
                <a:ext cx="1519238" cy="3619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num>
                        <m:den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22899" name="Object 19">
                <a:extLst>
                  <a:ext uri="{FF2B5EF4-FFF2-40B4-BE49-F238E27FC236}">
                    <a16:creationId xmlns:a16="http://schemas.microsoft.com/office/drawing/2014/main" id="{F7A67486-93FD-2868-1C0E-8F659EF3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2388" y="3120626"/>
                <a:ext cx="1519238" cy="361950"/>
              </a:xfrm>
              <a:prstGeom prst="rect">
                <a:avLst/>
              </a:prstGeom>
              <a:blipFill>
                <a:blip r:embed="rId4"/>
                <a:stretch>
                  <a:fillRect b="-3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01" name="Object 21">
                <a:extLst>
                  <a:ext uri="{FF2B5EF4-FFF2-40B4-BE49-F238E27FC236}">
                    <a16:creationId xmlns:a16="http://schemas.microsoft.com/office/drawing/2014/main" id="{CE427585-409C-B254-EC67-7E706830AB78}"/>
                  </a:ext>
                </a:extLst>
              </p:cNvPr>
              <p:cNvSpPr txBox="1"/>
              <p:nvPr/>
            </p:nvSpPr>
            <p:spPr bwMode="auto">
              <a:xfrm>
                <a:off x="1568451" y="3109315"/>
                <a:ext cx="1494754" cy="38457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num>
                        <m:den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22901" name="Object 21">
                <a:extLst>
                  <a:ext uri="{FF2B5EF4-FFF2-40B4-BE49-F238E27FC236}">
                    <a16:creationId xmlns:a16="http://schemas.microsoft.com/office/drawing/2014/main" id="{CE427585-409C-B254-EC67-7E706830A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8451" y="3109315"/>
                <a:ext cx="1494754" cy="384572"/>
              </a:xfrm>
              <a:prstGeom prst="rect">
                <a:avLst/>
              </a:prstGeom>
              <a:blipFill>
                <a:blip r:embed="rId5"/>
                <a:stretch>
                  <a:fillRect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>
            <a:extLst>
              <a:ext uri="{FF2B5EF4-FFF2-40B4-BE49-F238E27FC236}">
                <a16:creationId xmlns:a16="http://schemas.microsoft.com/office/drawing/2014/main" id="{D9356CF1-99E4-721C-42B5-4780E6001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TE and TM Modes</a:t>
            </a:r>
          </a:p>
        </p:txBody>
      </p:sp>
      <p:sp>
        <p:nvSpPr>
          <p:cNvPr id="123915" name="Text Box 11">
            <a:extLst>
              <a:ext uri="{FF2B5EF4-FFF2-40B4-BE49-F238E27FC236}">
                <a16:creationId xmlns:a16="http://schemas.microsoft.com/office/drawing/2014/main" id="{37771B70-C75D-453B-6C04-DB0DEE27E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44" y="1158002"/>
            <a:ext cx="1248965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ts val="1200"/>
              </a:spcBef>
            </a:pPr>
            <a:r>
              <a:rPr lang="en-US" altLang="ko-KR" sz="1200" dirty="0">
                <a:latin typeface="Times New Roman" panose="02020603050405020304" pitchFamily="18" charset="0"/>
                <a:ea typeface="굴림" panose="020B0600000101010101" pitchFamily="34" charset="-127"/>
              </a:rPr>
              <a:t>Wave equation </a:t>
            </a:r>
            <a:br>
              <a:rPr lang="en-US" altLang="ko-KR" sz="1200" dirty="0">
                <a:latin typeface="Times New Roman" panose="02020603050405020304" pitchFamily="18" charset="0"/>
                <a:ea typeface="굴림" panose="020B0600000101010101" pitchFamily="34" charset="-127"/>
              </a:rPr>
            </a:br>
            <a:br>
              <a:rPr lang="en-US" altLang="ko-KR" sz="1200" dirty="0"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lang="en-US" altLang="ko-KR" sz="1200" dirty="0">
                <a:latin typeface="Times New Roman" panose="02020603050405020304" pitchFamily="18" charset="0"/>
                <a:ea typeface="굴림" panose="020B0600000101010101" pitchFamily="34" charset="-127"/>
              </a:rPr>
              <a:t>Maxwell’s equations</a:t>
            </a:r>
          </a:p>
          <a:p>
            <a:pPr algn="r">
              <a:spcBef>
                <a:spcPts val="1200"/>
              </a:spcBef>
            </a:pPr>
            <a:endParaRPr lang="en-US" altLang="ko-KR" sz="12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algn="r">
              <a:spcBef>
                <a:spcPts val="1200"/>
              </a:spcBef>
            </a:pPr>
            <a:r>
              <a:rPr lang="en-US" altLang="ko-KR" sz="1200" dirty="0">
                <a:latin typeface="Times New Roman" panose="02020603050405020304" pitchFamily="18" charset="0"/>
                <a:ea typeface="굴림" panose="020B0600000101010101" pitchFamily="34" charset="-127"/>
              </a:rPr>
              <a:t>TE/TM Mode field solution  in each layer</a:t>
            </a:r>
          </a:p>
          <a:p>
            <a:pPr algn="r">
              <a:spcBef>
                <a:spcPts val="1200"/>
              </a:spcBef>
            </a:pPr>
            <a:endParaRPr lang="en-US" altLang="ko-KR" sz="12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algn="r">
              <a:spcBef>
                <a:spcPts val="1200"/>
              </a:spcBef>
            </a:pPr>
            <a:r>
              <a:rPr lang="en-US" altLang="ko-KR" sz="1200" dirty="0">
                <a:latin typeface="Times New Roman" panose="02020603050405020304" pitchFamily="18" charset="0"/>
                <a:ea typeface="굴림" panose="020B0600000101010101" pitchFamily="34" charset="-127"/>
              </a:rPr>
              <a:t>Eigenvalue</a:t>
            </a:r>
            <a:br>
              <a:rPr lang="en-US" altLang="ko-KR" sz="1200" dirty="0"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lang="en-US" altLang="ko-KR" sz="1200" dirty="0">
                <a:latin typeface="Times New Roman" panose="02020603050405020304" pitchFamily="18" charset="0"/>
                <a:ea typeface="굴림" panose="020B0600000101010101" pitchFamily="34" charset="-127"/>
              </a:rPr>
              <a:t>equation </a:t>
            </a:r>
          </a:p>
        </p:txBody>
      </p:sp>
      <p:sp>
        <p:nvSpPr>
          <p:cNvPr id="123918" name="Rectangle 14">
            <a:extLst>
              <a:ext uri="{FF2B5EF4-FFF2-40B4-BE49-F238E27FC236}">
                <a16:creationId xmlns:a16="http://schemas.microsoft.com/office/drawing/2014/main" id="{3D4B6753-F4C3-41B8-6921-7FE2DE7B9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616" y="644569"/>
            <a:ext cx="266581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dirty="0">
                <a:ea typeface="굴림" panose="020B0600000101010101" pitchFamily="34" charset="-127"/>
              </a:rPr>
              <a:t>Transverse magnetic (TM) mode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19" name="Object 15">
                <a:extLst>
                  <a:ext uri="{FF2B5EF4-FFF2-40B4-BE49-F238E27FC236}">
                    <a16:creationId xmlns:a16="http://schemas.microsoft.com/office/drawing/2014/main" id="{C12C3793-0F95-678B-E095-A5AB58FA6217}"/>
                  </a:ext>
                </a:extLst>
              </p:cNvPr>
              <p:cNvSpPr txBox="1"/>
              <p:nvPr/>
            </p:nvSpPr>
            <p:spPr bwMode="auto">
              <a:xfrm>
                <a:off x="1921770" y="945513"/>
                <a:ext cx="2120100" cy="45600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bSup>
                        <m:sSub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19" name="Object 15">
                <a:extLst>
                  <a:ext uri="{FF2B5EF4-FFF2-40B4-BE49-F238E27FC236}">
                    <a16:creationId xmlns:a16="http://schemas.microsoft.com/office/drawing/2014/main" id="{C12C3793-0F95-678B-E095-A5AB58FA6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1770" y="945513"/>
                <a:ext cx="2120100" cy="4560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21" name="Object 17">
                <a:extLst>
                  <a:ext uri="{FF2B5EF4-FFF2-40B4-BE49-F238E27FC236}">
                    <a16:creationId xmlns:a16="http://schemas.microsoft.com/office/drawing/2014/main" id="{8AB02DDE-9881-0659-D6CF-B1FF68C588DB}"/>
                  </a:ext>
                </a:extLst>
              </p:cNvPr>
              <p:cNvSpPr txBox="1"/>
              <p:nvPr/>
            </p:nvSpPr>
            <p:spPr bwMode="auto">
              <a:xfrm>
                <a:off x="2189910" y="1404888"/>
                <a:ext cx="1365252" cy="3206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sSub>
                            <m:sSub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21" name="Object 17">
                <a:extLst>
                  <a:ext uri="{FF2B5EF4-FFF2-40B4-BE49-F238E27FC236}">
                    <a16:creationId xmlns:a16="http://schemas.microsoft.com/office/drawing/2014/main" id="{8AB02DDE-9881-0659-D6CF-B1FF68C58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9910" y="1404888"/>
                <a:ext cx="1365252" cy="320675"/>
              </a:xfrm>
              <a:prstGeom prst="rect">
                <a:avLst/>
              </a:prstGeom>
              <a:blipFill>
                <a:blip r:embed="rId4"/>
                <a:stretch>
                  <a:fillRect b="-35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23" name="Object 19">
                <a:extLst>
                  <a:ext uri="{FF2B5EF4-FFF2-40B4-BE49-F238E27FC236}">
                    <a16:creationId xmlns:a16="http://schemas.microsoft.com/office/drawing/2014/main" id="{F016151D-5C1B-6FF3-7F70-C6BB1F2E1CC7}"/>
                  </a:ext>
                </a:extLst>
              </p:cNvPr>
              <p:cNvSpPr txBox="1"/>
              <p:nvPr/>
            </p:nvSpPr>
            <p:spPr bwMode="auto">
              <a:xfrm>
                <a:off x="2168029" y="1819226"/>
                <a:ext cx="1483120" cy="3429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sSub>
                            <m:sSub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23" name="Object 19">
                <a:extLst>
                  <a:ext uri="{FF2B5EF4-FFF2-40B4-BE49-F238E27FC236}">
                    <a16:creationId xmlns:a16="http://schemas.microsoft.com/office/drawing/2014/main" id="{F016151D-5C1B-6FF3-7F70-C6BB1F2E1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029" y="1819226"/>
                <a:ext cx="1483120" cy="342900"/>
              </a:xfrm>
              <a:prstGeom prst="rect">
                <a:avLst/>
              </a:prstGeom>
              <a:blipFill>
                <a:blip r:embed="rId5"/>
                <a:stretch>
                  <a:fillRect b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25" name="Object 21">
                <a:extLst>
                  <a:ext uri="{FF2B5EF4-FFF2-40B4-BE49-F238E27FC236}">
                    <a16:creationId xmlns:a16="http://schemas.microsoft.com/office/drawing/2014/main" id="{6F6269CF-9855-14D4-3D7D-74EA78FA4455}"/>
                  </a:ext>
                </a:extLst>
              </p:cNvPr>
              <p:cNvSpPr txBox="1"/>
              <p:nvPr/>
            </p:nvSpPr>
            <p:spPr bwMode="auto">
              <a:xfrm>
                <a:off x="1683246" y="2320910"/>
                <a:ext cx="3338909" cy="84415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𝒒𝒙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den>
                      </m:f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)], −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𝒉𝒕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den>
                      </m:f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𝒉𝒕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&lt;−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25" name="Object 21">
                <a:extLst>
                  <a:ext uri="{FF2B5EF4-FFF2-40B4-BE49-F238E27FC236}">
                    <a16:creationId xmlns:a16="http://schemas.microsoft.com/office/drawing/2014/main" id="{6F6269CF-9855-14D4-3D7D-74EA78FA4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3246" y="2320910"/>
                <a:ext cx="3338909" cy="844153"/>
              </a:xfrm>
              <a:prstGeom prst="rect">
                <a:avLst/>
              </a:prstGeom>
              <a:blipFill>
                <a:blip r:embed="rId6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27" name="Object 23">
                <a:extLst>
                  <a:ext uri="{FF2B5EF4-FFF2-40B4-BE49-F238E27FC236}">
                    <a16:creationId xmlns:a16="http://schemas.microsoft.com/office/drawing/2014/main" id="{447327EE-7337-373B-FA76-0765DC707FDB}"/>
                  </a:ext>
                </a:extLst>
              </p:cNvPr>
              <p:cNvSpPr txBox="1"/>
              <p:nvPr/>
            </p:nvSpPr>
            <p:spPr bwMode="auto">
              <a:xfrm>
                <a:off x="924322" y="4445296"/>
                <a:ext cx="4078683" cy="22145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rad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27" name="Object 23">
                <a:extLst>
                  <a:ext uri="{FF2B5EF4-FFF2-40B4-BE49-F238E27FC236}">
                    <a16:creationId xmlns:a16="http://schemas.microsoft.com/office/drawing/2014/main" id="{447327EE-7337-373B-FA76-0765DC707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4322" y="4445296"/>
                <a:ext cx="4078683" cy="221456"/>
              </a:xfrm>
              <a:prstGeom prst="rect">
                <a:avLst/>
              </a:prstGeom>
              <a:blipFill>
                <a:blip r:embed="rId7"/>
                <a:stretch>
                  <a:fillRect b="-78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29" name="Object 25">
                <a:extLst>
                  <a:ext uri="{FF2B5EF4-FFF2-40B4-BE49-F238E27FC236}">
                    <a16:creationId xmlns:a16="http://schemas.microsoft.com/office/drawing/2014/main" id="{C7B9538D-78A6-445E-C794-703C8C4B8341}"/>
                  </a:ext>
                </a:extLst>
              </p:cNvPr>
              <p:cNvSpPr txBox="1"/>
              <p:nvPr/>
            </p:nvSpPr>
            <p:spPr bwMode="auto">
              <a:xfrm>
                <a:off x="4991496" y="950833"/>
                <a:ext cx="2294736" cy="41433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bSup>
                        <m:sSub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29" name="Object 25">
                <a:extLst>
                  <a:ext uri="{FF2B5EF4-FFF2-40B4-BE49-F238E27FC236}">
                    <a16:creationId xmlns:a16="http://schemas.microsoft.com/office/drawing/2014/main" id="{C7B9538D-78A6-445E-C794-703C8C4B8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1496" y="950833"/>
                <a:ext cx="2294736" cy="414337"/>
              </a:xfrm>
              <a:prstGeom prst="rect">
                <a:avLst/>
              </a:prstGeom>
              <a:blipFill>
                <a:blip r:embed="rId8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31" name="Object 27">
                <a:extLst>
                  <a:ext uri="{FF2B5EF4-FFF2-40B4-BE49-F238E27FC236}">
                    <a16:creationId xmlns:a16="http://schemas.microsoft.com/office/drawing/2014/main" id="{E79A6785-0B0D-1F49-A715-E9371E0A45AE}"/>
                  </a:ext>
                </a:extLst>
              </p:cNvPr>
              <p:cNvSpPr txBox="1"/>
              <p:nvPr/>
            </p:nvSpPr>
            <p:spPr bwMode="auto">
              <a:xfrm>
                <a:off x="5141420" y="1391997"/>
                <a:ext cx="1423983" cy="32146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sSub>
                            <m:sSub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31" name="Object 27">
                <a:extLst>
                  <a:ext uri="{FF2B5EF4-FFF2-40B4-BE49-F238E27FC236}">
                    <a16:creationId xmlns:a16="http://schemas.microsoft.com/office/drawing/2014/main" id="{E79A6785-0B0D-1F49-A715-E9371E0A4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1420" y="1391997"/>
                <a:ext cx="1423983" cy="321469"/>
              </a:xfrm>
              <a:prstGeom prst="rect">
                <a:avLst/>
              </a:prstGeom>
              <a:blipFill>
                <a:blip r:embed="rId9"/>
                <a:stretch>
                  <a:fillRect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33" name="Object 29">
                <a:extLst>
                  <a:ext uri="{FF2B5EF4-FFF2-40B4-BE49-F238E27FC236}">
                    <a16:creationId xmlns:a16="http://schemas.microsoft.com/office/drawing/2014/main" id="{31F3CFF4-D231-F6BC-36F8-2BB72EFB5194}"/>
                  </a:ext>
                </a:extLst>
              </p:cNvPr>
              <p:cNvSpPr txBox="1"/>
              <p:nvPr/>
            </p:nvSpPr>
            <p:spPr bwMode="auto">
              <a:xfrm>
                <a:off x="5118794" y="1793328"/>
                <a:ext cx="1446609" cy="3429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sSub>
                            <m:sSub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33" name="Object 29">
                <a:extLst>
                  <a:ext uri="{FF2B5EF4-FFF2-40B4-BE49-F238E27FC236}">
                    <a16:creationId xmlns:a16="http://schemas.microsoft.com/office/drawing/2014/main" id="{31F3CFF4-D231-F6BC-36F8-2BB72EFB5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8794" y="1793328"/>
                <a:ext cx="1446609" cy="342900"/>
              </a:xfrm>
              <a:prstGeom prst="rect">
                <a:avLst/>
              </a:prstGeom>
              <a:blipFill>
                <a:blip r:embed="rId10"/>
                <a:stretch>
                  <a:fillRect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35" name="Object 31">
                <a:extLst>
                  <a:ext uri="{FF2B5EF4-FFF2-40B4-BE49-F238E27FC236}">
                    <a16:creationId xmlns:a16="http://schemas.microsoft.com/office/drawing/2014/main" id="{586D3E8F-AC86-1167-79A5-A35FBF56F257}"/>
                  </a:ext>
                </a:extLst>
              </p:cNvPr>
              <p:cNvSpPr txBox="1"/>
              <p:nvPr/>
            </p:nvSpPr>
            <p:spPr bwMode="auto">
              <a:xfrm>
                <a:off x="5022155" y="2227509"/>
                <a:ext cx="3804043" cy="97869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𝒒𝒙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[−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)], −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𝒉𝒕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𝒉𝒕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  <m:sSup>
                        <m:sSup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&lt;−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35" name="Object 31">
                <a:extLst>
                  <a:ext uri="{FF2B5EF4-FFF2-40B4-BE49-F238E27FC236}">
                    <a16:creationId xmlns:a16="http://schemas.microsoft.com/office/drawing/2014/main" id="{586D3E8F-AC86-1167-79A5-A35FBF56F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2155" y="2227509"/>
                <a:ext cx="3804043" cy="978694"/>
              </a:xfrm>
              <a:prstGeom prst="rect">
                <a:avLst/>
              </a:prstGeom>
              <a:blipFill>
                <a:blip r:embed="rId11"/>
                <a:stretch>
                  <a:fillRect b="-15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937" name="Line 33">
            <a:extLst>
              <a:ext uri="{FF2B5EF4-FFF2-40B4-BE49-F238E27FC236}">
                <a16:creationId xmlns:a16="http://schemas.microsoft.com/office/drawing/2014/main" id="{666D84CA-FA42-04A5-AD30-B881D2A58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7" y="1457969"/>
            <a:ext cx="83118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  <p:sp>
        <p:nvSpPr>
          <p:cNvPr id="123938" name="Line 34">
            <a:extLst>
              <a:ext uri="{FF2B5EF4-FFF2-40B4-BE49-F238E27FC236}">
                <a16:creationId xmlns:a16="http://schemas.microsoft.com/office/drawing/2014/main" id="{A6C12BBD-7E6A-757C-A734-142AB73299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7" y="2262831"/>
            <a:ext cx="83118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  <p:sp>
        <p:nvSpPr>
          <p:cNvPr id="123941" name="Rectangle 37">
            <a:extLst>
              <a:ext uri="{FF2B5EF4-FFF2-40B4-BE49-F238E27FC236}">
                <a16:creationId xmlns:a16="http://schemas.microsoft.com/office/drawing/2014/main" id="{0337E2F5-8187-3D5F-9C78-69A46BD38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658" y="4522268"/>
            <a:ext cx="891778" cy="270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ko-KR" sz="1350" dirty="0">
                <a:ea typeface="굴림" panose="020B0600000101010101" pitchFamily="34" charset="-127"/>
              </a:rPr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42" name="Object 38">
                <a:extLst>
                  <a:ext uri="{FF2B5EF4-FFF2-40B4-BE49-F238E27FC236}">
                    <a16:creationId xmlns:a16="http://schemas.microsoft.com/office/drawing/2014/main" id="{AAD5AD38-5DA8-4554-E39D-624B14B6D9EB}"/>
                  </a:ext>
                </a:extLst>
              </p:cNvPr>
              <p:cNvSpPr txBox="1"/>
              <p:nvPr/>
            </p:nvSpPr>
            <p:spPr bwMode="auto">
              <a:xfrm>
                <a:off x="5061644" y="3459263"/>
                <a:ext cx="2305845" cy="69294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𝒉𝒕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1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1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e>
                                        <m:sub>
                                          <m: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  <m:sup>
                                          <m: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e>
                                        <m:sub>
                                          <m: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e>
                                        <m:sub>
                                          <m:r>
                                            <a:rPr lang="en-US" sz="11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𝒑𝒒</m:t>
                              </m:r>
                            </m:num>
                            <m:den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42" name="Object 38">
                <a:extLst>
                  <a:ext uri="{FF2B5EF4-FFF2-40B4-BE49-F238E27FC236}">
                    <a16:creationId xmlns:a16="http://schemas.microsoft.com/office/drawing/2014/main" id="{AAD5AD38-5DA8-4554-E39D-624B14B6D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1644" y="3459263"/>
                <a:ext cx="2305845" cy="692944"/>
              </a:xfrm>
              <a:prstGeom prst="rect">
                <a:avLst/>
              </a:prstGeom>
              <a:blipFill>
                <a:blip r:embed="rId12"/>
                <a:stretch>
                  <a:fillRect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44" name="Object 40">
                <a:extLst>
                  <a:ext uri="{FF2B5EF4-FFF2-40B4-BE49-F238E27FC236}">
                    <a16:creationId xmlns:a16="http://schemas.microsoft.com/office/drawing/2014/main" id="{A52EDA91-F2D4-9923-6FFA-AE66FC0214C0}"/>
                  </a:ext>
                </a:extLst>
              </p:cNvPr>
              <p:cNvSpPr txBox="1"/>
              <p:nvPr/>
            </p:nvSpPr>
            <p:spPr bwMode="auto">
              <a:xfrm>
                <a:off x="1873746" y="3562598"/>
                <a:ext cx="1667664" cy="43576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𝒉𝒕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num>
                        <m:den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𝒑𝒒</m:t>
                              </m:r>
                            </m:num>
                            <m:den>
                              <m:r>
                                <a:rPr lang="en-US" sz="11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44" name="Object 40">
                <a:extLst>
                  <a:ext uri="{FF2B5EF4-FFF2-40B4-BE49-F238E27FC236}">
                    <a16:creationId xmlns:a16="http://schemas.microsoft.com/office/drawing/2014/main" id="{A52EDA91-F2D4-9923-6FFA-AE66FC021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3746" y="3562598"/>
                <a:ext cx="1667664" cy="435769"/>
              </a:xfrm>
              <a:prstGeom prst="rect">
                <a:avLst/>
              </a:prstGeom>
              <a:blipFill>
                <a:blip r:embed="rId13"/>
                <a:stretch>
                  <a:fillRect b="-18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946" name="Line 42">
            <a:extLst>
              <a:ext uri="{FF2B5EF4-FFF2-40B4-BE49-F238E27FC236}">
                <a16:creationId xmlns:a16="http://schemas.microsoft.com/office/drawing/2014/main" id="{0BF0AA91-0401-2F2F-1249-57AB9D0A5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7" y="3470225"/>
            <a:ext cx="83118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  <p:sp>
        <p:nvSpPr>
          <p:cNvPr id="123947" name="Line 43">
            <a:extLst>
              <a:ext uri="{FF2B5EF4-FFF2-40B4-BE49-F238E27FC236}">
                <a16:creationId xmlns:a16="http://schemas.microsoft.com/office/drawing/2014/main" id="{6C6D76BA-1E38-BC59-4FE4-0B7634618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1447" y="696259"/>
            <a:ext cx="0" cy="37288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  <p:sp>
        <p:nvSpPr>
          <p:cNvPr id="123948" name="Line 44">
            <a:extLst>
              <a:ext uri="{FF2B5EF4-FFF2-40B4-BE49-F238E27FC236}">
                <a16:creationId xmlns:a16="http://schemas.microsoft.com/office/drawing/2014/main" id="{D9E5B76F-FD50-BDDD-6D23-B8A0D52DF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9713" y="696259"/>
            <a:ext cx="0" cy="37288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49" name="Object 45">
                <a:extLst>
                  <a:ext uri="{FF2B5EF4-FFF2-40B4-BE49-F238E27FC236}">
                    <a16:creationId xmlns:a16="http://schemas.microsoft.com/office/drawing/2014/main" id="{0AB5F5DE-7CF2-7FC5-DD51-49AF40B16CFF}"/>
                  </a:ext>
                </a:extLst>
              </p:cNvPr>
              <p:cNvSpPr txBox="1"/>
              <p:nvPr/>
            </p:nvSpPr>
            <p:spPr bwMode="auto">
              <a:xfrm>
                <a:off x="5336484" y="4536925"/>
                <a:ext cx="1880394" cy="1714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11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11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23949" name="Object 45">
                <a:extLst>
                  <a:ext uri="{FF2B5EF4-FFF2-40B4-BE49-F238E27FC236}">
                    <a16:creationId xmlns:a16="http://schemas.microsoft.com/office/drawing/2014/main" id="{0AB5F5DE-7CF2-7FC5-DD51-49AF40B16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6484" y="4536925"/>
                <a:ext cx="1880394" cy="171450"/>
              </a:xfrm>
              <a:prstGeom prst="rect">
                <a:avLst/>
              </a:prstGeom>
              <a:blipFill>
                <a:blip r:embed="rId14"/>
                <a:stretch>
                  <a:fillRect b="-6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951" name="Rectangle 47">
            <a:extLst>
              <a:ext uri="{FF2B5EF4-FFF2-40B4-BE49-F238E27FC236}">
                <a16:creationId xmlns:a16="http://schemas.microsoft.com/office/drawing/2014/main" id="{66BB9FC9-2C7B-8E44-7D32-C15ADA90A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0891" y="4487317"/>
            <a:ext cx="482203" cy="25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ko-KR" sz="1350" dirty="0">
                <a:ea typeface="굴림" panose="020B0600000101010101" pitchFamily="34" charset="-127"/>
              </a:rPr>
              <a:t>and</a:t>
            </a: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FF0819EE-4C83-6707-BC49-73F2681F0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246" y="682874"/>
            <a:ext cx="266581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dirty="0">
                <a:ea typeface="굴림" panose="020B0600000101010101" pitchFamily="34" charset="-127"/>
              </a:rPr>
              <a:t>Transverse electric (TE) mode </a:t>
            </a:r>
          </a:p>
        </p:txBody>
      </p:sp>
      <p:sp>
        <p:nvSpPr>
          <p:cNvPr id="27" name="Line 33">
            <a:extLst>
              <a:ext uri="{FF2B5EF4-FFF2-40B4-BE49-F238E27FC236}">
                <a16:creationId xmlns:a16="http://schemas.microsoft.com/office/drawing/2014/main" id="{E63813BB-10FE-8260-EEBD-60A149AA6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82" y="988069"/>
            <a:ext cx="83118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>
            <a:extLst>
              <a:ext uri="{FF2B5EF4-FFF2-40B4-BE49-F238E27FC236}">
                <a16:creationId xmlns:a16="http://schemas.microsoft.com/office/drawing/2014/main" id="{0E85B72A-D0BF-8D5F-C256-AC12E66D9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II. Mode Coupling in Optical Waveguide</a:t>
            </a:r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18303423-3772-4869-F35D-094794FCBF6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052070"/>
            <a:ext cx="8641655" cy="947736"/>
          </a:xfrm>
        </p:spPr>
        <p:txBody>
          <a:bodyPr>
            <a:normAutofit/>
          </a:bodyPr>
          <a:lstStyle/>
          <a:p>
            <a:r>
              <a:rPr lang="en-US" altLang="ko-KR" sz="1400" dirty="0">
                <a:ea typeface="굴림" panose="020B0600000101010101" pitchFamily="34" charset="-127"/>
              </a:rPr>
              <a:t>Coupled Mode Theory in Optical Waveguide</a:t>
            </a:r>
            <a:br>
              <a:rPr lang="en-US" altLang="ko-KR" sz="1400" dirty="0">
                <a:ea typeface="굴림" panose="020B0600000101010101" pitchFamily="34" charset="-127"/>
              </a:rPr>
            </a:br>
            <a:br>
              <a:rPr lang="en-US" altLang="ko-KR" sz="1400" dirty="0">
                <a:ea typeface="굴림" panose="020B0600000101010101" pitchFamily="34" charset="-127"/>
              </a:rPr>
            </a:br>
            <a:r>
              <a:rPr lang="en-US" altLang="ko-KR" sz="1400" dirty="0">
                <a:ea typeface="굴림" panose="020B0600000101010101" pitchFamily="34" charset="-127"/>
              </a:rPr>
              <a:t>In an isotropic charge-free medium, eigen modes satisfy the wave equation in the form </a:t>
            </a:r>
          </a:p>
        </p:txBody>
      </p:sp>
      <p:sp>
        <p:nvSpPr>
          <p:cNvPr id="125956" name="Text Box 4">
            <a:extLst>
              <a:ext uri="{FF2B5EF4-FFF2-40B4-BE49-F238E27FC236}">
                <a16:creationId xmlns:a16="http://schemas.microsoft.com/office/drawing/2014/main" id="{C0AFFF9E-CB8A-D2E8-44BD-18A989F6F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733454"/>
            <a:ext cx="61769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dirty="0">
                <a:ea typeface="굴림" panose="020B0600000101010101" pitchFamily="34" charset="-127"/>
              </a:rPr>
              <a:t>B. </a:t>
            </a:r>
            <a:r>
              <a:rPr lang="en-US" altLang="en-US" sz="1600" b="1" noProof="1"/>
              <a:t>TE/TM Polarization Converter</a:t>
            </a:r>
            <a:endParaRPr lang="en-US" altLang="ko-KR" sz="1600" b="1" dirty="0">
              <a:ea typeface="굴림" panose="020B06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93" name="Object 41">
                <a:extLst>
                  <a:ext uri="{FF2B5EF4-FFF2-40B4-BE49-F238E27FC236}">
                    <a16:creationId xmlns:a16="http://schemas.microsoft.com/office/drawing/2014/main" id="{B504737B-737F-95FF-0972-83AB75A085F3}"/>
                  </a:ext>
                </a:extLst>
              </p:cNvPr>
              <p:cNvSpPr txBox="1"/>
              <p:nvPr/>
            </p:nvSpPr>
            <p:spPr bwMode="auto">
              <a:xfrm>
                <a:off x="2257027" y="4412608"/>
                <a:ext cx="1406921" cy="29289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𝜵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f>
                        <m:f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num>
                        <m:den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en-US" sz="1200" b="1"/>
              </a:p>
            </p:txBody>
          </p:sp>
        </mc:Choice>
        <mc:Fallback xmlns="">
          <p:sp>
            <p:nvSpPr>
              <p:cNvPr id="125993" name="Object 41">
                <a:extLst>
                  <a:ext uri="{FF2B5EF4-FFF2-40B4-BE49-F238E27FC236}">
                    <a16:creationId xmlns:a16="http://schemas.microsoft.com/office/drawing/2014/main" id="{B504737B-737F-95FF-0972-83AB75A08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7027" y="4412608"/>
                <a:ext cx="1406921" cy="292894"/>
              </a:xfrm>
              <a:prstGeom prst="rect">
                <a:avLst/>
              </a:prstGeom>
              <a:blipFill>
                <a:blip r:embed="rId3"/>
                <a:stretch>
                  <a:fillRect b="-5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995" name="Object 43">
                <a:extLst>
                  <a:ext uri="{FF2B5EF4-FFF2-40B4-BE49-F238E27FC236}">
                    <a16:creationId xmlns:a16="http://schemas.microsoft.com/office/drawing/2014/main" id="{0C4FE11B-425F-2E9D-363B-0301C3135650}"/>
                  </a:ext>
                </a:extLst>
              </p:cNvPr>
              <p:cNvSpPr txBox="1"/>
              <p:nvPr/>
            </p:nvSpPr>
            <p:spPr bwMode="auto">
              <a:xfrm>
                <a:off x="2228850" y="3405934"/>
                <a:ext cx="2149473" cy="29289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𝜵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f>
                        <m:f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25995" name="Object 43">
                <a:extLst>
                  <a:ext uri="{FF2B5EF4-FFF2-40B4-BE49-F238E27FC236}">
                    <a16:creationId xmlns:a16="http://schemas.microsoft.com/office/drawing/2014/main" id="{0C4FE11B-425F-2E9D-363B-0301C3135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8850" y="3405934"/>
                <a:ext cx="2149473" cy="292894"/>
              </a:xfrm>
              <a:prstGeom prst="rect">
                <a:avLst/>
              </a:prstGeom>
              <a:blipFill>
                <a:blip r:embed="rId4"/>
                <a:stretch>
                  <a:fillRect b="-5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998" name="Text Box 46">
            <a:extLst>
              <a:ext uri="{FF2B5EF4-FFF2-40B4-BE49-F238E27FC236}">
                <a16:creationId xmlns:a16="http://schemas.microsoft.com/office/drawing/2014/main" id="{DCA25207-75D2-F6D7-C8FE-943C1767E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398" y="3853014"/>
            <a:ext cx="810815" cy="40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Curl and substitute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99" name="Object 47">
                <a:extLst>
                  <a:ext uri="{FF2B5EF4-FFF2-40B4-BE49-F238E27FC236}">
                    <a16:creationId xmlns:a16="http://schemas.microsoft.com/office/drawing/2014/main" id="{3B297665-31F8-77FD-E432-506EB6571CD7}"/>
                  </a:ext>
                </a:extLst>
              </p:cNvPr>
              <p:cNvSpPr txBox="1"/>
              <p:nvPr/>
            </p:nvSpPr>
            <p:spPr bwMode="auto">
              <a:xfrm>
                <a:off x="3114278" y="2775703"/>
                <a:ext cx="1228723" cy="29185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𝜵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25999" name="Object 47">
                <a:extLst>
                  <a:ext uri="{FF2B5EF4-FFF2-40B4-BE49-F238E27FC236}">
                    <a16:creationId xmlns:a16="http://schemas.microsoft.com/office/drawing/2014/main" id="{3B297665-31F8-77FD-E432-506EB6571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4278" y="2775703"/>
                <a:ext cx="1228723" cy="291855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001" name="Object 49">
                <a:extLst>
                  <a:ext uri="{FF2B5EF4-FFF2-40B4-BE49-F238E27FC236}">
                    <a16:creationId xmlns:a16="http://schemas.microsoft.com/office/drawing/2014/main" id="{C1E6F37B-063C-200A-4A17-FAC7FA138A16}"/>
                  </a:ext>
                </a:extLst>
              </p:cNvPr>
              <p:cNvSpPr txBox="1"/>
              <p:nvPr/>
            </p:nvSpPr>
            <p:spPr bwMode="auto">
              <a:xfrm>
                <a:off x="3071416" y="3082680"/>
                <a:ext cx="2313384" cy="1714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𝜵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𝜵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𝜵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𝜵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p>
                        <m:sSup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𝜵</m:t>
                          </m:r>
                        </m:e>
                        <m:sup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26001" name="Object 49">
                <a:extLst>
                  <a:ext uri="{FF2B5EF4-FFF2-40B4-BE49-F238E27FC236}">
                    <a16:creationId xmlns:a16="http://schemas.microsoft.com/office/drawing/2014/main" id="{C1E6F37B-063C-200A-4A17-FAC7FA138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1416" y="3082680"/>
                <a:ext cx="2313384" cy="171450"/>
              </a:xfrm>
              <a:prstGeom prst="rect">
                <a:avLst/>
              </a:prstGeom>
              <a:blipFill>
                <a:blip r:embed="rId6"/>
                <a:stretch>
                  <a:fillRect b="-8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004" name="Text Box 52">
            <a:extLst>
              <a:ext uri="{FF2B5EF4-FFF2-40B4-BE49-F238E27FC236}">
                <a16:creationId xmlns:a16="http://schemas.microsoft.com/office/drawing/2014/main" id="{37D94ECB-C865-3DA1-8EE1-3C33F0B0B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398" y="2911230"/>
            <a:ext cx="540544" cy="24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using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005" name="Object 53">
                <a:extLst>
                  <a:ext uri="{FF2B5EF4-FFF2-40B4-BE49-F238E27FC236}">
                    <a16:creationId xmlns:a16="http://schemas.microsoft.com/office/drawing/2014/main" id="{0845B476-F5B6-FAFE-18CA-48F5A13F1AB4}"/>
                  </a:ext>
                </a:extLst>
              </p:cNvPr>
              <p:cNvSpPr txBox="1"/>
              <p:nvPr/>
            </p:nvSpPr>
            <p:spPr bwMode="auto">
              <a:xfrm>
                <a:off x="2024856" y="2130180"/>
                <a:ext cx="2214563" cy="561975"/>
              </a:xfrm>
              <a:prstGeom prst="rect">
                <a:avLst/>
              </a:prstGeom>
              <a:solidFill>
                <a:srgbClr val="EAEAEA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𝜇𝜀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6005" name="Object 53">
                <a:extLst>
                  <a:ext uri="{FF2B5EF4-FFF2-40B4-BE49-F238E27FC236}">
                    <a16:creationId xmlns:a16="http://schemas.microsoft.com/office/drawing/2014/main" id="{0845B476-F5B6-FAFE-18CA-48F5A13F1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4856" y="2130180"/>
                <a:ext cx="2214563" cy="5619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012" name="Line 60">
            <a:extLst>
              <a:ext uri="{FF2B5EF4-FFF2-40B4-BE49-F238E27FC236}">
                <a16:creationId xmlns:a16="http://schemas.microsoft.com/office/drawing/2014/main" id="{25F3A475-AAA6-69A9-3646-ABDD8CEF0E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0213" y="3798245"/>
            <a:ext cx="0" cy="6084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  <p:sp>
        <p:nvSpPr>
          <p:cNvPr id="126013" name="Line 61">
            <a:extLst>
              <a:ext uri="{FF2B5EF4-FFF2-40B4-BE49-F238E27FC236}">
                <a16:creationId xmlns:a16="http://schemas.microsoft.com/office/drawing/2014/main" id="{95CAA938-D7A4-3346-A795-DDBCBFC950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0213" y="2713586"/>
            <a:ext cx="0" cy="776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>
            <a:extLst>
              <a:ext uri="{FF2B5EF4-FFF2-40B4-BE49-F238E27FC236}">
                <a16:creationId xmlns:a16="http://schemas.microsoft.com/office/drawing/2014/main" id="{7E1A23EE-85A6-3219-5B9A-1ED3848CB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Coupled Mode Theory Continued…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229" name="Object 37">
                <a:extLst>
                  <a:ext uri="{FF2B5EF4-FFF2-40B4-BE49-F238E27FC236}">
                    <a16:creationId xmlns:a16="http://schemas.microsoft.com/office/drawing/2014/main" id="{B9EEC523-1C0C-0E1F-F680-532395AA5F8A}"/>
                  </a:ext>
                </a:extLst>
              </p:cNvPr>
              <p:cNvSpPr txBox="1">
                <a:spLocks noGrp="1"/>
              </p:cNvSpPr>
              <p:nvPr>
                <p:ph sz="quarter" idx="13"/>
              </p:nvPr>
            </p:nvSpPr>
            <p:spPr bwMode="auto">
              <a:xfrm>
                <a:off x="1279525" y="4379913"/>
                <a:ext cx="4991100" cy="352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sSup>
                        <m:sSup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sSup>
                        <m:sSup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.=−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𝑝𝑒𝑟𝑡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6229" name="Object 37">
                <a:extLst>
                  <a:ext uri="{FF2B5EF4-FFF2-40B4-BE49-F238E27FC236}">
                    <a16:creationId xmlns:a16="http://schemas.microsoft.com/office/drawing/2014/main" id="{B9EEC523-1C0C-0E1F-F680-532395AA5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 bwMode="auto">
              <a:xfrm>
                <a:off x="1279525" y="4379913"/>
                <a:ext cx="4991100" cy="352425"/>
              </a:xfrm>
              <a:prstGeom prst="rect">
                <a:avLst/>
              </a:prstGeom>
              <a:blipFill>
                <a:blip r:embed="rId3"/>
                <a:stretch>
                  <a:fillRect l="-122" b="-517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211" name="Object 19">
                <a:extLst>
                  <a:ext uri="{FF2B5EF4-FFF2-40B4-BE49-F238E27FC236}">
                    <a16:creationId xmlns:a16="http://schemas.microsoft.com/office/drawing/2014/main" id="{462F90CF-3C42-DB92-FF9C-0C82749A3038}"/>
                  </a:ext>
                </a:extLst>
              </p:cNvPr>
              <p:cNvSpPr txBox="1"/>
              <p:nvPr/>
            </p:nvSpPr>
            <p:spPr bwMode="auto">
              <a:xfrm>
                <a:off x="1795860" y="1356122"/>
                <a:ext cx="2820590" cy="3143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6211" name="Object 19">
                <a:extLst>
                  <a:ext uri="{FF2B5EF4-FFF2-40B4-BE49-F238E27FC236}">
                    <a16:creationId xmlns:a16="http://schemas.microsoft.com/office/drawing/2014/main" id="{462F90CF-3C42-DB92-FF9C-0C82749A3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860" y="1356122"/>
                <a:ext cx="2820590" cy="314325"/>
              </a:xfrm>
              <a:prstGeom prst="rect">
                <a:avLst/>
              </a:prstGeom>
              <a:blipFill>
                <a:blip r:embed="rId5"/>
                <a:stretch>
                  <a:fillRect b="-48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213" name="Object 21">
                <a:extLst>
                  <a:ext uri="{FF2B5EF4-FFF2-40B4-BE49-F238E27FC236}">
                    <a16:creationId xmlns:a16="http://schemas.microsoft.com/office/drawing/2014/main" id="{209D003A-6A12-69B2-108E-D810476D2D42}"/>
                  </a:ext>
                </a:extLst>
              </p:cNvPr>
              <p:cNvSpPr txBox="1"/>
              <p:nvPr/>
            </p:nvSpPr>
            <p:spPr bwMode="auto">
              <a:xfrm>
                <a:off x="2032000" y="1777604"/>
                <a:ext cx="2197100" cy="1714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)=[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6213" name="Object 21">
                <a:extLst>
                  <a:ext uri="{FF2B5EF4-FFF2-40B4-BE49-F238E27FC236}">
                    <a16:creationId xmlns:a16="http://schemas.microsoft.com/office/drawing/2014/main" id="{209D003A-6A12-69B2-108E-D810476D2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2000" y="1777604"/>
                <a:ext cx="2197100" cy="171450"/>
              </a:xfrm>
              <a:prstGeom prst="rect">
                <a:avLst/>
              </a:prstGeom>
              <a:blipFill>
                <a:blip r:embed="rId6"/>
                <a:stretch>
                  <a:fillRect b="-7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215" name="Object 23">
                <a:extLst>
                  <a:ext uri="{FF2B5EF4-FFF2-40B4-BE49-F238E27FC236}">
                    <a16:creationId xmlns:a16="http://schemas.microsoft.com/office/drawing/2014/main" id="{1BD5BC8C-1DCB-4B6A-4D79-0BAF457FDDA2}"/>
                  </a:ext>
                </a:extLst>
              </p:cNvPr>
              <p:cNvSpPr txBox="1"/>
              <p:nvPr/>
            </p:nvSpPr>
            <p:spPr bwMode="auto">
              <a:xfrm>
                <a:off x="4073921" y="1769667"/>
                <a:ext cx="657226" cy="27027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6215" name="Object 23">
                <a:extLst>
                  <a:ext uri="{FF2B5EF4-FFF2-40B4-BE49-F238E27FC236}">
                    <a16:creationId xmlns:a16="http://schemas.microsoft.com/office/drawing/2014/main" id="{1BD5BC8C-1DCB-4B6A-4D79-0BAF457FD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3921" y="1769667"/>
                <a:ext cx="657226" cy="270272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217" name="Object 25">
                <a:extLst>
                  <a:ext uri="{FF2B5EF4-FFF2-40B4-BE49-F238E27FC236}">
                    <a16:creationId xmlns:a16="http://schemas.microsoft.com/office/drawing/2014/main" id="{9172461E-2D1A-39A6-C456-B1A2FBBF0629}"/>
                  </a:ext>
                </a:extLst>
              </p:cNvPr>
              <p:cNvSpPr txBox="1"/>
              <p:nvPr/>
            </p:nvSpPr>
            <p:spPr bwMode="auto">
              <a:xfrm>
                <a:off x="1931591" y="2639616"/>
                <a:ext cx="3313509" cy="3143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𝑝𝑒𝑟𝑡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6217" name="Object 25">
                <a:extLst>
                  <a:ext uri="{FF2B5EF4-FFF2-40B4-BE49-F238E27FC236}">
                    <a16:creationId xmlns:a16="http://schemas.microsoft.com/office/drawing/2014/main" id="{9172461E-2D1A-39A6-C456-B1A2FBBF0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1591" y="2639616"/>
                <a:ext cx="3313509" cy="314325"/>
              </a:xfrm>
              <a:prstGeom prst="rect">
                <a:avLst/>
              </a:prstGeom>
              <a:blipFill>
                <a:blip r:embed="rId8"/>
                <a:stretch>
                  <a:fillRect b="-48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219" name="Object 27">
                <a:extLst>
                  <a:ext uri="{FF2B5EF4-FFF2-40B4-BE49-F238E27FC236}">
                    <a16:creationId xmlns:a16="http://schemas.microsoft.com/office/drawing/2014/main" id="{CD4CF5F7-325B-EA7A-98EA-6D8BD0537207}"/>
                  </a:ext>
                </a:extLst>
              </p:cNvPr>
              <p:cNvSpPr txBox="1"/>
              <p:nvPr/>
            </p:nvSpPr>
            <p:spPr bwMode="auto">
              <a:xfrm>
                <a:off x="1931591" y="3328196"/>
                <a:ext cx="3788171" cy="3143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𝑝𝑒𝑟𝑡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6219" name="Object 27">
                <a:extLst>
                  <a:ext uri="{FF2B5EF4-FFF2-40B4-BE49-F238E27FC236}">
                    <a16:creationId xmlns:a16="http://schemas.microsoft.com/office/drawing/2014/main" id="{CD4CF5F7-325B-EA7A-98EA-6D8BD0537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1591" y="3328196"/>
                <a:ext cx="3788171" cy="314325"/>
              </a:xfrm>
              <a:prstGeom prst="rect">
                <a:avLst/>
              </a:prstGeom>
              <a:blipFill>
                <a:blip r:embed="rId9"/>
                <a:stretch>
                  <a:fillRect b="-48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221" name="Rectangle 29">
            <a:extLst>
              <a:ext uri="{FF2B5EF4-FFF2-40B4-BE49-F238E27FC236}">
                <a16:creationId xmlns:a16="http://schemas.microsoft.com/office/drawing/2014/main" id="{B2FC8AF5-9967-34BC-0724-9F19061B8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048" y="1750618"/>
            <a:ext cx="6203354" cy="270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ko-KR" sz="1400" dirty="0">
                <a:ea typeface="굴림" panose="020B0600000101010101" pitchFamily="34" charset="-127"/>
              </a:rPr>
              <a:t>where                                            ,            :Medium dielectric constant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223" name="Rectangle 31">
                <a:extLst>
                  <a:ext uri="{FF2B5EF4-FFF2-40B4-BE49-F238E27FC236}">
                    <a16:creationId xmlns:a16="http://schemas.microsoft.com/office/drawing/2014/main" id="{F3BEDD93-287A-EDB7-140E-75A40CAC4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566" y="1028700"/>
                <a:ext cx="6123384" cy="766763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With the electric polarization of the medium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36223" name="Rectangle 31">
                <a:extLst>
                  <a:ext uri="{FF2B5EF4-FFF2-40B4-BE49-F238E27FC236}">
                    <a16:creationId xmlns:a16="http://schemas.microsoft.com/office/drawing/2014/main" id="{F3BEDD93-287A-EDB7-140E-75A40CAC4F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566" y="1028700"/>
                <a:ext cx="6123384" cy="766763"/>
              </a:xfrm>
              <a:prstGeom prst="rect">
                <a:avLst/>
              </a:prstGeom>
              <a:blipFill>
                <a:blip r:embed="rId10"/>
                <a:stretch>
                  <a:fillRect l="-1693" t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224" name="Rectangle 32">
            <a:extLst>
              <a:ext uri="{FF2B5EF4-FFF2-40B4-BE49-F238E27FC236}">
                <a16:creationId xmlns:a16="http://schemas.microsoft.com/office/drawing/2014/main" id="{724B52B7-0428-A85A-0751-2259C7BAF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66" y="2099072"/>
            <a:ext cx="6123384" cy="76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If the deformation in the waveguide is taken into account, the induced perturbation in the polarization results in</a:t>
            </a:r>
          </a:p>
        </p:txBody>
      </p:sp>
      <p:sp>
        <p:nvSpPr>
          <p:cNvPr id="136226" name="Rectangle 34">
            <a:extLst>
              <a:ext uri="{FF2B5EF4-FFF2-40B4-BE49-F238E27FC236}">
                <a16:creationId xmlns:a16="http://schemas.microsoft.com/office/drawing/2014/main" id="{7619EB1B-7154-94EF-3D6C-5BD742939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66" y="3150791"/>
            <a:ext cx="6123384" cy="76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Assuming only the TE mode</a:t>
            </a:r>
          </a:p>
        </p:txBody>
      </p:sp>
      <p:sp>
        <p:nvSpPr>
          <p:cNvPr id="136228" name="Rectangle 36">
            <a:extLst>
              <a:ext uri="{FF2B5EF4-FFF2-40B4-BE49-F238E27FC236}">
                <a16:creationId xmlns:a16="http://schemas.microsoft.com/office/drawing/2014/main" id="{D6169024-74C7-B34B-6767-5793B7155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66" y="3927078"/>
            <a:ext cx="6123384" cy="76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The following equation is derived after some calculation and used to consider TE and TM mode interaction.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6DF6E6AF-9671-2699-CBED-AA9531E93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Electrooptic Effect in a Uniaxial Crystal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293" name="Object 5">
                <a:extLst>
                  <a:ext uri="{FF2B5EF4-FFF2-40B4-BE49-F238E27FC236}">
                    <a16:creationId xmlns:a16="http://schemas.microsoft.com/office/drawing/2014/main" id="{7B6BEDBC-5BC4-20E2-54A5-983910835247}"/>
                  </a:ext>
                </a:extLst>
              </p:cNvPr>
              <p:cNvSpPr txBox="1"/>
              <p:nvPr/>
            </p:nvSpPr>
            <p:spPr bwMode="auto">
              <a:xfrm>
                <a:off x="1799034" y="2401491"/>
                <a:ext cx="3046015" cy="64174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0293" name="Object 5">
                <a:extLst>
                  <a:ext uri="{FF2B5EF4-FFF2-40B4-BE49-F238E27FC236}">
                    <a16:creationId xmlns:a16="http://schemas.microsoft.com/office/drawing/2014/main" id="{7B6BEDBC-5BC4-20E2-54A5-983910835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9034" y="2401491"/>
                <a:ext cx="3046015" cy="641747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295" name="Object 7">
                <a:extLst>
                  <a:ext uri="{FF2B5EF4-FFF2-40B4-BE49-F238E27FC236}">
                    <a16:creationId xmlns:a16="http://schemas.microsoft.com/office/drawing/2014/main" id="{FF43387F-2FFA-7F01-0ED8-9432C3948B04}"/>
                  </a:ext>
                </a:extLst>
              </p:cNvPr>
              <p:cNvSpPr txBox="1"/>
              <p:nvPr/>
            </p:nvSpPr>
            <p:spPr bwMode="auto">
              <a:xfrm>
                <a:off x="1660525" y="4089401"/>
                <a:ext cx="1732360" cy="53578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40295" name="Object 7">
                <a:extLst>
                  <a:ext uri="{FF2B5EF4-FFF2-40B4-BE49-F238E27FC236}">
                    <a16:creationId xmlns:a16="http://schemas.microsoft.com/office/drawing/2014/main" id="{FF43387F-2FFA-7F01-0ED8-9432C3948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0525" y="4089401"/>
                <a:ext cx="1732360" cy="535781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297" name="Rectangle 9">
            <a:extLst>
              <a:ext uri="{FF2B5EF4-FFF2-40B4-BE49-F238E27FC236}">
                <a16:creationId xmlns:a16="http://schemas.microsoft.com/office/drawing/2014/main" id="{1D7344C8-A33B-524A-675F-83C236FF5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16" y="965200"/>
            <a:ext cx="6123384" cy="76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An electrooptic material undergoes the change in the refractive index induced by applied electric field linearly (Pockels effect) or quadratically (Kerr effect) and this phenomenon is called  the electrooptic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298" name="Rectangle 10">
                <a:extLst>
                  <a:ext uri="{FF2B5EF4-FFF2-40B4-BE49-F238E27FC236}">
                    <a16:creationId xmlns:a16="http://schemas.microsoft.com/office/drawing/2014/main" id="{7328E04E-CC8E-A6DD-4DBE-8B964B695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16" y="1866503"/>
                <a:ext cx="6123384" cy="766763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electric flux density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in an anisotropic dielectric media is written by with dielectric constants and electric fields</a:t>
                </a:r>
              </a:p>
            </p:txBody>
          </p:sp>
        </mc:Choice>
        <mc:Fallback xmlns="">
          <p:sp>
            <p:nvSpPr>
              <p:cNvPr id="140298" name="Rectangle 10">
                <a:extLst>
                  <a:ext uri="{FF2B5EF4-FFF2-40B4-BE49-F238E27FC236}">
                    <a16:creationId xmlns:a16="http://schemas.microsoft.com/office/drawing/2014/main" id="{7328E04E-CC8E-A6DD-4DBE-8B964B6953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216" y="1866503"/>
                <a:ext cx="6123384" cy="766763"/>
              </a:xfrm>
              <a:prstGeom prst="rect">
                <a:avLst/>
              </a:prstGeom>
              <a:blipFill>
                <a:blip r:embed="rId5"/>
                <a:stretch>
                  <a:fillRect l="-1693" t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300" name="Rectangle 12">
            <a:extLst>
              <a:ext uri="{FF2B5EF4-FFF2-40B4-BE49-F238E27FC236}">
                <a16:creationId xmlns:a16="http://schemas.microsoft.com/office/drawing/2014/main" id="{076D3F32-F5F0-143F-88BB-22E885128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16" y="3183335"/>
            <a:ext cx="6123384" cy="76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4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If the coordinate system in a crystal structure is chosen to vanish off-diagonal elements, the axes in this coordinate system are defined as principal axes and a 3×3 electric permeability tensor can be expressed 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3BFCB545-7775-2802-EEFC-FFE8AC843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Index Ellipsoid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15" name="Rectangle 3">
                <a:extLst>
                  <a:ext uri="{FF2B5EF4-FFF2-40B4-BE49-F238E27FC236}">
                    <a16:creationId xmlns:a16="http://schemas.microsoft.com/office/drawing/2014/main" id="{43515C0A-EEE3-5880-5F54-32488CEC652D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250825" y="1078312"/>
                <a:ext cx="8641655" cy="74413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altLang="ko-KR" dirty="0">
                    <a:ea typeface="굴림" panose="020B0600000101010101" pitchFamily="34" charset="-127"/>
                  </a:rPr>
                  <a:t>Recalling the electric energy density stored in a crystal </a:t>
                </a:r>
                <a:br>
                  <a:rPr lang="en-US" altLang="ko-KR" dirty="0">
                    <a:ea typeface="굴림" panose="020B0600000101010101" pitchFamily="34" charset="-127"/>
                  </a:rPr>
                </a:br>
                <a:r>
                  <a:rPr lang="en-US" altLang="ko-KR" dirty="0">
                    <a:ea typeface="굴림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𝐄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   and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𝐄</m:t>
                    </m:r>
                  </m:oMath>
                </a14:m>
                <a:endParaRPr lang="en-US" dirty="0"/>
              </a:p>
              <a:p>
                <a:pPr marL="288000" lvl="1" indent="0">
                  <a:buNone/>
                </a:pPr>
                <a:br>
                  <a:rPr lang="en-US" altLang="ko-KR" dirty="0">
                    <a:ea typeface="굴림" panose="020B0600000101010101" pitchFamily="34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 takes a form of</a:t>
                </a:r>
              </a:p>
            </p:txBody>
          </p:sp>
        </mc:Choice>
        <mc:Fallback xmlns="">
          <p:sp>
            <p:nvSpPr>
              <p:cNvPr id="141315" name="Rectangle 3">
                <a:extLst>
                  <a:ext uri="{FF2B5EF4-FFF2-40B4-BE49-F238E27FC236}">
                    <a16:creationId xmlns:a16="http://schemas.microsoft.com/office/drawing/2014/main" id="{43515C0A-EEE3-5880-5F54-32488CEC6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0825" y="1078312"/>
                <a:ext cx="8641655" cy="744138"/>
              </a:xfrm>
              <a:blipFill>
                <a:blip r:embed="rId3"/>
                <a:stretch>
                  <a:fillRect l="-1058" t="-12295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6" name="Object 14">
                <a:extLst>
                  <a:ext uri="{FF2B5EF4-FFF2-40B4-BE49-F238E27FC236}">
                    <a16:creationId xmlns:a16="http://schemas.microsoft.com/office/drawing/2014/main" id="{BE12C81E-BD27-7E26-A554-1A225631ADD1}"/>
                  </a:ext>
                </a:extLst>
              </p:cNvPr>
              <p:cNvSpPr txBox="1"/>
              <p:nvPr/>
            </p:nvSpPr>
            <p:spPr bwMode="auto">
              <a:xfrm>
                <a:off x="2141785" y="1703782"/>
                <a:ext cx="1822847" cy="603647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𝟏𝟏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  <m:sup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sub>
                                <m:sup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𝟑𝟑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41326" name="Object 14">
                <a:extLst>
                  <a:ext uri="{FF2B5EF4-FFF2-40B4-BE49-F238E27FC236}">
                    <a16:creationId xmlns:a16="http://schemas.microsoft.com/office/drawing/2014/main" id="{BE12C81E-BD27-7E26-A554-1A225631A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1785" y="1703782"/>
                <a:ext cx="1822847" cy="6036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2" name="Rectangle 20">
                <a:extLst>
                  <a:ext uri="{FF2B5EF4-FFF2-40B4-BE49-F238E27FC236}">
                    <a16:creationId xmlns:a16="http://schemas.microsoft.com/office/drawing/2014/main" id="{2A5164AD-560A-DE02-81F7-2A113E63A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139" y="2540198"/>
                <a:ext cx="6856611" cy="1632347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Replacing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where </a:t>
                </a:r>
                <a:r>
                  <a:rPr lang="en-US" altLang="ko-KR" sz="1400" dirty="0" err="1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i</a:t>
                </a:r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= x, y, z with X, Y, and Z </a:t>
                </a:r>
                <a:b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we have the index ellipsoid described by</a:t>
                </a:r>
                <a:b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,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endParaRPr lang="en-US" sz="1400" dirty="0"/>
              </a:p>
              <a:p>
                <a:pPr fontAlgn="base">
                  <a:buClr>
                    <a:schemeClr val="accent1"/>
                  </a:buClr>
                  <a:buSzPct val="100000"/>
                </a:pPr>
                <a:r>
                  <a:rPr lang="en-US" altLang="ko-KR" sz="14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   are principal refractive indices. </a:t>
                </a:r>
              </a:p>
            </p:txBody>
          </p:sp>
        </mc:Choice>
        <mc:Fallback xmlns="">
          <p:sp>
            <p:nvSpPr>
              <p:cNvPr id="141332" name="Rectangle 20">
                <a:extLst>
                  <a:ext uri="{FF2B5EF4-FFF2-40B4-BE49-F238E27FC236}">
                    <a16:creationId xmlns:a16="http://schemas.microsoft.com/office/drawing/2014/main" id="{2A5164AD-560A-DE02-81F7-2A113E63AE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139" y="2540198"/>
                <a:ext cx="6856611" cy="1632347"/>
              </a:xfrm>
              <a:prstGeom prst="rect">
                <a:avLst/>
              </a:prstGeom>
              <a:blipFill>
                <a:blip r:embed="rId5"/>
                <a:stretch>
                  <a:fillRect l="-1422" t="-1873" b="-4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3" name="Object 21">
                <a:extLst>
                  <a:ext uri="{FF2B5EF4-FFF2-40B4-BE49-F238E27FC236}">
                    <a16:creationId xmlns:a16="http://schemas.microsoft.com/office/drawing/2014/main" id="{3415B6D0-1271-96D4-7E2B-441C2861F12C}"/>
                  </a:ext>
                </a:extLst>
              </p:cNvPr>
              <p:cNvSpPr txBox="1"/>
              <p:nvPr/>
            </p:nvSpPr>
            <p:spPr bwMode="auto">
              <a:xfrm>
                <a:off x="2312987" y="3048397"/>
                <a:ext cx="1506538" cy="5095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  <m:sup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den>
                      </m:f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p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  <m:sup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den>
                      </m:f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sub>
                            <m:sup>
                              <m:r>
                                <a:rPr lang="en-US" sz="1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den>
                      </m:f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41333" name="Object 21">
                <a:extLst>
                  <a:ext uri="{FF2B5EF4-FFF2-40B4-BE49-F238E27FC236}">
                    <a16:creationId xmlns:a16="http://schemas.microsoft.com/office/drawing/2014/main" id="{3415B6D0-1271-96D4-7E2B-441C2861F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2987" y="3048397"/>
                <a:ext cx="1506538" cy="509588"/>
              </a:xfrm>
              <a:prstGeom prst="rect">
                <a:avLst/>
              </a:prstGeom>
              <a:blipFill>
                <a:blip r:embed="rId6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EEB23B38-FC87-62B2-210F-200502844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Index Ellipsoid of Uniaxial Crystal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339" name="Rectangle 3">
                <a:extLst>
                  <a:ext uri="{FF2B5EF4-FFF2-40B4-BE49-F238E27FC236}">
                    <a16:creationId xmlns:a16="http://schemas.microsoft.com/office/drawing/2014/main" id="{8605EB10-FB88-24BC-FDCF-3B267CA5281A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349251" y="928092"/>
                <a:ext cx="7042149" cy="95964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>
                    <a:ea typeface="굴림" panose="020B0600000101010101" pitchFamily="34" charset="-127"/>
                  </a:rPr>
                  <a:t>In the uniaxial crystal, it is noticed that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 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are called the ordinary and extraordinary indices, respectively and the z axis is called the optic axis </a:t>
                </a:r>
              </a:p>
            </p:txBody>
          </p:sp>
        </mc:Choice>
        <mc:Fallback xmlns="">
          <p:sp>
            <p:nvSpPr>
              <p:cNvPr id="142339" name="Rectangle 3">
                <a:extLst>
                  <a:ext uri="{FF2B5EF4-FFF2-40B4-BE49-F238E27FC236}">
                    <a16:creationId xmlns:a16="http://schemas.microsoft.com/office/drawing/2014/main" id="{8605EB10-FB88-24BC-FDCF-3B267CA52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49251" y="928092"/>
                <a:ext cx="7042149" cy="959642"/>
              </a:xfrm>
              <a:blipFill>
                <a:blip r:embed="rId3"/>
                <a:stretch>
                  <a:fillRect l="-1817" t="-8228" r="-3806" b="-3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367" name="Group 31">
            <a:extLst>
              <a:ext uri="{FF2B5EF4-FFF2-40B4-BE49-F238E27FC236}">
                <a16:creationId xmlns:a16="http://schemas.microsoft.com/office/drawing/2014/main" id="{BB3F18C2-5173-1D36-20AD-3BCE6A4F6939}"/>
              </a:ext>
            </a:extLst>
          </p:cNvPr>
          <p:cNvGrpSpPr>
            <a:grpSpLocks/>
          </p:cNvGrpSpPr>
          <p:nvPr/>
        </p:nvGrpSpPr>
        <p:grpSpPr bwMode="auto">
          <a:xfrm>
            <a:off x="1918494" y="1957387"/>
            <a:ext cx="1832372" cy="1822847"/>
            <a:chOff x="2046" y="1678"/>
            <a:chExt cx="1539" cy="1531"/>
          </a:xfrm>
        </p:grpSpPr>
        <p:sp>
          <p:nvSpPr>
            <p:cNvPr id="142368" name="Line 32">
              <a:extLst>
                <a:ext uri="{FF2B5EF4-FFF2-40B4-BE49-F238E27FC236}">
                  <a16:creationId xmlns:a16="http://schemas.microsoft.com/office/drawing/2014/main" id="{7F9624A5-011E-515E-2414-D179D03AC7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67" y="1735"/>
              <a:ext cx="1" cy="3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2369" name="Line 33">
              <a:extLst>
                <a:ext uri="{FF2B5EF4-FFF2-40B4-BE49-F238E27FC236}">
                  <a16:creationId xmlns:a16="http://schemas.microsoft.com/office/drawing/2014/main" id="{14BE043B-1160-0B30-8600-A4C76BBA21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3" y="2642"/>
              <a:ext cx="3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2370" name="Text Box 34">
              <a:extLst>
                <a:ext uri="{FF2B5EF4-FFF2-40B4-BE49-F238E27FC236}">
                  <a16:creationId xmlns:a16="http://schemas.microsoft.com/office/drawing/2014/main" id="{1D98F155-AFB3-3CED-C663-7EB1B0A20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6" y="2739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x</a:t>
              </a:r>
            </a:p>
          </p:txBody>
        </p:sp>
        <p:sp>
          <p:nvSpPr>
            <p:cNvPr id="142371" name="Text Box 35">
              <a:extLst>
                <a:ext uri="{FF2B5EF4-FFF2-40B4-BE49-F238E27FC236}">
                  <a16:creationId xmlns:a16="http://schemas.microsoft.com/office/drawing/2014/main" id="{4256B514-9240-DAEC-D92A-6AFE4E4FE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8" y="2615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y</a:t>
              </a:r>
            </a:p>
          </p:txBody>
        </p:sp>
        <p:sp>
          <p:nvSpPr>
            <p:cNvPr id="142372" name="Text Box 36">
              <a:extLst>
                <a:ext uri="{FF2B5EF4-FFF2-40B4-BE49-F238E27FC236}">
                  <a16:creationId xmlns:a16="http://schemas.microsoft.com/office/drawing/2014/main" id="{BF6A7CF7-4B1B-F48A-A46A-C6CB928F4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5" y="1678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</a:p>
          </p:txBody>
        </p:sp>
        <p:sp>
          <p:nvSpPr>
            <p:cNvPr id="142373" name="Oval 37">
              <a:extLst>
                <a:ext uri="{FF2B5EF4-FFF2-40B4-BE49-F238E27FC236}">
                  <a16:creationId xmlns:a16="http://schemas.microsoft.com/office/drawing/2014/main" id="{29D87C6F-AEDC-935F-2DEA-A8495007E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2075"/>
              <a:ext cx="695" cy="1134"/>
            </a:xfrm>
            <a:prstGeom prst="ellipse">
              <a:avLst/>
            </a:prstGeom>
            <a:gradFill rotWithShape="1">
              <a:gsLst>
                <a:gs pos="0">
                  <a:schemeClr val="bg1">
                    <a:alpha val="70000"/>
                  </a:schemeClr>
                </a:gs>
                <a:gs pos="100000">
                  <a:srgbClr val="DDDDDD">
                    <a:alpha val="7000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42374" name="Freeform 38">
              <a:extLst>
                <a:ext uri="{FF2B5EF4-FFF2-40B4-BE49-F238E27FC236}">
                  <a16:creationId xmlns:a16="http://schemas.microsoft.com/office/drawing/2014/main" id="{D6F25E81-7D24-DAE0-798A-069D6BC2A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2640"/>
              <a:ext cx="690" cy="126"/>
            </a:xfrm>
            <a:custGeom>
              <a:avLst/>
              <a:gdLst>
                <a:gd name="T0" fmla="*/ 0 w 690"/>
                <a:gd name="T1" fmla="*/ 0 h 126"/>
                <a:gd name="T2" fmla="*/ 26 w 690"/>
                <a:gd name="T3" fmla="*/ 45 h 126"/>
                <a:gd name="T4" fmla="*/ 72 w 690"/>
                <a:gd name="T5" fmla="*/ 74 h 126"/>
                <a:gd name="T6" fmla="*/ 135 w 690"/>
                <a:gd name="T7" fmla="*/ 99 h 126"/>
                <a:gd name="T8" fmla="*/ 219 w 690"/>
                <a:gd name="T9" fmla="*/ 117 h 126"/>
                <a:gd name="T10" fmla="*/ 314 w 690"/>
                <a:gd name="T11" fmla="*/ 126 h 126"/>
                <a:gd name="T12" fmla="*/ 468 w 690"/>
                <a:gd name="T13" fmla="*/ 120 h 126"/>
                <a:gd name="T14" fmla="*/ 582 w 690"/>
                <a:gd name="T15" fmla="*/ 90 h 126"/>
                <a:gd name="T16" fmla="*/ 655 w 690"/>
                <a:gd name="T17" fmla="*/ 48 h 126"/>
                <a:gd name="T18" fmla="*/ 690 w 690"/>
                <a:gd name="T19" fmla="*/ 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0" h="126">
                  <a:moveTo>
                    <a:pt x="0" y="0"/>
                  </a:moveTo>
                  <a:cubicBezTo>
                    <a:pt x="4" y="7"/>
                    <a:pt x="14" y="33"/>
                    <a:pt x="26" y="45"/>
                  </a:cubicBezTo>
                  <a:cubicBezTo>
                    <a:pt x="38" y="57"/>
                    <a:pt x="54" y="65"/>
                    <a:pt x="72" y="74"/>
                  </a:cubicBezTo>
                  <a:cubicBezTo>
                    <a:pt x="90" y="83"/>
                    <a:pt x="111" y="92"/>
                    <a:pt x="135" y="99"/>
                  </a:cubicBezTo>
                  <a:cubicBezTo>
                    <a:pt x="159" y="106"/>
                    <a:pt x="189" y="113"/>
                    <a:pt x="219" y="117"/>
                  </a:cubicBezTo>
                  <a:cubicBezTo>
                    <a:pt x="249" y="121"/>
                    <a:pt x="273" y="126"/>
                    <a:pt x="314" y="126"/>
                  </a:cubicBezTo>
                  <a:cubicBezTo>
                    <a:pt x="355" y="126"/>
                    <a:pt x="423" y="126"/>
                    <a:pt x="468" y="120"/>
                  </a:cubicBezTo>
                  <a:cubicBezTo>
                    <a:pt x="513" y="114"/>
                    <a:pt x="551" y="102"/>
                    <a:pt x="582" y="90"/>
                  </a:cubicBezTo>
                  <a:cubicBezTo>
                    <a:pt x="613" y="78"/>
                    <a:pt x="637" y="62"/>
                    <a:pt x="655" y="48"/>
                  </a:cubicBezTo>
                  <a:cubicBezTo>
                    <a:pt x="673" y="34"/>
                    <a:pt x="683" y="15"/>
                    <a:pt x="690" y="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2375" name="Freeform 39">
              <a:extLst>
                <a:ext uri="{FF2B5EF4-FFF2-40B4-BE49-F238E27FC236}">
                  <a16:creationId xmlns:a16="http://schemas.microsoft.com/office/drawing/2014/main" id="{92FBF8D0-61C1-1344-1312-A884FC0F992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19" y="2510"/>
              <a:ext cx="690" cy="126"/>
            </a:xfrm>
            <a:custGeom>
              <a:avLst/>
              <a:gdLst>
                <a:gd name="T0" fmla="*/ 0 w 690"/>
                <a:gd name="T1" fmla="*/ 0 h 126"/>
                <a:gd name="T2" fmla="*/ 26 w 690"/>
                <a:gd name="T3" fmla="*/ 45 h 126"/>
                <a:gd name="T4" fmla="*/ 72 w 690"/>
                <a:gd name="T5" fmla="*/ 74 h 126"/>
                <a:gd name="T6" fmla="*/ 135 w 690"/>
                <a:gd name="T7" fmla="*/ 99 h 126"/>
                <a:gd name="T8" fmla="*/ 219 w 690"/>
                <a:gd name="T9" fmla="*/ 117 h 126"/>
                <a:gd name="T10" fmla="*/ 314 w 690"/>
                <a:gd name="T11" fmla="*/ 126 h 126"/>
                <a:gd name="T12" fmla="*/ 468 w 690"/>
                <a:gd name="T13" fmla="*/ 120 h 126"/>
                <a:gd name="T14" fmla="*/ 582 w 690"/>
                <a:gd name="T15" fmla="*/ 90 h 126"/>
                <a:gd name="T16" fmla="*/ 655 w 690"/>
                <a:gd name="T17" fmla="*/ 48 h 126"/>
                <a:gd name="T18" fmla="*/ 690 w 690"/>
                <a:gd name="T19" fmla="*/ 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0" h="126">
                  <a:moveTo>
                    <a:pt x="0" y="0"/>
                  </a:moveTo>
                  <a:cubicBezTo>
                    <a:pt x="4" y="7"/>
                    <a:pt x="14" y="33"/>
                    <a:pt x="26" y="45"/>
                  </a:cubicBezTo>
                  <a:cubicBezTo>
                    <a:pt x="38" y="57"/>
                    <a:pt x="54" y="65"/>
                    <a:pt x="72" y="74"/>
                  </a:cubicBezTo>
                  <a:cubicBezTo>
                    <a:pt x="90" y="83"/>
                    <a:pt x="111" y="92"/>
                    <a:pt x="135" y="99"/>
                  </a:cubicBezTo>
                  <a:cubicBezTo>
                    <a:pt x="159" y="106"/>
                    <a:pt x="189" y="113"/>
                    <a:pt x="219" y="117"/>
                  </a:cubicBezTo>
                  <a:cubicBezTo>
                    <a:pt x="249" y="121"/>
                    <a:pt x="273" y="126"/>
                    <a:pt x="314" y="126"/>
                  </a:cubicBezTo>
                  <a:cubicBezTo>
                    <a:pt x="355" y="126"/>
                    <a:pt x="423" y="126"/>
                    <a:pt x="468" y="120"/>
                  </a:cubicBezTo>
                  <a:cubicBezTo>
                    <a:pt x="513" y="114"/>
                    <a:pt x="551" y="102"/>
                    <a:pt x="582" y="90"/>
                  </a:cubicBezTo>
                  <a:cubicBezTo>
                    <a:pt x="613" y="78"/>
                    <a:pt x="637" y="62"/>
                    <a:pt x="655" y="48"/>
                  </a:cubicBezTo>
                  <a:cubicBezTo>
                    <a:pt x="673" y="34"/>
                    <a:pt x="683" y="15"/>
                    <a:pt x="690" y="6"/>
                  </a:cubicBezTo>
                </a:path>
              </a:pathLst>
            </a:custGeom>
            <a:noFill/>
            <a:ln w="9525" cap="flat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2376" name="Text Box 40">
              <a:extLst>
                <a:ext uri="{FF2B5EF4-FFF2-40B4-BE49-F238E27FC236}">
                  <a16:creationId xmlns:a16="http://schemas.microsoft.com/office/drawing/2014/main" id="{7C0A272D-12D3-E36F-2D69-4315D79A2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" y="2706"/>
              <a:ext cx="22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n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o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42377" name="Text Box 41">
              <a:extLst>
                <a:ext uri="{FF2B5EF4-FFF2-40B4-BE49-F238E27FC236}">
                  <a16:creationId xmlns:a16="http://schemas.microsoft.com/office/drawing/2014/main" id="{5AD02A5A-947F-C934-7335-6C3C27025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2599"/>
              <a:ext cx="22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n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o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42378" name="Text Box 42">
              <a:extLst>
                <a:ext uri="{FF2B5EF4-FFF2-40B4-BE49-F238E27FC236}">
                  <a16:creationId xmlns:a16="http://schemas.microsoft.com/office/drawing/2014/main" id="{1D67EBE8-BCF8-382F-6A2C-B30E52D2E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8" y="1911"/>
              <a:ext cx="22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n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e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42379" name="Line 43">
              <a:extLst>
                <a:ext uri="{FF2B5EF4-FFF2-40B4-BE49-F238E27FC236}">
                  <a16:creationId xmlns:a16="http://schemas.microsoft.com/office/drawing/2014/main" id="{8E990E16-4F69-4E1E-03E9-2EF53235C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8" y="2642"/>
              <a:ext cx="199" cy="8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2380" name="Line 44">
              <a:extLst>
                <a:ext uri="{FF2B5EF4-FFF2-40B4-BE49-F238E27FC236}">
                  <a16:creationId xmlns:a16="http://schemas.microsoft.com/office/drawing/2014/main" id="{A60F1255-8BA7-E340-7836-383BDD51E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5" y="2734"/>
              <a:ext cx="431" cy="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2381" name="Line 45">
              <a:extLst>
                <a:ext uri="{FF2B5EF4-FFF2-40B4-BE49-F238E27FC236}">
                  <a16:creationId xmlns:a16="http://schemas.microsoft.com/office/drawing/2014/main" id="{0D59D95F-BB6A-71C5-6207-93142C2B38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7" y="2075"/>
              <a:ext cx="0" cy="56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2382" name="Line 46">
              <a:extLst>
                <a:ext uri="{FF2B5EF4-FFF2-40B4-BE49-F238E27FC236}">
                  <a16:creationId xmlns:a16="http://schemas.microsoft.com/office/drawing/2014/main" id="{6323C3A3-F432-B875-6B61-83076C38C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6" y="2642"/>
              <a:ext cx="342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2383" name="Oval 47">
              <a:extLst>
                <a:ext uri="{FF2B5EF4-FFF2-40B4-BE49-F238E27FC236}">
                  <a16:creationId xmlns:a16="http://schemas.microsoft.com/office/drawing/2014/main" id="{59C76D68-34B6-5EAF-73DB-B268CED1B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" y="2059"/>
              <a:ext cx="27" cy="2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42384" name="Oval 48">
              <a:extLst>
                <a:ext uri="{FF2B5EF4-FFF2-40B4-BE49-F238E27FC236}">
                  <a16:creationId xmlns:a16="http://schemas.microsoft.com/office/drawing/2014/main" id="{D48CA25D-0F07-87F8-55BE-4078F2681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" y="2630"/>
              <a:ext cx="27" cy="2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42385" name="Oval 49">
              <a:extLst>
                <a:ext uri="{FF2B5EF4-FFF2-40B4-BE49-F238E27FC236}">
                  <a16:creationId xmlns:a16="http://schemas.microsoft.com/office/drawing/2014/main" id="{E06B8EFC-95E4-2050-19F6-2D45AE12C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5" y="2719"/>
              <a:ext cx="27" cy="2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9FD3F46F-C380-277A-0ACC-56A51361F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Electrooptic Tensor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63" name="Rectangle 3">
                <a:extLst>
                  <a:ext uri="{FF2B5EF4-FFF2-40B4-BE49-F238E27FC236}">
                    <a16:creationId xmlns:a16="http://schemas.microsoft.com/office/drawing/2014/main" id="{CD0E35DC-E725-2658-EC63-44F4711EB546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250825" y="951311"/>
                <a:ext cx="8641655" cy="60840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>
                    <a:ea typeface="굴림" panose="020B0600000101010101" pitchFamily="34" charset="-127"/>
                  </a:rPr>
                  <a:t>The presence of electric field applied in an arbitrary direction to a crystal leads to a linear change in the coefficient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1/</m:t>
                    </m:r>
                    <m:sSubSup>
                      <m:sSub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according to</a:t>
                </a:r>
              </a:p>
            </p:txBody>
          </p:sp>
        </mc:Choice>
        <mc:Fallback xmlns="">
          <p:sp>
            <p:nvSpPr>
              <p:cNvPr id="143363" name="Rectangle 3">
                <a:extLst>
                  <a:ext uri="{FF2B5EF4-FFF2-40B4-BE49-F238E27FC236}">
                    <a16:creationId xmlns:a16="http://schemas.microsoft.com/office/drawing/2014/main" id="{CD0E35DC-E725-2658-EC63-44F4711EB5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0825" y="951311"/>
                <a:ext cx="8641655" cy="608408"/>
              </a:xfrm>
              <a:blipFill>
                <a:blip r:embed="rId3"/>
                <a:stretch>
                  <a:fillRect l="-1481" t="-13000" r="-2116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02" name="Object 42">
                <a:extLst>
                  <a:ext uri="{FF2B5EF4-FFF2-40B4-BE49-F238E27FC236}">
                    <a16:creationId xmlns:a16="http://schemas.microsoft.com/office/drawing/2014/main" id="{004C8E65-7470-2EA6-A446-8B90E2DC4816}"/>
                  </a:ext>
                </a:extLst>
              </p:cNvPr>
              <p:cNvSpPr txBox="1"/>
              <p:nvPr/>
            </p:nvSpPr>
            <p:spPr bwMode="auto">
              <a:xfrm>
                <a:off x="2445544" y="1559719"/>
                <a:ext cx="3488531" cy="44886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100" dirty="0"/>
                            <m:t> </m:t>
                          </m:r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  </m:t>
                          </m:r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=1, ..., 6,  </m:t>
                          </m:r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=1, 2, 3</m:t>
                          </m:r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3402" name="Object 42">
                <a:extLst>
                  <a:ext uri="{FF2B5EF4-FFF2-40B4-BE49-F238E27FC236}">
                    <a16:creationId xmlns:a16="http://schemas.microsoft.com/office/drawing/2014/main" id="{004C8E65-7470-2EA6-A446-8B90E2DC4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5544" y="1559719"/>
                <a:ext cx="3488531" cy="448866"/>
              </a:xfrm>
              <a:prstGeom prst="rect">
                <a:avLst/>
              </a:prstGeom>
              <a:blipFill>
                <a:blip r:embed="rId4"/>
                <a:stretch>
                  <a:fillRect t="-127397" b="-195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04" name="Object 44">
                <a:extLst>
                  <a:ext uri="{FF2B5EF4-FFF2-40B4-BE49-F238E27FC236}">
                    <a16:creationId xmlns:a16="http://schemas.microsoft.com/office/drawing/2014/main" id="{E8E2B56B-6E2A-8F09-C959-5FB9A23E1E6B}"/>
                  </a:ext>
                </a:extLst>
              </p:cNvPr>
              <p:cNvSpPr txBox="1"/>
              <p:nvPr/>
            </p:nvSpPr>
            <p:spPr bwMode="auto">
              <a:xfrm>
                <a:off x="3895725" y="1964532"/>
                <a:ext cx="2603500" cy="115609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(1/</m:t>
                                </m:r>
                                <m:sSup>
                                  <m:s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(1/</m:t>
                                </m:r>
                                <m:sSup>
                                  <m:s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(1/</m:t>
                                </m:r>
                                <m:sSup>
                                  <m:s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(1/</m:t>
                                </m:r>
                                <m:sSup>
                                  <m:s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(1/</m:t>
                                </m:r>
                                <m:sSup>
                                  <m:s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(1/</m:t>
                                </m:r>
                                <m:sSup>
                                  <m:s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3404" name="Object 44">
                <a:extLst>
                  <a:ext uri="{FF2B5EF4-FFF2-40B4-BE49-F238E27FC236}">
                    <a16:creationId xmlns:a16="http://schemas.microsoft.com/office/drawing/2014/main" id="{E8E2B56B-6E2A-8F09-C959-5FB9A23E1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5725" y="1964532"/>
                <a:ext cx="2603500" cy="1156097"/>
              </a:xfrm>
              <a:prstGeom prst="rect">
                <a:avLst/>
              </a:prstGeom>
              <a:blipFill>
                <a:blip r:embed="rId5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07" name="Line 47">
            <a:extLst>
              <a:ext uri="{FF2B5EF4-FFF2-40B4-BE49-F238E27FC236}">
                <a16:creationId xmlns:a16="http://schemas.microsoft.com/office/drawing/2014/main" id="{EB8ABBCD-D633-3B87-EAAB-C9FDAC4CD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7691" y="2664619"/>
            <a:ext cx="1114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  <p:sp>
        <p:nvSpPr>
          <p:cNvPr id="143408" name="Rectangle 48">
            <a:extLst>
              <a:ext uri="{FF2B5EF4-FFF2-40B4-BE49-F238E27FC236}">
                <a16:creationId xmlns:a16="http://schemas.microsoft.com/office/drawing/2014/main" id="{A948239E-F624-06ED-16FB-5386F4FA8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8972" y="2339994"/>
            <a:ext cx="1326004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ko-KR" sz="1300" dirty="0">
                <a:latin typeface="Times New Roman" panose="02020603050405020304" pitchFamily="18" charset="0"/>
                <a:ea typeface="굴림" panose="020B0600000101010101" pitchFamily="34" charset="-127"/>
              </a:rPr>
              <a:t>In a matrix form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9" name="Rectangle 49">
                <a:extLst>
                  <a:ext uri="{FF2B5EF4-FFF2-40B4-BE49-F238E27FC236}">
                    <a16:creationId xmlns:a16="http://schemas.microsoft.com/office/drawing/2014/main" id="{B5F5033D-0F79-3B10-E69A-4206CE08C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865" y="3168173"/>
                <a:ext cx="8640960" cy="914874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 fontScale="92500"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6×3 electrooptic tensor composed of the electrooptic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has a different form for noncentroelectric crystals. </a:t>
                </a: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electrooptic tensor of LiNbO3 - a uniaxial material of the 3m trigonal crystal class:</a:t>
                </a:r>
              </a:p>
            </p:txBody>
          </p:sp>
        </mc:Choice>
        <mc:Fallback xmlns="">
          <p:sp>
            <p:nvSpPr>
              <p:cNvPr id="143409" name="Rectangle 49">
                <a:extLst>
                  <a:ext uri="{FF2B5EF4-FFF2-40B4-BE49-F238E27FC236}">
                    <a16:creationId xmlns:a16="http://schemas.microsoft.com/office/drawing/2014/main" id="{B5F5033D-0F79-3B10-E69A-4206CE08C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865" y="3168173"/>
                <a:ext cx="8640960" cy="914874"/>
              </a:xfrm>
              <a:prstGeom prst="rect">
                <a:avLst/>
              </a:prstGeom>
              <a:blipFill>
                <a:blip r:embed="rId6"/>
                <a:stretch>
                  <a:fillRect l="-1411" t="-8667" r="-183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12" name="Object 52">
                <a:extLst>
                  <a:ext uri="{FF2B5EF4-FFF2-40B4-BE49-F238E27FC236}">
                    <a16:creationId xmlns:a16="http://schemas.microsoft.com/office/drawing/2014/main" id="{7A6E4AF8-A73D-914F-F037-78227C9913CC}"/>
                  </a:ext>
                </a:extLst>
              </p:cNvPr>
              <p:cNvSpPr txBox="1"/>
              <p:nvPr/>
            </p:nvSpPr>
            <p:spPr bwMode="auto">
              <a:xfrm>
                <a:off x="3762375" y="3989784"/>
                <a:ext cx="1419225" cy="109021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3412" name="Object 52">
                <a:extLst>
                  <a:ext uri="{FF2B5EF4-FFF2-40B4-BE49-F238E27FC236}">
                    <a16:creationId xmlns:a16="http://schemas.microsoft.com/office/drawing/2014/main" id="{7A6E4AF8-A73D-914F-F037-78227C991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2375" y="3989784"/>
                <a:ext cx="1419225" cy="10902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764469EA-109D-BF0F-77AD-9A0A6F556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Axis transformation</a:t>
            </a:r>
          </a:p>
        </p:txBody>
      </p:sp>
      <p:sp>
        <p:nvSpPr>
          <p:cNvPr id="145477" name="Rectangle 69">
            <a:extLst>
              <a:ext uri="{FF2B5EF4-FFF2-40B4-BE49-F238E27FC236}">
                <a16:creationId xmlns:a16="http://schemas.microsoft.com/office/drawing/2014/main" id="{525C5C80-186D-211B-8C09-635228BF25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84200" y="867370"/>
            <a:ext cx="6122987" cy="361950"/>
          </a:xfrm>
          <a:noFill/>
          <a:ln/>
        </p:spPr>
        <p:txBody>
          <a:bodyPr>
            <a:noAutofit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The new index ellipsoid in the applied electric field is described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433" name="Rectangle 25">
                <a:extLst>
                  <a:ext uri="{FF2B5EF4-FFF2-40B4-BE49-F238E27FC236}">
                    <a16:creationId xmlns:a16="http://schemas.microsoft.com/office/drawing/2014/main" id="{4BCA42FF-7849-1BE2-3219-8686F600E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803" y="2085778"/>
                <a:ext cx="6982221" cy="763388"/>
              </a:xfrm>
              <a:prstGeom prst="rect">
                <a:avLst/>
              </a:prstGeom>
              <a:noFill/>
              <a:ln/>
            </p:spPr>
            <p:txBody>
              <a:bodyPr vert="horz" lIns="0" tIns="0" rIns="0" bIns="0" rtlCol="0">
                <a:no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For various electric field directions in y-cut, x-propagating LiNbO3, the electric field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applied uniformly along y axis is considered.</a:t>
                </a: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index ellipsoid becomes </a:t>
                </a:r>
              </a:p>
            </p:txBody>
          </p:sp>
        </mc:Choice>
        <mc:Fallback xmlns="">
          <p:sp>
            <p:nvSpPr>
              <p:cNvPr id="145433" name="Rectangle 25">
                <a:extLst>
                  <a:ext uri="{FF2B5EF4-FFF2-40B4-BE49-F238E27FC236}">
                    <a16:creationId xmlns:a16="http://schemas.microsoft.com/office/drawing/2014/main" id="{4BCA42FF-7849-1BE2-3219-8686F600E6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3803" y="2085778"/>
                <a:ext cx="6982221" cy="763388"/>
              </a:xfrm>
              <a:prstGeom prst="rect">
                <a:avLst/>
              </a:prstGeom>
              <a:blipFill>
                <a:blip r:embed="rId3"/>
                <a:stretch>
                  <a:fillRect l="-1921" t="-10400" r="-2707" b="-304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438" name="Object 30">
                <a:extLst>
                  <a:ext uri="{FF2B5EF4-FFF2-40B4-BE49-F238E27FC236}">
                    <a16:creationId xmlns:a16="http://schemas.microsoft.com/office/drawing/2014/main" id="{67C87EBB-68E5-3175-6D18-1C060AB0BFF9}"/>
                  </a:ext>
                </a:extLst>
              </p:cNvPr>
              <p:cNvSpPr txBox="1"/>
              <p:nvPr/>
            </p:nvSpPr>
            <p:spPr bwMode="auto">
              <a:xfrm>
                <a:off x="2377679" y="1457325"/>
                <a:ext cx="5067696" cy="44529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Sup>
                        <m:sSub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𝑦𝑧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Sup>
                        <m:sSub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𝑥𝑧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Sup>
                        <m:sSub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5438" name="Object 30">
                <a:extLst>
                  <a:ext uri="{FF2B5EF4-FFF2-40B4-BE49-F238E27FC236}">
                    <a16:creationId xmlns:a16="http://schemas.microsoft.com/office/drawing/2014/main" id="{67C87EBB-68E5-3175-6D18-1C060AB0B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7679" y="1457325"/>
                <a:ext cx="5067696" cy="445294"/>
              </a:xfrm>
              <a:prstGeom prst="rect">
                <a:avLst/>
              </a:prstGeom>
              <a:blipFill>
                <a:blip r:embed="rId4"/>
                <a:stretch>
                  <a:fillRect b="-150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440" name="Object 32">
                <a:extLst>
                  <a:ext uri="{FF2B5EF4-FFF2-40B4-BE49-F238E27FC236}">
                    <a16:creationId xmlns:a16="http://schemas.microsoft.com/office/drawing/2014/main" id="{3C3BD1E9-12A4-9BBE-9219-AB8DA818169F}"/>
                  </a:ext>
                </a:extLst>
              </p:cNvPr>
              <p:cNvSpPr txBox="1"/>
              <p:nvPr/>
            </p:nvSpPr>
            <p:spPr bwMode="auto">
              <a:xfrm>
                <a:off x="4008041" y="2607073"/>
                <a:ext cx="3437334" cy="46434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51</m:t>
                          </m:r>
                        </m:sub>
                      </m:sSub>
                      <m:sSubSup>
                        <m:sSub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𝑦𝑧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100"/>
              </a:p>
            </p:txBody>
          </p:sp>
        </mc:Choice>
        <mc:Fallback xmlns="">
          <p:sp>
            <p:nvSpPr>
              <p:cNvPr id="145440" name="Object 32">
                <a:extLst>
                  <a:ext uri="{FF2B5EF4-FFF2-40B4-BE49-F238E27FC236}">
                    <a16:creationId xmlns:a16="http://schemas.microsoft.com/office/drawing/2014/main" id="{3C3BD1E9-12A4-9BBE-9219-AB8DA8181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8041" y="2607073"/>
                <a:ext cx="3437334" cy="4643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442" name="Group 34">
            <a:extLst>
              <a:ext uri="{FF2B5EF4-FFF2-40B4-BE49-F238E27FC236}">
                <a16:creationId xmlns:a16="http://schemas.microsoft.com/office/drawing/2014/main" id="{83BF9CCF-131C-7E0D-BC2B-E65B8D47E5BF}"/>
              </a:ext>
            </a:extLst>
          </p:cNvPr>
          <p:cNvGrpSpPr>
            <a:grpSpLocks/>
          </p:cNvGrpSpPr>
          <p:nvPr/>
        </p:nvGrpSpPr>
        <p:grpSpPr bwMode="auto">
          <a:xfrm>
            <a:off x="2840832" y="2893219"/>
            <a:ext cx="3114676" cy="2043113"/>
            <a:chOff x="1586" y="1250"/>
            <a:chExt cx="2616" cy="1716"/>
          </a:xfrm>
        </p:grpSpPr>
        <p:sp>
          <p:nvSpPr>
            <p:cNvPr id="145443" name="AutoShape 35">
              <a:extLst>
                <a:ext uri="{FF2B5EF4-FFF2-40B4-BE49-F238E27FC236}">
                  <a16:creationId xmlns:a16="http://schemas.microsoft.com/office/drawing/2014/main" id="{7E52A034-D1E6-D7CD-387C-DDC6AC78B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" y="2302"/>
              <a:ext cx="510" cy="56"/>
            </a:xfrm>
            <a:prstGeom prst="rightArrow">
              <a:avLst>
                <a:gd name="adj1" fmla="val 50000"/>
                <a:gd name="adj2" fmla="val 22767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45444" name="Freeform 36">
              <a:extLst>
                <a:ext uri="{FF2B5EF4-FFF2-40B4-BE49-F238E27FC236}">
                  <a16:creationId xmlns:a16="http://schemas.microsoft.com/office/drawing/2014/main" id="{1A209252-14A6-693E-72F1-B0CE5B9B4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3" y="2006"/>
              <a:ext cx="234" cy="768"/>
            </a:xfrm>
            <a:custGeom>
              <a:avLst/>
              <a:gdLst>
                <a:gd name="T0" fmla="*/ 231 w 234"/>
                <a:gd name="T1" fmla="*/ 0 h 768"/>
                <a:gd name="T2" fmla="*/ 234 w 234"/>
                <a:gd name="T3" fmla="*/ 189 h 768"/>
                <a:gd name="T4" fmla="*/ 0 w 234"/>
                <a:gd name="T5" fmla="*/ 768 h 768"/>
                <a:gd name="T6" fmla="*/ 1 w 234"/>
                <a:gd name="T7" fmla="*/ 595 h 768"/>
                <a:gd name="T8" fmla="*/ 231 w 234"/>
                <a:gd name="T9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768">
                  <a:moveTo>
                    <a:pt x="231" y="0"/>
                  </a:moveTo>
                  <a:lnTo>
                    <a:pt x="234" y="189"/>
                  </a:lnTo>
                  <a:lnTo>
                    <a:pt x="0" y="768"/>
                  </a:lnTo>
                  <a:lnTo>
                    <a:pt x="1" y="595"/>
                  </a:lnTo>
                  <a:lnTo>
                    <a:pt x="23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45" name="Freeform 37">
              <a:extLst>
                <a:ext uri="{FF2B5EF4-FFF2-40B4-BE49-F238E27FC236}">
                  <a16:creationId xmlns:a16="http://schemas.microsoft.com/office/drawing/2014/main" id="{41248D26-AB8C-B821-98E1-128064443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2004"/>
              <a:ext cx="1531" cy="595"/>
            </a:xfrm>
            <a:custGeom>
              <a:avLst/>
              <a:gdLst>
                <a:gd name="T0" fmla="*/ 1531 w 1531"/>
                <a:gd name="T1" fmla="*/ 0 h 595"/>
                <a:gd name="T2" fmla="*/ 1299 w 1531"/>
                <a:gd name="T3" fmla="*/ 595 h 595"/>
                <a:gd name="T4" fmla="*/ 0 w 1531"/>
                <a:gd name="T5" fmla="*/ 595 h 595"/>
                <a:gd name="T6" fmla="*/ 318 w 1531"/>
                <a:gd name="T7" fmla="*/ 0 h 595"/>
                <a:gd name="T8" fmla="*/ 1531 w 1531"/>
                <a:gd name="T9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1" h="595">
                  <a:moveTo>
                    <a:pt x="1531" y="0"/>
                  </a:moveTo>
                  <a:lnTo>
                    <a:pt x="1299" y="595"/>
                  </a:lnTo>
                  <a:lnTo>
                    <a:pt x="0" y="595"/>
                  </a:lnTo>
                  <a:lnTo>
                    <a:pt x="318" y="0"/>
                  </a:lnTo>
                  <a:lnTo>
                    <a:pt x="153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46" name="Rectangle 38">
              <a:extLst>
                <a:ext uri="{FF2B5EF4-FFF2-40B4-BE49-F238E27FC236}">
                  <a16:creationId xmlns:a16="http://schemas.microsoft.com/office/drawing/2014/main" id="{E4DEC0FA-8DBF-F933-76B9-52964860F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2599"/>
              <a:ext cx="1299" cy="1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45447" name="Freeform 39">
              <a:extLst>
                <a:ext uri="{FF2B5EF4-FFF2-40B4-BE49-F238E27FC236}">
                  <a16:creationId xmlns:a16="http://schemas.microsoft.com/office/drawing/2014/main" id="{31E1E465-F9DE-2F71-7339-8BD52EB4B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2229"/>
              <a:ext cx="98" cy="259"/>
            </a:xfrm>
            <a:custGeom>
              <a:avLst/>
              <a:gdLst>
                <a:gd name="T0" fmla="*/ 98 w 98"/>
                <a:gd name="T1" fmla="*/ 0 h 259"/>
                <a:gd name="T2" fmla="*/ 0 w 98"/>
                <a:gd name="T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8" h="259">
                  <a:moveTo>
                    <a:pt x="98" y="0"/>
                  </a:moveTo>
                  <a:lnTo>
                    <a:pt x="0" y="25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48" name="Line 40">
              <a:extLst>
                <a:ext uri="{FF2B5EF4-FFF2-40B4-BE49-F238E27FC236}">
                  <a16:creationId xmlns:a16="http://schemas.microsoft.com/office/drawing/2014/main" id="{AF6AF9C4-A00F-3A44-DCAE-3C686CE00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8" y="2155"/>
              <a:ext cx="0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49" name="Text Box 41">
              <a:extLst>
                <a:ext uri="{FF2B5EF4-FFF2-40B4-BE49-F238E27FC236}">
                  <a16:creationId xmlns:a16="http://schemas.microsoft.com/office/drawing/2014/main" id="{87EB86D6-DFBF-2C1C-91C8-03790EC7E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2469"/>
              <a:ext cx="28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TE</a:t>
              </a:r>
            </a:p>
          </p:txBody>
        </p:sp>
        <p:sp>
          <p:nvSpPr>
            <p:cNvPr id="145450" name="Text Box 42">
              <a:extLst>
                <a:ext uri="{FF2B5EF4-FFF2-40B4-BE49-F238E27FC236}">
                  <a16:creationId xmlns:a16="http://schemas.microsoft.com/office/drawing/2014/main" id="{52FDB5EC-3257-227B-E466-C84195345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0" y="2387"/>
              <a:ext cx="28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TM</a:t>
              </a:r>
            </a:p>
          </p:txBody>
        </p:sp>
        <p:sp>
          <p:nvSpPr>
            <p:cNvPr id="145451" name="AutoShape 43">
              <a:extLst>
                <a:ext uri="{FF2B5EF4-FFF2-40B4-BE49-F238E27FC236}">
                  <a16:creationId xmlns:a16="http://schemas.microsoft.com/office/drawing/2014/main" id="{DC880269-5EF4-9736-E203-010E03115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" y="2331"/>
              <a:ext cx="510" cy="56"/>
            </a:xfrm>
            <a:prstGeom prst="rightArrow">
              <a:avLst>
                <a:gd name="adj1" fmla="val 50000"/>
                <a:gd name="adj2" fmla="val 22767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45452" name="Text Box 44">
              <a:extLst>
                <a:ext uri="{FF2B5EF4-FFF2-40B4-BE49-F238E27FC236}">
                  <a16:creationId xmlns:a16="http://schemas.microsoft.com/office/drawing/2014/main" id="{E6EA7258-04E8-AAF4-ECBC-476397AFB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" y="2585"/>
              <a:ext cx="59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LiNbO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3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45453" name="Line 45">
              <a:extLst>
                <a:ext uri="{FF2B5EF4-FFF2-40B4-BE49-F238E27FC236}">
                  <a16:creationId xmlns:a16="http://schemas.microsoft.com/office/drawing/2014/main" id="{EDC2194B-93E8-73B6-3068-93C86AC1CB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0" y="2002"/>
              <a:ext cx="482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54" name="Line 46">
              <a:extLst>
                <a:ext uri="{FF2B5EF4-FFF2-40B4-BE49-F238E27FC236}">
                  <a16:creationId xmlns:a16="http://schemas.microsoft.com/office/drawing/2014/main" id="{1A187BC6-6B0B-5F52-5742-89CB2EBD0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2" y="2004"/>
              <a:ext cx="178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55" name="Line 47">
              <a:extLst>
                <a:ext uri="{FF2B5EF4-FFF2-40B4-BE49-F238E27FC236}">
                  <a16:creationId xmlns:a16="http://schemas.microsoft.com/office/drawing/2014/main" id="{D663898E-1840-8344-2E4A-46336C700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62" y="1443"/>
              <a:ext cx="0" cy="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56" name="Line 48">
              <a:extLst>
                <a:ext uri="{FF2B5EF4-FFF2-40B4-BE49-F238E27FC236}">
                  <a16:creationId xmlns:a16="http://schemas.microsoft.com/office/drawing/2014/main" id="{30820314-8F22-1641-1B1B-8D98915F79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2" y="1450"/>
              <a:ext cx="81" cy="5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57" name="Line 49">
              <a:extLst>
                <a:ext uri="{FF2B5EF4-FFF2-40B4-BE49-F238E27FC236}">
                  <a16:creationId xmlns:a16="http://schemas.microsoft.com/office/drawing/2014/main" id="{CE9D6259-0CF7-D38E-6277-7389AC59C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7" y="2003"/>
              <a:ext cx="515" cy="8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58" name="Text Box 50">
              <a:extLst>
                <a:ext uri="{FF2B5EF4-FFF2-40B4-BE49-F238E27FC236}">
                  <a16:creationId xmlns:a16="http://schemas.microsoft.com/office/drawing/2014/main" id="{39283553-F15C-B1F9-1013-B3C9DDB4A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8" y="1848"/>
              <a:ext cx="28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x</a:t>
              </a:r>
            </a:p>
          </p:txBody>
        </p:sp>
        <p:sp>
          <p:nvSpPr>
            <p:cNvPr id="145459" name="Text Box 51">
              <a:extLst>
                <a:ext uri="{FF2B5EF4-FFF2-40B4-BE49-F238E27FC236}">
                  <a16:creationId xmlns:a16="http://schemas.microsoft.com/office/drawing/2014/main" id="{FC614403-79B8-246B-AC7C-694023518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" y="1250"/>
              <a:ext cx="36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y  </a:t>
              </a:r>
              <a:r>
                <a:rPr lang="en-US" altLang="ko-KR" sz="900" dirty="0" err="1">
                  <a:latin typeface="Times New Roman" panose="02020603050405020304" pitchFamily="18" charset="0"/>
                  <a:ea typeface="굴림" panose="020B0600000101010101" pitchFamily="34" charset="-127"/>
                </a:rPr>
                <a:t>y</a:t>
              </a: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 </a:t>
              </a:r>
              <a:r>
                <a:rPr lang="en-US" altLang="ko-KR" sz="900" dirty="0">
                  <a:ea typeface="굴림" panose="020B0600000101010101" pitchFamily="34" charset="-127"/>
                  <a:sym typeface="Symbol" panose="05050102010706020507" pitchFamily="18" charset="2"/>
                </a:rPr>
                <a:t></a:t>
              </a:r>
              <a:endParaRPr lang="en-US" altLang="ko-KR" sz="900" baseline="30000" dirty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45460" name="Text Box 52">
              <a:extLst>
                <a:ext uri="{FF2B5EF4-FFF2-40B4-BE49-F238E27FC236}">
                  <a16:creationId xmlns:a16="http://schemas.microsoft.com/office/drawing/2014/main" id="{8E74BDA4-2178-BF75-D033-27DD3EC64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6" y="2639"/>
              <a:ext cx="26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z </a:t>
              </a:r>
              <a:r>
                <a:rPr lang="en-US" altLang="ko-KR" sz="900" dirty="0">
                  <a:ea typeface="굴림" panose="020B0600000101010101" pitchFamily="34" charset="-127"/>
                  <a:sym typeface="Symbol" panose="05050102010706020507" pitchFamily="18" charset="2"/>
                </a:rPr>
                <a:t></a:t>
              </a:r>
              <a:endParaRPr lang="en-US" altLang="ko-KR" sz="9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45461" name="Text Box 53">
              <a:extLst>
                <a:ext uri="{FF2B5EF4-FFF2-40B4-BE49-F238E27FC236}">
                  <a16:creationId xmlns:a16="http://schemas.microsoft.com/office/drawing/2014/main" id="{51D99A01-FDF1-CBE0-051A-1D4CF9526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4" y="2772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</a:p>
          </p:txBody>
        </p:sp>
        <p:sp>
          <p:nvSpPr>
            <p:cNvPr id="145462" name="Line 54">
              <a:extLst>
                <a:ext uri="{FF2B5EF4-FFF2-40B4-BE49-F238E27FC236}">
                  <a16:creationId xmlns:a16="http://schemas.microsoft.com/office/drawing/2014/main" id="{BB0481BA-8D7E-C09F-5341-4D08113CB9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80" y="1661"/>
              <a:ext cx="1" cy="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63" name="Freeform 55">
              <a:extLst>
                <a:ext uri="{FF2B5EF4-FFF2-40B4-BE49-F238E27FC236}">
                  <a16:creationId xmlns:a16="http://schemas.microsoft.com/office/drawing/2014/main" id="{FCF754AF-5B0C-E24A-3CD2-ED8BC8D41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2694"/>
              <a:ext cx="35" cy="61"/>
            </a:xfrm>
            <a:custGeom>
              <a:avLst/>
              <a:gdLst>
                <a:gd name="T0" fmla="*/ 0 w 35"/>
                <a:gd name="T1" fmla="*/ 0 h 61"/>
                <a:gd name="T2" fmla="*/ 9 w 35"/>
                <a:gd name="T3" fmla="*/ 45 h 61"/>
                <a:gd name="T4" fmla="*/ 35 w 35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61">
                  <a:moveTo>
                    <a:pt x="0" y="0"/>
                  </a:moveTo>
                  <a:cubicBezTo>
                    <a:pt x="1" y="7"/>
                    <a:pt x="3" y="35"/>
                    <a:pt x="9" y="45"/>
                  </a:cubicBezTo>
                  <a:cubicBezTo>
                    <a:pt x="15" y="55"/>
                    <a:pt x="30" y="58"/>
                    <a:pt x="35" y="6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64" name="Freeform 56">
              <a:extLst>
                <a:ext uri="{FF2B5EF4-FFF2-40B4-BE49-F238E27FC236}">
                  <a16:creationId xmlns:a16="http://schemas.microsoft.com/office/drawing/2014/main" id="{92E1956E-64E0-F9BC-2F5D-39AB7D12D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1632"/>
              <a:ext cx="54" cy="9"/>
            </a:xfrm>
            <a:custGeom>
              <a:avLst/>
              <a:gdLst>
                <a:gd name="T0" fmla="*/ 0 w 54"/>
                <a:gd name="T1" fmla="*/ 9 h 9"/>
                <a:gd name="T2" fmla="*/ 30 w 54"/>
                <a:gd name="T3" fmla="*/ 0 h 9"/>
                <a:gd name="T4" fmla="*/ 54 w 54"/>
                <a:gd name="T5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9">
                  <a:moveTo>
                    <a:pt x="0" y="9"/>
                  </a:moveTo>
                  <a:cubicBezTo>
                    <a:pt x="5" y="8"/>
                    <a:pt x="21" y="0"/>
                    <a:pt x="30" y="0"/>
                  </a:cubicBezTo>
                  <a:cubicBezTo>
                    <a:pt x="39" y="0"/>
                    <a:pt x="49" y="5"/>
                    <a:pt x="54" y="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65" name="Text Box 57">
              <a:extLst>
                <a:ext uri="{FF2B5EF4-FFF2-40B4-BE49-F238E27FC236}">
                  <a16:creationId xmlns:a16="http://schemas.microsoft.com/office/drawing/2014/main" id="{28F16A17-EA3E-33A8-8841-BD8350D12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1542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</a:t>
              </a:r>
            </a:p>
          </p:txBody>
        </p:sp>
        <p:sp>
          <p:nvSpPr>
            <p:cNvPr id="145466" name="Freeform 58">
              <a:extLst>
                <a:ext uri="{FF2B5EF4-FFF2-40B4-BE49-F238E27FC236}">
                  <a16:creationId xmlns:a16="http://schemas.microsoft.com/office/drawing/2014/main" id="{2C4E6239-749C-7DE9-1485-2CCAE583E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1560"/>
              <a:ext cx="170" cy="61"/>
            </a:xfrm>
            <a:custGeom>
              <a:avLst/>
              <a:gdLst>
                <a:gd name="T0" fmla="*/ 0 w 170"/>
                <a:gd name="T1" fmla="*/ 61 h 61"/>
                <a:gd name="T2" fmla="*/ 56 w 170"/>
                <a:gd name="T3" fmla="*/ 5 h 61"/>
                <a:gd name="T4" fmla="*/ 170 w 170"/>
                <a:gd name="T5" fmla="*/ 3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0" h="61">
                  <a:moveTo>
                    <a:pt x="0" y="61"/>
                  </a:moveTo>
                  <a:cubicBezTo>
                    <a:pt x="14" y="35"/>
                    <a:pt x="28" y="10"/>
                    <a:pt x="56" y="5"/>
                  </a:cubicBezTo>
                  <a:cubicBezTo>
                    <a:pt x="84" y="0"/>
                    <a:pt x="127" y="16"/>
                    <a:pt x="170" y="3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45467" name="Text Box 59">
              <a:extLst>
                <a:ext uri="{FF2B5EF4-FFF2-40B4-BE49-F238E27FC236}">
                  <a16:creationId xmlns:a16="http://schemas.microsoft.com/office/drawing/2014/main" id="{C5D68D97-AF26-ECEA-9E7E-B7D6A7D3D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7" y="2226"/>
              <a:ext cx="93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Electrooptic grating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468" name="Object 60">
                  <a:extLst>
                    <a:ext uri="{FF2B5EF4-FFF2-40B4-BE49-F238E27FC236}">
                      <a16:creationId xmlns:a16="http://schemas.microsoft.com/office/drawing/2014/main" id="{96EB7D4C-AB62-0C18-CED9-29FD6E57D6FC}"/>
                    </a:ext>
                  </a:extLst>
                </p:cNvPr>
                <p:cNvSpPr txBox="1"/>
                <p:nvPr/>
              </p:nvSpPr>
              <p:spPr bwMode="auto">
                <a:xfrm>
                  <a:off x="1965" y="1706"/>
                  <a:ext cx="178" cy="162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45468" name="Object 60">
                  <a:extLst>
                    <a:ext uri="{FF2B5EF4-FFF2-40B4-BE49-F238E27FC236}">
                      <a16:creationId xmlns:a16="http://schemas.microsoft.com/office/drawing/2014/main" id="{96EB7D4C-AB62-0C18-CED9-29FD6E57D6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5" y="1706"/>
                  <a:ext cx="178" cy="162"/>
                </a:xfrm>
                <a:prstGeom prst="rect">
                  <a:avLst/>
                </a:prstGeom>
                <a:blipFill>
                  <a:blip r:embed="rId6"/>
                  <a:stretch>
                    <a:fillRect r="-8571" b="-96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C10A5F8E-D1ED-D910-2C13-F48ED2B62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Axis transformation Continued…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423C6EA3-2F4C-645E-0972-E0FB19689CE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0"/>
            <a:ext cx="8641655" cy="142041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The existence of the mixed </a:t>
            </a:r>
            <a:r>
              <a:rPr lang="en-US" altLang="ko-KR" dirty="0" err="1">
                <a:ea typeface="굴림" panose="020B0600000101010101" pitchFamily="34" charset="-127"/>
              </a:rPr>
              <a:t>yz</a:t>
            </a:r>
            <a:r>
              <a:rPr lang="en-US" altLang="ko-KR" dirty="0">
                <a:ea typeface="굴림" panose="020B0600000101010101" pitchFamily="34" charset="-127"/>
              </a:rPr>
              <a:t> term implies the index ellipsoid is rotated about x axis and x, y, and z are no longer the principal axes. The perturbed index ellipsoid in new </a:t>
            </a:r>
            <a:r>
              <a:rPr lang="en-US" altLang="ko-KR" dirty="0" err="1">
                <a:ea typeface="굴림" panose="020B0600000101010101" pitchFamily="34" charset="-127"/>
              </a:rPr>
              <a:t>x</a:t>
            </a:r>
            <a:r>
              <a:rPr lang="en-US" altLang="ko-KR" dirty="0" err="1">
                <a:ea typeface="굴림" panose="020B0600000101010101" pitchFamily="34" charset="-127"/>
                <a:sym typeface="Symbol" panose="05050102010706020507" pitchFamily="18" charset="2"/>
              </a:rPr>
              <a:t></a:t>
            </a:r>
            <a:r>
              <a:rPr lang="en-US" altLang="ko-KR" dirty="0" err="1">
                <a:ea typeface="굴림" panose="020B0600000101010101" pitchFamily="34" charset="-127"/>
              </a:rPr>
              <a:t>y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</a:t>
            </a:r>
            <a:r>
              <a:rPr lang="en-US" altLang="ko-KR" dirty="0">
                <a:ea typeface="굴림" panose="020B0600000101010101" pitchFamily="34" charset="-127"/>
              </a:rPr>
              <a:t> plane is expressed by</a:t>
            </a: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r>
              <a:rPr lang="en-US" altLang="ko-KR" dirty="0">
                <a:ea typeface="굴림" panose="020B0600000101010101" pitchFamily="34" charset="-127"/>
              </a:rPr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487" name="Object 55">
                <a:extLst>
                  <a:ext uri="{FF2B5EF4-FFF2-40B4-BE49-F238E27FC236}">
                    <a16:creationId xmlns:a16="http://schemas.microsoft.com/office/drawing/2014/main" id="{12B23A47-DB3A-4D81-E586-2CAD4EDE75C2}"/>
                  </a:ext>
                </a:extLst>
              </p:cNvPr>
              <p:cNvSpPr txBox="1"/>
              <p:nvPr/>
            </p:nvSpPr>
            <p:spPr bwMode="auto">
              <a:xfrm>
                <a:off x="3694510" y="1755576"/>
                <a:ext cx="1206500" cy="45839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6487" name="Object 55">
                <a:extLst>
                  <a:ext uri="{FF2B5EF4-FFF2-40B4-BE49-F238E27FC236}">
                    <a16:creationId xmlns:a16="http://schemas.microsoft.com/office/drawing/2014/main" id="{12B23A47-DB3A-4D81-E586-2CAD4EDE7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4510" y="1755576"/>
                <a:ext cx="1206500" cy="458391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489" name="Object 57">
                <a:extLst>
                  <a:ext uri="{FF2B5EF4-FFF2-40B4-BE49-F238E27FC236}">
                    <a16:creationId xmlns:a16="http://schemas.microsoft.com/office/drawing/2014/main" id="{BA693045-CE92-C80A-5395-6EE270261D47}"/>
                  </a:ext>
                </a:extLst>
              </p:cNvPr>
              <p:cNvSpPr txBox="1"/>
              <p:nvPr/>
            </p:nvSpPr>
            <p:spPr bwMode="auto">
              <a:xfrm>
                <a:off x="2903141" y="2316957"/>
                <a:ext cx="3088084" cy="62626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, [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1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6489" name="Object 57">
                <a:extLst>
                  <a:ext uri="{FF2B5EF4-FFF2-40B4-BE49-F238E27FC236}">
                    <a16:creationId xmlns:a16="http://schemas.microsoft.com/office/drawing/2014/main" id="{BA693045-CE92-C80A-5395-6EE270261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3141" y="2316957"/>
                <a:ext cx="3088084" cy="626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491" name="Object 59">
                <a:extLst>
                  <a:ext uri="{FF2B5EF4-FFF2-40B4-BE49-F238E27FC236}">
                    <a16:creationId xmlns:a16="http://schemas.microsoft.com/office/drawing/2014/main" id="{77C24CFF-D333-D4D7-6632-51839F6934CE}"/>
                  </a:ext>
                </a:extLst>
              </p:cNvPr>
              <p:cNvSpPr txBox="1"/>
              <p:nvPr/>
            </p:nvSpPr>
            <p:spPr bwMode="auto">
              <a:xfrm>
                <a:off x="1298576" y="3575448"/>
                <a:ext cx="2732882" cy="68341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  <m:sup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/>
              </a:p>
            </p:txBody>
          </p:sp>
        </mc:Choice>
        <mc:Fallback xmlns="">
          <p:sp>
            <p:nvSpPr>
              <p:cNvPr id="146491" name="Object 59">
                <a:extLst>
                  <a:ext uri="{FF2B5EF4-FFF2-40B4-BE49-F238E27FC236}">
                    <a16:creationId xmlns:a16="http://schemas.microsoft.com/office/drawing/2014/main" id="{77C24CFF-D333-D4D7-6632-51839F693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8576" y="3575448"/>
                <a:ext cx="2732882" cy="683419"/>
              </a:xfrm>
              <a:prstGeom prst="rect">
                <a:avLst/>
              </a:prstGeom>
              <a:blipFill>
                <a:blip r:embed="rId5"/>
                <a:stretch>
                  <a:fillRect b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493" name="Object 61">
                <a:extLst>
                  <a:ext uri="{FF2B5EF4-FFF2-40B4-BE49-F238E27FC236}">
                    <a16:creationId xmlns:a16="http://schemas.microsoft.com/office/drawing/2014/main" id="{55C2DB12-EFEE-1CB0-9F67-05D0C373EC1A}"/>
                  </a:ext>
                </a:extLst>
              </p:cNvPr>
              <p:cNvSpPr txBox="1"/>
              <p:nvPr/>
            </p:nvSpPr>
            <p:spPr bwMode="auto">
              <a:xfrm>
                <a:off x="4023916" y="3686175"/>
                <a:ext cx="1247775" cy="20121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]=[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6493" name="Object 61">
                <a:extLst>
                  <a:ext uri="{FF2B5EF4-FFF2-40B4-BE49-F238E27FC236}">
                    <a16:creationId xmlns:a16="http://schemas.microsoft.com/office/drawing/2014/main" id="{55C2DB12-EFEE-1CB0-9F67-05D0C373E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23916" y="3686175"/>
                <a:ext cx="1247775" cy="201216"/>
              </a:xfrm>
              <a:prstGeom prst="rect">
                <a:avLst/>
              </a:prstGeom>
              <a:blipFill>
                <a:blip r:embed="rId6"/>
                <a:stretch>
                  <a:fillRect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495" name="Object 63">
                <a:extLst>
                  <a:ext uri="{FF2B5EF4-FFF2-40B4-BE49-F238E27FC236}">
                    <a16:creationId xmlns:a16="http://schemas.microsoft.com/office/drawing/2014/main" id="{24080EC1-74F8-9586-3E68-BA95E3621C39}"/>
                  </a:ext>
                </a:extLst>
              </p:cNvPr>
              <p:cNvSpPr txBox="1"/>
              <p:nvPr/>
            </p:nvSpPr>
            <p:spPr bwMode="auto">
              <a:xfrm>
                <a:off x="5212557" y="3542110"/>
                <a:ext cx="1823243" cy="65008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/>
              </a:p>
            </p:txBody>
          </p:sp>
        </mc:Choice>
        <mc:Fallback xmlns="">
          <p:sp>
            <p:nvSpPr>
              <p:cNvPr id="146495" name="Object 63">
                <a:extLst>
                  <a:ext uri="{FF2B5EF4-FFF2-40B4-BE49-F238E27FC236}">
                    <a16:creationId xmlns:a16="http://schemas.microsoft.com/office/drawing/2014/main" id="{24080EC1-74F8-9586-3E68-BA95E3621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2557" y="3542110"/>
                <a:ext cx="1823243" cy="6500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497" name="Rectangle 65">
                <a:extLst>
                  <a:ext uri="{FF2B5EF4-FFF2-40B4-BE49-F238E27FC236}">
                    <a16:creationId xmlns:a16="http://schemas.microsoft.com/office/drawing/2014/main" id="{8BD3F6A1-97A0-8E47-F860-EB8546022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391" y="3041652"/>
                <a:ext cx="6704409" cy="273048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 fontScale="92500" lnSpcReduction="10000"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Since practically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굴림" panose="020B0600000101010101" pitchFamily="34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 pitchFamily="18" charset="0"/>
                            <a:ea typeface="굴림" panose="020B0600000101010101" pitchFamily="34" charset="-127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굴림" panose="020B0600000101010101" pitchFamily="34" charset="-127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  <a:ea typeface="굴림" panose="020B0600000101010101" pitchFamily="34" charset="-127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>
                                <a:latin typeface="Cambria Math" panose="02040503050406030204" pitchFamily="18" charset="0"/>
                                <a:ea typeface="굴림" panose="020B0600000101010101" pitchFamily="34" charset="-127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1800">
                        <a:latin typeface="Cambria Math" panose="02040503050406030204" pitchFamily="18" charset="0"/>
                        <a:ea typeface="굴림" panose="020B0600000101010101" pitchFamily="34" charset="-127"/>
                        <a:cs typeface="Arial" panose="020B0604020202020204" pitchFamily="34" charset="0"/>
                      </a:rPr>
                      <m:t>≃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굴림" panose="020B0600000101010101" pitchFamily="34" charset="-127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 pitchFamily="18" charset="0"/>
                            <a:ea typeface="굴림" panose="020B0600000101010101" pitchFamily="34" charset="-127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  <a:ea typeface="굴림" panose="020B0600000101010101" pitchFamily="34" charset="-127"/>
                            <a:cs typeface="Arial" panose="020B0604020202020204" pitchFamily="3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for LiNbO3 </a:t>
                </a:r>
              </a:p>
            </p:txBody>
          </p:sp>
        </mc:Choice>
        <mc:Fallback xmlns="">
          <p:sp>
            <p:nvSpPr>
              <p:cNvPr id="146497" name="Rectangle 65">
                <a:extLst>
                  <a:ext uri="{FF2B5EF4-FFF2-40B4-BE49-F238E27FC236}">
                    <a16:creationId xmlns:a16="http://schemas.microsoft.com/office/drawing/2014/main" id="{8BD3F6A1-97A0-8E47-F860-EB8546022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91" y="3041652"/>
                <a:ext cx="6704409" cy="273048"/>
              </a:xfrm>
              <a:prstGeom prst="rect">
                <a:avLst/>
              </a:prstGeom>
              <a:blipFill>
                <a:blip r:embed="rId8"/>
                <a:stretch>
                  <a:fillRect l="-1818" t="-33333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504" name="Line 72">
            <a:extLst>
              <a:ext uri="{FF2B5EF4-FFF2-40B4-BE49-F238E27FC236}">
                <a16:creationId xmlns:a16="http://schemas.microsoft.com/office/drawing/2014/main" id="{2EA0247F-95EE-DA91-9A43-178F0A21B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1235" y="3989785"/>
            <a:ext cx="9786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13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ABF6EC21-28B4-A679-8AFE-B1559EB0B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Axis transformation Continued…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459" name="Rectangle 3">
                <a:extLst>
                  <a:ext uri="{FF2B5EF4-FFF2-40B4-BE49-F238E27FC236}">
                    <a16:creationId xmlns:a16="http://schemas.microsoft.com/office/drawing/2014/main" id="{0E86161D-A373-8F3E-F9F5-3441854C419D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250826" y="951311"/>
                <a:ext cx="8350250" cy="103471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>
                    <a:ea typeface="굴림" panose="020B0600000101010101" pitchFamily="34" charset="-127"/>
                  </a:rPr>
                  <a:t>Considering the TM polarized optical wave  propagates in a crystal and off-diagonal elements in the permeability tensor are induced by electric field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, the polarization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([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]−[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])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𝐄</m:t>
                    </m:r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is described by </a:t>
                </a:r>
              </a:p>
            </p:txBody>
          </p:sp>
        </mc:Choice>
        <mc:Fallback xmlns="">
          <p:sp>
            <p:nvSpPr>
              <p:cNvPr id="147459" name="Rectangle 3">
                <a:extLst>
                  <a:ext uri="{FF2B5EF4-FFF2-40B4-BE49-F238E27FC236}">
                    <a16:creationId xmlns:a16="http://schemas.microsoft.com/office/drawing/2014/main" id="{0E86161D-A373-8F3E-F9F5-3441854C41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0826" y="951311"/>
                <a:ext cx="8350250" cy="1034712"/>
              </a:xfrm>
              <a:blipFill>
                <a:blip r:embed="rId3"/>
                <a:stretch>
                  <a:fillRect l="-1533" t="-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489" name="Rectangle 33">
                <a:extLst>
                  <a:ext uri="{FF2B5EF4-FFF2-40B4-BE49-F238E27FC236}">
                    <a16:creationId xmlns:a16="http://schemas.microsoft.com/office/drawing/2014/main" id="{C6FDBAF1-F165-D51B-9610-F18F72357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519" y="3031926"/>
                <a:ext cx="8349557" cy="665559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Perturbation in the permeability tensor induced by electric field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gives rise to the perturbation in the optical wave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written by . </a:t>
                </a:r>
              </a:p>
            </p:txBody>
          </p:sp>
        </mc:Choice>
        <mc:Fallback xmlns="">
          <p:sp>
            <p:nvSpPr>
              <p:cNvPr id="147489" name="Rectangle 33">
                <a:extLst>
                  <a:ext uri="{FF2B5EF4-FFF2-40B4-BE49-F238E27FC236}">
                    <a16:creationId xmlns:a16="http://schemas.microsoft.com/office/drawing/2014/main" id="{C6FDBAF1-F165-D51B-9610-F18F72357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19" y="3031926"/>
                <a:ext cx="8349557" cy="665559"/>
              </a:xfrm>
              <a:prstGeom prst="rect">
                <a:avLst/>
              </a:prstGeom>
              <a:blipFill>
                <a:blip r:embed="rId4"/>
                <a:stretch>
                  <a:fillRect l="-1533" t="-11818" r="-584" b="-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502" name="Object 46">
                <a:extLst>
                  <a:ext uri="{FF2B5EF4-FFF2-40B4-BE49-F238E27FC236}">
                    <a16:creationId xmlns:a16="http://schemas.microsoft.com/office/drawing/2014/main" id="{DAC53059-3CDE-EB24-C1D4-752901F07EF2}"/>
                  </a:ext>
                </a:extLst>
              </p:cNvPr>
              <p:cNvSpPr txBox="1"/>
              <p:nvPr/>
            </p:nvSpPr>
            <p:spPr bwMode="auto">
              <a:xfrm>
                <a:off x="3126185" y="2059521"/>
                <a:ext cx="2430065" cy="776288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502" name="Object 46">
                <a:extLst>
                  <a:ext uri="{FF2B5EF4-FFF2-40B4-BE49-F238E27FC236}">
                    <a16:creationId xmlns:a16="http://schemas.microsoft.com/office/drawing/2014/main" id="{DAC53059-3CDE-EB24-C1D4-752901F07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6185" y="2059521"/>
                <a:ext cx="2430065" cy="776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512" name="Object 56">
                <a:extLst>
                  <a:ext uri="{FF2B5EF4-FFF2-40B4-BE49-F238E27FC236}">
                    <a16:creationId xmlns:a16="http://schemas.microsoft.com/office/drawing/2014/main" id="{66D01119-2B85-2FF4-CB74-114C8B78744A}"/>
                  </a:ext>
                </a:extLst>
              </p:cNvPr>
              <p:cNvSpPr txBox="1"/>
              <p:nvPr/>
            </p:nvSpPr>
            <p:spPr bwMode="auto">
              <a:xfrm>
                <a:off x="3608784" y="3704035"/>
                <a:ext cx="1687115" cy="35599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Sup>
                        <m:sSub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bSup>
                    </m:oMath>
                  </m:oMathPara>
                </a14:m>
                <a:endParaRPr lang="en-US" sz="1300"/>
              </a:p>
            </p:txBody>
          </p:sp>
        </mc:Choice>
        <mc:Fallback xmlns="">
          <p:sp>
            <p:nvSpPr>
              <p:cNvPr id="147512" name="Object 56">
                <a:extLst>
                  <a:ext uri="{FF2B5EF4-FFF2-40B4-BE49-F238E27FC236}">
                    <a16:creationId xmlns:a16="http://schemas.microsoft.com/office/drawing/2014/main" id="{66D01119-2B85-2FF4-CB74-114C8B787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8784" y="3704035"/>
                <a:ext cx="1687115" cy="355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5759ECCA-B7BA-3327-8DF9-1BEC024DE2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TE↔TM Mode Converter</a:t>
            </a:r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CA3DF058-44F5-6261-3067-EF432C89B2B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2"/>
            <a:ext cx="7693025" cy="540000"/>
          </a:xfrm>
        </p:spPr>
        <p:txBody>
          <a:bodyPr>
            <a:normAutofit lnSpcReduction="10000"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The TE↔TM mode conversion between two codirectional and orthogonal modes is described by the coupled mode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539" name="Object 11">
                <a:extLst>
                  <a:ext uri="{FF2B5EF4-FFF2-40B4-BE49-F238E27FC236}">
                    <a16:creationId xmlns:a16="http://schemas.microsoft.com/office/drawing/2014/main" id="{42E8F999-9A52-9A55-CC37-23B6B10FBD81}"/>
                  </a:ext>
                </a:extLst>
              </p:cNvPr>
              <p:cNvSpPr txBox="1"/>
              <p:nvPr/>
            </p:nvSpPr>
            <p:spPr bwMode="auto">
              <a:xfrm>
                <a:off x="2081155" y="1627585"/>
                <a:ext cx="1451372" cy="926306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0539" name="Object 11">
                <a:extLst>
                  <a:ext uri="{FF2B5EF4-FFF2-40B4-BE49-F238E27FC236}">
                    <a16:creationId xmlns:a16="http://schemas.microsoft.com/office/drawing/2014/main" id="{42E8F999-9A52-9A55-CC37-23B6B10FB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1155" y="1627585"/>
                <a:ext cx="1451372" cy="9263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545" name="Rectangle 17">
                <a:extLst>
                  <a:ext uri="{FF2B5EF4-FFF2-40B4-BE49-F238E27FC236}">
                    <a16:creationId xmlns:a16="http://schemas.microsoft.com/office/drawing/2014/main" id="{B3F21375-B4F9-166A-B054-C17A108D5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250" y="2453759"/>
                <a:ext cx="798195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r>
                  <a:rPr lang="en-US" altLang="ko-KR" sz="1800" dirty="0">
                    <a:ea typeface="굴림" panose="020B0600000101010101" pitchFamily="34" charset="-127"/>
                  </a:rPr>
                  <a:t>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800" dirty="0">
                    <a:ea typeface="굴림" panose="020B0600000101010101" pitchFamily="34" charset="-127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800" dirty="0">
                    <a:ea typeface="굴림" panose="020B0600000101010101" pitchFamily="34" charset="-127"/>
                  </a:rPr>
                  <a:t>  are complex amplitudes of the two coupled optical waves </a:t>
                </a:r>
              </a:p>
            </p:txBody>
          </p:sp>
        </mc:Choice>
        <mc:Fallback xmlns="">
          <p:sp>
            <p:nvSpPr>
              <p:cNvPr id="150545" name="Rectangle 17">
                <a:extLst>
                  <a:ext uri="{FF2B5EF4-FFF2-40B4-BE49-F238E27FC236}">
                    <a16:creationId xmlns:a16="http://schemas.microsoft.com/office/drawing/2014/main" id="{B3F21375-B4F9-166A-B054-C17A108D5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250" y="2453759"/>
                <a:ext cx="7981950" cy="369332"/>
              </a:xfrm>
              <a:prstGeom prst="rect">
                <a:avLst/>
              </a:prstGeom>
              <a:blipFill>
                <a:blip r:embed="rId4"/>
                <a:stretch>
                  <a:fillRect l="-611" t="-10000" r="-534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546" name="Object 18">
                <a:extLst>
                  <a:ext uri="{FF2B5EF4-FFF2-40B4-BE49-F238E27FC236}">
                    <a16:creationId xmlns:a16="http://schemas.microsoft.com/office/drawing/2014/main" id="{FC718CF6-186F-FA7A-E615-B51E6167D7CA}"/>
                  </a:ext>
                </a:extLst>
              </p:cNvPr>
              <p:cNvSpPr txBox="1"/>
              <p:nvPr/>
            </p:nvSpPr>
            <p:spPr bwMode="auto">
              <a:xfrm>
                <a:off x="2157822" y="3082529"/>
                <a:ext cx="1464479" cy="23693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𝑇𝐸</m:t>
                          </m:r>
                        </m:sub>
                      </m:sSub>
                    </m:oMath>
                  </m:oMathPara>
                </a14:m>
                <a:endParaRPr lang="en-US" sz="1300"/>
              </a:p>
            </p:txBody>
          </p:sp>
        </mc:Choice>
        <mc:Fallback xmlns="">
          <p:sp>
            <p:nvSpPr>
              <p:cNvPr id="150546" name="Object 18">
                <a:extLst>
                  <a:ext uri="{FF2B5EF4-FFF2-40B4-BE49-F238E27FC236}">
                    <a16:creationId xmlns:a16="http://schemas.microsoft.com/office/drawing/2014/main" id="{FC718CF6-186F-FA7A-E615-B51E6167D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7822" y="3082529"/>
                <a:ext cx="1464479" cy="236934"/>
              </a:xfrm>
              <a:prstGeom prst="rect">
                <a:avLst/>
              </a:prstGeom>
              <a:blipFill>
                <a:blip r:embed="rId5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548" name="Object 20">
                <a:extLst>
                  <a:ext uri="{FF2B5EF4-FFF2-40B4-BE49-F238E27FC236}">
                    <a16:creationId xmlns:a16="http://schemas.microsoft.com/office/drawing/2014/main" id="{117E25C9-0EED-E99E-4203-C7984D77BF12}"/>
                  </a:ext>
                </a:extLst>
              </p:cNvPr>
              <p:cNvSpPr txBox="1"/>
              <p:nvPr/>
            </p:nvSpPr>
            <p:spPr bwMode="auto">
              <a:xfrm>
                <a:off x="2145845" y="3516338"/>
                <a:ext cx="1951492" cy="39647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51</m:t>
                          </m:r>
                        </m:sub>
                      </m:sSub>
                      <m:sSubSup>
                        <m:sSub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50548" name="Object 20">
                <a:extLst>
                  <a:ext uri="{FF2B5EF4-FFF2-40B4-BE49-F238E27FC236}">
                    <a16:creationId xmlns:a16="http://schemas.microsoft.com/office/drawing/2014/main" id="{117E25C9-0EED-E99E-4203-C7984D77B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5845" y="3516338"/>
                <a:ext cx="1951492" cy="396479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4CB87C57-5665-18E4-762B-76D19A78B2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Solution of Coupled Mode Equations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677B91BB-1259-5955-94FA-2DC8B1679CA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1"/>
            <a:ext cx="8641655" cy="16204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Assuming the boundary conditions </a:t>
            </a: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r>
              <a:rPr lang="en-US" altLang="ko-KR" dirty="0">
                <a:ea typeface="굴림" panose="020B0600000101010101" pitchFamily="34" charset="-127"/>
              </a:rPr>
              <a:t>the solutions are obtained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567" name="Object 15">
                <a:extLst>
                  <a:ext uri="{FF2B5EF4-FFF2-40B4-BE49-F238E27FC236}">
                    <a16:creationId xmlns:a16="http://schemas.microsoft.com/office/drawing/2014/main" id="{712EE5B5-A8AC-3925-AFC8-8A3CDAA43A07}"/>
                  </a:ext>
                </a:extLst>
              </p:cNvPr>
              <p:cNvSpPr txBox="1"/>
              <p:nvPr/>
            </p:nvSpPr>
            <p:spPr bwMode="auto">
              <a:xfrm>
                <a:off x="2259075" y="1235873"/>
                <a:ext cx="1589801" cy="45124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=0)=0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=0)=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1567" name="Object 15">
                <a:extLst>
                  <a:ext uri="{FF2B5EF4-FFF2-40B4-BE49-F238E27FC236}">
                    <a16:creationId xmlns:a16="http://schemas.microsoft.com/office/drawing/2014/main" id="{712EE5B5-A8AC-3925-AFC8-8A3CDAA43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075" y="1235873"/>
                <a:ext cx="1589801" cy="451247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571" name="Object 19">
                <a:extLst>
                  <a:ext uri="{FF2B5EF4-FFF2-40B4-BE49-F238E27FC236}">
                    <a16:creationId xmlns:a16="http://schemas.microsoft.com/office/drawing/2014/main" id="{65430FED-1F8E-9300-04A2-D320CB169E06}"/>
                  </a:ext>
                </a:extLst>
              </p:cNvPr>
              <p:cNvSpPr txBox="1"/>
              <p:nvPr/>
            </p:nvSpPr>
            <p:spPr bwMode="auto">
              <a:xfrm>
                <a:off x="2457748" y="3084674"/>
                <a:ext cx="1710928" cy="23217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𝑇𝐸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1571" name="Object 19">
                <a:extLst>
                  <a:ext uri="{FF2B5EF4-FFF2-40B4-BE49-F238E27FC236}">
                    <a16:creationId xmlns:a16="http://schemas.microsoft.com/office/drawing/2014/main" id="{65430FED-1F8E-9300-04A2-D320CB169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7748" y="3084674"/>
                <a:ext cx="1710928" cy="232172"/>
              </a:xfrm>
              <a:prstGeom prst="rect">
                <a:avLst/>
              </a:prstGeom>
              <a:blipFill>
                <a:blip r:embed="rId4"/>
                <a:stretch>
                  <a:fillRect b="-1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573" name="Rectangle 21">
            <a:extLst>
              <a:ext uri="{FF2B5EF4-FFF2-40B4-BE49-F238E27FC236}">
                <a16:creationId xmlns:a16="http://schemas.microsoft.com/office/drawing/2014/main" id="{6080491C-F56C-5807-F975-1400DB457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899" y="3169799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ko-KR" sz="1800" dirty="0">
                <a:ea typeface="굴림" panose="020B0600000101010101" pitchFamily="34" charset="-127"/>
              </a:rPr>
              <a:t>where </a:t>
            </a:r>
          </a:p>
        </p:txBody>
      </p:sp>
      <p:sp>
        <p:nvSpPr>
          <p:cNvPr id="151574" name="Rectangle 22">
            <a:extLst>
              <a:ext uri="{FF2B5EF4-FFF2-40B4-BE49-F238E27FC236}">
                <a16:creationId xmlns:a16="http://schemas.microsoft.com/office/drawing/2014/main" id="{F5BE53E1-EB1C-1003-F49F-27E920E98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634355"/>
            <a:ext cx="6123384" cy="113823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0" rIns="0" bIns="0" rtlCol="0">
            <a:normAutofit/>
          </a:bodyPr>
          <a:lstStyle/>
          <a:p>
            <a:pPr marL="288000" indent="-288000" fontAlgn="base">
              <a:lnSpc>
                <a:spcPct val="9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When the two modes are phase matched, we have the simpler solution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575" name="Object 23">
                <a:extLst>
                  <a:ext uri="{FF2B5EF4-FFF2-40B4-BE49-F238E27FC236}">
                    <a16:creationId xmlns:a16="http://schemas.microsoft.com/office/drawing/2014/main" id="{BA7C21E9-14B2-71ED-E867-8A2D02B2217D}"/>
                  </a:ext>
                </a:extLst>
              </p:cNvPr>
              <p:cNvSpPr txBox="1"/>
              <p:nvPr/>
            </p:nvSpPr>
            <p:spPr bwMode="auto">
              <a:xfrm>
                <a:off x="2457748" y="4068658"/>
                <a:ext cx="1690688" cy="50720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1575" name="Object 23">
                <a:extLst>
                  <a:ext uri="{FF2B5EF4-FFF2-40B4-BE49-F238E27FC236}">
                    <a16:creationId xmlns:a16="http://schemas.microsoft.com/office/drawing/2014/main" id="{BA7C21E9-14B2-71ED-E867-8A2D02B22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7748" y="4068658"/>
                <a:ext cx="1690688" cy="507206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0B618055-07F8-CEF3-F31B-485ECAD8C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45" y="159488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3ABDF3-2244-9B81-C935-341639CB5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971" y="138985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043189-E73D-99D5-975E-B70727E3A228}"/>
                  </a:ext>
                </a:extLst>
              </p:cNvPr>
              <p:cNvSpPr txBox="1"/>
              <p:nvPr/>
            </p:nvSpPr>
            <p:spPr bwMode="auto">
              <a:xfrm>
                <a:off x="1442016" y="2238468"/>
                <a:ext cx="4963923" cy="9655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defTabSz="914400" eaLnBrk="0" hangingPunct="0">
                  <a:spcAft>
                    <a:spcPts val="30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kern="0" smtClean="0">
                          <a:latin typeface="Cambria Math" panose="02040503050406030204" pitchFamily="18" charset="0"/>
                          <a:ea typeface="Verdana" pitchFamily="34" charset="0"/>
                          <a:cs typeface="Arial" panose="020B0604020202020204" pitchFamily="34" charset="0"/>
                        </a:rPr>
                        <m:t>=−</m:t>
                      </m:r>
                      <m:sSub>
                        <m:sSubPr>
                          <m:ctrlP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𝛿</m:t>
                          </m:r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p>
                      </m:sSup>
                      <m:f>
                        <m:fPr>
                          <m:ctrlP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𝜅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b="0" i="1" kern="0" smtClean="0">
                                  <a:latin typeface="Cambria Math" panose="02040503050406030204" pitchFamily="18" charset="0"/>
                                  <a:ea typeface="Verdana" pitchFamily="34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400" i="1" kern="0">
                                      <a:latin typeface="Cambria Math" panose="02040503050406030204" pitchFamily="18" charset="0"/>
                                      <a:ea typeface="Verdana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𝜅</m:t>
                                  </m:r>
                                </m:e>
                                <m:sup>
                                  <m:r>
                                    <a:rPr lang="en-US" sz="1400" i="1" kern="0">
                                      <a:latin typeface="Cambria Math" panose="02040503050406030204" pitchFamily="18" charset="0"/>
                                      <a:ea typeface="Verdana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i="1" kern="0">
                                      <a:latin typeface="Cambria Math" panose="02040503050406030204" pitchFamily="18" charset="0"/>
                                      <a:ea typeface="Verdana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sz="1400" i="1" kern="0">
                                      <a:latin typeface="Cambria Math" panose="02040503050406030204" pitchFamily="18" charset="0"/>
                                      <a:ea typeface="Verdana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kern="0" smtClean="0">
                                  <a:latin typeface="Cambria Math" panose="02040503050406030204" pitchFamily="18" charset="0"/>
                                  <a:ea typeface="Verdana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sz="1400" i="1" kern="0">
                                      <a:latin typeface="Cambria Math" panose="02040503050406030204" pitchFamily="18" charset="0"/>
                                      <a:ea typeface="Verdana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400" i="1" kern="0" smtClea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𝜅</m:t>
                                      </m:r>
                                    </m:e>
                                    <m:sup>
                                      <m:r>
                                        <a:rPr lang="en-US" sz="1400" b="0" i="1" kern="0" smtClea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4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sz="1400" b="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b="0" kern="0" dirty="0">
                  <a:latin typeface="Arial" panose="020B0604020202020204" pitchFamily="34" charset="0"/>
                  <a:ea typeface="Verdana" pitchFamily="34" charset="0"/>
                  <a:cs typeface="Arial" panose="020B0604020202020204" pitchFamily="34" charset="0"/>
                </a:endParaRPr>
              </a:p>
              <a:p>
                <a:pPr defTabSz="914400" eaLnBrk="0" hangingPunct="0">
                  <a:spcAft>
                    <a:spcPts val="30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ker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i="1" ker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kern="0" smtClean="0">
                          <a:latin typeface="Cambria Math" panose="02040503050406030204" pitchFamily="18" charset="0"/>
                          <a:ea typeface="Verdana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ker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i="1" ker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 ker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Verdana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𝛿</m:t>
                          </m:r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14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400" i="1" kern="0">
                                  <a:latin typeface="Cambria Math" panose="02040503050406030204" pitchFamily="18" charset="0"/>
                                  <a:ea typeface="Verdana" pitchFamily="34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kern="0" smtClean="0">
                                  <a:latin typeface="Cambria Math" panose="02040503050406030204" pitchFamily="18" charset="0"/>
                                  <a:ea typeface="Verdana" pitchFamily="34" charset="0"/>
                                  <a:cs typeface="Arial" panose="020B0604020202020204" pitchFamily="34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i="1" kern="0">
                                      <a:latin typeface="Cambria Math" panose="02040503050406030204" pitchFamily="18" charset="0"/>
                                      <a:ea typeface="Verdana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Verdana" pitchFamily="34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𝜅</m:t>
                                          </m:r>
                                        </m:e>
                                        <m:sup>
                                          <m: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Verdana" pitchFamily="34" charset="0"/>
                                              <a:cs typeface="Arial" panose="020B0604020202020204" pitchFamily="3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Verdana" pitchFamily="34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𝛿</m:t>
                                          </m:r>
                                        </m:e>
                                        <m:sup>
                                          <m: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Verdana" pitchFamily="34" charset="0"/>
                                              <a:cs typeface="Arial" panose="020B0604020202020204" pitchFamily="3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r>
                                    <a:rPr lang="en-US" sz="14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4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i="1" kern="0">
                                  <a:latin typeface="Cambria Math" panose="02040503050406030204" pitchFamily="18" charset="0"/>
                                  <a:ea typeface="Verdana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kern="0" smtClean="0">
                                  <a:latin typeface="Cambria Math" panose="02040503050406030204" pitchFamily="18" charset="0"/>
                                  <a:ea typeface="Verdana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1400" b="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𝛿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400" i="1" kern="0">
                                      <a:latin typeface="Cambria Math" panose="02040503050406030204" pitchFamily="18" charset="0"/>
                                      <a:ea typeface="Verdana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𝜅</m:t>
                                      </m:r>
                                    </m:e>
                                    <m:sup>
                                      <m: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4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func>
                            <m:funcPr>
                              <m:ctrlPr>
                                <a:rPr lang="en-US" sz="1400" i="1" kern="0">
                                  <a:latin typeface="Cambria Math" panose="02040503050406030204" pitchFamily="18" charset="0"/>
                                  <a:ea typeface="Verdana" pitchFamily="34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kern="0">
                                  <a:latin typeface="Cambria Math" panose="02040503050406030204" pitchFamily="18" charset="0"/>
                                  <a:ea typeface="Verdana" pitchFamily="34" charset="0"/>
                                  <a:cs typeface="Arial" panose="020B0604020202020204" pitchFamily="34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i="1" kern="0">
                                      <a:latin typeface="Cambria Math" panose="02040503050406030204" pitchFamily="18" charset="0"/>
                                      <a:ea typeface="Verdana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Verdana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Verdana" pitchFamily="34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𝜅</m:t>
                                          </m:r>
                                        </m:e>
                                        <m:sup>
                                          <m: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Verdana" pitchFamily="34" charset="0"/>
                                              <a:cs typeface="Arial" panose="020B0604020202020204" pitchFamily="3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400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Verdana" pitchFamily="34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𝛿</m:t>
                                          </m:r>
                                        </m:e>
                                        <m:sup>
                                          <m:r>
                                            <a:rPr lang="en-US" sz="1400" i="1" kern="0">
                                              <a:latin typeface="Cambria Math" panose="02040503050406030204" pitchFamily="18" charset="0"/>
                                              <a:ea typeface="Verdana" pitchFamily="34" charset="0"/>
                                              <a:cs typeface="Arial" panose="020B0604020202020204" pitchFamily="3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r>
                                    <a:rPr lang="en-US" sz="14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1400" b="0" kern="0" dirty="0">
                  <a:latin typeface="Arial" panose="020B0604020202020204" pitchFamily="34" charset="0"/>
                  <a:ea typeface="Verdana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043189-E73D-99D5-975E-B70727E3A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2016" y="2238468"/>
                <a:ext cx="4963923" cy="965585"/>
              </a:xfrm>
              <a:prstGeom prst="rect">
                <a:avLst/>
              </a:prstGeom>
              <a:blipFill>
                <a:blip r:embed="rId6"/>
                <a:stretch>
                  <a:fillRect l="-12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>
            <a:extLst>
              <a:ext uri="{FF2B5EF4-FFF2-40B4-BE49-F238E27FC236}">
                <a16:creationId xmlns:a16="http://schemas.microsoft.com/office/drawing/2014/main" id="{9CF5F445-9C48-0E49-2758-742F43315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Power conversion over coupling length</a:t>
            </a:r>
          </a:p>
        </p:txBody>
      </p:sp>
      <p:grpSp>
        <p:nvGrpSpPr>
          <p:cNvPr id="92607" name="Group 447">
            <a:extLst>
              <a:ext uri="{FF2B5EF4-FFF2-40B4-BE49-F238E27FC236}">
                <a16:creationId xmlns:a16="http://schemas.microsoft.com/office/drawing/2014/main" id="{17ABA0EF-B3BE-F0E1-7088-26C040C1EA7B}"/>
              </a:ext>
            </a:extLst>
          </p:cNvPr>
          <p:cNvGrpSpPr>
            <a:grpSpLocks/>
          </p:cNvGrpSpPr>
          <p:nvPr/>
        </p:nvGrpSpPr>
        <p:grpSpPr bwMode="auto">
          <a:xfrm>
            <a:off x="710804" y="1463676"/>
            <a:ext cx="5772151" cy="1781175"/>
            <a:chOff x="584" y="1224"/>
            <a:chExt cx="4848" cy="1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08" name="Object 448">
                  <a:extLst>
                    <a:ext uri="{FF2B5EF4-FFF2-40B4-BE49-F238E27FC236}">
                      <a16:creationId xmlns:a16="http://schemas.microsoft.com/office/drawing/2014/main" id="{3DA047C1-2B5C-53D3-D6CE-3B78601267C3}"/>
                    </a:ext>
                  </a:extLst>
                </p:cNvPr>
                <p:cNvSpPr txBox="1"/>
                <p:nvPr/>
              </p:nvSpPr>
              <p:spPr bwMode="auto">
                <a:xfrm>
                  <a:off x="2626" y="2358"/>
                  <a:ext cx="22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2608" name="Object 448">
                  <a:extLst>
                    <a:ext uri="{FF2B5EF4-FFF2-40B4-BE49-F238E27FC236}">
                      <a16:creationId xmlns:a16="http://schemas.microsoft.com/office/drawing/2014/main" id="{3DA047C1-2B5C-53D3-D6CE-3B78601267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6" y="2358"/>
                  <a:ext cx="220" cy="248"/>
                </a:xfrm>
                <a:prstGeom prst="rect">
                  <a:avLst/>
                </a:prstGeom>
                <a:blipFill>
                  <a:blip r:embed="rId3"/>
                  <a:stretch>
                    <a:fillRect r="-1395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09" name="Object 449">
                  <a:extLst>
                    <a:ext uri="{FF2B5EF4-FFF2-40B4-BE49-F238E27FC236}">
                      <a16:creationId xmlns:a16="http://schemas.microsoft.com/office/drawing/2014/main" id="{72D5BE3A-F36C-1477-1C80-9C84F1BFA1C0}"/>
                    </a:ext>
                  </a:extLst>
                </p:cNvPr>
                <p:cNvSpPr txBox="1"/>
                <p:nvPr/>
              </p:nvSpPr>
              <p:spPr bwMode="auto">
                <a:xfrm>
                  <a:off x="5183" y="2355"/>
                  <a:ext cx="249" cy="2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2609" name="Object 449">
                  <a:extLst>
                    <a:ext uri="{FF2B5EF4-FFF2-40B4-BE49-F238E27FC236}">
                      <a16:creationId xmlns:a16="http://schemas.microsoft.com/office/drawing/2014/main" id="{72D5BE3A-F36C-1477-1C80-9C84F1BFA1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83" y="2355"/>
                  <a:ext cx="249" cy="22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10" name="Object 450">
                  <a:extLst>
                    <a:ext uri="{FF2B5EF4-FFF2-40B4-BE49-F238E27FC236}">
                      <a16:creationId xmlns:a16="http://schemas.microsoft.com/office/drawing/2014/main" id="{092899AC-FCD3-A174-7259-0858022C8A5A}"/>
                    </a:ext>
                  </a:extLst>
                </p:cNvPr>
                <p:cNvSpPr txBox="1"/>
                <p:nvPr/>
              </p:nvSpPr>
              <p:spPr bwMode="auto">
                <a:xfrm>
                  <a:off x="2318" y="1897"/>
                  <a:ext cx="336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2610" name="Object 450">
                  <a:extLst>
                    <a:ext uri="{FF2B5EF4-FFF2-40B4-BE49-F238E27FC236}">
                      <a16:creationId xmlns:a16="http://schemas.microsoft.com/office/drawing/2014/main" id="{092899AC-FCD3-A174-7259-0858022C8A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18" y="1897"/>
                  <a:ext cx="336" cy="320"/>
                </a:xfrm>
                <a:prstGeom prst="rect">
                  <a:avLst/>
                </a:prstGeom>
                <a:blipFill>
                  <a:blip r:embed="rId5"/>
                  <a:stretch>
                    <a:fillRect r="-74242" b="-338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611" name="Line 451">
              <a:extLst>
                <a:ext uri="{FF2B5EF4-FFF2-40B4-BE49-F238E27FC236}">
                  <a16:creationId xmlns:a16="http://schemas.microsoft.com/office/drawing/2014/main" id="{190B4F35-0D7E-1B6C-ED64-EFC7D0A0D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" y="1224"/>
              <a:ext cx="0" cy="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2612" name="Line 452">
              <a:extLst>
                <a:ext uri="{FF2B5EF4-FFF2-40B4-BE49-F238E27FC236}">
                  <a16:creationId xmlns:a16="http://schemas.microsoft.com/office/drawing/2014/main" id="{AD2C355B-8B65-7C7A-F515-F1D79FC96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" y="2329"/>
              <a:ext cx="2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2613" name="Line 453">
              <a:extLst>
                <a:ext uri="{FF2B5EF4-FFF2-40B4-BE49-F238E27FC236}">
                  <a16:creationId xmlns:a16="http://schemas.microsoft.com/office/drawing/2014/main" id="{1AD2BE25-AE20-A9B8-3D50-BF6FE21E4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7" y="1224"/>
              <a:ext cx="0" cy="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2614" name="Line 454">
              <a:extLst>
                <a:ext uri="{FF2B5EF4-FFF2-40B4-BE49-F238E27FC236}">
                  <a16:creationId xmlns:a16="http://schemas.microsoft.com/office/drawing/2014/main" id="{D18E925D-9F34-51E7-C7B0-4BAC62AC1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7" y="2329"/>
              <a:ext cx="2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15" name="Object 455">
                  <a:extLst>
                    <a:ext uri="{FF2B5EF4-FFF2-40B4-BE49-F238E27FC236}">
                      <a16:creationId xmlns:a16="http://schemas.microsoft.com/office/drawing/2014/main" id="{CD09B8F8-DEA8-414F-44B9-312A95CD69EF}"/>
                    </a:ext>
                  </a:extLst>
                </p:cNvPr>
                <p:cNvSpPr txBox="1"/>
                <p:nvPr/>
              </p:nvSpPr>
              <p:spPr bwMode="auto">
                <a:xfrm>
                  <a:off x="2318" y="1253"/>
                  <a:ext cx="336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2615" name="Object 455">
                  <a:extLst>
                    <a:ext uri="{FF2B5EF4-FFF2-40B4-BE49-F238E27FC236}">
                      <a16:creationId xmlns:a16="http://schemas.microsoft.com/office/drawing/2014/main" id="{CD09B8F8-DEA8-414F-44B9-312A95CD6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18" y="1253"/>
                  <a:ext cx="336" cy="320"/>
                </a:xfrm>
                <a:prstGeom prst="rect">
                  <a:avLst/>
                </a:prstGeom>
                <a:blipFill>
                  <a:blip r:embed="rId6"/>
                  <a:stretch>
                    <a:fillRect r="-77273" b="-338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16" name="Object 456">
                  <a:extLst>
                    <a:ext uri="{FF2B5EF4-FFF2-40B4-BE49-F238E27FC236}">
                      <a16:creationId xmlns:a16="http://schemas.microsoft.com/office/drawing/2014/main" id="{BE7F51EE-3A05-D43E-97BD-CA3887974244}"/>
                    </a:ext>
                  </a:extLst>
                </p:cNvPr>
                <p:cNvSpPr txBox="1"/>
                <p:nvPr/>
              </p:nvSpPr>
              <p:spPr bwMode="auto">
                <a:xfrm>
                  <a:off x="4591" y="1810"/>
                  <a:ext cx="336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2616" name="Object 456">
                  <a:extLst>
                    <a:ext uri="{FF2B5EF4-FFF2-40B4-BE49-F238E27FC236}">
                      <a16:creationId xmlns:a16="http://schemas.microsoft.com/office/drawing/2014/main" id="{BE7F51EE-3A05-D43E-97BD-CA3887974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1" y="1810"/>
                  <a:ext cx="336" cy="320"/>
                </a:xfrm>
                <a:prstGeom prst="rect">
                  <a:avLst/>
                </a:prstGeom>
                <a:blipFill>
                  <a:blip r:embed="rId7"/>
                  <a:stretch>
                    <a:fillRect r="-77273" b="-338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17" name="Object 457">
                  <a:extLst>
                    <a:ext uri="{FF2B5EF4-FFF2-40B4-BE49-F238E27FC236}">
                      <a16:creationId xmlns:a16="http://schemas.microsoft.com/office/drawing/2014/main" id="{0A39292E-D317-23EF-0B1A-5862FBDB2105}"/>
                    </a:ext>
                  </a:extLst>
                </p:cNvPr>
                <p:cNvSpPr txBox="1"/>
                <p:nvPr/>
              </p:nvSpPr>
              <p:spPr bwMode="auto">
                <a:xfrm>
                  <a:off x="4582" y="1253"/>
                  <a:ext cx="336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2617" name="Object 457">
                  <a:extLst>
                    <a:ext uri="{FF2B5EF4-FFF2-40B4-BE49-F238E27FC236}">
                      <a16:creationId xmlns:a16="http://schemas.microsoft.com/office/drawing/2014/main" id="{0A39292E-D317-23EF-0B1A-5862FBDB2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82" y="1253"/>
                  <a:ext cx="336" cy="320"/>
                </a:xfrm>
                <a:prstGeom prst="rect">
                  <a:avLst/>
                </a:prstGeom>
                <a:blipFill>
                  <a:blip r:embed="rId8"/>
                  <a:stretch>
                    <a:fillRect r="-74242" b="-338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18" name="Object 458">
                  <a:extLst>
                    <a:ext uri="{FF2B5EF4-FFF2-40B4-BE49-F238E27FC236}">
                      <a16:creationId xmlns:a16="http://schemas.microsoft.com/office/drawing/2014/main" id="{18067E37-D25D-EA37-3157-CB163C5805BA}"/>
                    </a:ext>
                  </a:extLst>
                </p:cNvPr>
                <p:cNvSpPr txBox="1"/>
                <p:nvPr/>
              </p:nvSpPr>
              <p:spPr bwMode="auto">
                <a:xfrm>
                  <a:off x="1245" y="2327"/>
                  <a:ext cx="104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2618" name="Object 458">
                  <a:extLst>
                    <a:ext uri="{FF2B5EF4-FFF2-40B4-BE49-F238E27FC236}">
                      <a16:creationId xmlns:a16="http://schemas.microsoft.com/office/drawing/2014/main" id="{18067E37-D25D-EA37-3157-CB163C580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45" y="2327"/>
                  <a:ext cx="104" cy="248"/>
                </a:xfrm>
                <a:prstGeom prst="rect">
                  <a:avLst/>
                </a:prstGeom>
                <a:blipFill>
                  <a:blip r:embed="rId9"/>
                  <a:stretch>
                    <a:fillRect r="-65000" b="-3958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19" name="Object 459">
                  <a:extLst>
                    <a:ext uri="{FF2B5EF4-FFF2-40B4-BE49-F238E27FC236}">
                      <a16:creationId xmlns:a16="http://schemas.microsoft.com/office/drawing/2014/main" id="{6ABF84B6-9E20-0A29-3622-418F535BF142}"/>
                    </a:ext>
                  </a:extLst>
                </p:cNvPr>
                <p:cNvSpPr txBox="1"/>
                <p:nvPr/>
              </p:nvSpPr>
              <p:spPr bwMode="auto">
                <a:xfrm>
                  <a:off x="1829" y="2355"/>
                  <a:ext cx="88" cy="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1200"/>
                </a:p>
              </p:txBody>
            </p:sp>
          </mc:Choice>
          <mc:Fallback xmlns="">
            <p:sp>
              <p:nvSpPr>
                <p:cNvPr id="92619" name="Object 459">
                  <a:extLst>
                    <a:ext uri="{FF2B5EF4-FFF2-40B4-BE49-F238E27FC236}">
                      <a16:creationId xmlns:a16="http://schemas.microsoft.com/office/drawing/2014/main" id="{6ABF84B6-9E20-0A29-3622-418F535BF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29" y="2355"/>
                  <a:ext cx="88" cy="88"/>
                </a:xfrm>
                <a:prstGeom prst="rect">
                  <a:avLst/>
                </a:prstGeom>
                <a:blipFill>
                  <a:blip r:embed="rId10"/>
                  <a:stretch>
                    <a:fillRect r="-76471" b="-1235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620" name="Text Box 460">
              <a:extLst>
                <a:ext uri="{FF2B5EF4-FFF2-40B4-BE49-F238E27FC236}">
                  <a16:creationId xmlns:a16="http://schemas.microsoft.com/office/drawing/2014/main" id="{68A9A0F1-1F05-6FA8-8CDD-EAF0AA035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" y="1508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1</a:t>
              </a:r>
            </a:p>
          </p:txBody>
        </p:sp>
        <p:sp>
          <p:nvSpPr>
            <p:cNvPr id="92621" name="Text Box 461">
              <a:extLst>
                <a:ext uri="{FF2B5EF4-FFF2-40B4-BE49-F238E27FC236}">
                  <a16:creationId xmlns:a16="http://schemas.microsoft.com/office/drawing/2014/main" id="{65DEEE2A-0BC1-A55A-4F31-34CB91ED3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6" y="1508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1</a:t>
              </a:r>
            </a:p>
          </p:txBody>
        </p:sp>
        <p:sp>
          <p:nvSpPr>
            <p:cNvPr id="92622" name="Text Box 462">
              <a:extLst>
                <a:ext uri="{FF2B5EF4-FFF2-40B4-BE49-F238E27FC236}">
                  <a16:creationId xmlns:a16="http://schemas.microsoft.com/office/drawing/2014/main" id="{59928713-E2D4-736E-5E9C-990A5B426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2526"/>
              <a:ext cx="31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(a)</a:t>
              </a:r>
            </a:p>
          </p:txBody>
        </p:sp>
        <p:sp>
          <p:nvSpPr>
            <p:cNvPr id="92623" name="Text Box 463">
              <a:extLst>
                <a:ext uri="{FF2B5EF4-FFF2-40B4-BE49-F238E27FC236}">
                  <a16:creationId xmlns:a16="http://schemas.microsoft.com/office/drawing/2014/main" id="{4DD244DE-6515-3DBC-8739-1A25E2A4F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3" y="2526"/>
              <a:ext cx="31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(b)</a:t>
              </a:r>
            </a:p>
          </p:txBody>
        </p:sp>
        <p:grpSp>
          <p:nvGrpSpPr>
            <p:cNvPr id="92624" name="Group 464">
              <a:extLst>
                <a:ext uri="{FF2B5EF4-FFF2-40B4-BE49-F238E27FC236}">
                  <a16:creationId xmlns:a16="http://schemas.microsoft.com/office/drawing/2014/main" id="{5CFD958D-010C-A113-A78B-1E584A0A6E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7" y="1586"/>
              <a:ext cx="1699" cy="737"/>
              <a:chOff x="727" y="1590"/>
              <a:chExt cx="1699" cy="737"/>
            </a:xfrm>
          </p:grpSpPr>
          <p:grpSp>
            <p:nvGrpSpPr>
              <p:cNvPr id="92625" name="Group 465">
                <a:extLst>
                  <a:ext uri="{FF2B5EF4-FFF2-40B4-BE49-F238E27FC236}">
                    <a16:creationId xmlns:a16="http://schemas.microsoft.com/office/drawing/2014/main" id="{5478E647-7DD3-9AA4-8ED3-ED28EA95DB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727" y="1590"/>
                <a:ext cx="1135" cy="737"/>
                <a:chOff x="529" y="1178"/>
                <a:chExt cx="2455" cy="1812"/>
              </a:xfrm>
            </p:grpSpPr>
            <p:sp>
              <p:nvSpPr>
                <p:cNvPr id="92626" name="Freeform 466">
                  <a:extLst>
                    <a:ext uri="{FF2B5EF4-FFF2-40B4-BE49-F238E27FC236}">
                      <a16:creationId xmlns:a16="http://schemas.microsoft.com/office/drawing/2014/main" id="{A6C265BE-A208-4D5E-E0E7-F8748AB386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27" name="Freeform 467">
                  <a:extLst>
                    <a:ext uri="{FF2B5EF4-FFF2-40B4-BE49-F238E27FC236}">
                      <a16:creationId xmlns:a16="http://schemas.microsoft.com/office/drawing/2014/main" id="{46AD0695-7E3E-A5F8-35A0-3A6F5C3A9A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28" name="Freeform 468">
                  <a:extLst>
                    <a:ext uri="{FF2B5EF4-FFF2-40B4-BE49-F238E27FC236}">
                      <a16:creationId xmlns:a16="http://schemas.microsoft.com/office/drawing/2014/main" id="{25442AA7-C695-45D3-D12A-DAFA80BB9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29" name="Freeform 469">
                  <a:extLst>
                    <a:ext uri="{FF2B5EF4-FFF2-40B4-BE49-F238E27FC236}">
                      <a16:creationId xmlns:a16="http://schemas.microsoft.com/office/drawing/2014/main" id="{6AB4E0B4-7E73-0E30-5905-D585227F4C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30" name="Freeform 470">
                  <a:extLst>
                    <a:ext uri="{FF2B5EF4-FFF2-40B4-BE49-F238E27FC236}">
                      <a16:creationId xmlns:a16="http://schemas.microsoft.com/office/drawing/2014/main" id="{728CFEDA-77F5-B9B1-E77B-6DB236B9F9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631" name="Group 471">
                <a:extLst>
                  <a:ext uri="{FF2B5EF4-FFF2-40B4-BE49-F238E27FC236}">
                    <a16:creationId xmlns:a16="http://schemas.microsoft.com/office/drawing/2014/main" id="{47D1A474-7BD2-000C-96A0-D2E104D628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59" y="1590"/>
                <a:ext cx="567" cy="737"/>
                <a:chOff x="475" y="995"/>
                <a:chExt cx="2461" cy="1818"/>
              </a:xfrm>
            </p:grpSpPr>
            <p:sp>
              <p:nvSpPr>
                <p:cNvPr id="92632" name="Freeform 472">
                  <a:extLst>
                    <a:ext uri="{FF2B5EF4-FFF2-40B4-BE49-F238E27FC236}">
                      <a16:creationId xmlns:a16="http://schemas.microsoft.com/office/drawing/2014/main" id="{14DC61EA-A5D5-D01B-D2E5-668D0710AE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" y="995"/>
                  <a:ext cx="720" cy="356"/>
                </a:xfrm>
                <a:custGeom>
                  <a:avLst/>
                  <a:gdLst>
                    <a:gd name="T0" fmla="*/ 11 w 720"/>
                    <a:gd name="T1" fmla="*/ 0 h 356"/>
                    <a:gd name="T2" fmla="*/ 28 w 720"/>
                    <a:gd name="T3" fmla="*/ 0 h 356"/>
                    <a:gd name="T4" fmla="*/ 45 w 720"/>
                    <a:gd name="T5" fmla="*/ 0 h 356"/>
                    <a:gd name="T6" fmla="*/ 62 w 720"/>
                    <a:gd name="T7" fmla="*/ 0 h 356"/>
                    <a:gd name="T8" fmla="*/ 79 w 720"/>
                    <a:gd name="T9" fmla="*/ 0 h 356"/>
                    <a:gd name="T10" fmla="*/ 96 w 720"/>
                    <a:gd name="T11" fmla="*/ 5 h 356"/>
                    <a:gd name="T12" fmla="*/ 113 w 720"/>
                    <a:gd name="T13" fmla="*/ 5 h 356"/>
                    <a:gd name="T14" fmla="*/ 130 w 720"/>
                    <a:gd name="T15" fmla="*/ 11 h 356"/>
                    <a:gd name="T16" fmla="*/ 147 w 720"/>
                    <a:gd name="T17" fmla="*/ 16 h 356"/>
                    <a:gd name="T18" fmla="*/ 164 w 720"/>
                    <a:gd name="T19" fmla="*/ 21 h 356"/>
                    <a:gd name="T20" fmla="*/ 181 w 720"/>
                    <a:gd name="T21" fmla="*/ 21 h 356"/>
                    <a:gd name="T22" fmla="*/ 198 w 720"/>
                    <a:gd name="T23" fmla="*/ 27 h 356"/>
                    <a:gd name="T24" fmla="*/ 215 w 720"/>
                    <a:gd name="T25" fmla="*/ 32 h 356"/>
                    <a:gd name="T26" fmla="*/ 232 w 720"/>
                    <a:gd name="T27" fmla="*/ 37 h 356"/>
                    <a:gd name="T28" fmla="*/ 249 w 720"/>
                    <a:gd name="T29" fmla="*/ 43 h 356"/>
                    <a:gd name="T30" fmla="*/ 266 w 720"/>
                    <a:gd name="T31" fmla="*/ 53 h 356"/>
                    <a:gd name="T32" fmla="*/ 283 w 720"/>
                    <a:gd name="T33" fmla="*/ 59 h 356"/>
                    <a:gd name="T34" fmla="*/ 300 w 720"/>
                    <a:gd name="T35" fmla="*/ 64 h 356"/>
                    <a:gd name="T36" fmla="*/ 317 w 720"/>
                    <a:gd name="T37" fmla="*/ 74 h 356"/>
                    <a:gd name="T38" fmla="*/ 334 w 720"/>
                    <a:gd name="T39" fmla="*/ 80 h 356"/>
                    <a:gd name="T40" fmla="*/ 351 w 720"/>
                    <a:gd name="T41" fmla="*/ 90 h 356"/>
                    <a:gd name="T42" fmla="*/ 368 w 720"/>
                    <a:gd name="T43" fmla="*/ 101 h 356"/>
                    <a:gd name="T44" fmla="*/ 385 w 720"/>
                    <a:gd name="T45" fmla="*/ 106 h 356"/>
                    <a:gd name="T46" fmla="*/ 402 w 720"/>
                    <a:gd name="T47" fmla="*/ 117 h 356"/>
                    <a:gd name="T48" fmla="*/ 419 w 720"/>
                    <a:gd name="T49" fmla="*/ 128 h 356"/>
                    <a:gd name="T50" fmla="*/ 436 w 720"/>
                    <a:gd name="T51" fmla="*/ 138 h 356"/>
                    <a:gd name="T52" fmla="*/ 453 w 720"/>
                    <a:gd name="T53" fmla="*/ 149 h 356"/>
                    <a:gd name="T54" fmla="*/ 470 w 720"/>
                    <a:gd name="T55" fmla="*/ 159 h 356"/>
                    <a:gd name="T56" fmla="*/ 487 w 720"/>
                    <a:gd name="T57" fmla="*/ 170 h 356"/>
                    <a:gd name="T58" fmla="*/ 504 w 720"/>
                    <a:gd name="T59" fmla="*/ 181 h 356"/>
                    <a:gd name="T60" fmla="*/ 521 w 720"/>
                    <a:gd name="T61" fmla="*/ 197 h 356"/>
                    <a:gd name="T62" fmla="*/ 539 w 720"/>
                    <a:gd name="T63" fmla="*/ 207 h 356"/>
                    <a:gd name="T64" fmla="*/ 556 w 720"/>
                    <a:gd name="T65" fmla="*/ 223 h 356"/>
                    <a:gd name="T66" fmla="*/ 573 w 720"/>
                    <a:gd name="T67" fmla="*/ 234 h 356"/>
                    <a:gd name="T68" fmla="*/ 590 w 720"/>
                    <a:gd name="T69" fmla="*/ 245 h 356"/>
                    <a:gd name="T70" fmla="*/ 607 w 720"/>
                    <a:gd name="T71" fmla="*/ 260 h 356"/>
                    <a:gd name="T72" fmla="*/ 624 w 720"/>
                    <a:gd name="T73" fmla="*/ 271 h 356"/>
                    <a:gd name="T74" fmla="*/ 641 w 720"/>
                    <a:gd name="T75" fmla="*/ 287 h 356"/>
                    <a:gd name="T76" fmla="*/ 658 w 720"/>
                    <a:gd name="T77" fmla="*/ 303 h 356"/>
                    <a:gd name="T78" fmla="*/ 675 w 720"/>
                    <a:gd name="T79" fmla="*/ 319 h 356"/>
                    <a:gd name="T80" fmla="*/ 692 w 720"/>
                    <a:gd name="T81" fmla="*/ 335 h 356"/>
                    <a:gd name="T82" fmla="*/ 709 w 720"/>
                    <a:gd name="T83" fmla="*/ 351 h 3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720" h="356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0"/>
                      </a:lnTo>
                      <a:lnTo>
                        <a:pt x="45" y="0"/>
                      </a:lnTo>
                      <a:lnTo>
                        <a:pt x="51" y="0"/>
                      </a:lnTo>
                      <a:lnTo>
                        <a:pt x="57" y="0"/>
                      </a:lnTo>
                      <a:lnTo>
                        <a:pt x="62" y="0"/>
                      </a:lnTo>
                      <a:lnTo>
                        <a:pt x="68" y="0"/>
                      </a:lnTo>
                      <a:lnTo>
                        <a:pt x="74" y="0"/>
                      </a:lnTo>
                      <a:lnTo>
                        <a:pt x="79" y="0"/>
                      </a:lnTo>
                      <a:lnTo>
                        <a:pt x="85" y="5"/>
                      </a:lnTo>
                      <a:lnTo>
                        <a:pt x="91" y="5"/>
                      </a:lnTo>
                      <a:lnTo>
                        <a:pt x="96" y="5"/>
                      </a:lnTo>
                      <a:lnTo>
                        <a:pt x="102" y="5"/>
                      </a:lnTo>
                      <a:lnTo>
                        <a:pt x="108" y="5"/>
                      </a:lnTo>
                      <a:lnTo>
                        <a:pt x="113" y="5"/>
                      </a:lnTo>
                      <a:lnTo>
                        <a:pt x="119" y="11"/>
                      </a:lnTo>
                      <a:lnTo>
                        <a:pt x="125" y="11"/>
                      </a:lnTo>
                      <a:lnTo>
                        <a:pt x="130" y="11"/>
                      </a:lnTo>
                      <a:lnTo>
                        <a:pt x="136" y="11"/>
                      </a:lnTo>
                      <a:lnTo>
                        <a:pt x="142" y="11"/>
                      </a:lnTo>
                      <a:lnTo>
                        <a:pt x="147" y="16"/>
                      </a:lnTo>
                      <a:lnTo>
                        <a:pt x="153" y="16"/>
                      </a:lnTo>
                      <a:lnTo>
                        <a:pt x="159" y="16"/>
                      </a:lnTo>
                      <a:lnTo>
                        <a:pt x="164" y="21"/>
                      </a:lnTo>
                      <a:lnTo>
                        <a:pt x="170" y="21"/>
                      </a:lnTo>
                      <a:lnTo>
                        <a:pt x="176" y="21"/>
                      </a:lnTo>
                      <a:lnTo>
                        <a:pt x="181" y="21"/>
                      </a:lnTo>
                      <a:lnTo>
                        <a:pt x="187" y="27"/>
                      </a:lnTo>
                      <a:lnTo>
                        <a:pt x="193" y="27"/>
                      </a:lnTo>
                      <a:lnTo>
                        <a:pt x="198" y="27"/>
                      </a:lnTo>
                      <a:lnTo>
                        <a:pt x="204" y="32"/>
                      </a:lnTo>
                      <a:lnTo>
                        <a:pt x="210" y="32"/>
                      </a:lnTo>
                      <a:lnTo>
                        <a:pt x="215" y="32"/>
                      </a:lnTo>
                      <a:lnTo>
                        <a:pt x="221" y="37"/>
                      </a:lnTo>
                      <a:lnTo>
                        <a:pt x="227" y="37"/>
                      </a:lnTo>
                      <a:lnTo>
                        <a:pt x="232" y="37"/>
                      </a:lnTo>
                      <a:lnTo>
                        <a:pt x="238" y="43"/>
                      </a:lnTo>
                      <a:lnTo>
                        <a:pt x="244" y="43"/>
                      </a:lnTo>
                      <a:lnTo>
                        <a:pt x="249" y="43"/>
                      </a:lnTo>
                      <a:lnTo>
                        <a:pt x="255" y="48"/>
                      </a:lnTo>
                      <a:lnTo>
                        <a:pt x="261" y="48"/>
                      </a:lnTo>
                      <a:lnTo>
                        <a:pt x="266" y="53"/>
                      </a:lnTo>
                      <a:lnTo>
                        <a:pt x="272" y="53"/>
                      </a:lnTo>
                      <a:lnTo>
                        <a:pt x="278" y="59"/>
                      </a:lnTo>
                      <a:lnTo>
                        <a:pt x="283" y="59"/>
                      </a:lnTo>
                      <a:lnTo>
                        <a:pt x="289" y="59"/>
                      </a:lnTo>
                      <a:lnTo>
                        <a:pt x="295" y="64"/>
                      </a:lnTo>
                      <a:lnTo>
                        <a:pt x="300" y="64"/>
                      </a:lnTo>
                      <a:lnTo>
                        <a:pt x="306" y="69"/>
                      </a:lnTo>
                      <a:lnTo>
                        <a:pt x="312" y="69"/>
                      </a:lnTo>
                      <a:lnTo>
                        <a:pt x="317" y="74"/>
                      </a:lnTo>
                      <a:lnTo>
                        <a:pt x="323" y="74"/>
                      </a:lnTo>
                      <a:lnTo>
                        <a:pt x="329" y="80"/>
                      </a:lnTo>
                      <a:lnTo>
                        <a:pt x="334" y="80"/>
                      </a:lnTo>
                      <a:lnTo>
                        <a:pt x="340" y="85"/>
                      </a:lnTo>
                      <a:lnTo>
                        <a:pt x="346" y="85"/>
                      </a:lnTo>
                      <a:lnTo>
                        <a:pt x="351" y="90"/>
                      </a:lnTo>
                      <a:lnTo>
                        <a:pt x="357" y="90"/>
                      </a:lnTo>
                      <a:lnTo>
                        <a:pt x="363" y="96"/>
                      </a:lnTo>
                      <a:lnTo>
                        <a:pt x="368" y="101"/>
                      </a:lnTo>
                      <a:lnTo>
                        <a:pt x="374" y="101"/>
                      </a:lnTo>
                      <a:lnTo>
                        <a:pt x="380" y="106"/>
                      </a:lnTo>
                      <a:lnTo>
                        <a:pt x="385" y="106"/>
                      </a:lnTo>
                      <a:lnTo>
                        <a:pt x="391" y="112"/>
                      </a:lnTo>
                      <a:lnTo>
                        <a:pt x="397" y="112"/>
                      </a:lnTo>
                      <a:lnTo>
                        <a:pt x="402" y="117"/>
                      </a:lnTo>
                      <a:lnTo>
                        <a:pt x="408" y="122"/>
                      </a:lnTo>
                      <a:lnTo>
                        <a:pt x="414" y="122"/>
                      </a:lnTo>
                      <a:lnTo>
                        <a:pt x="419" y="128"/>
                      </a:lnTo>
                      <a:lnTo>
                        <a:pt x="425" y="133"/>
                      </a:lnTo>
                      <a:lnTo>
                        <a:pt x="431" y="133"/>
                      </a:lnTo>
                      <a:lnTo>
                        <a:pt x="436" y="138"/>
                      </a:lnTo>
                      <a:lnTo>
                        <a:pt x="442" y="144"/>
                      </a:lnTo>
                      <a:lnTo>
                        <a:pt x="448" y="144"/>
                      </a:lnTo>
                      <a:lnTo>
                        <a:pt x="453" y="149"/>
                      </a:lnTo>
                      <a:lnTo>
                        <a:pt x="459" y="149"/>
                      </a:lnTo>
                      <a:lnTo>
                        <a:pt x="465" y="154"/>
                      </a:lnTo>
                      <a:lnTo>
                        <a:pt x="470" y="159"/>
                      </a:lnTo>
                      <a:lnTo>
                        <a:pt x="476" y="165"/>
                      </a:lnTo>
                      <a:lnTo>
                        <a:pt x="482" y="170"/>
                      </a:lnTo>
                      <a:lnTo>
                        <a:pt x="487" y="170"/>
                      </a:lnTo>
                      <a:lnTo>
                        <a:pt x="493" y="175"/>
                      </a:lnTo>
                      <a:lnTo>
                        <a:pt x="499" y="181"/>
                      </a:lnTo>
                      <a:lnTo>
                        <a:pt x="504" y="181"/>
                      </a:lnTo>
                      <a:lnTo>
                        <a:pt x="510" y="186"/>
                      </a:lnTo>
                      <a:lnTo>
                        <a:pt x="516" y="191"/>
                      </a:lnTo>
                      <a:lnTo>
                        <a:pt x="521" y="197"/>
                      </a:lnTo>
                      <a:lnTo>
                        <a:pt x="527" y="197"/>
                      </a:lnTo>
                      <a:lnTo>
                        <a:pt x="533" y="202"/>
                      </a:lnTo>
                      <a:lnTo>
                        <a:pt x="539" y="207"/>
                      </a:lnTo>
                      <a:lnTo>
                        <a:pt x="544" y="213"/>
                      </a:lnTo>
                      <a:lnTo>
                        <a:pt x="550" y="213"/>
                      </a:lnTo>
                      <a:lnTo>
                        <a:pt x="556" y="223"/>
                      </a:lnTo>
                      <a:lnTo>
                        <a:pt x="561" y="223"/>
                      </a:lnTo>
                      <a:lnTo>
                        <a:pt x="567" y="229"/>
                      </a:lnTo>
                      <a:lnTo>
                        <a:pt x="573" y="234"/>
                      </a:lnTo>
                      <a:lnTo>
                        <a:pt x="578" y="239"/>
                      </a:lnTo>
                      <a:lnTo>
                        <a:pt x="584" y="239"/>
                      </a:lnTo>
                      <a:lnTo>
                        <a:pt x="590" y="245"/>
                      </a:lnTo>
                      <a:lnTo>
                        <a:pt x="595" y="250"/>
                      </a:lnTo>
                      <a:lnTo>
                        <a:pt x="601" y="255"/>
                      </a:lnTo>
                      <a:lnTo>
                        <a:pt x="607" y="260"/>
                      </a:lnTo>
                      <a:lnTo>
                        <a:pt x="612" y="266"/>
                      </a:lnTo>
                      <a:lnTo>
                        <a:pt x="618" y="271"/>
                      </a:lnTo>
                      <a:lnTo>
                        <a:pt x="624" y="271"/>
                      </a:lnTo>
                      <a:lnTo>
                        <a:pt x="629" y="282"/>
                      </a:lnTo>
                      <a:lnTo>
                        <a:pt x="635" y="282"/>
                      </a:lnTo>
                      <a:lnTo>
                        <a:pt x="641" y="287"/>
                      </a:lnTo>
                      <a:lnTo>
                        <a:pt x="646" y="292"/>
                      </a:lnTo>
                      <a:lnTo>
                        <a:pt x="652" y="298"/>
                      </a:lnTo>
                      <a:lnTo>
                        <a:pt x="658" y="303"/>
                      </a:lnTo>
                      <a:lnTo>
                        <a:pt x="663" y="308"/>
                      </a:lnTo>
                      <a:lnTo>
                        <a:pt x="669" y="314"/>
                      </a:lnTo>
                      <a:lnTo>
                        <a:pt x="675" y="319"/>
                      </a:lnTo>
                      <a:lnTo>
                        <a:pt x="680" y="324"/>
                      </a:lnTo>
                      <a:lnTo>
                        <a:pt x="686" y="330"/>
                      </a:lnTo>
                      <a:lnTo>
                        <a:pt x="692" y="335"/>
                      </a:lnTo>
                      <a:lnTo>
                        <a:pt x="697" y="340"/>
                      </a:lnTo>
                      <a:lnTo>
                        <a:pt x="703" y="345"/>
                      </a:lnTo>
                      <a:lnTo>
                        <a:pt x="709" y="351"/>
                      </a:lnTo>
                      <a:lnTo>
                        <a:pt x="714" y="356"/>
                      </a:lnTo>
                      <a:lnTo>
                        <a:pt x="720" y="35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33" name="Freeform 473">
                  <a:extLst>
                    <a:ext uri="{FF2B5EF4-FFF2-40B4-BE49-F238E27FC236}">
                      <a16:creationId xmlns:a16="http://schemas.microsoft.com/office/drawing/2014/main" id="{D706F009-F6A6-B42E-646C-F580A02D38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95" y="1351"/>
                  <a:ext cx="709" cy="781"/>
                </a:xfrm>
                <a:custGeom>
                  <a:avLst/>
                  <a:gdLst>
                    <a:gd name="T0" fmla="*/ 11 w 709"/>
                    <a:gd name="T1" fmla="*/ 16 h 781"/>
                    <a:gd name="T2" fmla="*/ 28 w 709"/>
                    <a:gd name="T3" fmla="*/ 32 h 781"/>
                    <a:gd name="T4" fmla="*/ 45 w 709"/>
                    <a:gd name="T5" fmla="*/ 48 h 781"/>
                    <a:gd name="T6" fmla="*/ 62 w 709"/>
                    <a:gd name="T7" fmla="*/ 64 h 781"/>
                    <a:gd name="T8" fmla="*/ 79 w 709"/>
                    <a:gd name="T9" fmla="*/ 80 h 781"/>
                    <a:gd name="T10" fmla="*/ 96 w 709"/>
                    <a:gd name="T11" fmla="*/ 96 h 781"/>
                    <a:gd name="T12" fmla="*/ 119 w 709"/>
                    <a:gd name="T13" fmla="*/ 117 h 781"/>
                    <a:gd name="T14" fmla="*/ 130 w 709"/>
                    <a:gd name="T15" fmla="*/ 128 h 781"/>
                    <a:gd name="T16" fmla="*/ 147 w 709"/>
                    <a:gd name="T17" fmla="*/ 149 h 781"/>
                    <a:gd name="T18" fmla="*/ 164 w 709"/>
                    <a:gd name="T19" fmla="*/ 165 h 781"/>
                    <a:gd name="T20" fmla="*/ 181 w 709"/>
                    <a:gd name="T21" fmla="*/ 186 h 781"/>
                    <a:gd name="T22" fmla="*/ 198 w 709"/>
                    <a:gd name="T23" fmla="*/ 202 h 781"/>
                    <a:gd name="T24" fmla="*/ 215 w 709"/>
                    <a:gd name="T25" fmla="*/ 223 h 781"/>
                    <a:gd name="T26" fmla="*/ 232 w 709"/>
                    <a:gd name="T27" fmla="*/ 239 h 781"/>
                    <a:gd name="T28" fmla="*/ 249 w 709"/>
                    <a:gd name="T29" fmla="*/ 261 h 781"/>
                    <a:gd name="T30" fmla="*/ 266 w 709"/>
                    <a:gd name="T31" fmla="*/ 276 h 781"/>
                    <a:gd name="T32" fmla="*/ 289 w 709"/>
                    <a:gd name="T33" fmla="*/ 298 h 781"/>
                    <a:gd name="T34" fmla="*/ 300 w 709"/>
                    <a:gd name="T35" fmla="*/ 314 h 781"/>
                    <a:gd name="T36" fmla="*/ 323 w 709"/>
                    <a:gd name="T37" fmla="*/ 335 h 781"/>
                    <a:gd name="T38" fmla="*/ 334 w 709"/>
                    <a:gd name="T39" fmla="*/ 351 h 781"/>
                    <a:gd name="T40" fmla="*/ 351 w 709"/>
                    <a:gd name="T41" fmla="*/ 372 h 781"/>
                    <a:gd name="T42" fmla="*/ 368 w 709"/>
                    <a:gd name="T43" fmla="*/ 393 h 781"/>
                    <a:gd name="T44" fmla="*/ 385 w 709"/>
                    <a:gd name="T45" fmla="*/ 409 h 781"/>
                    <a:gd name="T46" fmla="*/ 402 w 709"/>
                    <a:gd name="T47" fmla="*/ 431 h 781"/>
                    <a:gd name="T48" fmla="*/ 419 w 709"/>
                    <a:gd name="T49" fmla="*/ 452 h 781"/>
                    <a:gd name="T50" fmla="*/ 436 w 709"/>
                    <a:gd name="T51" fmla="*/ 468 h 781"/>
                    <a:gd name="T52" fmla="*/ 454 w 709"/>
                    <a:gd name="T53" fmla="*/ 489 h 781"/>
                    <a:gd name="T54" fmla="*/ 471 w 709"/>
                    <a:gd name="T55" fmla="*/ 505 h 781"/>
                    <a:gd name="T56" fmla="*/ 482 w 709"/>
                    <a:gd name="T57" fmla="*/ 521 h 781"/>
                    <a:gd name="T58" fmla="*/ 499 w 709"/>
                    <a:gd name="T59" fmla="*/ 542 h 781"/>
                    <a:gd name="T60" fmla="*/ 516 w 709"/>
                    <a:gd name="T61" fmla="*/ 563 h 781"/>
                    <a:gd name="T62" fmla="*/ 533 w 709"/>
                    <a:gd name="T63" fmla="*/ 579 h 781"/>
                    <a:gd name="T64" fmla="*/ 544 w 709"/>
                    <a:gd name="T65" fmla="*/ 595 h 781"/>
                    <a:gd name="T66" fmla="*/ 567 w 709"/>
                    <a:gd name="T67" fmla="*/ 617 h 781"/>
                    <a:gd name="T68" fmla="*/ 578 w 709"/>
                    <a:gd name="T69" fmla="*/ 633 h 781"/>
                    <a:gd name="T70" fmla="*/ 595 w 709"/>
                    <a:gd name="T71" fmla="*/ 654 h 781"/>
                    <a:gd name="T72" fmla="*/ 618 w 709"/>
                    <a:gd name="T73" fmla="*/ 675 h 781"/>
                    <a:gd name="T74" fmla="*/ 629 w 709"/>
                    <a:gd name="T75" fmla="*/ 691 h 781"/>
                    <a:gd name="T76" fmla="*/ 646 w 709"/>
                    <a:gd name="T77" fmla="*/ 712 h 781"/>
                    <a:gd name="T78" fmla="*/ 663 w 709"/>
                    <a:gd name="T79" fmla="*/ 733 h 781"/>
                    <a:gd name="T80" fmla="*/ 680 w 709"/>
                    <a:gd name="T81" fmla="*/ 749 h 781"/>
                    <a:gd name="T82" fmla="*/ 697 w 709"/>
                    <a:gd name="T83" fmla="*/ 771 h 7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709" h="781">
                      <a:moveTo>
                        <a:pt x="0" y="0"/>
                      </a:moveTo>
                      <a:lnTo>
                        <a:pt x="6" y="11"/>
                      </a:lnTo>
                      <a:lnTo>
                        <a:pt x="11" y="16"/>
                      </a:lnTo>
                      <a:lnTo>
                        <a:pt x="17" y="16"/>
                      </a:lnTo>
                      <a:lnTo>
                        <a:pt x="23" y="27"/>
                      </a:lnTo>
                      <a:lnTo>
                        <a:pt x="28" y="32"/>
                      </a:lnTo>
                      <a:lnTo>
                        <a:pt x="34" y="32"/>
                      </a:lnTo>
                      <a:lnTo>
                        <a:pt x="40" y="43"/>
                      </a:lnTo>
                      <a:lnTo>
                        <a:pt x="45" y="48"/>
                      </a:lnTo>
                      <a:lnTo>
                        <a:pt x="51" y="53"/>
                      </a:lnTo>
                      <a:lnTo>
                        <a:pt x="57" y="59"/>
                      </a:lnTo>
                      <a:lnTo>
                        <a:pt x="62" y="64"/>
                      </a:lnTo>
                      <a:lnTo>
                        <a:pt x="68" y="69"/>
                      </a:lnTo>
                      <a:lnTo>
                        <a:pt x="74" y="75"/>
                      </a:lnTo>
                      <a:lnTo>
                        <a:pt x="79" y="80"/>
                      </a:lnTo>
                      <a:lnTo>
                        <a:pt x="85" y="85"/>
                      </a:lnTo>
                      <a:lnTo>
                        <a:pt x="91" y="90"/>
                      </a:lnTo>
                      <a:lnTo>
                        <a:pt x="96" y="96"/>
                      </a:lnTo>
                      <a:lnTo>
                        <a:pt x="102" y="101"/>
                      </a:lnTo>
                      <a:lnTo>
                        <a:pt x="108" y="106"/>
                      </a:lnTo>
                      <a:lnTo>
                        <a:pt x="119" y="117"/>
                      </a:lnTo>
                      <a:lnTo>
                        <a:pt x="119" y="122"/>
                      </a:lnTo>
                      <a:lnTo>
                        <a:pt x="125" y="122"/>
                      </a:lnTo>
                      <a:lnTo>
                        <a:pt x="130" y="128"/>
                      </a:lnTo>
                      <a:lnTo>
                        <a:pt x="136" y="138"/>
                      </a:lnTo>
                      <a:lnTo>
                        <a:pt x="142" y="144"/>
                      </a:lnTo>
                      <a:lnTo>
                        <a:pt x="147" y="149"/>
                      </a:lnTo>
                      <a:lnTo>
                        <a:pt x="153" y="154"/>
                      </a:lnTo>
                      <a:lnTo>
                        <a:pt x="159" y="160"/>
                      </a:lnTo>
                      <a:lnTo>
                        <a:pt x="164" y="165"/>
                      </a:lnTo>
                      <a:lnTo>
                        <a:pt x="176" y="175"/>
                      </a:lnTo>
                      <a:lnTo>
                        <a:pt x="176" y="181"/>
                      </a:lnTo>
                      <a:lnTo>
                        <a:pt x="181" y="186"/>
                      </a:lnTo>
                      <a:lnTo>
                        <a:pt x="187" y="191"/>
                      </a:lnTo>
                      <a:lnTo>
                        <a:pt x="193" y="197"/>
                      </a:lnTo>
                      <a:lnTo>
                        <a:pt x="198" y="202"/>
                      </a:lnTo>
                      <a:lnTo>
                        <a:pt x="204" y="207"/>
                      </a:lnTo>
                      <a:lnTo>
                        <a:pt x="215" y="218"/>
                      </a:lnTo>
                      <a:lnTo>
                        <a:pt x="215" y="223"/>
                      </a:lnTo>
                      <a:lnTo>
                        <a:pt x="221" y="229"/>
                      </a:lnTo>
                      <a:lnTo>
                        <a:pt x="227" y="234"/>
                      </a:lnTo>
                      <a:lnTo>
                        <a:pt x="232" y="239"/>
                      </a:lnTo>
                      <a:lnTo>
                        <a:pt x="238" y="245"/>
                      </a:lnTo>
                      <a:lnTo>
                        <a:pt x="249" y="255"/>
                      </a:lnTo>
                      <a:lnTo>
                        <a:pt x="249" y="261"/>
                      </a:lnTo>
                      <a:lnTo>
                        <a:pt x="255" y="266"/>
                      </a:lnTo>
                      <a:lnTo>
                        <a:pt x="261" y="271"/>
                      </a:lnTo>
                      <a:lnTo>
                        <a:pt x="266" y="276"/>
                      </a:lnTo>
                      <a:lnTo>
                        <a:pt x="272" y="282"/>
                      </a:lnTo>
                      <a:lnTo>
                        <a:pt x="278" y="287"/>
                      </a:lnTo>
                      <a:lnTo>
                        <a:pt x="289" y="298"/>
                      </a:lnTo>
                      <a:lnTo>
                        <a:pt x="289" y="303"/>
                      </a:lnTo>
                      <a:lnTo>
                        <a:pt x="295" y="308"/>
                      </a:lnTo>
                      <a:lnTo>
                        <a:pt x="300" y="314"/>
                      </a:lnTo>
                      <a:lnTo>
                        <a:pt x="306" y="319"/>
                      </a:lnTo>
                      <a:lnTo>
                        <a:pt x="312" y="324"/>
                      </a:lnTo>
                      <a:lnTo>
                        <a:pt x="323" y="335"/>
                      </a:lnTo>
                      <a:lnTo>
                        <a:pt x="323" y="340"/>
                      </a:lnTo>
                      <a:lnTo>
                        <a:pt x="329" y="346"/>
                      </a:lnTo>
                      <a:lnTo>
                        <a:pt x="334" y="351"/>
                      </a:lnTo>
                      <a:lnTo>
                        <a:pt x="346" y="361"/>
                      </a:lnTo>
                      <a:lnTo>
                        <a:pt x="346" y="367"/>
                      </a:lnTo>
                      <a:lnTo>
                        <a:pt x="351" y="372"/>
                      </a:lnTo>
                      <a:lnTo>
                        <a:pt x="357" y="377"/>
                      </a:lnTo>
                      <a:lnTo>
                        <a:pt x="368" y="388"/>
                      </a:lnTo>
                      <a:lnTo>
                        <a:pt x="368" y="393"/>
                      </a:lnTo>
                      <a:lnTo>
                        <a:pt x="374" y="399"/>
                      </a:lnTo>
                      <a:lnTo>
                        <a:pt x="380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402" y="425"/>
                      </a:lnTo>
                      <a:lnTo>
                        <a:pt x="402" y="431"/>
                      </a:lnTo>
                      <a:lnTo>
                        <a:pt x="408" y="436"/>
                      </a:lnTo>
                      <a:lnTo>
                        <a:pt x="419" y="447"/>
                      </a:lnTo>
                      <a:lnTo>
                        <a:pt x="419" y="452"/>
                      </a:lnTo>
                      <a:lnTo>
                        <a:pt x="425" y="457"/>
                      </a:lnTo>
                      <a:lnTo>
                        <a:pt x="431" y="462"/>
                      </a:lnTo>
                      <a:lnTo>
                        <a:pt x="436" y="468"/>
                      </a:lnTo>
                      <a:lnTo>
                        <a:pt x="448" y="478"/>
                      </a:lnTo>
                      <a:lnTo>
                        <a:pt x="448" y="484"/>
                      </a:lnTo>
                      <a:lnTo>
                        <a:pt x="454" y="489"/>
                      </a:lnTo>
                      <a:lnTo>
                        <a:pt x="459" y="494"/>
                      </a:lnTo>
                      <a:lnTo>
                        <a:pt x="465" y="500"/>
                      </a:lnTo>
                      <a:lnTo>
                        <a:pt x="471" y="505"/>
                      </a:lnTo>
                      <a:lnTo>
                        <a:pt x="471" y="510"/>
                      </a:lnTo>
                      <a:lnTo>
                        <a:pt x="476" y="516"/>
                      </a:lnTo>
                      <a:lnTo>
                        <a:pt x="482" y="521"/>
                      </a:lnTo>
                      <a:lnTo>
                        <a:pt x="493" y="532"/>
                      </a:lnTo>
                      <a:lnTo>
                        <a:pt x="493" y="537"/>
                      </a:lnTo>
                      <a:lnTo>
                        <a:pt x="499" y="542"/>
                      </a:lnTo>
                      <a:lnTo>
                        <a:pt x="505" y="547"/>
                      </a:lnTo>
                      <a:lnTo>
                        <a:pt x="516" y="558"/>
                      </a:lnTo>
                      <a:lnTo>
                        <a:pt x="516" y="563"/>
                      </a:lnTo>
                      <a:lnTo>
                        <a:pt x="522" y="569"/>
                      </a:lnTo>
                      <a:lnTo>
                        <a:pt x="527" y="574"/>
                      </a:lnTo>
                      <a:lnTo>
                        <a:pt x="533" y="579"/>
                      </a:lnTo>
                      <a:lnTo>
                        <a:pt x="539" y="585"/>
                      </a:lnTo>
                      <a:lnTo>
                        <a:pt x="544" y="590"/>
                      </a:lnTo>
                      <a:lnTo>
                        <a:pt x="544" y="595"/>
                      </a:lnTo>
                      <a:lnTo>
                        <a:pt x="550" y="601"/>
                      </a:lnTo>
                      <a:lnTo>
                        <a:pt x="556" y="606"/>
                      </a:lnTo>
                      <a:lnTo>
                        <a:pt x="567" y="617"/>
                      </a:lnTo>
                      <a:lnTo>
                        <a:pt x="567" y="622"/>
                      </a:lnTo>
                      <a:lnTo>
                        <a:pt x="573" y="627"/>
                      </a:lnTo>
                      <a:lnTo>
                        <a:pt x="578" y="633"/>
                      </a:lnTo>
                      <a:lnTo>
                        <a:pt x="590" y="643"/>
                      </a:lnTo>
                      <a:lnTo>
                        <a:pt x="590" y="648"/>
                      </a:lnTo>
                      <a:lnTo>
                        <a:pt x="595" y="654"/>
                      </a:lnTo>
                      <a:lnTo>
                        <a:pt x="601" y="659"/>
                      </a:lnTo>
                      <a:lnTo>
                        <a:pt x="607" y="664"/>
                      </a:lnTo>
                      <a:lnTo>
                        <a:pt x="618" y="675"/>
                      </a:lnTo>
                      <a:lnTo>
                        <a:pt x="618" y="680"/>
                      </a:lnTo>
                      <a:lnTo>
                        <a:pt x="624" y="686"/>
                      </a:lnTo>
                      <a:lnTo>
                        <a:pt x="629" y="691"/>
                      </a:lnTo>
                      <a:lnTo>
                        <a:pt x="635" y="696"/>
                      </a:lnTo>
                      <a:lnTo>
                        <a:pt x="646" y="707"/>
                      </a:lnTo>
                      <a:lnTo>
                        <a:pt x="646" y="712"/>
                      </a:lnTo>
                      <a:lnTo>
                        <a:pt x="652" y="718"/>
                      </a:lnTo>
                      <a:lnTo>
                        <a:pt x="663" y="728"/>
                      </a:lnTo>
                      <a:lnTo>
                        <a:pt x="663" y="733"/>
                      </a:lnTo>
                      <a:lnTo>
                        <a:pt x="669" y="739"/>
                      </a:lnTo>
                      <a:lnTo>
                        <a:pt x="675" y="744"/>
                      </a:lnTo>
                      <a:lnTo>
                        <a:pt x="680" y="749"/>
                      </a:lnTo>
                      <a:lnTo>
                        <a:pt x="686" y="755"/>
                      </a:lnTo>
                      <a:lnTo>
                        <a:pt x="697" y="765"/>
                      </a:lnTo>
                      <a:lnTo>
                        <a:pt x="697" y="771"/>
                      </a:lnTo>
                      <a:lnTo>
                        <a:pt x="703" y="776"/>
                      </a:lnTo>
                      <a:lnTo>
                        <a:pt x="709" y="78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34" name="Freeform 474">
                  <a:extLst>
                    <a:ext uri="{FF2B5EF4-FFF2-40B4-BE49-F238E27FC236}">
                      <a16:creationId xmlns:a16="http://schemas.microsoft.com/office/drawing/2014/main" id="{DF3DED34-A0CE-FC29-4B72-466380F7A9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4" y="2132"/>
                  <a:ext cx="720" cy="606"/>
                </a:xfrm>
                <a:custGeom>
                  <a:avLst/>
                  <a:gdLst>
                    <a:gd name="T0" fmla="*/ 11 w 720"/>
                    <a:gd name="T1" fmla="*/ 16 h 606"/>
                    <a:gd name="T2" fmla="*/ 28 w 720"/>
                    <a:gd name="T3" fmla="*/ 32 h 606"/>
                    <a:gd name="T4" fmla="*/ 45 w 720"/>
                    <a:gd name="T5" fmla="*/ 53 h 606"/>
                    <a:gd name="T6" fmla="*/ 62 w 720"/>
                    <a:gd name="T7" fmla="*/ 69 h 606"/>
                    <a:gd name="T8" fmla="*/ 85 w 720"/>
                    <a:gd name="T9" fmla="*/ 91 h 606"/>
                    <a:gd name="T10" fmla="*/ 96 w 720"/>
                    <a:gd name="T11" fmla="*/ 107 h 606"/>
                    <a:gd name="T12" fmla="*/ 119 w 720"/>
                    <a:gd name="T13" fmla="*/ 128 h 606"/>
                    <a:gd name="T14" fmla="*/ 130 w 720"/>
                    <a:gd name="T15" fmla="*/ 144 h 606"/>
                    <a:gd name="T16" fmla="*/ 147 w 720"/>
                    <a:gd name="T17" fmla="*/ 160 h 606"/>
                    <a:gd name="T18" fmla="*/ 164 w 720"/>
                    <a:gd name="T19" fmla="*/ 181 h 606"/>
                    <a:gd name="T20" fmla="*/ 181 w 720"/>
                    <a:gd name="T21" fmla="*/ 197 h 606"/>
                    <a:gd name="T22" fmla="*/ 198 w 720"/>
                    <a:gd name="T23" fmla="*/ 213 h 606"/>
                    <a:gd name="T24" fmla="*/ 215 w 720"/>
                    <a:gd name="T25" fmla="*/ 234 h 606"/>
                    <a:gd name="T26" fmla="*/ 232 w 720"/>
                    <a:gd name="T27" fmla="*/ 250 h 606"/>
                    <a:gd name="T28" fmla="*/ 249 w 720"/>
                    <a:gd name="T29" fmla="*/ 266 h 606"/>
                    <a:gd name="T30" fmla="*/ 266 w 720"/>
                    <a:gd name="T31" fmla="*/ 282 h 606"/>
                    <a:gd name="T32" fmla="*/ 283 w 720"/>
                    <a:gd name="T33" fmla="*/ 298 h 606"/>
                    <a:gd name="T34" fmla="*/ 300 w 720"/>
                    <a:gd name="T35" fmla="*/ 314 h 606"/>
                    <a:gd name="T36" fmla="*/ 317 w 720"/>
                    <a:gd name="T37" fmla="*/ 330 h 606"/>
                    <a:gd name="T38" fmla="*/ 334 w 720"/>
                    <a:gd name="T39" fmla="*/ 346 h 606"/>
                    <a:gd name="T40" fmla="*/ 351 w 720"/>
                    <a:gd name="T41" fmla="*/ 362 h 606"/>
                    <a:gd name="T42" fmla="*/ 368 w 720"/>
                    <a:gd name="T43" fmla="*/ 372 h 606"/>
                    <a:gd name="T44" fmla="*/ 385 w 720"/>
                    <a:gd name="T45" fmla="*/ 388 h 606"/>
                    <a:gd name="T46" fmla="*/ 402 w 720"/>
                    <a:gd name="T47" fmla="*/ 404 h 606"/>
                    <a:gd name="T48" fmla="*/ 419 w 720"/>
                    <a:gd name="T49" fmla="*/ 420 h 606"/>
                    <a:gd name="T50" fmla="*/ 436 w 720"/>
                    <a:gd name="T51" fmla="*/ 431 h 606"/>
                    <a:gd name="T52" fmla="*/ 453 w 720"/>
                    <a:gd name="T53" fmla="*/ 447 h 606"/>
                    <a:gd name="T54" fmla="*/ 470 w 720"/>
                    <a:gd name="T55" fmla="*/ 457 h 606"/>
                    <a:gd name="T56" fmla="*/ 487 w 720"/>
                    <a:gd name="T57" fmla="*/ 473 h 606"/>
                    <a:gd name="T58" fmla="*/ 504 w 720"/>
                    <a:gd name="T59" fmla="*/ 484 h 606"/>
                    <a:gd name="T60" fmla="*/ 521 w 720"/>
                    <a:gd name="T61" fmla="*/ 495 h 606"/>
                    <a:gd name="T62" fmla="*/ 538 w 720"/>
                    <a:gd name="T63" fmla="*/ 505 h 606"/>
                    <a:gd name="T64" fmla="*/ 555 w 720"/>
                    <a:gd name="T65" fmla="*/ 516 h 606"/>
                    <a:gd name="T66" fmla="*/ 572 w 720"/>
                    <a:gd name="T67" fmla="*/ 526 h 606"/>
                    <a:gd name="T68" fmla="*/ 589 w 720"/>
                    <a:gd name="T69" fmla="*/ 537 h 606"/>
                    <a:gd name="T70" fmla="*/ 606 w 720"/>
                    <a:gd name="T71" fmla="*/ 548 h 606"/>
                    <a:gd name="T72" fmla="*/ 623 w 720"/>
                    <a:gd name="T73" fmla="*/ 558 h 606"/>
                    <a:gd name="T74" fmla="*/ 640 w 720"/>
                    <a:gd name="T75" fmla="*/ 569 h 606"/>
                    <a:gd name="T76" fmla="*/ 657 w 720"/>
                    <a:gd name="T77" fmla="*/ 580 h 606"/>
                    <a:gd name="T78" fmla="*/ 674 w 720"/>
                    <a:gd name="T79" fmla="*/ 590 h 606"/>
                    <a:gd name="T80" fmla="*/ 691 w 720"/>
                    <a:gd name="T81" fmla="*/ 596 h 606"/>
                    <a:gd name="T82" fmla="*/ 708 w 720"/>
                    <a:gd name="T83" fmla="*/ 601 h 6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720" h="606">
                      <a:moveTo>
                        <a:pt x="0" y="0"/>
                      </a:moveTo>
                      <a:lnTo>
                        <a:pt x="11" y="11"/>
                      </a:lnTo>
                      <a:lnTo>
                        <a:pt x="11" y="16"/>
                      </a:lnTo>
                      <a:lnTo>
                        <a:pt x="17" y="22"/>
                      </a:lnTo>
                      <a:lnTo>
                        <a:pt x="22" y="27"/>
                      </a:lnTo>
                      <a:lnTo>
                        <a:pt x="28" y="32"/>
                      </a:lnTo>
                      <a:lnTo>
                        <a:pt x="34" y="38"/>
                      </a:lnTo>
                      <a:lnTo>
                        <a:pt x="45" y="48"/>
                      </a:lnTo>
                      <a:lnTo>
                        <a:pt x="45" y="53"/>
                      </a:lnTo>
                      <a:lnTo>
                        <a:pt x="51" y="59"/>
                      </a:lnTo>
                      <a:lnTo>
                        <a:pt x="56" y="64"/>
                      </a:lnTo>
                      <a:lnTo>
                        <a:pt x="62" y="69"/>
                      </a:lnTo>
                      <a:lnTo>
                        <a:pt x="68" y="75"/>
                      </a:lnTo>
                      <a:lnTo>
                        <a:pt x="73" y="80"/>
                      </a:lnTo>
                      <a:lnTo>
                        <a:pt x="85" y="91"/>
                      </a:lnTo>
                      <a:lnTo>
                        <a:pt x="85" y="96"/>
                      </a:lnTo>
                      <a:lnTo>
                        <a:pt x="90" y="101"/>
                      </a:lnTo>
                      <a:lnTo>
                        <a:pt x="96" y="107"/>
                      </a:lnTo>
                      <a:lnTo>
                        <a:pt x="102" y="112"/>
                      </a:lnTo>
                      <a:lnTo>
                        <a:pt x="107" y="117"/>
                      </a:lnTo>
                      <a:lnTo>
                        <a:pt x="119" y="128"/>
                      </a:lnTo>
                      <a:lnTo>
                        <a:pt x="119" y="133"/>
                      </a:lnTo>
                      <a:lnTo>
                        <a:pt x="124" y="138"/>
                      </a:lnTo>
                      <a:lnTo>
                        <a:pt x="130" y="144"/>
                      </a:lnTo>
                      <a:lnTo>
                        <a:pt x="136" y="149"/>
                      </a:lnTo>
                      <a:lnTo>
                        <a:pt x="141" y="154"/>
                      </a:lnTo>
                      <a:lnTo>
                        <a:pt x="147" y="160"/>
                      </a:lnTo>
                      <a:lnTo>
                        <a:pt x="158" y="170"/>
                      </a:lnTo>
                      <a:lnTo>
                        <a:pt x="158" y="176"/>
                      </a:lnTo>
                      <a:lnTo>
                        <a:pt x="164" y="181"/>
                      </a:lnTo>
                      <a:lnTo>
                        <a:pt x="170" y="186"/>
                      </a:lnTo>
                      <a:lnTo>
                        <a:pt x="175" y="192"/>
                      </a:lnTo>
                      <a:lnTo>
                        <a:pt x="181" y="197"/>
                      </a:lnTo>
                      <a:lnTo>
                        <a:pt x="187" y="202"/>
                      </a:lnTo>
                      <a:lnTo>
                        <a:pt x="192" y="208"/>
                      </a:lnTo>
                      <a:lnTo>
                        <a:pt x="198" y="213"/>
                      </a:lnTo>
                      <a:lnTo>
                        <a:pt x="204" y="218"/>
                      </a:lnTo>
                      <a:lnTo>
                        <a:pt x="215" y="229"/>
                      </a:lnTo>
                      <a:lnTo>
                        <a:pt x="215" y="234"/>
                      </a:lnTo>
                      <a:lnTo>
                        <a:pt x="221" y="234"/>
                      </a:lnTo>
                      <a:lnTo>
                        <a:pt x="226" y="245"/>
                      </a:lnTo>
                      <a:lnTo>
                        <a:pt x="232" y="250"/>
                      </a:lnTo>
                      <a:lnTo>
                        <a:pt x="238" y="255"/>
                      </a:lnTo>
                      <a:lnTo>
                        <a:pt x="243" y="261"/>
                      </a:lnTo>
                      <a:lnTo>
                        <a:pt x="249" y="266"/>
                      </a:lnTo>
                      <a:lnTo>
                        <a:pt x="255" y="271"/>
                      </a:lnTo>
                      <a:lnTo>
                        <a:pt x="260" y="277"/>
                      </a:lnTo>
                      <a:lnTo>
                        <a:pt x="266" y="282"/>
                      </a:lnTo>
                      <a:lnTo>
                        <a:pt x="272" y="287"/>
                      </a:lnTo>
                      <a:lnTo>
                        <a:pt x="277" y="293"/>
                      </a:lnTo>
                      <a:lnTo>
                        <a:pt x="283" y="298"/>
                      </a:lnTo>
                      <a:lnTo>
                        <a:pt x="289" y="303"/>
                      </a:lnTo>
                      <a:lnTo>
                        <a:pt x="294" y="309"/>
                      </a:lnTo>
                      <a:lnTo>
                        <a:pt x="300" y="314"/>
                      </a:lnTo>
                      <a:lnTo>
                        <a:pt x="306" y="319"/>
                      </a:lnTo>
                      <a:lnTo>
                        <a:pt x="311" y="324"/>
                      </a:lnTo>
                      <a:lnTo>
                        <a:pt x="317" y="330"/>
                      </a:lnTo>
                      <a:lnTo>
                        <a:pt x="323" y="335"/>
                      </a:lnTo>
                      <a:lnTo>
                        <a:pt x="328" y="340"/>
                      </a:lnTo>
                      <a:lnTo>
                        <a:pt x="334" y="346"/>
                      </a:lnTo>
                      <a:lnTo>
                        <a:pt x="340" y="351"/>
                      </a:lnTo>
                      <a:lnTo>
                        <a:pt x="345" y="356"/>
                      </a:lnTo>
                      <a:lnTo>
                        <a:pt x="351" y="362"/>
                      </a:lnTo>
                      <a:lnTo>
                        <a:pt x="357" y="367"/>
                      </a:lnTo>
                      <a:lnTo>
                        <a:pt x="362" y="372"/>
                      </a:lnTo>
                      <a:lnTo>
                        <a:pt x="368" y="372"/>
                      </a:lnTo>
                      <a:lnTo>
                        <a:pt x="374" y="383"/>
                      </a:lnTo>
                      <a:lnTo>
                        <a:pt x="380" y="383"/>
                      </a:lnTo>
                      <a:lnTo>
                        <a:pt x="385" y="388"/>
                      </a:lnTo>
                      <a:lnTo>
                        <a:pt x="391" y="394"/>
                      </a:lnTo>
                      <a:lnTo>
                        <a:pt x="397" y="399"/>
                      </a:lnTo>
                      <a:lnTo>
                        <a:pt x="402" y="404"/>
                      </a:lnTo>
                      <a:lnTo>
                        <a:pt x="408" y="410"/>
                      </a:lnTo>
                      <a:lnTo>
                        <a:pt x="414" y="415"/>
                      </a:lnTo>
                      <a:lnTo>
                        <a:pt x="419" y="420"/>
                      </a:lnTo>
                      <a:lnTo>
                        <a:pt x="425" y="420"/>
                      </a:lnTo>
                      <a:lnTo>
                        <a:pt x="431" y="425"/>
                      </a:lnTo>
                      <a:lnTo>
                        <a:pt x="436" y="431"/>
                      </a:lnTo>
                      <a:lnTo>
                        <a:pt x="442" y="436"/>
                      </a:lnTo>
                      <a:lnTo>
                        <a:pt x="448" y="441"/>
                      </a:lnTo>
                      <a:lnTo>
                        <a:pt x="453" y="447"/>
                      </a:lnTo>
                      <a:lnTo>
                        <a:pt x="459" y="447"/>
                      </a:lnTo>
                      <a:lnTo>
                        <a:pt x="465" y="452"/>
                      </a:lnTo>
                      <a:lnTo>
                        <a:pt x="470" y="457"/>
                      </a:lnTo>
                      <a:lnTo>
                        <a:pt x="476" y="463"/>
                      </a:lnTo>
                      <a:lnTo>
                        <a:pt x="482" y="468"/>
                      </a:lnTo>
                      <a:lnTo>
                        <a:pt x="487" y="473"/>
                      </a:lnTo>
                      <a:lnTo>
                        <a:pt x="493" y="473"/>
                      </a:lnTo>
                      <a:lnTo>
                        <a:pt x="499" y="479"/>
                      </a:lnTo>
                      <a:lnTo>
                        <a:pt x="504" y="484"/>
                      </a:lnTo>
                      <a:lnTo>
                        <a:pt x="510" y="489"/>
                      </a:lnTo>
                      <a:lnTo>
                        <a:pt x="516" y="489"/>
                      </a:lnTo>
                      <a:lnTo>
                        <a:pt x="521" y="495"/>
                      </a:lnTo>
                      <a:lnTo>
                        <a:pt x="527" y="500"/>
                      </a:lnTo>
                      <a:lnTo>
                        <a:pt x="533" y="505"/>
                      </a:lnTo>
                      <a:lnTo>
                        <a:pt x="538" y="505"/>
                      </a:lnTo>
                      <a:lnTo>
                        <a:pt x="544" y="510"/>
                      </a:lnTo>
                      <a:lnTo>
                        <a:pt x="550" y="516"/>
                      </a:lnTo>
                      <a:lnTo>
                        <a:pt x="555" y="516"/>
                      </a:lnTo>
                      <a:lnTo>
                        <a:pt x="561" y="521"/>
                      </a:lnTo>
                      <a:lnTo>
                        <a:pt x="567" y="526"/>
                      </a:lnTo>
                      <a:lnTo>
                        <a:pt x="572" y="526"/>
                      </a:lnTo>
                      <a:lnTo>
                        <a:pt x="578" y="532"/>
                      </a:lnTo>
                      <a:lnTo>
                        <a:pt x="584" y="537"/>
                      </a:lnTo>
                      <a:lnTo>
                        <a:pt x="589" y="537"/>
                      </a:lnTo>
                      <a:lnTo>
                        <a:pt x="595" y="542"/>
                      </a:lnTo>
                      <a:lnTo>
                        <a:pt x="601" y="548"/>
                      </a:lnTo>
                      <a:lnTo>
                        <a:pt x="606" y="548"/>
                      </a:lnTo>
                      <a:lnTo>
                        <a:pt x="612" y="553"/>
                      </a:lnTo>
                      <a:lnTo>
                        <a:pt x="618" y="558"/>
                      </a:lnTo>
                      <a:lnTo>
                        <a:pt x="623" y="558"/>
                      </a:lnTo>
                      <a:lnTo>
                        <a:pt x="629" y="564"/>
                      </a:lnTo>
                      <a:lnTo>
                        <a:pt x="635" y="569"/>
                      </a:lnTo>
                      <a:lnTo>
                        <a:pt x="640" y="569"/>
                      </a:lnTo>
                      <a:lnTo>
                        <a:pt x="646" y="574"/>
                      </a:lnTo>
                      <a:lnTo>
                        <a:pt x="652" y="574"/>
                      </a:lnTo>
                      <a:lnTo>
                        <a:pt x="657" y="580"/>
                      </a:lnTo>
                      <a:lnTo>
                        <a:pt x="663" y="580"/>
                      </a:lnTo>
                      <a:lnTo>
                        <a:pt x="669" y="585"/>
                      </a:lnTo>
                      <a:lnTo>
                        <a:pt x="674" y="590"/>
                      </a:lnTo>
                      <a:lnTo>
                        <a:pt x="680" y="590"/>
                      </a:lnTo>
                      <a:lnTo>
                        <a:pt x="686" y="590"/>
                      </a:lnTo>
                      <a:lnTo>
                        <a:pt x="691" y="596"/>
                      </a:lnTo>
                      <a:lnTo>
                        <a:pt x="697" y="601"/>
                      </a:lnTo>
                      <a:lnTo>
                        <a:pt x="703" y="601"/>
                      </a:lnTo>
                      <a:lnTo>
                        <a:pt x="708" y="601"/>
                      </a:lnTo>
                      <a:lnTo>
                        <a:pt x="714" y="606"/>
                      </a:lnTo>
                      <a:lnTo>
                        <a:pt x="720" y="60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35" name="Freeform 475">
                  <a:extLst>
                    <a:ext uri="{FF2B5EF4-FFF2-40B4-BE49-F238E27FC236}">
                      <a16:creationId xmlns:a16="http://schemas.microsoft.com/office/drawing/2014/main" id="{6FD1E79B-6342-DBF9-C9BA-D3B766A795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24" y="2738"/>
                  <a:ext cx="312" cy="75"/>
                </a:xfrm>
                <a:custGeom>
                  <a:avLst/>
                  <a:gdLst>
                    <a:gd name="T0" fmla="*/ 0 w 312"/>
                    <a:gd name="T1" fmla="*/ 0 h 75"/>
                    <a:gd name="T2" fmla="*/ 5 w 312"/>
                    <a:gd name="T3" fmla="*/ 5 h 75"/>
                    <a:gd name="T4" fmla="*/ 11 w 312"/>
                    <a:gd name="T5" fmla="*/ 5 h 75"/>
                    <a:gd name="T6" fmla="*/ 17 w 312"/>
                    <a:gd name="T7" fmla="*/ 11 h 75"/>
                    <a:gd name="T8" fmla="*/ 22 w 312"/>
                    <a:gd name="T9" fmla="*/ 11 h 75"/>
                    <a:gd name="T10" fmla="*/ 28 w 312"/>
                    <a:gd name="T11" fmla="*/ 16 h 75"/>
                    <a:gd name="T12" fmla="*/ 34 w 312"/>
                    <a:gd name="T13" fmla="*/ 16 h 75"/>
                    <a:gd name="T14" fmla="*/ 39 w 312"/>
                    <a:gd name="T15" fmla="*/ 21 h 75"/>
                    <a:gd name="T16" fmla="*/ 45 w 312"/>
                    <a:gd name="T17" fmla="*/ 21 h 75"/>
                    <a:gd name="T18" fmla="*/ 51 w 312"/>
                    <a:gd name="T19" fmla="*/ 21 h 75"/>
                    <a:gd name="T20" fmla="*/ 56 w 312"/>
                    <a:gd name="T21" fmla="*/ 27 h 75"/>
                    <a:gd name="T22" fmla="*/ 62 w 312"/>
                    <a:gd name="T23" fmla="*/ 27 h 75"/>
                    <a:gd name="T24" fmla="*/ 68 w 312"/>
                    <a:gd name="T25" fmla="*/ 32 h 75"/>
                    <a:gd name="T26" fmla="*/ 73 w 312"/>
                    <a:gd name="T27" fmla="*/ 32 h 75"/>
                    <a:gd name="T28" fmla="*/ 79 w 312"/>
                    <a:gd name="T29" fmla="*/ 32 h 75"/>
                    <a:gd name="T30" fmla="*/ 85 w 312"/>
                    <a:gd name="T31" fmla="*/ 37 h 75"/>
                    <a:gd name="T32" fmla="*/ 90 w 312"/>
                    <a:gd name="T33" fmla="*/ 37 h 75"/>
                    <a:gd name="T34" fmla="*/ 96 w 312"/>
                    <a:gd name="T35" fmla="*/ 37 h 75"/>
                    <a:gd name="T36" fmla="*/ 102 w 312"/>
                    <a:gd name="T37" fmla="*/ 43 h 75"/>
                    <a:gd name="T38" fmla="*/ 107 w 312"/>
                    <a:gd name="T39" fmla="*/ 43 h 75"/>
                    <a:gd name="T40" fmla="*/ 113 w 312"/>
                    <a:gd name="T41" fmla="*/ 43 h 75"/>
                    <a:gd name="T42" fmla="*/ 119 w 312"/>
                    <a:gd name="T43" fmla="*/ 48 h 75"/>
                    <a:gd name="T44" fmla="*/ 124 w 312"/>
                    <a:gd name="T45" fmla="*/ 48 h 75"/>
                    <a:gd name="T46" fmla="*/ 130 w 312"/>
                    <a:gd name="T47" fmla="*/ 48 h 75"/>
                    <a:gd name="T48" fmla="*/ 136 w 312"/>
                    <a:gd name="T49" fmla="*/ 48 h 75"/>
                    <a:gd name="T50" fmla="*/ 141 w 312"/>
                    <a:gd name="T51" fmla="*/ 53 h 75"/>
                    <a:gd name="T52" fmla="*/ 147 w 312"/>
                    <a:gd name="T53" fmla="*/ 53 h 75"/>
                    <a:gd name="T54" fmla="*/ 153 w 312"/>
                    <a:gd name="T55" fmla="*/ 53 h 75"/>
                    <a:gd name="T56" fmla="*/ 158 w 312"/>
                    <a:gd name="T57" fmla="*/ 53 h 75"/>
                    <a:gd name="T58" fmla="*/ 164 w 312"/>
                    <a:gd name="T59" fmla="*/ 59 h 75"/>
                    <a:gd name="T60" fmla="*/ 170 w 312"/>
                    <a:gd name="T61" fmla="*/ 59 h 75"/>
                    <a:gd name="T62" fmla="*/ 175 w 312"/>
                    <a:gd name="T63" fmla="*/ 59 h 75"/>
                    <a:gd name="T64" fmla="*/ 181 w 312"/>
                    <a:gd name="T65" fmla="*/ 59 h 75"/>
                    <a:gd name="T66" fmla="*/ 187 w 312"/>
                    <a:gd name="T67" fmla="*/ 59 h 75"/>
                    <a:gd name="T68" fmla="*/ 192 w 312"/>
                    <a:gd name="T69" fmla="*/ 64 h 75"/>
                    <a:gd name="T70" fmla="*/ 198 w 312"/>
                    <a:gd name="T71" fmla="*/ 64 h 75"/>
                    <a:gd name="T72" fmla="*/ 204 w 312"/>
                    <a:gd name="T73" fmla="*/ 64 h 75"/>
                    <a:gd name="T74" fmla="*/ 209 w 312"/>
                    <a:gd name="T75" fmla="*/ 64 h 75"/>
                    <a:gd name="T76" fmla="*/ 215 w 312"/>
                    <a:gd name="T77" fmla="*/ 64 h 75"/>
                    <a:gd name="T78" fmla="*/ 221 w 312"/>
                    <a:gd name="T79" fmla="*/ 64 h 75"/>
                    <a:gd name="T80" fmla="*/ 226 w 312"/>
                    <a:gd name="T81" fmla="*/ 69 h 75"/>
                    <a:gd name="T82" fmla="*/ 232 w 312"/>
                    <a:gd name="T83" fmla="*/ 69 h 75"/>
                    <a:gd name="T84" fmla="*/ 238 w 312"/>
                    <a:gd name="T85" fmla="*/ 69 h 75"/>
                    <a:gd name="T86" fmla="*/ 243 w 312"/>
                    <a:gd name="T87" fmla="*/ 69 h 75"/>
                    <a:gd name="T88" fmla="*/ 249 w 312"/>
                    <a:gd name="T89" fmla="*/ 69 h 75"/>
                    <a:gd name="T90" fmla="*/ 255 w 312"/>
                    <a:gd name="T91" fmla="*/ 69 h 75"/>
                    <a:gd name="T92" fmla="*/ 260 w 312"/>
                    <a:gd name="T93" fmla="*/ 69 h 75"/>
                    <a:gd name="T94" fmla="*/ 266 w 312"/>
                    <a:gd name="T95" fmla="*/ 69 h 75"/>
                    <a:gd name="T96" fmla="*/ 272 w 312"/>
                    <a:gd name="T97" fmla="*/ 69 h 75"/>
                    <a:gd name="T98" fmla="*/ 277 w 312"/>
                    <a:gd name="T99" fmla="*/ 69 h 75"/>
                    <a:gd name="T100" fmla="*/ 283 w 312"/>
                    <a:gd name="T101" fmla="*/ 69 h 75"/>
                    <a:gd name="T102" fmla="*/ 289 w 312"/>
                    <a:gd name="T103" fmla="*/ 69 h 75"/>
                    <a:gd name="T104" fmla="*/ 295 w 312"/>
                    <a:gd name="T105" fmla="*/ 69 h 75"/>
                    <a:gd name="T106" fmla="*/ 300 w 312"/>
                    <a:gd name="T107" fmla="*/ 69 h 75"/>
                    <a:gd name="T108" fmla="*/ 306 w 312"/>
                    <a:gd name="T109" fmla="*/ 69 h 75"/>
                    <a:gd name="T110" fmla="*/ 312 w 312"/>
                    <a:gd name="T111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312" h="75">
                      <a:moveTo>
                        <a:pt x="0" y="0"/>
                      </a:moveTo>
                      <a:lnTo>
                        <a:pt x="5" y="5"/>
                      </a:lnTo>
                      <a:lnTo>
                        <a:pt x="11" y="5"/>
                      </a:lnTo>
                      <a:lnTo>
                        <a:pt x="17" y="11"/>
                      </a:lnTo>
                      <a:lnTo>
                        <a:pt x="22" y="11"/>
                      </a:lnTo>
                      <a:lnTo>
                        <a:pt x="28" y="16"/>
                      </a:lnTo>
                      <a:lnTo>
                        <a:pt x="34" y="16"/>
                      </a:lnTo>
                      <a:lnTo>
                        <a:pt x="39" y="21"/>
                      </a:lnTo>
                      <a:lnTo>
                        <a:pt x="45" y="21"/>
                      </a:lnTo>
                      <a:lnTo>
                        <a:pt x="51" y="21"/>
                      </a:lnTo>
                      <a:lnTo>
                        <a:pt x="56" y="27"/>
                      </a:lnTo>
                      <a:lnTo>
                        <a:pt x="62" y="27"/>
                      </a:lnTo>
                      <a:lnTo>
                        <a:pt x="68" y="32"/>
                      </a:lnTo>
                      <a:lnTo>
                        <a:pt x="73" y="32"/>
                      </a:lnTo>
                      <a:lnTo>
                        <a:pt x="79" y="32"/>
                      </a:lnTo>
                      <a:lnTo>
                        <a:pt x="85" y="37"/>
                      </a:lnTo>
                      <a:lnTo>
                        <a:pt x="90" y="37"/>
                      </a:lnTo>
                      <a:lnTo>
                        <a:pt x="96" y="37"/>
                      </a:lnTo>
                      <a:lnTo>
                        <a:pt x="102" y="43"/>
                      </a:lnTo>
                      <a:lnTo>
                        <a:pt x="107" y="43"/>
                      </a:lnTo>
                      <a:lnTo>
                        <a:pt x="113" y="43"/>
                      </a:lnTo>
                      <a:lnTo>
                        <a:pt x="119" y="48"/>
                      </a:lnTo>
                      <a:lnTo>
                        <a:pt x="124" y="48"/>
                      </a:lnTo>
                      <a:lnTo>
                        <a:pt x="130" y="48"/>
                      </a:lnTo>
                      <a:lnTo>
                        <a:pt x="136" y="48"/>
                      </a:lnTo>
                      <a:lnTo>
                        <a:pt x="141" y="53"/>
                      </a:lnTo>
                      <a:lnTo>
                        <a:pt x="147" y="53"/>
                      </a:lnTo>
                      <a:lnTo>
                        <a:pt x="153" y="53"/>
                      </a:lnTo>
                      <a:lnTo>
                        <a:pt x="158" y="53"/>
                      </a:lnTo>
                      <a:lnTo>
                        <a:pt x="164" y="59"/>
                      </a:lnTo>
                      <a:lnTo>
                        <a:pt x="170" y="59"/>
                      </a:lnTo>
                      <a:lnTo>
                        <a:pt x="175" y="59"/>
                      </a:lnTo>
                      <a:lnTo>
                        <a:pt x="181" y="59"/>
                      </a:lnTo>
                      <a:lnTo>
                        <a:pt x="187" y="59"/>
                      </a:lnTo>
                      <a:lnTo>
                        <a:pt x="192" y="64"/>
                      </a:lnTo>
                      <a:lnTo>
                        <a:pt x="198" y="64"/>
                      </a:lnTo>
                      <a:lnTo>
                        <a:pt x="204" y="64"/>
                      </a:lnTo>
                      <a:lnTo>
                        <a:pt x="209" y="64"/>
                      </a:lnTo>
                      <a:lnTo>
                        <a:pt x="215" y="64"/>
                      </a:lnTo>
                      <a:lnTo>
                        <a:pt x="221" y="64"/>
                      </a:lnTo>
                      <a:lnTo>
                        <a:pt x="226" y="69"/>
                      </a:lnTo>
                      <a:lnTo>
                        <a:pt x="232" y="69"/>
                      </a:lnTo>
                      <a:lnTo>
                        <a:pt x="238" y="69"/>
                      </a:lnTo>
                      <a:lnTo>
                        <a:pt x="243" y="69"/>
                      </a:lnTo>
                      <a:lnTo>
                        <a:pt x="249" y="69"/>
                      </a:lnTo>
                      <a:lnTo>
                        <a:pt x="255" y="69"/>
                      </a:lnTo>
                      <a:lnTo>
                        <a:pt x="260" y="69"/>
                      </a:lnTo>
                      <a:lnTo>
                        <a:pt x="266" y="69"/>
                      </a:lnTo>
                      <a:lnTo>
                        <a:pt x="272" y="69"/>
                      </a:lnTo>
                      <a:lnTo>
                        <a:pt x="277" y="69"/>
                      </a:lnTo>
                      <a:lnTo>
                        <a:pt x="283" y="69"/>
                      </a:lnTo>
                      <a:lnTo>
                        <a:pt x="289" y="69"/>
                      </a:lnTo>
                      <a:lnTo>
                        <a:pt x="295" y="69"/>
                      </a:lnTo>
                      <a:lnTo>
                        <a:pt x="300" y="69"/>
                      </a:lnTo>
                      <a:lnTo>
                        <a:pt x="306" y="69"/>
                      </a:lnTo>
                      <a:lnTo>
                        <a:pt x="312" y="7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</p:grpSp>
        <p:grpSp>
          <p:nvGrpSpPr>
            <p:cNvPr id="92636" name="Group 476">
              <a:extLst>
                <a:ext uri="{FF2B5EF4-FFF2-40B4-BE49-F238E27FC236}">
                  <a16:creationId xmlns:a16="http://schemas.microsoft.com/office/drawing/2014/main" id="{7C8570ED-A232-EDAD-EAA4-58581AA6E77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24" y="1584"/>
              <a:ext cx="1699" cy="737"/>
              <a:chOff x="727" y="1590"/>
              <a:chExt cx="1699" cy="737"/>
            </a:xfrm>
          </p:grpSpPr>
          <p:grpSp>
            <p:nvGrpSpPr>
              <p:cNvPr id="92637" name="Group 477">
                <a:extLst>
                  <a:ext uri="{FF2B5EF4-FFF2-40B4-BE49-F238E27FC236}">
                    <a16:creationId xmlns:a16="http://schemas.microsoft.com/office/drawing/2014/main" id="{6CEA5234-0883-6A89-F95E-0116982E21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727" y="1590"/>
                <a:ext cx="1135" cy="737"/>
                <a:chOff x="529" y="1178"/>
                <a:chExt cx="2455" cy="1812"/>
              </a:xfrm>
            </p:grpSpPr>
            <p:sp>
              <p:nvSpPr>
                <p:cNvPr id="92638" name="Freeform 478">
                  <a:extLst>
                    <a:ext uri="{FF2B5EF4-FFF2-40B4-BE49-F238E27FC236}">
                      <a16:creationId xmlns:a16="http://schemas.microsoft.com/office/drawing/2014/main" id="{D2BFAF90-6602-4745-05ED-EF7E542075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39" name="Freeform 479">
                  <a:extLst>
                    <a:ext uri="{FF2B5EF4-FFF2-40B4-BE49-F238E27FC236}">
                      <a16:creationId xmlns:a16="http://schemas.microsoft.com/office/drawing/2014/main" id="{FB8F3872-122E-91EA-A65C-AB320C1CFB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40" name="Freeform 480">
                  <a:extLst>
                    <a:ext uri="{FF2B5EF4-FFF2-40B4-BE49-F238E27FC236}">
                      <a16:creationId xmlns:a16="http://schemas.microsoft.com/office/drawing/2014/main" id="{51F5080F-F498-347A-53F7-A758915990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41" name="Freeform 481">
                  <a:extLst>
                    <a:ext uri="{FF2B5EF4-FFF2-40B4-BE49-F238E27FC236}">
                      <a16:creationId xmlns:a16="http://schemas.microsoft.com/office/drawing/2014/main" id="{EAA5405C-066B-56B0-AA9B-48E0B5A8EC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42" name="Freeform 482">
                  <a:extLst>
                    <a:ext uri="{FF2B5EF4-FFF2-40B4-BE49-F238E27FC236}">
                      <a16:creationId xmlns:a16="http://schemas.microsoft.com/office/drawing/2014/main" id="{37300093-4267-6563-B03C-048735F49F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643" name="Group 483">
                <a:extLst>
                  <a:ext uri="{FF2B5EF4-FFF2-40B4-BE49-F238E27FC236}">
                    <a16:creationId xmlns:a16="http://schemas.microsoft.com/office/drawing/2014/main" id="{59C06388-8C29-0F35-00FE-1E718F2BA0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59" y="1590"/>
                <a:ext cx="567" cy="737"/>
                <a:chOff x="475" y="995"/>
                <a:chExt cx="2461" cy="1818"/>
              </a:xfrm>
            </p:grpSpPr>
            <p:sp>
              <p:nvSpPr>
                <p:cNvPr id="92644" name="Freeform 484">
                  <a:extLst>
                    <a:ext uri="{FF2B5EF4-FFF2-40B4-BE49-F238E27FC236}">
                      <a16:creationId xmlns:a16="http://schemas.microsoft.com/office/drawing/2014/main" id="{31B3C9AA-5146-7141-96C6-80C8ABFC3D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" y="995"/>
                  <a:ext cx="720" cy="356"/>
                </a:xfrm>
                <a:custGeom>
                  <a:avLst/>
                  <a:gdLst>
                    <a:gd name="T0" fmla="*/ 11 w 720"/>
                    <a:gd name="T1" fmla="*/ 0 h 356"/>
                    <a:gd name="T2" fmla="*/ 28 w 720"/>
                    <a:gd name="T3" fmla="*/ 0 h 356"/>
                    <a:gd name="T4" fmla="*/ 45 w 720"/>
                    <a:gd name="T5" fmla="*/ 0 h 356"/>
                    <a:gd name="T6" fmla="*/ 62 w 720"/>
                    <a:gd name="T7" fmla="*/ 0 h 356"/>
                    <a:gd name="T8" fmla="*/ 79 w 720"/>
                    <a:gd name="T9" fmla="*/ 0 h 356"/>
                    <a:gd name="T10" fmla="*/ 96 w 720"/>
                    <a:gd name="T11" fmla="*/ 5 h 356"/>
                    <a:gd name="T12" fmla="*/ 113 w 720"/>
                    <a:gd name="T13" fmla="*/ 5 h 356"/>
                    <a:gd name="T14" fmla="*/ 130 w 720"/>
                    <a:gd name="T15" fmla="*/ 11 h 356"/>
                    <a:gd name="T16" fmla="*/ 147 w 720"/>
                    <a:gd name="T17" fmla="*/ 16 h 356"/>
                    <a:gd name="T18" fmla="*/ 164 w 720"/>
                    <a:gd name="T19" fmla="*/ 21 h 356"/>
                    <a:gd name="T20" fmla="*/ 181 w 720"/>
                    <a:gd name="T21" fmla="*/ 21 h 356"/>
                    <a:gd name="T22" fmla="*/ 198 w 720"/>
                    <a:gd name="T23" fmla="*/ 27 h 356"/>
                    <a:gd name="T24" fmla="*/ 215 w 720"/>
                    <a:gd name="T25" fmla="*/ 32 h 356"/>
                    <a:gd name="T26" fmla="*/ 232 w 720"/>
                    <a:gd name="T27" fmla="*/ 37 h 356"/>
                    <a:gd name="T28" fmla="*/ 249 w 720"/>
                    <a:gd name="T29" fmla="*/ 43 h 356"/>
                    <a:gd name="T30" fmla="*/ 266 w 720"/>
                    <a:gd name="T31" fmla="*/ 53 h 356"/>
                    <a:gd name="T32" fmla="*/ 283 w 720"/>
                    <a:gd name="T33" fmla="*/ 59 h 356"/>
                    <a:gd name="T34" fmla="*/ 300 w 720"/>
                    <a:gd name="T35" fmla="*/ 64 h 356"/>
                    <a:gd name="T36" fmla="*/ 317 w 720"/>
                    <a:gd name="T37" fmla="*/ 74 h 356"/>
                    <a:gd name="T38" fmla="*/ 334 w 720"/>
                    <a:gd name="T39" fmla="*/ 80 h 356"/>
                    <a:gd name="T40" fmla="*/ 351 w 720"/>
                    <a:gd name="T41" fmla="*/ 90 h 356"/>
                    <a:gd name="T42" fmla="*/ 368 w 720"/>
                    <a:gd name="T43" fmla="*/ 101 h 356"/>
                    <a:gd name="T44" fmla="*/ 385 w 720"/>
                    <a:gd name="T45" fmla="*/ 106 h 356"/>
                    <a:gd name="T46" fmla="*/ 402 w 720"/>
                    <a:gd name="T47" fmla="*/ 117 h 356"/>
                    <a:gd name="T48" fmla="*/ 419 w 720"/>
                    <a:gd name="T49" fmla="*/ 128 h 356"/>
                    <a:gd name="T50" fmla="*/ 436 w 720"/>
                    <a:gd name="T51" fmla="*/ 138 h 356"/>
                    <a:gd name="T52" fmla="*/ 453 w 720"/>
                    <a:gd name="T53" fmla="*/ 149 h 356"/>
                    <a:gd name="T54" fmla="*/ 470 w 720"/>
                    <a:gd name="T55" fmla="*/ 159 h 356"/>
                    <a:gd name="T56" fmla="*/ 487 w 720"/>
                    <a:gd name="T57" fmla="*/ 170 h 356"/>
                    <a:gd name="T58" fmla="*/ 504 w 720"/>
                    <a:gd name="T59" fmla="*/ 181 h 356"/>
                    <a:gd name="T60" fmla="*/ 521 w 720"/>
                    <a:gd name="T61" fmla="*/ 197 h 356"/>
                    <a:gd name="T62" fmla="*/ 539 w 720"/>
                    <a:gd name="T63" fmla="*/ 207 h 356"/>
                    <a:gd name="T64" fmla="*/ 556 w 720"/>
                    <a:gd name="T65" fmla="*/ 223 h 356"/>
                    <a:gd name="T66" fmla="*/ 573 w 720"/>
                    <a:gd name="T67" fmla="*/ 234 h 356"/>
                    <a:gd name="T68" fmla="*/ 590 w 720"/>
                    <a:gd name="T69" fmla="*/ 245 h 356"/>
                    <a:gd name="T70" fmla="*/ 607 w 720"/>
                    <a:gd name="T71" fmla="*/ 260 h 356"/>
                    <a:gd name="T72" fmla="*/ 624 w 720"/>
                    <a:gd name="T73" fmla="*/ 271 h 356"/>
                    <a:gd name="T74" fmla="*/ 641 w 720"/>
                    <a:gd name="T75" fmla="*/ 287 h 356"/>
                    <a:gd name="T76" fmla="*/ 658 w 720"/>
                    <a:gd name="T77" fmla="*/ 303 h 356"/>
                    <a:gd name="T78" fmla="*/ 675 w 720"/>
                    <a:gd name="T79" fmla="*/ 319 h 356"/>
                    <a:gd name="T80" fmla="*/ 692 w 720"/>
                    <a:gd name="T81" fmla="*/ 335 h 356"/>
                    <a:gd name="T82" fmla="*/ 709 w 720"/>
                    <a:gd name="T83" fmla="*/ 351 h 3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720" h="356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0"/>
                      </a:lnTo>
                      <a:lnTo>
                        <a:pt x="45" y="0"/>
                      </a:lnTo>
                      <a:lnTo>
                        <a:pt x="51" y="0"/>
                      </a:lnTo>
                      <a:lnTo>
                        <a:pt x="57" y="0"/>
                      </a:lnTo>
                      <a:lnTo>
                        <a:pt x="62" y="0"/>
                      </a:lnTo>
                      <a:lnTo>
                        <a:pt x="68" y="0"/>
                      </a:lnTo>
                      <a:lnTo>
                        <a:pt x="74" y="0"/>
                      </a:lnTo>
                      <a:lnTo>
                        <a:pt x="79" y="0"/>
                      </a:lnTo>
                      <a:lnTo>
                        <a:pt x="85" y="5"/>
                      </a:lnTo>
                      <a:lnTo>
                        <a:pt x="91" y="5"/>
                      </a:lnTo>
                      <a:lnTo>
                        <a:pt x="96" y="5"/>
                      </a:lnTo>
                      <a:lnTo>
                        <a:pt x="102" y="5"/>
                      </a:lnTo>
                      <a:lnTo>
                        <a:pt x="108" y="5"/>
                      </a:lnTo>
                      <a:lnTo>
                        <a:pt x="113" y="5"/>
                      </a:lnTo>
                      <a:lnTo>
                        <a:pt x="119" y="11"/>
                      </a:lnTo>
                      <a:lnTo>
                        <a:pt x="125" y="11"/>
                      </a:lnTo>
                      <a:lnTo>
                        <a:pt x="130" y="11"/>
                      </a:lnTo>
                      <a:lnTo>
                        <a:pt x="136" y="11"/>
                      </a:lnTo>
                      <a:lnTo>
                        <a:pt x="142" y="11"/>
                      </a:lnTo>
                      <a:lnTo>
                        <a:pt x="147" y="16"/>
                      </a:lnTo>
                      <a:lnTo>
                        <a:pt x="153" y="16"/>
                      </a:lnTo>
                      <a:lnTo>
                        <a:pt x="159" y="16"/>
                      </a:lnTo>
                      <a:lnTo>
                        <a:pt x="164" y="21"/>
                      </a:lnTo>
                      <a:lnTo>
                        <a:pt x="170" y="21"/>
                      </a:lnTo>
                      <a:lnTo>
                        <a:pt x="176" y="21"/>
                      </a:lnTo>
                      <a:lnTo>
                        <a:pt x="181" y="21"/>
                      </a:lnTo>
                      <a:lnTo>
                        <a:pt x="187" y="27"/>
                      </a:lnTo>
                      <a:lnTo>
                        <a:pt x="193" y="27"/>
                      </a:lnTo>
                      <a:lnTo>
                        <a:pt x="198" y="27"/>
                      </a:lnTo>
                      <a:lnTo>
                        <a:pt x="204" y="32"/>
                      </a:lnTo>
                      <a:lnTo>
                        <a:pt x="210" y="32"/>
                      </a:lnTo>
                      <a:lnTo>
                        <a:pt x="215" y="32"/>
                      </a:lnTo>
                      <a:lnTo>
                        <a:pt x="221" y="37"/>
                      </a:lnTo>
                      <a:lnTo>
                        <a:pt x="227" y="37"/>
                      </a:lnTo>
                      <a:lnTo>
                        <a:pt x="232" y="37"/>
                      </a:lnTo>
                      <a:lnTo>
                        <a:pt x="238" y="43"/>
                      </a:lnTo>
                      <a:lnTo>
                        <a:pt x="244" y="43"/>
                      </a:lnTo>
                      <a:lnTo>
                        <a:pt x="249" y="43"/>
                      </a:lnTo>
                      <a:lnTo>
                        <a:pt x="255" y="48"/>
                      </a:lnTo>
                      <a:lnTo>
                        <a:pt x="261" y="48"/>
                      </a:lnTo>
                      <a:lnTo>
                        <a:pt x="266" y="53"/>
                      </a:lnTo>
                      <a:lnTo>
                        <a:pt x="272" y="53"/>
                      </a:lnTo>
                      <a:lnTo>
                        <a:pt x="278" y="59"/>
                      </a:lnTo>
                      <a:lnTo>
                        <a:pt x="283" y="59"/>
                      </a:lnTo>
                      <a:lnTo>
                        <a:pt x="289" y="59"/>
                      </a:lnTo>
                      <a:lnTo>
                        <a:pt x="295" y="64"/>
                      </a:lnTo>
                      <a:lnTo>
                        <a:pt x="300" y="64"/>
                      </a:lnTo>
                      <a:lnTo>
                        <a:pt x="306" y="69"/>
                      </a:lnTo>
                      <a:lnTo>
                        <a:pt x="312" y="69"/>
                      </a:lnTo>
                      <a:lnTo>
                        <a:pt x="317" y="74"/>
                      </a:lnTo>
                      <a:lnTo>
                        <a:pt x="323" y="74"/>
                      </a:lnTo>
                      <a:lnTo>
                        <a:pt x="329" y="80"/>
                      </a:lnTo>
                      <a:lnTo>
                        <a:pt x="334" y="80"/>
                      </a:lnTo>
                      <a:lnTo>
                        <a:pt x="340" y="85"/>
                      </a:lnTo>
                      <a:lnTo>
                        <a:pt x="346" y="85"/>
                      </a:lnTo>
                      <a:lnTo>
                        <a:pt x="351" y="90"/>
                      </a:lnTo>
                      <a:lnTo>
                        <a:pt x="357" y="90"/>
                      </a:lnTo>
                      <a:lnTo>
                        <a:pt x="363" y="96"/>
                      </a:lnTo>
                      <a:lnTo>
                        <a:pt x="368" y="101"/>
                      </a:lnTo>
                      <a:lnTo>
                        <a:pt x="374" y="101"/>
                      </a:lnTo>
                      <a:lnTo>
                        <a:pt x="380" y="106"/>
                      </a:lnTo>
                      <a:lnTo>
                        <a:pt x="385" y="106"/>
                      </a:lnTo>
                      <a:lnTo>
                        <a:pt x="391" y="112"/>
                      </a:lnTo>
                      <a:lnTo>
                        <a:pt x="397" y="112"/>
                      </a:lnTo>
                      <a:lnTo>
                        <a:pt x="402" y="117"/>
                      </a:lnTo>
                      <a:lnTo>
                        <a:pt x="408" y="122"/>
                      </a:lnTo>
                      <a:lnTo>
                        <a:pt x="414" y="122"/>
                      </a:lnTo>
                      <a:lnTo>
                        <a:pt x="419" y="128"/>
                      </a:lnTo>
                      <a:lnTo>
                        <a:pt x="425" y="133"/>
                      </a:lnTo>
                      <a:lnTo>
                        <a:pt x="431" y="133"/>
                      </a:lnTo>
                      <a:lnTo>
                        <a:pt x="436" y="138"/>
                      </a:lnTo>
                      <a:lnTo>
                        <a:pt x="442" y="144"/>
                      </a:lnTo>
                      <a:lnTo>
                        <a:pt x="448" y="144"/>
                      </a:lnTo>
                      <a:lnTo>
                        <a:pt x="453" y="149"/>
                      </a:lnTo>
                      <a:lnTo>
                        <a:pt x="459" y="149"/>
                      </a:lnTo>
                      <a:lnTo>
                        <a:pt x="465" y="154"/>
                      </a:lnTo>
                      <a:lnTo>
                        <a:pt x="470" y="159"/>
                      </a:lnTo>
                      <a:lnTo>
                        <a:pt x="476" y="165"/>
                      </a:lnTo>
                      <a:lnTo>
                        <a:pt x="482" y="170"/>
                      </a:lnTo>
                      <a:lnTo>
                        <a:pt x="487" y="170"/>
                      </a:lnTo>
                      <a:lnTo>
                        <a:pt x="493" y="175"/>
                      </a:lnTo>
                      <a:lnTo>
                        <a:pt x="499" y="181"/>
                      </a:lnTo>
                      <a:lnTo>
                        <a:pt x="504" y="181"/>
                      </a:lnTo>
                      <a:lnTo>
                        <a:pt x="510" y="186"/>
                      </a:lnTo>
                      <a:lnTo>
                        <a:pt x="516" y="191"/>
                      </a:lnTo>
                      <a:lnTo>
                        <a:pt x="521" y="197"/>
                      </a:lnTo>
                      <a:lnTo>
                        <a:pt x="527" y="197"/>
                      </a:lnTo>
                      <a:lnTo>
                        <a:pt x="533" y="202"/>
                      </a:lnTo>
                      <a:lnTo>
                        <a:pt x="539" y="207"/>
                      </a:lnTo>
                      <a:lnTo>
                        <a:pt x="544" y="213"/>
                      </a:lnTo>
                      <a:lnTo>
                        <a:pt x="550" y="213"/>
                      </a:lnTo>
                      <a:lnTo>
                        <a:pt x="556" y="223"/>
                      </a:lnTo>
                      <a:lnTo>
                        <a:pt x="561" y="223"/>
                      </a:lnTo>
                      <a:lnTo>
                        <a:pt x="567" y="229"/>
                      </a:lnTo>
                      <a:lnTo>
                        <a:pt x="573" y="234"/>
                      </a:lnTo>
                      <a:lnTo>
                        <a:pt x="578" y="239"/>
                      </a:lnTo>
                      <a:lnTo>
                        <a:pt x="584" y="239"/>
                      </a:lnTo>
                      <a:lnTo>
                        <a:pt x="590" y="245"/>
                      </a:lnTo>
                      <a:lnTo>
                        <a:pt x="595" y="250"/>
                      </a:lnTo>
                      <a:lnTo>
                        <a:pt x="601" y="255"/>
                      </a:lnTo>
                      <a:lnTo>
                        <a:pt x="607" y="260"/>
                      </a:lnTo>
                      <a:lnTo>
                        <a:pt x="612" y="266"/>
                      </a:lnTo>
                      <a:lnTo>
                        <a:pt x="618" y="271"/>
                      </a:lnTo>
                      <a:lnTo>
                        <a:pt x="624" y="271"/>
                      </a:lnTo>
                      <a:lnTo>
                        <a:pt x="629" y="282"/>
                      </a:lnTo>
                      <a:lnTo>
                        <a:pt x="635" y="282"/>
                      </a:lnTo>
                      <a:lnTo>
                        <a:pt x="641" y="287"/>
                      </a:lnTo>
                      <a:lnTo>
                        <a:pt x="646" y="292"/>
                      </a:lnTo>
                      <a:lnTo>
                        <a:pt x="652" y="298"/>
                      </a:lnTo>
                      <a:lnTo>
                        <a:pt x="658" y="303"/>
                      </a:lnTo>
                      <a:lnTo>
                        <a:pt x="663" y="308"/>
                      </a:lnTo>
                      <a:lnTo>
                        <a:pt x="669" y="314"/>
                      </a:lnTo>
                      <a:lnTo>
                        <a:pt x="675" y="319"/>
                      </a:lnTo>
                      <a:lnTo>
                        <a:pt x="680" y="324"/>
                      </a:lnTo>
                      <a:lnTo>
                        <a:pt x="686" y="330"/>
                      </a:lnTo>
                      <a:lnTo>
                        <a:pt x="692" y="335"/>
                      </a:lnTo>
                      <a:lnTo>
                        <a:pt x="697" y="340"/>
                      </a:lnTo>
                      <a:lnTo>
                        <a:pt x="703" y="345"/>
                      </a:lnTo>
                      <a:lnTo>
                        <a:pt x="709" y="351"/>
                      </a:lnTo>
                      <a:lnTo>
                        <a:pt x="714" y="356"/>
                      </a:lnTo>
                      <a:lnTo>
                        <a:pt x="720" y="35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45" name="Freeform 485">
                  <a:extLst>
                    <a:ext uri="{FF2B5EF4-FFF2-40B4-BE49-F238E27FC236}">
                      <a16:creationId xmlns:a16="http://schemas.microsoft.com/office/drawing/2014/main" id="{40F365CA-430B-A864-2542-E2CCD42D4B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95" y="1351"/>
                  <a:ext cx="709" cy="781"/>
                </a:xfrm>
                <a:custGeom>
                  <a:avLst/>
                  <a:gdLst>
                    <a:gd name="T0" fmla="*/ 11 w 709"/>
                    <a:gd name="T1" fmla="*/ 16 h 781"/>
                    <a:gd name="T2" fmla="*/ 28 w 709"/>
                    <a:gd name="T3" fmla="*/ 32 h 781"/>
                    <a:gd name="T4" fmla="*/ 45 w 709"/>
                    <a:gd name="T5" fmla="*/ 48 h 781"/>
                    <a:gd name="T6" fmla="*/ 62 w 709"/>
                    <a:gd name="T7" fmla="*/ 64 h 781"/>
                    <a:gd name="T8" fmla="*/ 79 w 709"/>
                    <a:gd name="T9" fmla="*/ 80 h 781"/>
                    <a:gd name="T10" fmla="*/ 96 w 709"/>
                    <a:gd name="T11" fmla="*/ 96 h 781"/>
                    <a:gd name="T12" fmla="*/ 119 w 709"/>
                    <a:gd name="T13" fmla="*/ 117 h 781"/>
                    <a:gd name="T14" fmla="*/ 130 w 709"/>
                    <a:gd name="T15" fmla="*/ 128 h 781"/>
                    <a:gd name="T16" fmla="*/ 147 w 709"/>
                    <a:gd name="T17" fmla="*/ 149 h 781"/>
                    <a:gd name="T18" fmla="*/ 164 w 709"/>
                    <a:gd name="T19" fmla="*/ 165 h 781"/>
                    <a:gd name="T20" fmla="*/ 181 w 709"/>
                    <a:gd name="T21" fmla="*/ 186 h 781"/>
                    <a:gd name="T22" fmla="*/ 198 w 709"/>
                    <a:gd name="T23" fmla="*/ 202 h 781"/>
                    <a:gd name="T24" fmla="*/ 215 w 709"/>
                    <a:gd name="T25" fmla="*/ 223 h 781"/>
                    <a:gd name="T26" fmla="*/ 232 w 709"/>
                    <a:gd name="T27" fmla="*/ 239 h 781"/>
                    <a:gd name="T28" fmla="*/ 249 w 709"/>
                    <a:gd name="T29" fmla="*/ 261 h 781"/>
                    <a:gd name="T30" fmla="*/ 266 w 709"/>
                    <a:gd name="T31" fmla="*/ 276 h 781"/>
                    <a:gd name="T32" fmla="*/ 289 w 709"/>
                    <a:gd name="T33" fmla="*/ 298 h 781"/>
                    <a:gd name="T34" fmla="*/ 300 w 709"/>
                    <a:gd name="T35" fmla="*/ 314 h 781"/>
                    <a:gd name="T36" fmla="*/ 323 w 709"/>
                    <a:gd name="T37" fmla="*/ 335 h 781"/>
                    <a:gd name="T38" fmla="*/ 334 w 709"/>
                    <a:gd name="T39" fmla="*/ 351 h 781"/>
                    <a:gd name="T40" fmla="*/ 351 w 709"/>
                    <a:gd name="T41" fmla="*/ 372 h 781"/>
                    <a:gd name="T42" fmla="*/ 368 w 709"/>
                    <a:gd name="T43" fmla="*/ 393 h 781"/>
                    <a:gd name="T44" fmla="*/ 385 w 709"/>
                    <a:gd name="T45" fmla="*/ 409 h 781"/>
                    <a:gd name="T46" fmla="*/ 402 w 709"/>
                    <a:gd name="T47" fmla="*/ 431 h 781"/>
                    <a:gd name="T48" fmla="*/ 419 w 709"/>
                    <a:gd name="T49" fmla="*/ 452 h 781"/>
                    <a:gd name="T50" fmla="*/ 436 w 709"/>
                    <a:gd name="T51" fmla="*/ 468 h 781"/>
                    <a:gd name="T52" fmla="*/ 454 w 709"/>
                    <a:gd name="T53" fmla="*/ 489 h 781"/>
                    <a:gd name="T54" fmla="*/ 471 w 709"/>
                    <a:gd name="T55" fmla="*/ 505 h 781"/>
                    <a:gd name="T56" fmla="*/ 482 w 709"/>
                    <a:gd name="T57" fmla="*/ 521 h 781"/>
                    <a:gd name="T58" fmla="*/ 499 w 709"/>
                    <a:gd name="T59" fmla="*/ 542 h 781"/>
                    <a:gd name="T60" fmla="*/ 516 w 709"/>
                    <a:gd name="T61" fmla="*/ 563 h 781"/>
                    <a:gd name="T62" fmla="*/ 533 w 709"/>
                    <a:gd name="T63" fmla="*/ 579 h 781"/>
                    <a:gd name="T64" fmla="*/ 544 w 709"/>
                    <a:gd name="T65" fmla="*/ 595 h 781"/>
                    <a:gd name="T66" fmla="*/ 567 w 709"/>
                    <a:gd name="T67" fmla="*/ 617 h 781"/>
                    <a:gd name="T68" fmla="*/ 578 w 709"/>
                    <a:gd name="T69" fmla="*/ 633 h 781"/>
                    <a:gd name="T70" fmla="*/ 595 w 709"/>
                    <a:gd name="T71" fmla="*/ 654 h 781"/>
                    <a:gd name="T72" fmla="*/ 618 w 709"/>
                    <a:gd name="T73" fmla="*/ 675 h 781"/>
                    <a:gd name="T74" fmla="*/ 629 w 709"/>
                    <a:gd name="T75" fmla="*/ 691 h 781"/>
                    <a:gd name="T76" fmla="*/ 646 w 709"/>
                    <a:gd name="T77" fmla="*/ 712 h 781"/>
                    <a:gd name="T78" fmla="*/ 663 w 709"/>
                    <a:gd name="T79" fmla="*/ 733 h 781"/>
                    <a:gd name="T80" fmla="*/ 680 w 709"/>
                    <a:gd name="T81" fmla="*/ 749 h 781"/>
                    <a:gd name="T82" fmla="*/ 697 w 709"/>
                    <a:gd name="T83" fmla="*/ 771 h 7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709" h="781">
                      <a:moveTo>
                        <a:pt x="0" y="0"/>
                      </a:moveTo>
                      <a:lnTo>
                        <a:pt x="6" y="11"/>
                      </a:lnTo>
                      <a:lnTo>
                        <a:pt x="11" y="16"/>
                      </a:lnTo>
                      <a:lnTo>
                        <a:pt x="17" y="16"/>
                      </a:lnTo>
                      <a:lnTo>
                        <a:pt x="23" y="27"/>
                      </a:lnTo>
                      <a:lnTo>
                        <a:pt x="28" y="32"/>
                      </a:lnTo>
                      <a:lnTo>
                        <a:pt x="34" y="32"/>
                      </a:lnTo>
                      <a:lnTo>
                        <a:pt x="40" y="43"/>
                      </a:lnTo>
                      <a:lnTo>
                        <a:pt x="45" y="48"/>
                      </a:lnTo>
                      <a:lnTo>
                        <a:pt x="51" y="53"/>
                      </a:lnTo>
                      <a:lnTo>
                        <a:pt x="57" y="59"/>
                      </a:lnTo>
                      <a:lnTo>
                        <a:pt x="62" y="64"/>
                      </a:lnTo>
                      <a:lnTo>
                        <a:pt x="68" y="69"/>
                      </a:lnTo>
                      <a:lnTo>
                        <a:pt x="74" y="75"/>
                      </a:lnTo>
                      <a:lnTo>
                        <a:pt x="79" y="80"/>
                      </a:lnTo>
                      <a:lnTo>
                        <a:pt x="85" y="85"/>
                      </a:lnTo>
                      <a:lnTo>
                        <a:pt x="91" y="90"/>
                      </a:lnTo>
                      <a:lnTo>
                        <a:pt x="96" y="96"/>
                      </a:lnTo>
                      <a:lnTo>
                        <a:pt x="102" y="101"/>
                      </a:lnTo>
                      <a:lnTo>
                        <a:pt x="108" y="106"/>
                      </a:lnTo>
                      <a:lnTo>
                        <a:pt x="119" y="117"/>
                      </a:lnTo>
                      <a:lnTo>
                        <a:pt x="119" y="122"/>
                      </a:lnTo>
                      <a:lnTo>
                        <a:pt x="125" y="122"/>
                      </a:lnTo>
                      <a:lnTo>
                        <a:pt x="130" y="128"/>
                      </a:lnTo>
                      <a:lnTo>
                        <a:pt x="136" y="138"/>
                      </a:lnTo>
                      <a:lnTo>
                        <a:pt x="142" y="144"/>
                      </a:lnTo>
                      <a:lnTo>
                        <a:pt x="147" y="149"/>
                      </a:lnTo>
                      <a:lnTo>
                        <a:pt x="153" y="154"/>
                      </a:lnTo>
                      <a:lnTo>
                        <a:pt x="159" y="160"/>
                      </a:lnTo>
                      <a:lnTo>
                        <a:pt x="164" y="165"/>
                      </a:lnTo>
                      <a:lnTo>
                        <a:pt x="176" y="175"/>
                      </a:lnTo>
                      <a:lnTo>
                        <a:pt x="176" y="181"/>
                      </a:lnTo>
                      <a:lnTo>
                        <a:pt x="181" y="186"/>
                      </a:lnTo>
                      <a:lnTo>
                        <a:pt x="187" y="191"/>
                      </a:lnTo>
                      <a:lnTo>
                        <a:pt x="193" y="197"/>
                      </a:lnTo>
                      <a:lnTo>
                        <a:pt x="198" y="202"/>
                      </a:lnTo>
                      <a:lnTo>
                        <a:pt x="204" y="207"/>
                      </a:lnTo>
                      <a:lnTo>
                        <a:pt x="215" y="218"/>
                      </a:lnTo>
                      <a:lnTo>
                        <a:pt x="215" y="223"/>
                      </a:lnTo>
                      <a:lnTo>
                        <a:pt x="221" y="229"/>
                      </a:lnTo>
                      <a:lnTo>
                        <a:pt x="227" y="234"/>
                      </a:lnTo>
                      <a:lnTo>
                        <a:pt x="232" y="239"/>
                      </a:lnTo>
                      <a:lnTo>
                        <a:pt x="238" y="245"/>
                      </a:lnTo>
                      <a:lnTo>
                        <a:pt x="249" y="255"/>
                      </a:lnTo>
                      <a:lnTo>
                        <a:pt x="249" y="261"/>
                      </a:lnTo>
                      <a:lnTo>
                        <a:pt x="255" y="266"/>
                      </a:lnTo>
                      <a:lnTo>
                        <a:pt x="261" y="271"/>
                      </a:lnTo>
                      <a:lnTo>
                        <a:pt x="266" y="276"/>
                      </a:lnTo>
                      <a:lnTo>
                        <a:pt x="272" y="282"/>
                      </a:lnTo>
                      <a:lnTo>
                        <a:pt x="278" y="287"/>
                      </a:lnTo>
                      <a:lnTo>
                        <a:pt x="289" y="298"/>
                      </a:lnTo>
                      <a:lnTo>
                        <a:pt x="289" y="303"/>
                      </a:lnTo>
                      <a:lnTo>
                        <a:pt x="295" y="308"/>
                      </a:lnTo>
                      <a:lnTo>
                        <a:pt x="300" y="314"/>
                      </a:lnTo>
                      <a:lnTo>
                        <a:pt x="306" y="319"/>
                      </a:lnTo>
                      <a:lnTo>
                        <a:pt x="312" y="324"/>
                      </a:lnTo>
                      <a:lnTo>
                        <a:pt x="323" y="335"/>
                      </a:lnTo>
                      <a:lnTo>
                        <a:pt x="323" y="340"/>
                      </a:lnTo>
                      <a:lnTo>
                        <a:pt x="329" y="346"/>
                      </a:lnTo>
                      <a:lnTo>
                        <a:pt x="334" y="351"/>
                      </a:lnTo>
                      <a:lnTo>
                        <a:pt x="346" y="361"/>
                      </a:lnTo>
                      <a:lnTo>
                        <a:pt x="346" y="367"/>
                      </a:lnTo>
                      <a:lnTo>
                        <a:pt x="351" y="372"/>
                      </a:lnTo>
                      <a:lnTo>
                        <a:pt x="357" y="377"/>
                      </a:lnTo>
                      <a:lnTo>
                        <a:pt x="368" y="388"/>
                      </a:lnTo>
                      <a:lnTo>
                        <a:pt x="368" y="393"/>
                      </a:lnTo>
                      <a:lnTo>
                        <a:pt x="374" y="399"/>
                      </a:lnTo>
                      <a:lnTo>
                        <a:pt x="380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402" y="425"/>
                      </a:lnTo>
                      <a:lnTo>
                        <a:pt x="402" y="431"/>
                      </a:lnTo>
                      <a:lnTo>
                        <a:pt x="408" y="436"/>
                      </a:lnTo>
                      <a:lnTo>
                        <a:pt x="419" y="447"/>
                      </a:lnTo>
                      <a:lnTo>
                        <a:pt x="419" y="452"/>
                      </a:lnTo>
                      <a:lnTo>
                        <a:pt x="425" y="457"/>
                      </a:lnTo>
                      <a:lnTo>
                        <a:pt x="431" y="462"/>
                      </a:lnTo>
                      <a:lnTo>
                        <a:pt x="436" y="468"/>
                      </a:lnTo>
                      <a:lnTo>
                        <a:pt x="448" y="478"/>
                      </a:lnTo>
                      <a:lnTo>
                        <a:pt x="448" y="484"/>
                      </a:lnTo>
                      <a:lnTo>
                        <a:pt x="454" y="489"/>
                      </a:lnTo>
                      <a:lnTo>
                        <a:pt x="459" y="494"/>
                      </a:lnTo>
                      <a:lnTo>
                        <a:pt x="465" y="500"/>
                      </a:lnTo>
                      <a:lnTo>
                        <a:pt x="471" y="505"/>
                      </a:lnTo>
                      <a:lnTo>
                        <a:pt x="471" y="510"/>
                      </a:lnTo>
                      <a:lnTo>
                        <a:pt x="476" y="516"/>
                      </a:lnTo>
                      <a:lnTo>
                        <a:pt x="482" y="521"/>
                      </a:lnTo>
                      <a:lnTo>
                        <a:pt x="493" y="532"/>
                      </a:lnTo>
                      <a:lnTo>
                        <a:pt x="493" y="537"/>
                      </a:lnTo>
                      <a:lnTo>
                        <a:pt x="499" y="542"/>
                      </a:lnTo>
                      <a:lnTo>
                        <a:pt x="505" y="547"/>
                      </a:lnTo>
                      <a:lnTo>
                        <a:pt x="516" y="558"/>
                      </a:lnTo>
                      <a:lnTo>
                        <a:pt x="516" y="563"/>
                      </a:lnTo>
                      <a:lnTo>
                        <a:pt x="522" y="569"/>
                      </a:lnTo>
                      <a:lnTo>
                        <a:pt x="527" y="574"/>
                      </a:lnTo>
                      <a:lnTo>
                        <a:pt x="533" y="579"/>
                      </a:lnTo>
                      <a:lnTo>
                        <a:pt x="539" y="585"/>
                      </a:lnTo>
                      <a:lnTo>
                        <a:pt x="544" y="590"/>
                      </a:lnTo>
                      <a:lnTo>
                        <a:pt x="544" y="595"/>
                      </a:lnTo>
                      <a:lnTo>
                        <a:pt x="550" y="601"/>
                      </a:lnTo>
                      <a:lnTo>
                        <a:pt x="556" y="606"/>
                      </a:lnTo>
                      <a:lnTo>
                        <a:pt x="567" y="617"/>
                      </a:lnTo>
                      <a:lnTo>
                        <a:pt x="567" y="622"/>
                      </a:lnTo>
                      <a:lnTo>
                        <a:pt x="573" y="627"/>
                      </a:lnTo>
                      <a:lnTo>
                        <a:pt x="578" y="633"/>
                      </a:lnTo>
                      <a:lnTo>
                        <a:pt x="590" y="643"/>
                      </a:lnTo>
                      <a:lnTo>
                        <a:pt x="590" y="648"/>
                      </a:lnTo>
                      <a:lnTo>
                        <a:pt x="595" y="654"/>
                      </a:lnTo>
                      <a:lnTo>
                        <a:pt x="601" y="659"/>
                      </a:lnTo>
                      <a:lnTo>
                        <a:pt x="607" y="664"/>
                      </a:lnTo>
                      <a:lnTo>
                        <a:pt x="618" y="675"/>
                      </a:lnTo>
                      <a:lnTo>
                        <a:pt x="618" y="680"/>
                      </a:lnTo>
                      <a:lnTo>
                        <a:pt x="624" y="686"/>
                      </a:lnTo>
                      <a:lnTo>
                        <a:pt x="629" y="691"/>
                      </a:lnTo>
                      <a:lnTo>
                        <a:pt x="635" y="696"/>
                      </a:lnTo>
                      <a:lnTo>
                        <a:pt x="646" y="707"/>
                      </a:lnTo>
                      <a:lnTo>
                        <a:pt x="646" y="712"/>
                      </a:lnTo>
                      <a:lnTo>
                        <a:pt x="652" y="718"/>
                      </a:lnTo>
                      <a:lnTo>
                        <a:pt x="663" y="728"/>
                      </a:lnTo>
                      <a:lnTo>
                        <a:pt x="663" y="733"/>
                      </a:lnTo>
                      <a:lnTo>
                        <a:pt x="669" y="739"/>
                      </a:lnTo>
                      <a:lnTo>
                        <a:pt x="675" y="744"/>
                      </a:lnTo>
                      <a:lnTo>
                        <a:pt x="680" y="749"/>
                      </a:lnTo>
                      <a:lnTo>
                        <a:pt x="686" y="755"/>
                      </a:lnTo>
                      <a:lnTo>
                        <a:pt x="697" y="765"/>
                      </a:lnTo>
                      <a:lnTo>
                        <a:pt x="697" y="771"/>
                      </a:lnTo>
                      <a:lnTo>
                        <a:pt x="703" y="776"/>
                      </a:lnTo>
                      <a:lnTo>
                        <a:pt x="709" y="78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46" name="Freeform 486">
                  <a:extLst>
                    <a:ext uri="{FF2B5EF4-FFF2-40B4-BE49-F238E27FC236}">
                      <a16:creationId xmlns:a16="http://schemas.microsoft.com/office/drawing/2014/main" id="{8DD41320-4187-4955-3003-4E0AFB4F7E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4" y="2132"/>
                  <a:ext cx="720" cy="606"/>
                </a:xfrm>
                <a:custGeom>
                  <a:avLst/>
                  <a:gdLst>
                    <a:gd name="T0" fmla="*/ 11 w 720"/>
                    <a:gd name="T1" fmla="*/ 16 h 606"/>
                    <a:gd name="T2" fmla="*/ 28 w 720"/>
                    <a:gd name="T3" fmla="*/ 32 h 606"/>
                    <a:gd name="T4" fmla="*/ 45 w 720"/>
                    <a:gd name="T5" fmla="*/ 53 h 606"/>
                    <a:gd name="T6" fmla="*/ 62 w 720"/>
                    <a:gd name="T7" fmla="*/ 69 h 606"/>
                    <a:gd name="T8" fmla="*/ 85 w 720"/>
                    <a:gd name="T9" fmla="*/ 91 h 606"/>
                    <a:gd name="T10" fmla="*/ 96 w 720"/>
                    <a:gd name="T11" fmla="*/ 107 h 606"/>
                    <a:gd name="T12" fmla="*/ 119 w 720"/>
                    <a:gd name="T13" fmla="*/ 128 h 606"/>
                    <a:gd name="T14" fmla="*/ 130 w 720"/>
                    <a:gd name="T15" fmla="*/ 144 h 606"/>
                    <a:gd name="T16" fmla="*/ 147 w 720"/>
                    <a:gd name="T17" fmla="*/ 160 h 606"/>
                    <a:gd name="T18" fmla="*/ 164 w 720"/>
                    <a:gd name="T19" fmla="*/ 181 h 606"/>
                    <a:gd name="T20" fmla="*/ 181 w 720"/>
                    <a:gd name="T21" fmla="*/ 197 h 606"/>
                    <a:gd name="T22" fmla="*/ 198 w 720"/>
                    <a:gd name="T23" fmla="*/ 213 h 606"/>
                    <a:gd name="T24" fmla="*/ 215 w 720"/>
                    <a:gd name="T25" fmla="*/ 234 h 606"/>
                    <a:gd name="T26" fmla="*/ 232 w 720"/>
                    <a:gd name="T27" fmla="*/ 250 h 606"/>
                    <a:gd name="T28" fmla="*/ 249 w 720"/>
                    <a:gd name="T29" fmla="*/ 266 h 606"/>
                    <a:gd name="T30" fmla="*/ 266 w 720"/>
                    <a:gd name="T31" fmla="*/ 282 h 606"/>
                    <a:gd name="T32" fmla="*/ 283 w 720"/>
                    <a:gd name="T33" fmla="*/ 298 h 606"/>
                    <a:gd name="T34" fmla="*/ 300 w 720"/>
                    <a:gd name="T35" fmla="*/ 314 h 606"/>
                    <a:gd name="T36" fmla="*/ 317 w 720"/>
                    <a:gd name="T37" fmla="*/ 330 h 606"/>
                    <a:gd name="T38" fmla="*/ 334 w 720"/>
                    <a:gd name="T39" fmla="*/ 346 h 606"/>
                    <a:gd name="T40" fmla="*/ 351 w 720"/>
                    <a:gd name="T41" fmla="*/ 362 h 606"/>
                    <a:gd name="T42" fmla="*/ 368 w 720"/>
                    <a:gd name="T43" fmla="*/ 372 h 606"/>
                    <a:gd name="T44" fmla="*/ 385 w 720"/>
                    <a:gd name="T45" fmla="*/ 388 h 606"/>
                    <a:gd name="T46" fmla="*/ 402 w 720"/>
                    <a:gd name="T47" fmla="*/ 404 h 606"/>
                    <a:gd name="T48" fmla="*/ 419 w 720"/>
                    <a:gd name="T49" fmla="*/ 420 h 606"/>
                    <a:gd name="T50" fmla="*/ 436 w 720"/>
                    <a:gd name="T51" fmla="*/ 431 h 606"/>
                    <a:gd name="T52" fmla="*/ 453 w 720"/>
                    <a:gd name="T53" fmla="*/ 447 h 606"/>
                    <a:gd name="T54" fmla="*/ 470 w 720"/>
                    <a:gd name="T55" fmla="*/ 457 h 606"/>
                    <a:gd name="T56" fmla="*/ 487 w 720"/>
                    <a:gd name="T57" fmla="*/ 473 h 606"/>
                    <a:gd name="T58" fmla="*/ 504 w 720"/>
                    <a:gd name="T59" fmla="*/ 484 h 606"/>
                    <a:gd name="T60" fmla="*/ 521 w 720"/>
                    <a:gd name="T61" fmla="*/ 495 h 606"/>
                    <a:gd name="T62" fmla="*/ 538 w 720"/>
                    <a:gd name="T63" fmla="*/ 505 h 606"/>
                    <a:gd name="T64" fmla="*/ 555 w 720"/>
                    <a:gd name="T65" fmla="*/ 516 h 606"/>
                    <a:gd name="T66" fmla="*/ 572 w 720"/>
                    <a:gd name="T67" fmla="*/ 526 h 606"/>
                    <a:gd name="T68" fmla="*/ 589 w 720"/>
                    <a:gd name="T69" fmla="*/ 537 h 606"/>
                    <a:gd name="T70" fmla="*/ 606 w 720"/>
                    <a:gd name="T71" fmla="*/ 548 h 606"/>
                    <a:gd name="T72" fmla="*/ 623 w 720"/>
                    <a:gd name="T73" fmla="*/ 558 h 606"/>
                    <a:gd name="T74" fmla="*/ 640 w 720"/>
                    <a:gd name="T75" fmla="*/ 569 h 606"/>
                    <a:gd name="T76" fmla="*/ 657 w 720"/>
                    <a:gd name="T77" fmla="*/ 580 h 606"/>
                    <a:gd name="T78" fmla="*/ 674 w 720"/>
                    <a:gd name="T79" fmla="*/ 590 h 606"/>
                    <a:gd name="T80" fmla="*/ 691 w 720"/>
                    <a:gd name="T81" fmla="*/ 596 h 606"/>
                    <a:gd name="T82" fmla="*/ 708 w 720"/>
                    <a:gd name="T83" fmla="*/ 601 h 6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720" h="606">
                      <a:moveTo>
                        <a:pt x="0" y="0"/>
                      </a:moveTo>
                      <a:lnTo>
                        <a:pt x="11" y="11"/>
                      </a:lnTo>
                      <a:lnTo>
                        <a:pt x="11" y="16"/>
                      </a:lnTo>
                      <a:lnTo>
                        <a:pt x="17" y="22"/>
                      </a:lnTo>
                      <a:lnTo>
                        <a:pt x="22" y="27"/>
                      </a:lnTo>
                      <a:lnTo>
                        <a:pt x="28" y="32"/>
                      </a:lnTo>
                      <a:lnTo>
                        <a:pt x="34" y="38"/>
                      </a:lnTo>
                      <a:lnTo>
                        <a:pt x="45" y="48"/>
                      </a:lnTo>
                      <a:lnTo>
                        <a:pt x="45" y="53"/>
                      </a:lnTo>
                      <a:lnTo>
                        <a:pt x="51" y="59"/>
                      </a:lnTo>
                      <a:lnTo>
                        <a:pt x="56" y="64"/>
                      </a:lnTo>
                      <a:lnTo>
                        <a:pt x="62" y="69"/>
                      </a:lnTo>
                      <a:lnTo>
                        <a:pt x="68" y="75"/>
                      </a:lnTo>
                      <a:lnTo>
                        <a:pt x="73" y="80"/>
                      </a:lnTo>
                      <a:lnTo>
                        <a:pt x="85" y="91"/>
                      </a:lnTo>
                      <a:lnTo>
                        <a:pt x="85" y="96"/>
                      </a:lnTo>
                      <a:lnTo>
                        <a:pt x="90" y="101"/>
                      </a:lnTo>
                      <a:lnTo>
                        <a:pt x="96" y="107"/>
                      </a:lnTo>
                      <a:lnTo>
                        <a:pt x="102" y="112"/>
                      </a:lnTo>
                      <a:lnTo>
                        <a:pt x="107" y="117"/>
                      </a:lnTo>
                      <a:lnTo>
                        <a:pt x="119" y="128"/>
                      </a:lnTo>
                      <a:lnTo>
                        <a:pt x="119" y="133"/>
                      </a:lnTo>
                      <a:lnTo>
                        <a:pt x="124" y="138"/>
                      </a:lnTo>
                      <a:lnTo>
                        <a:pt x="130" y="144"/>
                      </a:lnTo>
                      <a:lnTo>
                        <a:pt x="136" y="149"/>
                      </a:lnTo>
                      <a:lnTo>
                        <a:pt x="141" y="154"/>
                      </a:lnTo>
                      <a:lnTo>
                        <a:pt x="147" y="160"/>
                      </a:lnTo>
                      <a:lnTo>
                        <a:pt x="158" y="170"/>
                      </a:lnTo>
                      <a:lnTo>
                        <a:pt x="158" y="176"/>
                      </a:lnTo>
                      <a:lnTo>
                        <a:pt x="164" y="181"/>
                      </a:lnTo>
                      <a:lnTo>
                        <a:pt x="170" y="186"/>
                      </a:lnTo>
                      <a:lnTo>
                        <a:pt x="175" y="192"/>
                      </a:lnTo>
                      <a:lnTo>
                        <a:pt x="181" y="197"/>
                      </a:lnTo>
                      <a:lnTo>
                        <a:pt x="187" y="202"/>
                      </a:lnTo>
                      <a:lnTo>
                        <a:pt x="192" y="208"/>
                      </a:lnTo>
                      <a:lnTo>
                        <a:pt x="198" y="213"/>
                      </a:lnTo>
                      <a:lnTo>
                        <a:pt x="204" y="218"/>
                      </a:lnTo>
                      <a:lnTo>
                        <a:pt x="215" y="229"/>
                      </a:lnTo>
                      <a:lnTo>
                        <a:pt x="215" y="234"/>
                      </a:lnTo>
                      <a:lnTo>
                        <a:pt x="221" y="234"/>
                      </a:lnTo>
                      <a:lnTo>
                        <a:pt x="226" y="245"/>
                      </a:lnTo>
                      <a:lnTo>
                        <a:pt x="232" y="250"/>
                      </a:lnTo>
                      <a:lnTo>
                        <a:pt x="238" y="255"/>
                      </a:lnTo>
                      <a:lnTo>
                        <a:pt x="243" y="261"/>
                      </a:lnTo>
                      <a:lnTo>
                        <a:pt x="249" y="266"/>
                      </a:lnTo>
                      <a:lnTo>
                        <a:pt x="255" y="271"/>
                      </a:lnTo>
                      <a:lnTo>
                        <a:pt x="260" y="277"/>
                      </a:lnTo>
                      <a:lnTo>
                        <a:pt x="266" y="282"/>
                      </a:lnTo>
                      <a:lnTo>
                        <a:pt x="272" y="287"/>
                      </a:lnTo>
                      <a:lnTo>
                        <a:pt x="277" y="293"/>
                      </a:lnTo>
                      <a:lnTo>
                        <a:pt x="283" y="298"/>
                      </a:lnTo>
                      <a:lnTo>
                        <a:pt x="289" y="303"/>
                      </a:lnTo>
                      <a:lnTo>
                        <a:pt x="294" y="309"/>
                      </a:lnTo>
                      <a:lnTo>
                        <a:pt x="300" y="314"/>
                      </a:lnTo>
                      <a:lnTo>
                        <a:pt x="306" y="319"/>
                      </a:lnTo>
                      <a:lnTo>
                        <a:pt x="311" y="324"/>
                      </a:lnTo>
                      <a:lnTo>
                        <a:pt x="317" y="330"/>
                      </a:lnTo>
                      <a:lnTo>
                        <a:pt x="323" y="335"/>
                      </a:lnTo>
                      <a:lnTo>
                        <a:pt x="328" y="340"/>
                      </a:lnTo>
                      <a:lnTo>
                        <a:pt x="334" y="346"/>
                      </a:lnTo>
                      <a:lnTo>
                        <a:pt x="340" y="351"/>
                      </a:lnTo>
                      <a:lnTo>
                        <a:pt x="345" y="356"/>
                      </a:lnTo>
                      <a:lnTo>
                        <a:pt x="351" y="362"/>
                      </a:lnTo>
                      <a:lnTo>
                        <a:pt x="357" y="367"/>
                      </a:lnTo>
                      <a:lnTo>
                        <a:pt x="362" y="372"/>
                      </a:lnTo>
                      <a:lnTo>
                        <a:pt x="368" y="372"/>
                      </a:lnTo>
                      <a:lnTo>
                        <a:pt x="374" y="383"/>
                      </a:lnTo>
                      <a:lnTo>
                        <a:pt x="380" y="383"/>
                      </a:lnTo>
                      <a:lnTo>
                        <a:pt x="385" y="388"/>
                      </a:lnTo>
                      <a:lnTo>
                        <a:pt x="391" y="394"/>
                      </a:lnTo>
                      <a:lnTo>
                        <a:pt x="397" y="399"/>
                      </a:lnTo>
                      <a:lnTo>
                        <a:pt x="402" y="404"/>
                      </a:lnTo>
                      <a:lnTo>
                        <a:pt x="408" y="410"/>
                      </a:lnTo>
                      <a:lnTo>
                        <a:pt x="414" y="415"/>
                      </a:lnTo>
                      <a:lnTo>
                        <a:pt x="419" y="420"/>
                      </a:lnTo>
                      <a:lnTo>
                        <a:pt x="425" y="420"/>
                      </a:lnTo>
                      <a:lnTo>
                        <a:pt x="431" y="425"/>
                      </a:lnTo>
                      <a:lnTo>
                        <a:pt x="436" y="431"/>
                      </a:lnTo>
                      <a:lnTo>
                        <a:pt x="442" y="436"/>
                      </a:lnTo>
                      <a:lnTo>
                        <a:pt x="448" y="441"/>
                      </a:lnTo>
                      <a:lnTo>
                        <a:pt x="453" y="447"/>
                      </a:lnTo>
                      <a:lnTo>
                        <a:pt x="459" y="447"/>
                      </a:lnTo>
                      <a:lnTo>
                        <a:pt x="465" y="452"/>
                      </a:lnTo>
                      <a:lnTo>
                        <a:pt x="470" y="457"/>
                      </a:lnTo>
                      <a:lnTo>
                        <a:pt x="476" y="463"/>
                      </a:lnTo>
                      <a:lnTo>
                        <a:pt x="482" y="468"/>
                      </a:lnTo>
                      <a:lnTo>
                        <a:pt x="487" y="473"/>
                      </a:lnTo>
                      <a:lnTo>
                        <a:pt x="493" y="473"/>
                      </a:lnTo>
                      <a:lnTo>
                        <a:pt x="499" y="479"/>
                      </a:lnTo>
                      <a:lnTo>
                        <a:pt x="504" y="484"/>
                      </a:lnTo>
                      <a:lnTo>
                        <a:pt x="510" y="489"/>
                      </a:lnTo>
                      <a:lnTo>
                        <a:pt x="516" y="489"/>
                      </a:lnTo>
                      <a:lnTo>
                        <a:pt x="521" y="495"/>
                      </a:lnTo>
                      <a:lnTo>
                        <a:pt x="527" y="500"/>
                      </a:lnTo>
                      <a:lnTo>
                        <a:pt x="533" y="505"/>
                      </a:lnTo>
                      <a:lnTo>
                        <a:pt x="538" y="505"/>
                      </a:lnTo>
                      <a:lnTo>
                        <a:pt x="544" y="510"/>
                      </a:lnTo>
                      <a:lnTo>
                        <a:pt x="550" y="516"/>
                      </a:lnTo>
                      <a:lnTo>
                        <a:pt x="555" y="516"/>
                      </a:lnTo>
                      <a:lnTo>
                        <a:pt x="561" y="521"/>
                      </a:lnTo>
                      <a:lnTo>
                        <a:pt x="567" y="526"/>
                      </a:lnTo>
                      <a:lnTo>
                        <a:pt x="572" y="526"/>
                      </a:lnTo>
                      <a:lnTo>
                        <a:pt x="578" y="532"/>
                      </a:lnTo>
                      <a:lnTo>
                        <a:pt x="584" y="537"/>
                      </a:lnTo>
                      <a:lnTo>
                        <a:pt x="589" y="537"/>
                      </a:lnTo>
                      <a:lnTo>
                        <a:pt x="595" y="542"/>
                      </a:lnTo>
                      <a:lnTo>
                        <a:pt x="601" y="548"/>
                      </a:lnTo>
                      <a:lnTo>
                        <a:pt x="606" y="548"/>
                      </a:lnTo>
                      <a:lnTo>
                        <a:pt x="612" y="553"/>
                      </a:lnTo>
                      <a:lnTo>
                        <a:pt x="618" y="558"/>
                      </a:lnTo>
                      <a:lnTo>
                        <a:pt x="623" y="558"/>
                      </a:lnTo>
                      <a:lnTo>
                        <a:pt x="629" y="564"/>
                      </a:lnTo>
                      <a:lnTo>
                        <a:pt x="635" y="569"/>
                      </a:lnTo>
                      <a:lnTo>
                        <a:pt x="640" y="569"/>
                      </a:lnTo>
                      <a:lnTo>
                        <a:pt x="646" y="574"/>
                      </a:lnTo>
                      <a:lnTo>
                        <a:pt x="652" y="574"/>
                      </a:lnTo>
                      <a:lnTo>
                        <a:pt x="657" y="580"/>
                      </a:lnTo>
                      <a:lnTo>
                        <a:pt x="663" y="580"/>
                      </a:lnTo>
                      <a:lnTo>
                        <a:pt x="669" y="585"/>
                      </a:lnTo>
                      <a:lnTo>
                        <a:pt x="674" y="590"/>
                      </a:lnTo>
                      <a:lnTo>
                        <a:pt x="680" y="590"/>
                      </a:lnTo>
                      <a:lnTo>
                        <a:pt x="686" y="590"/>
                      </a:lnTo>
                      <a:lnTo>
                        <a:pt x="691" y="596"/>
                      </a:lnTo>
                      <a:lnTo>
                        <a:pt x="697" y="601"/>
                      </a:lnTo>
                      <a:lnTo>
                        <a:pt x="703" y="601"/>
                      </a:lnTo>
                      <a:lnTo>
                        <a:pt x="708" y="601"/>
                      </a:lnTo>
                      <a:lnTo>
                        <a:pt x="714" y="606"/>
                      </a:lnTo>
                      <a:lnTo>
                        <a:pt x="720" y="60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47" name="Freeform 487">
                  <a:extLst>
                    <a:ext uri="{FF2B5EF4-FFF2-40B4-BE49-F238E27FC236}">
                      <a16:creationId xmlns:a16="http://schemas.microsoft.com/office/drawing/2014/main" id="{A57ECAD2-A10D-438E-496F-FCB261982A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24" y="2738"/>
                  <a:ext cx="312" cy="75"/>
                </a:xfrm>
                <a:custGeom>
                  <a:avLst/>
                  <a:gdLst>
                    <a:gd name="T0" fmla="*/ 0 w 312"/>
                    <a:gd name="T1" fmla="*/ 0 h 75"/>
                    <a:gd name="T2" fmla="*/ 5 w 312"/>
                    <a:gd name="T3" fmla="*/ 5 h 75"/>
                    <a:gd name="T4" fmla="*/ 11 w 312"/>
                    <a:gd name="T5" fmla="*/ 5 h 75"/>
                    <a:gd name="T6" fmla="*/ 17 w 312"/>
                    <a:gd name="T7" fmla="*/ 11 h 75"/>
                    <a:gd name="T8" fmla="*/ 22 w 312"/>
                    <a:gd name="T9" fmla="*/ 11 h 75"/>
                    <a:gd name="T10" fmla="*/ 28 w 312"/>
                    <a:gd name="T11" fmla="*/ 16 h 75"/>
                    <a:gd name="T12" fmla="*/ 34 w 312"/>
                    <a:gd name="T13" fmla="*/ 16 h 75"/>
                    <a:gd name="T14" fmla="*/ 39 w 312"/>
                    <a:gd name="T15" fmla="*/ 21 h 75"/>
                    <a:gd name="T16" fmla="*/ 45 w 312"/>
                    <a:gd name="T17" fmla="*/ 21 h 75"/>
                    <a:gd name="T18" fmla="*/ 51 w 312"/>
                    <a:gd name="T19" fmla="*/ 21 h 75"/>
                    <a:gd name="T20" fmla="*/ 56 w 312"/>
                    <a:gd name="T21" fmla="*/ 27 h 75"/>
                    <a:gd name="T22" fmla="*/ 62 w 312"/>
                    <a:gd name="T23" fmla="*/ 27 h 75"/>
                    <a:gd name="T24" fmla="*/ 68 w 312"/>
                    <a:gd name="T25" fmla="*/ 32 h 75"/>
                    <a:gd name="T26" fmla="*/ 73 w 312"/>
                    <a:gd name="T27" fmla="*/ 32 h 75"/>
                    <a:gd name="T28" fmla="*/ 79 w 312"/>
                    <a:gd name="T29" fmla="*/ 32 h 75"/>
                    <a:gd name="T30" fmla="*/ 85 w 312"/>
                    <a:gd name="T31" fmla="*/ 37 h 75"/>
                    <a:gd name="T32" fmla="*/ 90 w 312"/>
                    <a:gd name="T33" fmla="*/ 37 h 75"/>
                    <a:gd name="T34" fmla="*/ 96 w 312"/>
                    <a:gd name="T35" fmla="*/ 37 h 75"/>
                    <a:gd name="T36" fmla="*/ 102 w 312"/>
                    <a:gd name="T37" fmla="*/ 43 h 75"/>
                    <a:gd name="T38" fmla="*/ 107 w 312"/>
                    <a:gd name="T39" fmla="*/ 43 h 75"/>
                    <a:gd name="T40" fmla="*/ 113 w 312"/>
                    <a:gd name="T41" fmla="*/ 43 h 75"/>
                    <a:gd name="T42" fmla="*/ 119 w 312"/>
                    <a:gd name="T43" fmla="*/ 48 h 75"/>
                    <a:gd name="T44" fmla="*/ 124 w 312"/>
                    <a:gd name="T45" fmla="*/ 48 h 75"/>
                    <a:gd name="T46" fmla="*/ 130 w 312"/>
                    <a:gd name="T47" fmla="*/ 48 h 75"/>
                    <a:gd name="T48" fmla="*/ 136 w 312"/>
                    <a:gd name="T49" fmla="*/ 48 h 75"/>
                    <a:gd name="T50" fmla="*/ 141 w 312"/>
                    <a:gd name="T51" fmla="*/ 53 h 75"/>
                    <a:gd name="T52" fmla="*/ 147 w 312"/>
                    <a:gd name="T53" fmla="*/ 53 h 75"/>
                    <a:gd name="T54" fmla="*/ 153 w 312"/>
                    <a:gd name="T55" fmla="*/ 53 h 75"/>
                    <a:gd name="T56" fmla="*/ 158 w 312"/>
                    <a:gd name="T57" fmla="*/ 53 h 75"/>
                    <a:gd name="T58" fmla="*/ 164 w 312"/>
                    <a:gd name="T59" fmla="*/ 59 h 75"/>
                    <a:gd name="T60" fmla="*/ 170 w 312"/>
                    <a:gd name="T61" fmla="*/ 59 h 75"/>
                    <a:gd name="T62" fmla="*/ 175 w 312"/>
                    <a:gd name="T63" fmla="*/ 59 h 75"/>
                    <a:gd name="T64" fmla="*/ 181 w 312"/>
                    <a:gd name="T65" fmla="*/ 59 h 75"/>
                    <a:gd name="T66" fmla="*/ 187 w 312"/>
                    <a:gd name="T67" fmla="*/ 59 h 75"/>
                    <a:gd name="T68" fmla="*/ 192 w 312"/>
                    <a:gd name="T69" fmla="*/ 64 h 75"/>
                    <a:gd name="T70" fmla="*/ 198 w 312"/>
                    <a:gd name="T71" fmla="*/ 64 h 75"/>
                    <a:gd name="T72" fmla="*/ 204 w 312"/>
                    <a:gd name="T73" fmla="*/ 64 h 75"/>
                    <a:gd name="T74" fmla="*/ 209 w 312"/>
                    <a:gd name="T75" fmla="*/ 64 h 75"/>
                    <a:gd name="T76" fmla="*/ 215 w 312"/>
                    <a:gd name="T77" fmla="*/ 64 h 75"/>
                    <a:gd name="T78" fmla="*/ 221 w 312"/>
                    <a:gd name="T79" fmla="*/ 64 h 75"/>
                    <a:gd name="T80" fmla="*/ 226 w 312"/>
                    <a:gd name="T81" fmla="*/ 69 h 75"/>
                    <a:gd name="T82" fmla="*/ 232 w 312"/>
                    <a:gd name="T83" fmla="*/ 69 h 75"/>
                    <a:gd name="T84" fmla="*/ 238 w 312"/>
                    <a:gd name="T85" fmla="*/ 69 h 75"/>
                    <a:gd name="T86" fmla="*/ 243 w 312"/>
                    <a:gd name="T87" fmla="*/ 69 h 75"/>
                    <a:gd name="T88" fmla="*/ 249 w 312"/>
                    <a:gd name="T89" fmla="*/ 69 h 75"/>
                    <a:gd name="T90" fmla="*/ 255 w 312"/>
                    <a:gd name="T91" fmla="*/ 69 h 75"/>
                    <a:gd name="T92" fmla="*/ 260 w 312"/>
                    <a:gd name="T93" fmla="*/ 69 h 75"/>
                    <a:gd name="T94" fmla="*/ 266 w 312"/>
                    <a:gd name="T95" fmla="*/ 69 h 75"/>
                    <a:gd name="T96" fmla="*/ 272 w 312"/>
                    <a:gd name="T97" fmla="*/ 69 h 75"/>
                    <a:gd name="T98" fmla="*/ 277 w 312"/>
                    <a:gd name="T99" fmla="*/ 69 h 75"/>
                    <a:gd name="T100" fmla="*/ 283 w 312"/>
                    <a:gd name="T101" fmla="*/ 69 h 75"/>
                    <a:gd name="T102" fmla="*/ 289 w 312"/>
                    <a:gd name="T103" fmla="*/ 69 h 75"/>
                    <a:gd name="T104" fmla="*/ 295 w 312"/>
                    <a:gd name="T105" fmla="*/ 69 h 75"/>
                    <a:gd name="T106" fmla="*/ 300 w 312"/>
                    <a:gd name="T107" fmla="*/ 69 h 75"/>
                    <a:gd name="T108" fmla="*/ 306 w 312"/>
                    <a:gd name="T109" fmla="*/ 69 h 75"/>
                    <a:gd name="T110" fmla="*/ 312 w 312"/>
                    <a:gd name="T111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312" h="75">
                      <a:moveTo>
                        <a:pt x="0" y="0"/>
                      </a:moveTo>
                      <a:lnTo>
                        <a:pt x="5" y="5"/>
                      </a:lnTo>
                      <a:lnTo>
                        <a:pt x="11" y="5"/>
                      </a:lnTo>
                      <a:lnTo>
                        <a:pt x="17" y="11"/>
                      </a:lnTo>
                      <a:lnTo>
                        <a:pt x="22" y="11"/>
                      </a:lnTo>
                      <a:lnTo>
                        <a:pt x="28" y="16"/>
                      </a:lnTo>
                      <a:lnTo>
                        <a:pt x="34" y="16"/>
                      </a:lnTo>
                      <a:lnTo>
                        <a:pt x="39" y="21"/>
                      </a:lnTo>
                      <a:lnTo>
                        <a:pt x="45" y="21"/>
                      </a:lnTo>
                      <a:lnTo>
                        <a:pt x="51" y="21"/>
                      </a:lnTo>
                      <a:lnTo>
                        <a:pt x="56" y="27"/>
                      </a:lnTo>
                      <a:lnTo>
                        <a:pt x="62" y="27"/>
                      </a:lnTo>
                      <a:lnTo>
                        <a:pt x="68" y="32"/>
                      </a:lnTo>
                      <a:lnTo>
                        <a:pt x="73" y="32"/>
                      </a:lnTo>
                      <a:lnTo>
                        <a:pt x="79" y="32"/>
                      </a:lnTo>
                      <a:lnTo>
                        <a:pt x="85" y="37"/>
                      </a:lnTo>
                      <a:lnTo>
                        <a:pt x="90" y="37"/>
                      </a:lnTo>
                      <a:lnTo>
                        <a:pt x="96" y="37"/>
                      </a:lnTo>
                      <a:lnTo>
                        <a:pt x="102" y="43"/>
                      </a:lnTo>
                      <a:lnTo>
                        <a:pt x="107" y="43"/>
                      </a:lnTo>
                      <a:lnTo>
                        <a:pt x="113" y="43"/>
                      </a:lnTo>
                      <a:lnTo>
                        <a:pt x="119" y="48"/>
                      </a:lnTo>
                      <a:lnTo>
                        <a:pt x="124" y="48"/>
                      </a:lnTo>
                      <a:lnTo>
                        <a:pt x="130" y="48"/>
                      </a:lnTo>
                      <a:lnTo>
                        <a:pt x="136" y="48"/>
                      </a:lnTo>
                      <a:lnTo>
                        <a:pt x="141" y="53"/>
                      </a:lnTo>
                      <a:lnTo>
                        <a:pt x="147" y="53"/>
                      </a:lnTo>
                      <a:lnTo>
                        <a:pt x="153" y="53"/>
                      </a:lnTo>
                      <a:lnTo>
                        <a:pt x="158" y="53"/>
                      </a:lnTo>
                      <a:lnTo>
                        <a:pt x="164" y="59"/>
                      </a:lnTo>
                      <a:lnTo>
                        <a:pt x="170" y="59"/>
                      </a:lnTo>
                      <a:lnTo>
                        <a:pt x="175" y="59"/>
                      </a:lnTo>
                      <a:lnTo>
                        <a:pt x="181" y="59"/>
                      </a:lnTo>
                      <a:lnTo>
                        <a:pt x="187" y="59"/>
                      </a:lnTo>
                      <a:lnTo>
                        <a:pt x="192" y="64"/>
                      </a:lnTo>
                      <a:lnTo>
                        <a:pt x="198" y="64"/>
                      </a:lnTo>
                      <a:lnTo>
                        <a:pt x="204" y="64"/>
                      </a:lnTo>
                      <a:lnTo>
                        <a:pt x="209" y="64"/>
                      </a:lnTo>
                      <a:lnTo>
                        <a:pt x="215" y="64"/>
                      </a:lnTo>
                      <a:lnTo>
                        <a:pt x="221" y="64"/>
                      </a:lnTo>
                      <a:lnTo>
                        <a:pt x="226" y="69"/>
                      </a:lnTo>
                      <a:lnTo>
                        <a:pt x="232" y="69"/>
                      </a:lnTo>
                      <a:lnTo>
                        <a:pt x="238" y="69"/>
                      </a:lnTo>
                      <a:lnTo>
                        <a:pt x="243" y="69"/>
                      </a:lnTo>
                      <a:lnTo>
                        <a:pt x="249" y="69"/>
                      </a:lnTo>
                      <a:lnTo>
                        <a:pt x="255" y="69"/>
                      </a:lnTo>
                      <a:lnTo>
                        <a:pt x="260" y="69"/>
                      </a:lnTo>
                      <a:lnTo>
                        <a:pt x="266" y="69"/>
                      </a:lnTo>
                      <a:lnTo>
                        <a:pt x="272" y="69"/>
                      </a:lnTo>
                      <a:lnTo>
                        <a:pt x="277" y="69"/>
                      </a:lnTo>
                      <a:lnTo>
                        <a:pt x="283" y="69"/>
                      </a:lnTo>
                      <a:lnTo>
                        <a:pt x="289" y="69"/>
                      </a:lnTo>
                      <a:lnTo>
                        <a:pt x="295" y="69"/>
                      </a:lnTo>
                      <a:lnTo>
                        <a:pt x="300" y="69"/>
                      </a:lnTo>
                      <a:lnTo>
                        <a:pt x="306" y="69"/>
                      </a:lnTo>
                      <a:lnTo>
                        <a:pt x="312" y="7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</p:grpSp>
        <p:grpSp>
          <p:nvGrpSpPr>
            <p:cNvPr id="92648" name="Group 488">
              <a:extLst>
                <a:ext uri="{FF2B5EF4-FFF2-40B4-BE49-F238E27FC236}">
                  <a16:creationId xmlns:a16="http://schemas.microsoft.com/office/drawing/2014/main" id="{F57D2E89-6116-010A-FE15-922755E5F9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7" y="2182"/>
              <a:ext cx="1701" cy="142"/>
              <a:chOff x="3277" y="2610"/>
              <a:chExt cx="1701" cy="142"/>
            </a:xfrm>
          </p:grpSpPr>
          <p:grpSp>
            <p:nvGrpSpPr>
              <p:cNvPr id="92649" name="Group 489">
                <a:extLst>
                  <a:ext uri="{FF2B5EF4-FFF2-40B4-BE49-F238E27FC236}">
                    <a16:creationId xmlns:a16="http://schemas.microsoft.com/office/drawing/2014/main" id="{4DF04AC1-AE76-9CC6-4C1B-15617BDC09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277" y="2610"/>
                <a:ext cx="340" cy="142"/>
                <a:chOff x="529" y="1178"/>
                <a:chExt cx="2455" cy="1812"/>
              </a:xfrm>
            </p:grpSpPr>
            <p:sp>
              <p:nvSpPr>
                <p:cNvPr id="92650" name="Freeform 490">
                  <a:extLst>
                    <a:ext uri="{FF2B5EF4-FFF2-40B4-BE49-F238E27FC236}">
                      <a16:creationId xmlns:a16="http://schemas.microsoft.com/office/drawing/2014/main" id="{BCE31B15-C91B-52CD-8DBF-A256730469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51" name="Freeform 491">
                  <a:extLst>
                    <a:ext uri="{FF2B5EF4-FFF2-40B4-BE49-F238E27FC236}">
                      <a16:creationId xmlns:a16="http://schemas.microsoft.com/office/drawing/2014/main" id="{F39C96EF-FD63-808D-94BF-808F6EF7E2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52" name="Freeform 492">
                  <a:extLst>
                    <a:ext uri="{FF2B5EF4-FFF2-40B4-BE49-F238E27FC236}">
                      <a16:creationId xmlns:a16="http://schemas.microsoft.com/office/drawing/2014/main" id="{7E0595EA-3C20-040F-DF08-DC734116DC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53" name="Freeform 493">
                  <a:extLst>
                    <a:ext uri="{FF2B5EF4-FFF2-40B4-BE49-F238E27FC236}">
                      <a16:creationId xmlns:a16="http://schemas.microsoft.com/office/drawing/2014/main" id="{4879D73F-B0FC-0538-5169-4F403332DD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54" name="Freeform 494">
                  <a:extLst>
                    <a:ext uri="{FF2B5EF4-FFF2-40B4-BE49-F238E27FC236}">
                      <a16:creationId xmlns:a16="http://schemas.microsoft.com/office/drawing/2014/main" id="{5C91E296-99EE-8B89-276B-434A84AE8F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655" name="Group 495">
                <a:extLst>
                  <a:ext uri="{FF2B5EF4-FFF2-40B4-BE49-F238E27FC236}">
                    <a16:creationId xmlns:a16="http://schemas.microsoft.com/office/drawing/2014/main" id="{2CA66468-E767-15DC-BE5F-F848F5B577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17" y="2610"/>
                <a:ext cx="340" cy="142"/>
                <a:chOff x="529" y="1178"/>
                <a:chExt cx="2455" cy="1812"/>
              </a:xfrm>
            </p:grpSpPr>
            <p:sp>
              <p:nvSpPr>
                <p:cNvPr id="92656" name="Freeform 496">
                  <a:extLst>
                    <a:ext uri="{FF2B5EF4-FFF2-40B4-BE49-F238E27FC236}">
                      <a16:creationId xmlns:a16="http://schemas.microsoft.com/office/drawing/2014/main" id="{4948DA04-91EC-503C-91FB-E7184C11EF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57" name="Freeform 497">
                  <a:extLst>
                    <a:ext uri="{FF2B5EF4-FFF2-40B4-BE49-F238E27FC236}">
                      <a16:creationId xmlns:a16="http://schemas.microsoft.com/office/drawing/2014/main" id="{3568311F-0300-E01B-BC2B-C5465B19DB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58" name="Freeform 498">
                  <a:extLst>
                    <a:ext uri="{FF2B5EF4-FFF2-40B4-BE49-F238E27FC236}">
                      <a16:creationId xmlns:a16="http://schemas.microsoft.com/office/drawing/2014/main" id="{A8605183-AF4C-2414-18D3-C7B3EB55B0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59" name="Freeform 499">
                  <a:extLst>
                    <a:ext uri="{FF2B5EF4-FFF2-40B4-BE49-F238E27FC236}">
                      <a16:creationId xmlns:a16="http://schemas.microsoft.com/office/drawing/2014/main" id="{4D9762DB-20D1-E882-8748-C4ADEC7BA6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60" name="Freeform 500">
                  <a:extLst>
                    <a:ext uri="{FF2B5EF4-FFF2-40B4-BE49-F238E27FC236}">
                      <a16:creationId xmlns:a16="http://schemas.microsoft.com/office/drawing/2014/main" id="{1769311F-A6FF-BDF5-57C0-DA63068C0B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661" name="Group 501">
                <a:extLst>
                  <a:ext uri="{FF2B5EF4-FFF2-40B4-BE49-F238E27FC236}">
                    <a16:creationId xmlns:a16="http://schemas.microsoft.com/office/drawing/2014/main" id="{8EFD3E99-E4F0-55FE-0BF3-77E3932268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957" y="2610"/>
                <a:ext cx="340" cy="142"/>
                <a:chOff x="529" y="1178"/>
                <a:chExt cx="2455" cy="1812"/>
              </a:xfrm>
            </p:grpSpPr>
            <p:sp>
              <p:nvSpPr>
                <p:cNvPr id="92662" name="Freeform 502">
                  <a:extLst>
                    <a:ext uri="{FF2B5EF4-FFF2-40B4-BE49-F238E27FC236}">
                      <a16:creationId xmlns:a16="http://schemas.microsoft.com/office/drawing/2014/main" id="{1E862CBD-3B61-FDE4-30D7-4A1C4485F6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63" name="Freeform 503">
                  <a:extLst>
                    <a:ext uri="{FF2B5EF4-FFF2-40B4-BE49-F238E27FC236}">
                      <a16:creationId xmlns:a16="http://schemas.microsoft.com/office/drawing/2014/main" id="{0808AA05-18D7-4D7D-579A-27CB408E52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64" name="Freeform 504">
                  <a:extLst>
                    <a:ext uri="{FF2B5EF4-FFF2-40B4-BE49-F238E27FC236}">
                      <a16:creationId xmlns:a16="http://schemas.microsoft.com/office/drawing/2014/main" id="{A49AB6C6-E1BB-06BC-6DCE-29D81EF6AC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65" name="Freeform 505">
                  <a:extLst>
                    <a:ext uri="{FF2B5EF4-FFF2-40B4-BE49-F238E27FC236}">
                      <a16:creationId xmlns:a16="http://schemas.microsoft.com/office/drawing/2014/main" id="{6DE51D2D-6D99-569E-E973-1A9186E9E2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66" name="Freeform 506">
                  <a:extLst>
                    <a:ext uri="{FF2B5EF4-FFF2-40B4-BE49-F238E27FC236}">
                      <a16:creationId xmlns:a16="http://schemas.microsoft.com/office/drawing/2014/main" id="{89EB9C43-24B4-62D7-2A7D-67A593A7E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667" name="Group 507">
                <a:extLst>
                  <a:ext uri="{FF2B5EF4-FFF2-40B4-BE49-F238E27FC236}">
                    <a16:creationId xmlns:a16="http://schemas.microsoft.com/office/drawing/2014/main" id="{E7449FC3-58E3-E0BC-97F5-A71EF42320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297" y="2610"/>
                <a:ext cx="340" cy="142"/>
                <a:chOff x="529" y="1178"/>
                <a:chExt cx="2455" cy="1812"/>
              </a:xfrm>
            </p:grpSpPr>
            <p:sp>
              <p:nvSpPr>
                <p:cNvPr id="92668" name="Freeform 508">
                  <a:extLst>
                    <a:ext uri="{FF2B5EF4-FFF2-40B4-BE49-F238E27FC236}">
                      <a16:creationId xmlns:a16="http://schemas.microsoft.com/office/drawing/2014/main" id="{81FA7D50-E97E-8068-A07F-B47192E397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69" name="Freeform 509">
                  <a:extLst>
                    <a:ext uri="{FF2B5EF4-FFF2-40B4-BE49-F238E27FC236}">
                      <a16:creationId xmlns:a16="http://schemas.microsoft.com/office/drawing/2014/main" id="{0129C15A-46E6-F849-A5F5-1EFA6C3B45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70" name="Freeform 510">
                  <a:extLst>
                    <a:ext uri="{FF2B5EF4-FFF2-40B4-BE49-F238E27FC236}">
                      <a16:creationId xmlns:a16="http://schemas.microsoft.com/office/drawing/2014/main" id="{1D0832A3-B2AE-D77C-753C-11545931BB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71" name="Freeform 511">
                  <a:extLst>
                    <a:ext uri="{FF2B5EF4-FFF2-40B4-BE49-F238E27FC236}">
                      <a16:creationId xmlns:a16="http://schemas.microsoft.com/office/drawing/2014/main" id="{958C6E93-C1B2-317E-94CE-A0081A18E1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72" name="Freeform 512">
                  <a:extLst>
                    <a:ext uri="{FF2B5EF4-FFF2-40B4-BE49-F238E27FC236}">
                      <a16:creationId xmlns:a16="http://schemas.microsoft.com/office/drawing/2014/main" id="{B6A86353-E904-01B6-4737-F0D5B8EF19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673" name="Group 513">
                <a:extLst>
                  <a:ext uri="{FF2B5EF4-FFF2-40B4-BE49-F238E27FC236}">
                    <a16:creationId xmlns:a16="http://schemas.microsoft.com/office/drawing/2014/main" id="{BC1C140C-5C60-B11F-F5C4-DAEFCB551E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638" y="2610"/>
                <a:ext cx="340" cy="142"/>
                <a:chOff x="529" y="1178"/>
                <a:chExt cx="2455" cy="1812"/>
              </a:xfrm>
            </p:grpSpPr>
            <p:sp>
              <p:nvSpPr>
                <p:cNvPr id="92674" name="Freeform 514">
                  <a:extLst>
                    <a:ext uri="{FF2B5EF4-FFF2-40B4-BE49-F238E27FC236}">
                      <a16:creationId xmlns:a16="http://schemas.microsoft.com/office/drawing/2014/main" id="{B59037E0-9EA3-85EB-A899-DA06D7787C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75" name="Freeform 515">
                  <a:extLst>
                    <a:ext uri="{FF2B5EF4-FFF2-40B4-BE49-F238E27FC236}">
                      <a16:creationId xmlns:a16="http://schemas.microsoft.com/office/drawing/2014/main" id="{ED94CDCF-EA8F-420F-53ED-DBD376C276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76" name="Freeform 516">
                  <a:extLst>
                    <a:ext uri="{FF2B5EF4-FFF2-40B4-BE49-F238E27FC236}">
                      <a16:creationId xmlns:a16="http://schemas.microsoft.com/office/drawing/2014/main" id="{2C6D9621-F549-C158-9821-70269E6AC5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77" name="Freeform 517">
                  <a:extLst>
                    <a:ext uri="{FF2B5EF4-FFF2-40B4-BE49-F238E27FC236}">
                      <a16:creationId xmlns:a16="http://schemas.microsoft.com/office/drawing/2014/main" id="{AF5537D8-4026-439D-1D02-92C478AB40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78" name="Freeform 518">
                  <a:extLst>
                    <a:ext uri="{FF2B5EF4-FFF2-40B4-BE49-F238E27FC236}">
                      <a16:creationId xmlns:a16="http://schemas.microsoft.com/office/drawing/2014/main" id="{A8E26C0E-FEA0-5CD0-9DFD-BB003D061F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</p:grpSp>
        <p:grpSp>
          <p:nvGrpSpPr>
            <p:cNvPr id="92679" name="Group 519">
              <a:extLst>
                <a:ext uri="{FF2B5EF4-FFF2-40B4-BE49-F238E27FC236}">
                  <a16:creationId xmlns:a16="http://schemas.microsoft.com/office/drawing/2014/main" id="{519379BD-0091-B36B-D984-53A5E130D0E6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277" y="1593"/>
              <a:ext cx="1701" cy="142"/>
              <a:chOff x="3277" y="2610"/>
              <a:chExt cx="1701" cy="142"/>
            </a:xfrm>
          </p:grpSpPr>
          <p:grpSp>
            <p:nvGrpSpPr>
              <p:cNvPr id="92680" name="Group 520">
                <a:extLst>
                  <a:ext uri="{FF2B5EF4-FFF2-40B4-BE49-F238E27FC236}">
                    <a16:creationId xmlns:a16="http://schemas.microsoft.com/office/drawing/2014/main" id="{E248F200-3BE0-8789-EAF8-99CD61EB08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277" y="2610"/>
                <a:ext cx="340" cy="142"/>
                <a:chOff x="529" y="1178"/>
                <a:chExt cx="2455" cy="1812"/>
              </a:xfrm>
            </p:grpSpPr>
            <p:sp>
              <p:nvSpPr>
                <p:cNvPr id="92681" name="Freeform 521">
                  <a:extLst>
                    <a:ext uri="{FF2B5EF4-FFF2-40B4-BE49-F238E27FC236}">
                      <a16:creationId xmlns:a16="http://schemas.microsoft.com/office/drawing/2014/main" id="{F34B4BD8-4732-69C0-1BDF-959B79E77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82" name="Freeform 522">
                  <a:extLst>
                    <a:ext uri="{FF2B5EF4-FFF2-40B4-BE49-F238E27FC236}">
                      <a16:creationId xmlns:a16="http://schemas.microsoft.com/office/drawing/2014/main" id="{7F3696BE-AF25-6C1D-EB29-821DA8B520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83" name="Freeform 523">
                  <a:extLst>
                    <a:ext uri="{FF2B5EF4-FFF2-40B4-BE49-F238E27FC236}">
                      <a16:creationId xmlns:a16="http://schemas.microsoft.com/office/drawing/2014/main" id="{5149EC04-03D7-F600-AA43-D1D26EC0A1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84" name="Freeform 524">
                  <a:extLst>
                    <a:ext uri="{FF2B5EF4-FFF2-40B4-BE49-F238E27FC236}">
                      <a16:creationId xmlns:a16="http://schemas.microsoft.com/office/drawing/2014/main" id="{CC80951B-4981-92B8-0C32-9523EF1B40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85" name="Freeform 525">
                  <a:extLst>
                    <a:ext uri="{FF2B5EF4-FFF2-40B4-BE49-F238E27FC236}">
                      <a16:creationId xmlns:a16="http://schemas.microsoft.com/office/drawing/2014/main" id="{E1009859-E48E-3821-B638-CF405F633F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686" name="Group 526">
                <a:extLst>
                  <a:ext uri="{FF2B5EF4-FFF2-40B4-BE49-F238E27FC236}">
                    <a16:creationId xmlns:a16="http://schemas.microsoft.com/office/drawing/2014/main" id="{8051C49D-2FFD-53A7-1065-926A6CEEDC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17" y="2610"/>
                <a:ext cx="340" cy="142"/>
                <a:chOff x="529" y="1178"/>
                <a:chExt cx="2455" cy="1812"/>
              </a:xfrm>
            </p:grpSpPr>
            <p:sp>
              <p:nvSpPr>
                <p:cNvPr id="92687" name="Freeform 527">
                  <a:extLst>
                    <a:ext uri="{FF2B5EF4-FFF2-40B4-BE49-F238E27FC236}">
                      <a16:creationId xmlns:a16="http://schemas.microsoft.com/office/drawing/2014/main" id="{1C83C49D-5192-2139-ED1E-8AECABAB13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88" name="Freeform 528">
                  <a:extLst>
                    <a:ext uri="{FF2B5EF4-FFF2-40B4-BE49-F238E27FC236}">
                      <a16:creationId xmlns:a16="http://schemas.microsoft.com/office/drawing/2014/main" id="{149F00EF-8D3E-FD6C-787A-43BC9F625D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89" name="Freeform 529">
                  <a:extLst>
                    <a:ext uri="{FF2B5EF4-FFF2-40B4-BE49-F238E27FC236}">
                      <a16:creationId xmlns:a16="http://schemas.microsoft.com/office/drawing/2014/main" id="{E02A86F9-858C-D704-CAC8-8164DECFEC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90" name="Freeform 530">
                  <a:extLst>
                    <a:ext uri="{FF2B5EF4-FFF2-40B4-BE49-F238E27FC236}">
                      <a16:creationId xmlns:a16="http://schemas.microsoft.com/office/drawing/2014/main" id="{BA546D7D-B7B5-9D28-568F-0E2A44FA47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91" name="Freeform 531">
                  <a:extLst>
                    <a:ext uri="{FF2B5EF4-FFF2-40B4-BE49-F238E27FC236}">
                      <a16:creationId xmlns:a16="http://schemas.microsoft.com/office/drawing/2014/main" id="{18394FE7-4C8B-9404-C478-DF9F98010F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692" name="Group 532">
                <a:extLst>
                  <a:ext uri="{FF2B5EF4-FFF2-40B4-BE49-F238E27FC236}">
                    <a16:creationId xmlns:a16="http://schemas.microsoft.com/office/drawing/2014/main" id="{93ED860F-E75D-6AB4-AFEF-D49FCF590A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957" y="2610"/>
                <a:ext cx="340" cy="142"/>
                <a:chOff x="529" y="1178"/>
                <a:chExt cx="2455" cy="1812"/>
              </a:xfrm>
            </p:grpSpPr>
            <p:sp>
              <p:nvSpPr>
                <p:cNvPr id="92693" name="Freeform 533">
                  <a:extLst>
                    <a:ext uri="{FF2B5EF4-FFF2-40B4-BE49-F238E27FC236}">
                      <a16:creationId xmlns:a16="http://schemas.microsoft.com/office/drawing/2014/main" id="{29C8CFBC-CD36-A5BA-CBD5-B445C47FD1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94" name="Freeform 534">
                  <a:extLst>
                    <a:ext uri="{FF2B5EF4-FFF2-40B4-BE49-F238E27FC236}">
                      <a16:creationId xmlns:a16="http://schemas.microsoft.com/office/drawing/2014/main" id="{033DEEA8-022B-80E4-1616-047E4C8D3A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95" name="Freeform 535">
                  <a:extLst>
                    <a:ext uri="{FF2B5EF4-FFF2-40B4-BE49-F238E27FC236}">
                      <a16:creationId xmlns:a16="http://schemas.microsoft.com/office/drawing/2014/main" id="{874D01B1-25ED-3FE8-ECBB-D848455F98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96" name="Freeform 536">
                  <a:extLst>
                    <a:ext uri="{FF2B5EF4-FFF2-40B4-BE49-F238E27FC236}">
                      <a16:creationId xmlns:a16="http://schemas.microsoft.com/office/drawing/2014/main" id="{AEED4951-43BB-E0C2-A1BA-D53C176084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697" name="Freeform 537">
                  <a:extLst>
                    <a:ext uri="{FF2B5EF4-FFF2-40B4-BE49-F238E27FC236}">
                      <a16:creationId xmlns:a16="http://schemas.microsoft.com/office/drawing/2014/main" id="{266451F5-F945-1830-D51A-428247DA37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698" name="Group 538">
                <a:extLst>
                  <a:ext uri="{FF2B5EF4-FFF2-40B4-BE49-F238E27FC236}">
                    <a16:creationId xmlns:a16="http://schemas.microsoft.com/office/drawing/2014/main" id="{C3793EB1-26E7-9F4E-0C19-5221871869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297" y="2610"/>
                <a:ext cx="340" cy="142"/>
                <a:chOff x="529" y="1178"/>
                <a:chExt cx="2455" cy="1812"/>
              </a:xfrm>
            </p:grpSpPr>
            <p:sp>
              <p:nvSpPr>
                <p:cNvPr id="92699" name="Freeform 539">
                  <a:extLst>
                    <a:ext uri="{FF2B5EF4-FFF2-40B4-BE49-F238E27FC236}">
                      <a16:creationId xmlns:a16="http://schemas.microsoft.com/office/drawing/2014/main" id="{A8DEBBE1-0501-8F2E-AE98-321372E36C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700" name="Freeform 540">
                  <a:extLst>
                    <a:ext uri="{FF2B5EF4-FFF2-40B4-BE49-F238E27FC236}">
                      <a16:creationId xmlns:a16="http://schemas.microsoft.com/office/drawing/2014/main" id="{4EF8FAE0-53C4-F988-50DD-4896A27447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701" name="Freeform 541">
                  <a:extLst>
                    <a:ext uri="{FF2B5EF4-FFF2-40B4-BE49-F238E27FC236}">
                      <a16:creationId xmlns:a16="http://schemas.microsoft.com/office/drawing/2014/main" id="{2ACA314E-6414-8C5B-46E2-7615E1F212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702" name="Freeform 542">
                  <a:extLst>
                    <a:ext uri="{FF2B5EF4-FFF2-40B4-BE49-F238E27FC236}">
                      <a16:creationId xmlns:a16="http://schemas.microsoft.com/office/drawing/2014/main" id="{6381B7A8-540E-7145-3996-F8AE998C5E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703" name="Freeform 543">
                  <a:extLst>
                    <a:ext uri="{FF2B5EF4-FFF2-40B4-BE49-F238E27FC236}">
                      <a16:creationId xmlns:a16="http://schemas.microsoft.com/office/drawing/2014/main" id="{8BCC5C26-7DBB-C7A7-C0FE-9A99C6AC80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92704" name="Group 544">
                <a:extLst>
                  <a:ext uri="{FF2B5EF4-FFF2-40B4-BE49-F238E27FC236}">
                    <a16:creationId xmlns:a16="http://schemas.microsoft.com/office/drawing/2014/main" id="{55FCE763-502F-DFDB-DE12-138FD8D28C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638" y="2610"/>
                <a:ext cx="340" cy="142"/>
                <a:chOff x="529" y="1178"/>
                <a:chExt cx="2455" cy="1812"/>
              </a:xfrm>
            </p:grpSpPr>
            <p:sp>
              <p:nvSpPr>
                <p:cNvPr id="92705" name="Freeform 545">
                  <a:extLst>
                    <a:ext uri="{FF2B5EF4-FFF2-40B4-BE49-F238E27FC236}">
                      <a16:creationId xmlns:a16="http://schemas.microsoft.com/office/drawing/2014/main" id="{941EE166-3449-D29C-69CC-4ED690EC0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706" name="Freeform 546">
                  <a:extLst>
                    <a:ext uri="{FF2B5EF4-FFF2-40B4-BE49-F238E27FC236}">
                      <a16:creationId xmlns:a16="http://schemas.microsoft.com/office/drawing/2014/main" id="{285DE32E-02E3-F4B8-9CC8-74243B3378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707" name="Freeform 547">
                  <a:extLst>
                    <a:ext uri="{FF2B5EF4-FFF2-40B4-BE49-F238E27FC236}">
                      <a16:creationId xmlns:a16="http://schemas.microsoft.com/office/drawing/2014/main" id="{641A456C-63DC-8A98-0A17-150CD23C7A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708" name="Freeform 548">
                  <a:extLst>
                    <a:ext uri="{FF2B5EF4-FFF2-40B4-BE49-F238E27FC236}">
                      <a16:creationId xmlns:a16="http://schemas.microsoft.com/office/drawing/2014/main" id="{9FEC36F4-86E9-CFC2-0AA4-A929C68E29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92709" name="Freeform 549">
                  <a:extLst>
                    <a:ext uri="{FF2B5EF4-FFF2-40B4-BE49-F238E27FC236}">
                      <a16:creationId xmlns:a16="http://schemas.microsoft.com/office/drawing/2014/main" id="{6575B411-C714-1E32-E480-1478F53CF6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710" name="Rectangle 550">
                <a:extLst>
                  <a:ext uri="{FF2B5EF4-FFF2-40B4-BE49-F238E27FC236}">
                    <a16:creationId xmlns:a16="http://schemas.microsoft.com/office/drawing/2014/main" id="{8DAF237D-956D-F934-38DB-B1C175399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194" y="967185"/>
                <a:ext cx="7765253" cy="4136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rgbClr val="0033CC"/>
                  </a:buClr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 2" panose="05020102010507070707" pitchFamily="18" charset="2"/>
                  <a:buChar char="¡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3399FF"/>
                  </a:buClr>
                  <a:buFont typeface="Wingdings 2" panose="05020102010507070707" pitchFamily="18" charset="2"/>
                  <a:buChar char="¡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ko-KR" sz="1600" dirty="0">
                    <a:ea typeface="굴림" panose="020B0600000101010101" pitchFamily="34" charset="-127"/>
                  </a:rPr>
                  <a:t>The plot of the normalized powers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)/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dirty="0">
                    <a:ea typeface="굴림" panose="020B0600000101010101" pitchFamily="34" charset="-127"/>
                  </a:rPr>
                  <a:t>  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)/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92710" name="Rectangle 550">
                <a:extLst>
                  <a:ext uri="{FF2B5EF4-FFF2-40B4-BE49-F238E27FC236}">
                    <a16:creationId xmlns:a16="http://schemas.microsoft.com/office/drawing/2014/main" id="{8DAF237D-956D-F934-38DB-B1C1753997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194" y="967185"/>
                <a:ext cx="7765253" cy="413699"/>
              </a:xfrm>
              <a:prstGeom prst="rect">
                <a:avLst/>
              </a:prstGeom>
              <a:blipFill>
                <a:blip r:embed="rId11"/>
                <a:stretch>
                  <a:fillRect l="-235" t="-102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715" name="Rectangle 555">
            <a:extLst>
              <a:ext uri="{FF2B5EF4-FFF2-40B4-BE49-F238E27FC236}">
                <a16:creationId xmlns:a16="http://schemas.microsoft.com/office/drawing/2014/main" id="{E61BAF3C-E468-778F-3E90-A38B12FBF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94" y="3423444"/>
            <a:ext cx="6123384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1600" dirty="0">
                <a:ea typeface="굴림" panose="020B0600000101010101" pitchFamily="34" charset="-127"/>
              </a:rPr>
              <a:t>The shortest coupling length L for full power transfer is denoted by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716" name="Object 556">
                <a:extLst>
                  <a:ext uri="{FF2B5EF4-FFF2-40B4-BE49-F238E27FC236}">
                    <a16:creationId xmlns:a16="http://schemas.microsoft.com/office/drawing/2014/main" id="{B05E396E-349A-B0A8-EB49-0DD767DF208D}"/>
                  </a:ext>
                </a:extLst>
              </p:cNvPr>
              <p:cNvSpPr txBox="1"/>
              <p:nvPr/>
            </p:nvSpPr>
            <p:spPr bwMode="auto">
              <a:xfrm>
                <a:off x="2851548" y="3790157"/>
                <a:ext cx="1269602" cy="44172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2716" name="Object 556">
                <a:extLst>
                  <a:ext uri="{FF2B5EF4-FFF2-40B4-BE49-F238E27FC236}">
                    <a16:creationId xmlns:a16="http://schemas.microsoft.com/office/drawing/2014/main" id="{B05E396E-349A-B0A8-EB49-0DD767DF2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1548" y="3790157"/>
                <a:ext cx="1269602" cy="441722"/>
              </a:xfrm>
              <a:prstGeom prst="rect">
                <a:avLst/>
              </a:prstGeom>
              <a:blipFill>
                <a:blip r:embed="rId12"/>
                <a:stretch>
                  <a:fillRect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961A625A-9963-6C9C-CBAC-22262EA37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Power conversion over coupling length Continued…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682" name="Rectangle 106">
                <a:extLst>
                  <a:ext uri="{FF2B5EF4-FFF2-40B4-BE49-F238E27FC236}">
                    <a16:creationId xmlns:a16="http://schemas.microsoft.com/office/drawing/2014/main" id="{88C14A3B-4403-5A00-92CD-6164CE111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208" y="862806"/>
                <a:ext cx="7386039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rgbClr val="0033CC"/>
                  </a:buClr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 2" panose="05020102010507070707" pitchFamily="18" charset="2"/>
                  <a:buChar char="¡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3399FF"/>
                  </a:buClr>
                  <a:buFont typeface="Wingdings 2" panose="05020102010507070707" pitchFamily="18" charset="2"/>
                  <a:buChar char="¡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ko-KR" sz="1600" dirty="0">
                    <a:ea typeface="굴림" panose="020B0600000101010101" pitchFamily="34" charset="-127"/>
                  </a:rPr>
                  <a:t>Full power transfer requires phase-matching condition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</m:oMath>
                </a14:m>
                <a:r>
                  <a:rPr lang="en-US" altLang="ko-KR" sz="1600" dirty="0">
                    <a:ea typeface="굴림" panose="020B0600000101010101" pitchFamily="34" charset="-127"/>
                  </a:rPr>
                  <a:t> in the uniform waveguide structure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sz="1600" dirty="0">
                    <a:ea typeface="굴림" panose="020B0600000101010101" pitchFamily="34" charset="-127"/>
                  </a:rPr>
                  <a:t>   in the  periodic structure </a:t>
                </a:r>
              </a:p>
            </p:txBody>
          </p:sp>
        </mc:Choice>
        <mc:Fallback xmlns="">
          <p:sp>
            <p:nvSpPr>
              <p:cNvPr id="152682" name="Rectangle 106">
                <a:extLst>
                  <a:ext uri="{FF2B5EF4-FFF2-40B4-BE49-F238E27FC236}">
                    <a16:creationId xmlns:a16="http://schemas.microsoft.com/office/drawing/2014/main" id="{88C14A3B-4403-5A00-92CD-6164CE111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208" y="862806"/>
                <a:ext cx="7386039" cy="733425"/>
              </a:xfrm>
              <a:prstGeom prst="rect">
                <a:avLst/>
              </a:prstGeom>
              <a:blipFill>
                <a:blip r:embed="rId3"/>
                <a:stretch>
                  <a:fillRect l="-248" t="-58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2693" name="Group 117">
            <a:extLst>
              <a:ext uri="{FF2B5EF4-FFF2-40B4-BE49-F238E27FC236}">
                <a16:creationId xmlns:a16="http://schemas.microsoft.com/office/drawing/2014/main" id="{5877E246-9592-2E33-DCCE-618AE8D48977}"/>
              </a:ext>
            </a:extLst>
          </p:cNvPr>
          <p:cNvGrpSpPr>
            <a:grpSpLocks/>
          </p:cNvGrpSpPr>
          <p:nvPr/>
        </p:nvGrpSpPr>
        <p:grpSpPr bwMode="auto">
          <a:xfrm>
            <a:off x="1849041" y="1349771"/>
            <a:ext cx="3074194" cy="1826419"/>
            <a:chOff x="1557" y="1391"/>
            <a:chExt cx="2582" cy="1534"/>
          </a:xfrm>
        </p:grpSpPr>
        <p:sp>
          <p:nvSpPr>
            <p:cNvPr id="152694" name="AutoShape 118">
              <a:extLst>
                <a:ext uri="{FF2B5EF4-FFF2-40B4-BE49-F238E27FC236}">
                  <a16:creationId xmlns:a16="http://schemas.microsoft.com/office/drawing/2014/main" id="{40F371C7-93E7-B01E-469D-99FC1B4E8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" y="2308"/>
              <a:ext cx="510" cy="56"/>
            </a:xfrm>
            <a:prstGeom prst="rightArrow">
              <a:avLst>
                <a:gd name="adj1" fmla="val 50000"/>
                <a:gd name="adj2" fmla="val 22767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52695" name="Freeform 119">
              <a:extLst>
                <a:ext uri="{FF2B5EF4-FFF2-40B4-BE49-F238E27FC236}">
                  <a16:creationId xmlns:a16="http://schemas.microsoft.com/office/drawing/2014/main" id="{50E51AAB-FD54-2FC4-691C-EBECA65EB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3" y="2006"/>
              <a:ext cx="234" cy="768"/>
            </a:xfrm>
            <a:custGeom>
              <a:avLst/>
              <a:gdLst>
                <a:gd name="T0" fmla="*/ 231 w 234"/>
                <a:gd name="T1" fmla="*/ 0 h 768"/>
                <a:gd name="T2" fmla="*/ 234 w 234"/>
                <a:gd name="T3" fmla="*/ 189 h 768"/>
                <a:gd name="T4" fmla="*/ 0 w 234"/>
                <a:gd name="T5" fmla="*/ 768 h 768"/>
                <a:gd name="T6" fmla="*/ 1 w 234"/>
                <a:gd name="T7" fmla="*/ 595 h 768"/>
                <a:gd name="T8" fmla="*/ 231 w 234"/>
                <a:gd name="T9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768">
                  <a:moveTo>
                    <a:pt x="231" y="0"/>
                  </a:moveTo>
                  <a:lnTo>
                    <a:pt x="234" y="189"/>
                  </a:lnTo>
                  <a:lnTo>
                    <a:pt x="0" y="768"/>
                  </a:lnTo>
                  <a:lnTo>
                    <a:pt x="1" y="595"/>
                  </a:lnTo>
                  <a:lnTo>
                    <a:pt x="23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696" name="Freeform 120">
              <a:extLst>
                <a:ext uri="{FF2B5EF4-FFF2-40B4-BE49-F238E27FC236}">
                  <a16:creationId xmlns:a16="http://schemas.microsoft.com/office/drawing/2014/main" id="{8A94294F-A133-07FA-27B4-08A75756B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2308"/>
              <a:ext cx="20" cy="90"/>
            </a:xfrm>
            <a:custGeom>
              <a:avLst/>
              <a:gdLst>
                <a:gd name="T0" fmla="*/ 18 w 20"/>
                <a:gd name="T1" fmla="*/ 0 h 90"/>
                <a:gd name="T2" fmla="*/ 20 w 20"/>
                <a:gd name="T3" fmla="*/ 44 h 90"/>
                <a:gd name="T4" fmla="*/ 2 w 20"/>
                <a:gd name="T5" fmla="*/ 90 h 90"/>
                <a:gd name="T6" fmla="*/ 0 w 20"/>
                <a:gd name="T7" fmla="*/ 50 h 90"/>
                <a:gd name="T8" fmla="*/ 18 w 20"/>
                <a:gd name="T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90">
                  <a:moveTo>
                    <a:pt x="18" y="0"/>
                  </a:moveTo>
                  <a:lnTo>
                    <a:pt x="20" y="44"/>
                  </a:lnTo>
                  <a:lnTo>
                    <a:pt x="2" y="90"/>
                  </a:lnTo>
                  <a:lnTo>
                    <a:pt x="0" y="5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697" name="Freeform 121">
              <a:extLst>
                <a:ext uri="{FF2B5EF4-FFF2-40B4-BE49-F238E27FC236}">
                  <a16:creationId xmlns:a16="http://schemas.microsoft.com/office/drawing/2014/main" id="{A842EE19-6898-730A-B9C2-F77C6EFDF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2004"/>
              <a:ext cx="1531" cy="595"/>
            </a:xfrm>
            <a:custGeom>
              <a:avLst/>
              <a:gdLst>
                <a:gd name="T0" fmla="*/ 1871 w 1871"/>
                <a:gd name="T1" fmla="*/ 0 h 737"/>
                <a:gd name="T2" fmla="*/ 1588 w 1871"/>
                <a:gd name="T3" fmla="*/ 737 h 737"/>
                <a:gd name="T4" fmla="*/ 0 w 1871"/>
                <a:gd name="T5" fmla="*/ 737 h 737"/>
                <a:gd name="T6" fmla="*/ 340 w 1871"/>
                <a:gd name="T7" fmla="*/ 0 h 737"/>
                <a:gd name="T8" fmla="*/ 1871 w 1871"/>
                <a:gd name="T9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1" h="737">
                  <a:moveTo>
                    <a:pt x="1871" y="0"/>
                  </a:moveTo>
                  <a:lnTo>
                    <a:pt x="1588" y="737"/>
                  </a:lnTo>
                  <a:lnTo>
                    <a:pt x="0" y="737"/>
                  </a:lnTo>
                  <a:lnTo>
                    <a:pt x="340" y="0"/>
                  </a:lnTo>
                  <a:lnTo>
                    <a:pt x="187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698" name="Rectangle 122">
              <a:extLst>
                <a:ext uri="{FF2B5EF4-FFF2-40B4-BE49-F238E27FC236}">
                  <a16:creationId xmlns:a16="http://schemas.microsoft.com/office/drawing/2014/main" id="{66A28184-EC50-F40C-4E99-337EC4A03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2599"/>
              <a:ext cx="1299" cy="1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52699" name="Freeform 123">
              <a:extLst>
                <a:ext uri="{FF2B5EF4-FFF2-40B4-BE49-F238E27FC236}">
                  <a16:creationId xmlns:a16="http://schemas.microsoft.com/office/drawing/2014/main" id="{37FDE163-2B3F-2B67-0994-CA73816C2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2310"/>
              <a:ext cx="1300" cy="48"/>
            </a:xfrm>
            <a:custGeom>
              <a:avLst/>
              <a:gdLst>
                <a:gd name="T0" fmla="*/ 22 w 1300"/>
                <a:gd name="T1" fmla="*/ 0 h 48"/>
                <a:gd name="T2" fmla="*/ 1300 w 1300"/>
                <a:gd name="T3" fmla="*/ 0 h 48"/>
                <a:gd name="T4" fmla="*/ 1282 w 1300"/>
                <a:gd name="T5" fmla="*/ 48 h 48"/>
                <a:gd name="T6" fmla="*/ 0 w 1300"/>
                <a:gd name="T7" fmla="*/ 48 h 48"/>
                <a:gd name="T8" fmla="*/ 22 w 1300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0" h="48">
                  <a:moveTo>
                    <a:pt x="22" y="0"/>
                  </a:moveTo>
                  <a:lnTo>
                    <a:pt x="1300" y="0"/>
                  </a:lnTo>
                  <a:lnTo>
                    <a:pt x="1282" y="48"/>
                  </a:lnTo>
                  <a:lnTo>
                    <a:pt x="0" y="4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grpSp>
          <p:nvGrpSpPr>
            <p:cNvPr id="152700" name="Group 124">
              <a:extLst>
                <a:ext uri="{FF2B5EF4-FFF2-40B4-BE49-F238E27FC236}">
                  <a16:creationId xmlns:a16="http://schemas.microsoft.com/office/drawing/2014/main" id="{9DAB6B23-4F94-A13D-B023-0C366787C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2105"/>
              <a:ext cx="892" cy="296"/>
              <a:chOff x="2215" y="1818"/>
              <a:chExt cx="892" cy="296"/>
            </a:xfrm>
          </p:grpSpPr>
          <p:sp>
            <p:nvSpPr>
              <p:cNvPr id="152701" name="Freeform 125">
                <a:extLst>
                  <a:ext uri="{FF2B5EF4-FFF2-40B4-BE49-F238E27FC236}">
                    <a16:creationId xmlns:a16="http://schemas.microsoft.com/office/drawing/2014/main" id="{E607BEC6-04DA-0B7C-6348-82EE1A55F3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1818"/>
                <a:ext cx="754" cy="50"/>
              </a:xfrm>
              <a:custGeom>
                <a:avLst/>
                <a:gdLst>
                  <a:gd name="T0" fmla="*/ 22 w 1300"/>
                  <a:gd name="T1" fmla="*/ 0 h 48"/>
                  <a:gd name="T2" fmla="*/ 1300 w 1300"/>
                  <a:gd name="T3" fmla="*/ 0 h 48"/>
                  <a:gd name="T4" fmla="*/ 1282 w 1300"/>
                  <a:gd name="T5" fmla="*/ 48 h 48"/>
                  <a:gd name="T6" fmla="*/ 0 w 1300"/>
                  <a:gd name="T7" fmla="*/ 48 h 48"/>
                  <a:gd name="T8" fmla="*/ 22 w 1300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0" h="48">
                    <a:moveTo>
                      <a:pt x="22" y="0"/>
                    </a:moveTo>
                    <a:lnTo>
                      <a:pt x="1300" y="0"/>
                    </a:lnTo>
                    <a:lnTo>
                      <a:pt x="1282" y="48"/>
                    </a:lnTo>
                    <a:lnTo>
                      <a:pt x="0" y="48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02" name="Freeform 126">
                <a:extLst>
                  <a:ext uri="{FF2B5EF4-FFF2-40B4-BE49-F238E27FC236}">
                    <a16:creationId xmlns:a16="http://schemas.microsoft.com/office/drawing/2014/main" id="{94B2D01B-3D18-767C-2561-14BECEBAF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5" y="1820"/>
                <a:ext cx="183" cy="294"/>
              </a:xfrm>
              <a:custGeom>
                <a:avLst/>
                <a:gdLst>
                  <a:gd name="T0" fmla="*/ 183 w 183"/>
                  <a:gd name="T1" fmla="*/ 0 h 294"/>
                  <a:gd name="T2" fmla="*/ 45 w 183"/>
                  <a:gd name="T3" fmla="*/ 294 h 294"/>
                  <a:gd name="T4" fmla="*/ 0 w 183"/>
                  <a:gd name="T5" fmla="*/ 294 h 294"/>
                  <a:gd name="T6" fmla="*/ 138 w 183"/>
                  <a:gd name="T7" fmla="*/ 0 h 294"/>
                  <a:gd name="T8" fmla="*/ 183 w 183"/>
                  <a:gd name="T9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94">
                    <a:moveTo>
                      <a:pt x="183" y="0"/>
                    </a:moveTo>
                    <a:lnTo>
                      <a:pt x="45" y="294"/>
                    </a:lnTo>
                    <a:lnTo>
                      <a:pt x="0" y="294"/>
                    </a:lnTo>
                    <a:lnTo>
                      <a:pt x="138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03" name="Freeform 127">
                <a:extLst>
                  <a:ext uri="{FF2B5EF4-FFF2-40B4-BE49-F238E27FC236}">
                    <a16:creationId xmlns:a16="http://schemas.microsoft.com/office/drawing/2014/main" id="{37391B54-CC9B-C190-C1B4-0AC453FFA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2" y="1820"/>
                <a:ext cx="183" cy="294"/>
              </a:xfrm>
              <a:custGeom>
                <a:avLst/>
                <a:gdLst>
                  <a:gd name="T0" fmla="*/ 183 w 183"/>
                  <a:gd name="T1" fmla="*/ 0 h 294"/>
                  <a:gd name="T2" fmla="*/ 45 w 183"/>
                  <a:gd name="T3" fmla="*/ 294 h 294"/>
                  <a:gd name="T4" fmla="*/ 0 w 183"/>
                  <a:gd name="T5" fmla="*/ 294 h 294"/>
                  <a:gd name="T6" fmla="*/ 138 w 183"/>
                  <a:gd name="T7" fmla="*/ 0 h 294"/>
                  <a:gd name="T8" fmla="*/ 183 w 183"/>
                  <a:gd name="T9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94">
                    <a:moveTo>
                      <a:pt x="183" y="0"/>
                    </a:moveTo>
                    <a:lnTo>
                      <a:pt x="45" y="294"/>
                    </a:lnTo>
                    <a:lnTo>
                      <a:pt x="0" y="294"/>
                    </a:lnTo>
                    <a:lnTo>
                      <a:pt x="138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04" name="Freeform 128">
                <a:extLst>
                  <a:ext uri="{FF2B5EF4-FFF2-40B4-BE49-F238E27FC236}">
                    <a16:creationId xmlns:a16="http://schemas.microsoft.com/office/drawing/2014/main" id="{47E61081-5B57-A42F-622E-1E769CEAC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1820"/>
                <a:ext cx="183" cy="294"/>
              </a:xfrm>
              <a:custGeom>
                <a:avLst/>
                <a:gdLst>
                  <a:gd name="T0" fmla="*/ 183 w 183"/>
                  <a:gd name="T1" fmla="*/ 0 h 294"/>
                  <a:gd name="T2" fmla="*/ 45 w 183"/>
                  <a:gd name="T3" fmla="*/ 294 h 294"/>
                  <a:gd name="T4" fmla="*/ 0 w 183"/>
                  <a:gd name="T5" fmla="*/ 294 h 294"/>
                  <a:gd name="T6" fmla="*/ 138 w 183"/>
                  <a:gd name="T7" fmla="*/ 0 h 294"/>
                  <a:gd name="T8" fmla="*/ 183 w 183"/>
                  <a:gd name="T9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94">
                    <a:moveTo>
                      <a:pt x="183" y="0"/>
                    </a:moveTo>
                    <a:lnTo>
                      <a:pt x="45" y="294"/>
                    </a:lnTo>
                    <a:lnTo>
                      <a:pt x="0" y="294"/>
                    </a:lnTo>
                    <a:lnTo>
                      <a:pt x="138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05" name="Freeform 129">
                <a:extLst>
                  <a:ext uri="{FF2B5EF4-FFF2-40B4-BE49-F238E27FC236}">
                    <a16:creationId xmlns:a16="http://schemas.microsoft.com/office/drawing/2014/main" id="{36313C2F-FFC5-D995-4C1C-BC29AEB56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4" y="1820"/>
                <a:ext cx="183" cy="294"/>
              </a:xfrm>
              <a:custGeom>
                <a:avLst/>
                <a:gdLst>
                  <a:gd name="T0" fmla="*/ 183 w 183"/>
                  <a:gd name="T1" fmla="*/ 0 h 294"/>
                  <a:gd name="T2" fmla="*/ 45 w 183"/>
                  <a:gd name="T3" fmla="*/ 294 h 294"/>
                  <a:gd name="T4" fmla="*/ 0 w 183"/>
                  <a:gd name="T5" fmla="*/ 294 h 294"/>
                  <a:gd name="T6" fmla="*/ 138 w 183"/>
                  <a:gd name="T7" fmla="*/ 0 h 294"/>
                  <a:gd name="T8" fmla="*/ 183 w 183"/>
                  <a:gd name="T9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94">
                    <a:moveTo>
                      <a:pt x="183" y="0"/>
                    </a:moveTo>
                    <a:lnTo>
                      <a:pt x="45" y="294"/>
                    </a:lnTo>
                    <a:lnTo>
                      <a:pt x="0" y="294"/>
                    </a:lnTo>
                    <a:lnTo>
                      <a:pt x="138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</p:grpSp>
        <p:grpSp>
          <p:nvGrpSpPr>
            <p:cNvPr id="152706" name="Group 130">
              <a:extLst>
                <a:ext uri="{FF2B5EF4-FFF2-40B4-BE49-F238E27FC236}">
                  <a16:creationId xmlns:a16="http://schemas.microsoft.com/office/drawing/2014/main" id="{208B5420-4802-C0CF-13A3-15B1FDA4C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3" y="2220"/>
              <a:ext cx="892" cy="296"/>
              <a:chOff x="2313" y="1894"/>
              <a:chExt cx="892" cy="296"/>
            </a:xfrm>
          </p:grpSpPr>
          <p:sp>
            <p:nvSpPr>
              <p:cNvPr id="152707" name="Freeform 131">
                <a:extLst>
                  <a:ext uri="{FF2B5EF4-FFF2-40B4-BE49-F238E27FC236}">
                    <a16:creationId xmlns:a16="http://schemas.microsoft.com/office/drawing/2014/main" id="{CD0FF54F-91D8-ACEC-1BA7-A9B62F8F5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3" y="2140"/>
                <a:ext cx="754" cy="50"/>
              </a:xfrm>
              <a:custGeom>
                <a:avLst/>
                <a:gdLst>
                  <a:gd name="T0" fmla="*/ 22 w 1300"/>
                  <a:gd name="T1" fmla="*/ 0 h 48"/>
                  <a:gd name="T2" fmla="*/ 1300 w 1300"/>
                  <a:gd name="T3" fmla="*/ 0 h 48"/>
                  <a:gd name="T4" fmla="*/ 1282 w 1300"/>
                  <a:gd name="T5" fmla="*/ 48 h 48"/>
                  <a:gd name="T6" fmla="*/ 0 w 1300"/>
                  <a:gd name="T7" fmla="*/ 48 h 48"/>
                  <a:gd name="T8" fmla="*/ 22 w 1300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0" h="48">
                    <a:moveTo>
                      <a:pt x="22" y="0"/>
                    </a:moveTo>
                    <a:lnTo>
                      <a:pt x="1300" y="0"/>
                    </a:lnTo>
                    <a:lnTo>
                      <a:pt x="1282" y="48"/>
                    </a:lnTo>
                    <a:lnTo>
                      <a:pt x="0" y="48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08" name="Freeform 132">
                <a:extLst>
                  <a:ext uri="{FF2B5EF4-FFF2-40B4-BE49-F238E27FC236}">
                    <a16:creationId xmlns:a16="http://schemas.microsoft.com/office/drawing/2014/main" id="{9C47175C-98D4-FEBD-3F84-865E73F60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" y="1894"/>
                <a:ext cx="183" cy="294"/>
              </a:xfrm>
              <a:custGeom>
                <a:avLst/>
                <a:gdLst>
                  <a:gd name="T0" fmla="*/ 183 w 183"/>
                  <a:gd name="T1" fmla="*/ 0 h 294"/>
                  <a:gd name="T2" fmla="*/ 45 w 183"/>
                  <a:gd name="T3" fmla="*/ 294 h 294"/>
                  <a:gd name="T4" fmla="*/ 0 w 183"/>
                  <a:gd name="T5" fmla="*/ 294 h 294"/>
                  <a:gd name="T6" fmla="*/ 138 w 183"/>
                  <a:gd name="T7" fmla="*/ 0 h 294"/>
                  <a:gd name="T8" fmla="*/ 183 w 183"/>
                  <a:gd name="T9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94">
                    <a:moveTo>
                      <a:pt x="183" y="0"/>
                    </a:moveTo>
                    <a:lnTo>
                      <a:pt x="45" y="294"/>
                    </a:lnTo>
                    <a:lnTo>
                      <a:pt x="0" y="294"/>
                    </a:lnTo>
                    <a:lnTo>
                      <a:pt x="138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09" name="Freeform 133">
                <a:extLst>
                  <a:ext uri="{FF2B5EF4-FFF2-40B4-BE49-F238E27FC236}">
                    <a16:creationId xmlns:a16="http://schemas.microsoft.com/office/drawing/2014/main" id="{B20F901B-2242-6EF5-2A2D-3D1C4B8F7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3" y="1894"/>
                <a:ext cx="183" cy="294"/>
              </a:xfrm>
              <a:custGeom>
                <a:avLst/>
                <a:gdLst>
                  <a:gd name="T0" fmla="*/ 183 w 183"/>
                  <a:gd name="T1" fmla="*/ 0 h 294"/>
                  <a:gd name="T2" fmla="*/ 45 w 183"/>
                  <a:gd name="T3" fmla="*/ 294 h 294"/>
                  <a:gd name="T4" fmla="*/ 0 w 183"/>
                  <a:gd name="T5" fmla="*/ 294 h 294"/>
                  <a:gd name="T6" fmla="*/ 138 w 183"/>
                  <a:gd name="T7" fmla="*/ 0 h 294"/>
                  <a:gd name="T8" fmla="*/ 183 w 183"/>
                  <a:gd name="T9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94">
                    <a:moveTo>
                      <a:pt x="183" y="0"/>
                    </a:moveTo>
                    <a:lnTo>
                      <a:pt x="45" y="294"/>
                    </a:lnTo>
                    <a:lnTo>
                      <a:pt x="0" y="294"/>
                    </a:lnTo>
                    <a:lnTo>
                      <a:pt x="138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10" name="Freeform 134">
                <a:extLst>
                  <a:ext uri="{FF2B5EF4-FFF2-40B4-BE49-F238E27FC236}">
                    <a16:creationId xmlns:a16="http://schemas.microsoft.com/office/drawing/2014/main" id="{7879EE42-BE1D-B92D-CD4F-00C4FA928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5" y="1894"/>
                <a:ext cx="183" cy="294"/>
              </a:xfrm>
              <a:custGeom>
                <a:avLst/>
                <a:gdLst>
                  <a:gd name="T0" fmla="*/ 183 w 183"/>
                  <a:gd name="T1" fmla="*/ 0 h 294"/>
                  <a:gd name="T2" fmla="*/ 45 w 183"/>
                  <a:gd name="T3" fmla="*/ 294 h 294"/>
                  <a:gd name="T4" fmla="*/ 0 w 183"/>
                  <a:gd name="T5" fmla="*/ 294 h 294"/>
                  <a:gd name="T6" fmla="*/ 138 w 183"/>
                  <a:gd name="T7" fmla="*/ 0 h 294"/>
                  <a:gd name="T8" fmla="*/ 183 w 183"/>
                  <a:gd name="T9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94">
                    <a:moveTo>
                      <a:pt x="183" y="0"/>
                    </a:moveTo>
                    <a:lnTo>
                      <a:pt x="45" y="294"/>
                    </a:lnTo>
                    <a:lnTo>
                      <a:pt x="0" y="294"/>
                    </a:lnTo>
                    <a:lnTo>
                      <a:pt x="138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11" name="Freeform 135">
                <a:extLst>
                  <a:ext uri="{FF2B5EF4-FFF2-40B4-BE49-F238E27FC236}">
                    <a16:creationId xmlns:a16="http://schemas.microsoft.com/office/drawing/2014/main" id="{1B3B154E-04AE-886E-938E-E805973A5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2" y="1894"/>
                <a:ext cx="183" cy="294"/>
              </a:xfrm>
              <a:custGeom>
                <a:avLst/>
                <a:gdLst>
                  <a:gd name="T0" fmla="*/ 183 w 183"/>
                  <a:gd name="T1" fmla="*/ 0 h 294"/>
                  <a:gd name="T2" fmla="*/ 45 w 183"/>
                  <a:gd name="T3" fmla="*/ 294 h 294"/>
                  <a:gd name="T4" fmla="*/ 0 w 183"/>
                  <a:gd name="T5" fmla="*/ 294 h 294"/>
                  <a:gd name="T6" fmla="*/ 138 w 183"/>
                  <a:gd name="T7" fmla="*/ 0 h 294"/>
                  <a:gd name="T8" fmla="*/ 183 w 183"/>
                  <a:gd name="T9" fmla="*/ 0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94">
                    <a:moveTo>
                      <a:pt x="183" y="0"/>
                    </a:moveTo>
                    <a:lnTo>
                      <a:pt x="45" y="294"/>
                    </a:lnTo>
                    <a:lnTo>
                      <a:pt x="0" y="294"/>
                    </a:lnTo>
                    <a:lnTo>
                      <a:pt x="138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</p:grpSp>
        <p:sp>
          <p:nvSpPr>
            <p:cNvPr id="152712" name="Line 136">
              <a:extLst>
                <a:ext uri="{FF2B5EF4-FFF2-40B4-BE49-F238E27FC236}">
                  <a16:creationId xmlns:a16="http://schemas.microsoft.com/office/drawing/2014/main" id="{CBE255F6-1B75-B0D7-9AEF-2B1C06B71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7" y="1749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713" name="Line 137">
              <a:extLst>
                <a:ext uri="{FF2B5EF4-FFF2-40B4-BE49-F238E27FC236}">
                  <a16:creationId xmlns:a16="http://schemas.microsoft.com/office/drawing/2014/main" id="{44BA3CBD-C577-45D8-A723-5E255C964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2" y="1749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714" name="Line 138">
              <a:extLst>
                <a:ext uri="{FF2B5EF4-FFF2-40B4-BE49-F238E27FC236}">
                  <a16:creationId xmlns:a16="http://schemas.microsoft.com/office/drawing/2014/main" id="{C7B49701-F03E-0E19-BAF3-E468DB8273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1834"/>
              <a:ext cx="1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715" name="Line 139">
              <a:extLst>
                <a:ext uri="{FF2B5EF4-FFF2-40B4-BE49-F238E27FC236}">
                  <a16:creationId xmlns:a16="http://schemas.microsoft.com/office/drawing/2014/main" id="{3D304F5A-3BD2-DE63-257F-7E665D1BCD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1" y="1834"/>
              <a:ext cx="1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716" name="Text Box 140">
              <a:extLst>
                <a:ext uri="{FF2B5EF4-FFF2-40B4-BE49-F238E27FC236}">
                  <a16:creationId xmlns:a16="http://schemas.microsoft.com/office/drawing/2014/main" id="{77727D69-F857-ED62-80CD-0C613C2B8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" y="1737"/>
              <a:ext cx="1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ko-KR" altLang="en-US" sz="900">
                  <a:ea typeface="굴림" panose="020B0600000101010101" pitchFamily="34" charset="-127"/>
                  <a:sym typeface="Symbol" panose="05050102010706020507" pitchFamily="18" charset="2"/>
                </a:rPr>
                <a:t></a:t>
              </a:r>
            </a:p>
          </p:txBody>
        </p:sp>
        <p:sp>
          <p:nvSpPr>
            <p:cNvPr id="152717" name="Line 141">
              <a:extLst>
                <a:ext uri="{FF2B5EF4-FFF2-40B4-BE49-F238E27FC236}">
                  <a16:creationId xmlns:a16="http://schemas.microsoft.com/office/drawing/2014/main" id="{7B5DE6F7-5A25-8D30-A848-5648E2D77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1" y="1669"/>
              <a:ext cx="2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718" name="Line 142">
              <a:extLst>
                <a:ext uri="{FF2B5EF4-FFF2-40B4-BE49-F238E27FC236}">
                  <a16:creationId xmlns:a16="http://schemas.microsoft.com/office/drawing/2014/main" id="{022639D6-A69B-AC8B-30A3-FF793462D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7" y="1669"/>
              <a:ext cx="104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719" name="Line 143">
              <a:extLst>
                <a:ext uri="{FF2B5EF4-FFF2-40B4-BE49-F238E27FC236}">
                  <a16:creationId xmlns:a16="http://schemas.microsoft.com/office/drawing/2014/main" id="{FB600463-819E-7C57-8F9D-A0E0C20B1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19" y="1456"/>
              <a:ext cx="2" cy="2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720" name="Text Box 144">
              <a:extLst>
                <a:ext uri="{FF2B5EF4-FFF2-40B4-BE49-F238E27FC236}">
                  <a16:creationId xmlns:a16="http://schemas.microsoft.com/office/drawing/2014/main" id="{E31A45D7-228E-53BC-5BA8-93621B301A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1" y="1391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y</a:t>
              </a:r>
            </a:p>
          </p:txBody>
        </p:sp>
        <p:sp>
          <p:nvSpPr>
            <p:cNvPr id="152721" name="Text Box 145">
              <a:extLst>
                <a:ext uri="{FF2B5EF4-FFF2-40B4-BE49-F238E27FC236}">
                  <a16:creationId xmlns:a16="http://schemas.microsoft.com/office/drawing/2014/main" id="{AC459BF3-D5D5-D37C-49E3-67447DCED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1" y="1646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x</a:t>
              </a:r>
            </a:p>
          </p:txBody>
        </p:sp>
        <p:sp>
          <p:nvSpPr>
            <p:cNvPr id="152722" name="Text Box 146">
              <a:extLst>
                <a:ext uri="{FF2B5EF4-FFF2-40B4-BE49-F238E27FC236}">
                  <a16:creationId xmlns:a16="http://schemas.microsoft.com/office/drawing/2014/main" id="{8AB7E236-AC39-4BAD-9785-45DC6C456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" y="1675"/>
              <a:ext cx="22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</a:p>
          </p:txBody>
        </p:sp>
        <p:sp>
          <p:nvSpPr>
            <p:cNvPr id="152723" name="Line 147">
              <a:extLst>
                <a:ext uri="{FF2B5EF4-FFF2-40B4-BE49-F238E27FC236}">
                  <a16:creationId xmlns:a16="http://schemas.microsoft.com/office/drawing/2014/main" id="{BAF4893D-E739-55C9-492C-4F6F9BF9F3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2" y="2486"/>
              <a:ext cx="0" cy="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grpSp>
          <p:nvGrpSpPr>
            <p:cNvPr id="152724" name="Group 148">
              <a:extLst>
                <a:ext uri="{FF2B5EF4-FFF2-40B4-BE49-F238E27FC236}">
                  <a16:creationId xmlns:a16="http://schemas.microsoft.com/office/drawing/2014/main" id="{790D9EB3-10D8-CBE4-1C79-DC1BEF9762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7" y="2855"/>
              <a:ext cx="170" cy="70"/>
              <a:chOff x="2937" y="2529"/>
              <a:chExt cx="170" cy="70"/>
            </a:xfrm>
          </p:grpSpPr>
          <p:sp>
            <p:nvSpPr>
              <p:cNvPr id="152725" name="Line 149">
                <a:extLst>
                  <a:ext uri="{FF2B5EF4-FFF2-40B4-BE49-F238E27FC236}">
                    <a16:creationId xmlns:a16="http://schemas.microsoft.com/office/drawing/2014/main" id="{0C857D7C-30DE-10BA-BD64-3F262FF92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7" y="2529"/>
                <a:ext cx="1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26" name="Line 150">
                <a:extLst>
                  <a:ext uri="{FF2B5EF4-FFF2-40B4-BE49-F238E27FC236}">
                    <a16:creationId xmlns:a16="http://schemas.microsoft.com/office/drawing/2014/main" id="{0713ED9E-4343-FBCA-A0EE-21472B939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2" y="2563"/>
                <a:ext cx="11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52727" name="Line 151">
                <a:extLst>
                  <a:ext uri="{FF2B5EF4-FFF2-40B4-BE49-F238E27FC236}">
                    <a16:creationId xmlns:a16="http://schemas.microsoft.com/office/drawing/2014/main" id="{638131AD-9EC0-EF41-F395-AAB3D8F015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2" y="2599"/>
                <a:ext cx="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</p:grpSp>
        <p:sp>
          <p:nvSpPr>
            <p:cNvPr id="152728" name="Line 152">
              <a:extLst>
                <a:ext uri="{FF2B5EF4-FFF2-40B4-BE49-F238E27FC236}">
                  <a16:creationId xmlns:a16="http://schemas.microsoft.com/office/drawing/2014/main" id="{04A0CBCA-9848-3BE4-CA83-10569405E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692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729" name="Oval 153">
              <a:extLst>
                <a:ext uri="{FF2B5EF4-FFF2-40B4-BE49-F238E27FC236}">
                  <a16:creationId xmlns:a16="http://schemas.microsoft.com/office/drawing/2014/main" id="{B7F17781-224A-BD0B-6038-863D9D504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" y="1660"/>
              <a:ext cx="28" cy="2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52730" name="Text Box 154">
              <a:extLst>
                <a:ext uri="{FF2B5EF4-FFF2-40B4-BE49-F238E27FC236}">
                  <a16:creationId xmlns:a16="http://schemas.microsoft.com/office/drawing/2014/main" id="{2F7D7303-C2FF-46EA-F068-999156546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9" y="1500"/>
              <a:ext cx="22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c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52731" name="Line 155">
              <a:extLst>
                <a:ext uri="{FF2B5EF4-FFF2-40B4-BE49-F238E27FC236}">
                  <a16:creationId xmlns:a16="http://schemas.microsoft.com/office/drawing/2014/main" id="{FA79A2BB-3BB9-A0B9-BEA5-A205FCFF5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8" y="2160"/>
              <a:ext cx="0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52732" name="Text Box 156">
              <a:extLst>
                <a:ext uri="{FF2B5EF4-FFF2-40B4-BE49-F238E27FC236}">
                  <a16:creationId xmlns:a16="http://schemas.microsoft.com/office/drawing/2014/main" id="{098A4B0C-6323-1CD0-734B-AB692F81A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2476"/>
              <a:ext cx="28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TE</a:t>
              </a:r>
            </a:p>
          </p:txBody>
        </p:sp>
        <p:sp>
          <p:nvSpPr>
            <p:cNvPr id="152733" name="Text Box 157">
              <a:extLst>
                <a:ext uri="{FF2B5EF4-FFF2-40B4-BE49-F238E27FC236}">
                  <a16:creationId xmlns:a16="http://schemas.microsoft.com/office/drawing/2014/main" id="{28350753-B923-8A4B-145C-02FC90A19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" y="2497"/>
              <a:ext cx="38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TM</a:t>
              </a:r>
            </a:p>
          </p:txBody>
        </p:sp>
        <p:sp>
          <p:nvSpPr>
            <p:cNvPr id="152734" name="Text Box 158">
              <a:extLst>
                <a:ext uri="{FF2B5EF4-FFF2-40B4-BE49-F238E27FC236}">
                  <a16:creationId xmlns:a16="http://schemas.microsoft.com/office/drawing/2014/main" id="{0A13D759-3804-D087-A46D-FF1476E14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7" y="2243"/>
              <a:ext cx="28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P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i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52735" name="Text Box 159">
              <a:extLst>
                <a:ext uri="{FF2B5EF4-FFF2-40B4-BE49-F238E27FC236}">
                  <a16:creationId xmlns:a16="http://schemas.microsoft.com/office/drawing/2014/main" id="{36724994-D6AC-6E89-177D-A86557415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2262"/>
              <a:ext cx="28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P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o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52736" name="AutoShape 160">
              <a:extLst>
                <a:ext uri="{FF2B5EF4-FFF2-40B4-BE49-F238E27FC236}">
                  <a16:creationId xmlns:a16="http://schemas.microsoft.com/office/drawing/2014/main" id="{319E4D29-7AE3-AFDB-D86F-CEA53374E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2325"/>
              <a:ext cx="510" cy="56"/>
            </a:xfrm>
            <a:prstGeom prst="rightArrow">
              <a:avLst>
                <a:gd name="adj1" fmla="val 50000"/>
                <a:gd name="adj2" fmla="val 22767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52737" name="Freeform 161">
              <a:extLst>
                <a:ext uri="{FF2B5EF4-FFF2-40B4-BE49-F238E27FC236}">
                  <a16:creationId xmlns:a16="http://schemas.microsoft.com/office/drawing/2014/main" id="{73320B52-8A49-DF3B-2DA8-AE9C98F9B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2229"/>
              <a:ext cx="98" cy="259"/>
            </a:xfrm>
            <a:custGeom>
              <a:avLst/>
              <a:gdLst>
                <a:gd name="T0" fmla="*/ 98 w 98"/>
                <a:gd name="T1" fmla="*/ 0 h 259"/>
                <a:gd name="T2" fmla="*/ 0 w 98"/>
                <a:gd name="T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8" h="259">
                  <a:moveTo>
                    <a:pt x="98" y="0"/>
                  </a:moveTo>
                  <a:lnTo>
                    <a:pt x="0" y="25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</p:grpSp>
      <p:sp>
        <p:nvSpPr>
          <p:cNvPr id="152738" name="Rectangle 162">
            <a:extLst>
              <a:ext uri="{FF2B5EF4-FFF2-40B4-BE49-F238E27FC236}">
                <a16:creationId xmlns:a16="http://schemas.microsoft.com/office/drawing/2014/main" id="{C0EAB7A8-8562-A4E0-D9F3-689B63CAD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53" y="3182143"/>
            <a:ext cx="6123384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1500">
                <a:ea typeface="굴림" panose="020B0600000101010101" pitchFamily="34" charset="-127"/>
              </a:rPr>
              <a:t>The periodicity of the structure compensates the difference between two propagation constants</a:t>
            </a:r>
          </a:p>
        </p:txBody>
      </p:sp>
      <p:sp>
        <p:nvSpPr>
          <p:cNvPr id="152739" name="Rectangle 163">
            <a:extLst>
              <a:ext uri="{FF2B5EF4-FFF2-40B4-BE49-F238E27FC236}">
                <a16:creationId xmlns:a16="http://schemas.microsoft.com/office/drawing/2014/main" id="{D6DBC55E-55BE-5867-79B8-19D559ED4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53" y="3713162"/>
            <a:ext cx="6123384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1500">
                <a:ea typeface="굴림" panose="020B0600000101010101" pitchFamily="34" charset="-127"/>
              </a:rPr>
              <a:t>Assuming the phase-matching condition at a certain wavelength, the polarization converter behaves as a wavelength filter and the optical bandwidth of TE↔TM conversion becomes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740" name="Object 164">
                <a:extLst>
                  <a:ext uri="{FF2B5EF4-FFF2-40B4-BE49-F238E27FC236}">
                    <a16:creationId xmlns:a16="http://schemas.microsoft.com/office/drawing/2014/main" id="{AC77C1C0-C05D-8F37-3A6E-0A4176DF9F3E}"/>
                  </a:ext>
                </a:extLst>
              </p:cNvPr>
              <p:cNvSpPr txBox="1"/>
              <p:nvPr/>
            </p:nvSpPr>
            <p:spPr bwMode="auto">
              <a:xfrm>
                <a:off x="2580085" y="4369195"/>
                <a:ext cx="1653778" cy="509588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𝐹𝑊𝐻𝑀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≈0.8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2740" name="Object 164">
                <a:extLst>
                  <a:ext uri="{FF2B5EF4-FFF2-40B4-BE49-F238E27FC236}">
                    <a16:creationId xmlns:a16="http://schemas.microsoft.com/office/drawing/2014/main" id="{AC77C1C0-C05D-8F37-3A6E-0A4176DF9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0085" y="4369195"/>
                <a:ext cx="1653778" cy="5095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3">
            <a:extLst>
              <a:ext uri="{FF2B5EF4-FFF2-40B4-BE49-F238E27FC236}">
                <a16:creationId xmlns:a16="http://schemas.microsoft.com/office/drawing/2014/main" id="{14B94271-F538-97E3-F428-0470231A4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III. Design of Electrooptic Matched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78" name="Rectangle 2">
                <a:extLst>
                  <a:ext uri="{FF2B5EF4-FFF2-40B4-BE49-F238E27FC236}">
                    <a16:creationId xmlns:a16="http://schemas.microsoft.com/office/drawing/2014/main" id="{78AE994F-9D80-1943-2337-D39B86C330AE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250825" y="951311"/>
                <a:ext cx="8641655" cy="758430"/>
              </a:xfr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r>
                  <a:rPr lang="en-US" altLang="ko-KR" dirty="0">
                    <a:ea typeface="굴림" panose="020B0600000101010101" pitchFamily="34" charset="-127"/>
                  </a:rPr>
                  <a:t>The x component of electric field provides TE↔TM mode conversion induced by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perturbation in the permeability tensor via the electrooptic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6978" name="Rectangle 2">
                <a:extLst>
                  <a:ext uri="{FF2B5EF4-FFF2-40B4-BE49-F238E27FC236}">
                    <a16:creationId xmlns:a16="http://schemas.microsoft.com/office/drawing/2014/main" id="{78AE994F-9D80-1943-2337-D39B86C33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0825" y="951311"/>
                <a:ext cx="8641655" cy="758430"/>
              </a:xfrm>
              <a:blipFill>
                <a:blip r:embed="rId3"/>
                <a:stretch>
                  <a:fillRect l="-1336" t="-10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80" name="Text Box 4">
            <a:extLst>
              <a:ext uri="{FF2B5EF4-FFF2-40B4-BE49-F238E27FC236}">
                <a16:creationId xmlns:a16="http://schemas.microsoft.com/office/drawing/2014/main" id="{26E94523-CC9C-1935-38F5-2399E9DD8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80" y="661045"/>
            <a:ext cx="61769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1" dirty="0">
                <a:ea typeface="굴림" panose="020B0600000101010101" pitchFamily="34" charset="-127"/>
              </a:rPr>
              <a:t>A. </a:t>
            </a:r>
            <a:r>
              <a:rPr lang="en-US" altLang="en-US" sz="1400" b="1" noProof="1"/>
              <a:t>The Principal Characteristics of EMF</a:t>
            </a:r>
            <a:endParaRPr lang="en-US" altLang="ko-KR" sz="1400" b="1" dirty="0">
              <a:ea typeface="굴림" panose="020B0600000101010101" pitchFamily="34" charset="-127"/>
            </a:endParaRPr>
          </a:p>
        </p:txBody>
      </p:sp>
      <p:grpSp>
        <p:nvGrpSpPr>
          <p:cNvPr id="126983" name="Group 7">
            <a:extLst>
              <a:ext uri="{FF2B5EF4-FFF2-40B4-BE49-F238E27FC236}">
                <a16:creationId xmlns:a16="http://schemas.microsoft.com/office/drawing/2014/main" id="{1DCD3921-F1A3-E1E8-1CE8-2A14DCE03980}"/>
              </a:ext>
            </a:extLst>
          </p:cNvPr>
          <p:cNvGrpSpPr>
            <a:grpSpLocks/>
          </p:cNvGrpSpPr>
          <p:nvPr/>
        </p:nvGrpSpPr>
        <p:grpSpPr bwMode="auto">
          <a:xfrm>
            <a:off x="2124672" y="1741291"/>
            <a:ext cx="4683918" cy="1225153"/>
            <a:chOff x="1264" y="1505"/>
            <a:chExt cx="3934" cy="1029"/>
          </a:xfrm>
        </p:grpSpPr>
        <p:sp>
          <p:nvSpPr>
            <p:cNvPr id="126984" name="Line 8">
              <a:extLst>
                <a:ext uri="{FF2B5EF4-FFF2-40B4-BE49-F238E27FC236}">
                  <a16:creationId xmlns:a16="http://schemas.microsoft.com/office/drawing/2014/main" id="{A1597E6F-BED3-DEA5-0C0B-04B5386EC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6" y="1877"/>
              <a:ext cx="30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6985" name="Rectangle 9">
              <a:extLst>
                <a:ext uri="{FF2B5EF4-FFF2-40B4-BE49-F238E27FC236}">
                  <a16:creationId xmlns:a16="http://schemas.microsoft.com/office/drawing/2014/main" id="{CBC73023-F364-ECC4-5788-9C5D3CBC8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1848"/>
              <a:ext cx="283" cy="2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6986" name="Rectangle 10">
              <a:extLst>
                <a:ext uri="{FF2B5EF4-FFF2-40B4-BE49-F238E27FC236}">
                  <a16:creationId xmlns:a16="http://schemas.microsoft.com/office/drawing/2014/main" id="{7C459E8F-E969-33E8-5ED6-D41D0323D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" y="1848"/>
              <a:ext cx="283" cy="2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6987" name="Rectangle 11">
              <a:extLst>
                <a:ext uri="{FF2B5EF4-FFF2-40B4-BE49-F238E27FC236}">
                  <a16:creationId xmlns:a16="http://schemas.microsoft.com/office/drawing/2014/main" id="{25F13CE3-28A4-7B54-9CD7-FC754061C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1848"/>
              <a:ext cx="283" cy="2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6988" name="Rectangle 12">
              <a:extLst>
                <a:ext uri="{FF2B5EF4-FFF2-40B4-BE49-F238E27FC236}">
                  <a16:creationId xmlns:a16="http://schemas.microsoft.com/office/drawing/2014/main" id="{5D90E4A9-F072-EF4B-54A5-F4BD7D632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1" y="1848"/>
              <a:ext cx="283" cy="2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6989" name="Rectangle 13">
              <a:extLst>
                <a:ext uri="{FF2B5EF4-FFF2-40B4-BE49-F238E27FC236}">
                  <a16:creationId xmlns:a16="http://schemas.microsoft.com/office/drawing/2014/main" id="{D31A3178-3D95-7737-8A9D-755D53631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2" y="1848"/>
              <a:ext cx="283" cy="2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6990" name="Line 14">
              <a:extLst>
                <a:ext uri="{FF2B5EF4-FFF2-40B4-BE49-F238E27FC236}">
                  <a16:creationId xmlns:a16="http://schemas.microsoft.com/office/drawing/2014/main" id="{B31E8E4E-1485-89B6-281A-31DF417B9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907"/>
              <a:ext cx="30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6991" name="Line 15">
              <a:extLst>
                <a:ext uri="{FF2B5EF4-FFF2-40B4-BE49-F238E27FC236}">
                  <a16:creationId xmlns:a16="http://schemas.microsoft.com/office/drawing/2014/main" id="{7F55A010-7C51-0256-A602-7BEE25744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6" y="2075"/>
              <a:ext cx="30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6992" name="Line 16">
              <a:extLst>
                <a:ext uri="{FF2B5EF4-FFF2-40B4-BE49-F238E27FC236}">
                  <a16:creationId xmlns:a16="http://schemas.microsoft.com/office/drawing/2014/main" id="{93ECEA7B-BA71-40A7-742A-DA3BF78EB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2500"/>
              <a:ext cx="30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6993" name="Text Box 17">
              <a:extLst>
                <a:ext uri="{FF2B5EF4-FFF2-40B4-BE49-F238E27FC236}">
                  <a16:creationId xmlns:a16="http://schemas.microsoft.com/office/drawing/2014/main" id="{25501B54-4BEA-6CD9-EB86-00A1B6A3D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2" y="1505"/>
              <a:ext cx="1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ko-KR" altLang="en-US" sz="900">
                  <a:ea typeface="굴림" panose="020B0600000101010101" pitchFamily="34" charset="-127"/>
                  <a:sym typeface="Symbol" panose="05050102010706020507" pitchFamily="18" charset="2"/>
                </a:rPr>
                <a:t></a:t>
              </a:r>
            </a:p>
          </p:txBody>
        </p:sp>
        <p:sp>
          <p:nvSpPr>
            <p:cNvPr id="126994" name="Text Box 18">
              <a:extLst>
                <a:ext uri="{FF2B5EF4-FFF2-40B4-BE49-F238E27FC236}">
                  <a16:creationId xmlns:a16="http://schemas.microsoft.com/office/drawing/2014/main" id="{C8BC1AE5-BA49-9472-BC45-C8AF231B8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675"/>
              <a:ext cx="256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+V                Ground               +V               Ground              +V</a:t>
              </a:r>
            </a:p>
          </p:txBody>
        </p:sp>
        <p:sp>
          <p:nvSpPr>
            <p:cNvPr id="126995" name="Line 19">
              <a:extLst>
                <a:ext uri="{FF2B5EF4-FFF2-40B4-BE49-F238E27FC236}">
                  <a16:creationId xmlns:a16="http://schemas.microsoft.com/office/drawing/2014/main" id="{CA0749B3-F64F-60D4-4477-D83C15231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1" y="1508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6996" name="Line 20">
              <a:extLst>
                <a:ext uri="{FF2B5EF4-FFF2-40B4-BE49-F238E27FC236}">
                  <a16:creationId xmlns:a16="http://schemas.microsoft.com/office/drawing/2014/main" id="{F15A9DE8-3518-24CD-BECF-9A4E83C9C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1" y="1675"/>
              <a:ext cx="11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6997" name="Line 21">
              <a:extLst>
                <a:ext uri="{FF2B5EF4-FFF2-40B4-BE49-F238E27FC236}">
                  <a16:creationId xmlns:a16="http://schemas.microsoft.com/office/drawing/2014/main" id="{439A087B-7FE8-5320-4D9B-9CD521DE4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4" y="1508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6998" name="Line 22">
              <a:extLst>
                <a:ext uri="{FF2B5EF4-FFF2-40B4-BE49-F238E27FC236}">
                  <a16:creationId xmlns:a16="http://schemas.microsoft.com/office/drawing/2014/main" id="{B9B9A7E3-820E-10C0-3451-E5F2846A8B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8" y="1678"/>
              <a:ext cx="457" cy="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6999" name="Text Box 23">
              <a:extLst>
                <a:ext uri="{FF2B5EF4-FFF2-40B4-BE49-F238E27FC236}">
                  <a16:creationId xmlns:a16="http://schemas.microsoft.com/office/drawing/2014/main" id="{3BFFC430-C136-A99C-5C5D-759A496A6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" y="1593"/>
              <a:ext cx="59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Electrode</a:t>
              </a:r>
            </a:p>
          </p:txBody>
        </p:sp>
        <p:sp>
          <p:nvSpPr>
            <p:cNvPr id="127000" name="Line 24">
              <a:extLst>
                <a:ext uri="{FF2B5EF4-FFF2-40B4-BE49-F238E27FC236}">
                  <a16:creationId xmlns:a16="http://schemas.microsoft.com/office/drawing/2014/main" id="{AC659FF7-43C8-00F3-8033-D057BB3472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9" y="188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7001" name="Text Box 25">
              <a:extLst>
                <a:ext uri="{FF2B5EF4-FFF2-40B4-BE49-F238E27FC236}">
                  <a16:creationId xmlns:a16="http://schemas.microsoft.com/office/drawing/2014/main" id="{2B696367-FFB4-3CF1-DAC1-A4CECD35A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2" y="1785"/>
              <a:ext cx="73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Insulating film</a:t>
              </a:r>
            </a:p>
          </p:txBody>
        </p:sp>
        <p:sp>
          <p:nvSpPr>
            <p:cNvPr id="127002" name="Text Box 26">
              <a:extLst>
                <a:ext uri="{FF2B5EF4-FFF2-40B4-BE49-F238E27FC236}">
                  <a16:creationId xmlns:a16="http://schemas.microsoft.com/office/drawing/2014/main" id="{E666ABA6-CE18-0054-9B06-AC3A24FA0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" y="1904"/>
              <a:ext cx="59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Waveguide</a:t>
              </a:r>
            </a:p>
          </p:txBody>
        </p:sp>
        <p:sp>
          <p:nvSpPr>
            <p:cNvPr id="127003" name="Text Box 27">
              <a:extLst>
                <a:ext uri="{FF2B5EF4-FFF2-40B4-BE49-F238E27FC236}">
                  <a16:creationId xmlns:a16="http://schemas.microsoft.com/office/drawing/2014/main" id="{3D424311-7FEC-FF79-AB41-4024A62D6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8" y="2185"/>
              <a:ext cx="59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Substrate</a:t>
              </a:r>
            </a:p>
          </p:txBody>
        </p:sp>
        <p:sp>
          <p:nvSpPr>
            <p:cNvPr id="127004" name="Freeform 28">
              <a:extLst>
                <a:ext uri="{FF2B5EF4-FFF2-40B4-BE49-F238E27FC236}">
                  <a16:creationId xmlns:a16="http://schemas.microsoft.com/office/drawing/2014/main" id="{5F22EC21-D7CB-89B6-07D8-31A0F6D44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1877"/>
              <a:ext cx="567" cy="186"/>
            </a:xfrm>
            <a:custGeom>
              <a:avLst/>
              <a:gdLst>
                <a:gd name="T0" fmla="*/ 532 w 532"/>
                <a:gd name="T1" fmla="*/ 0 h 186"/>
                <a:gd name="T2" fmla="*/ 488 w 532"/>
                <a:gd name="T3" fmla="*/ 151 h 186"/>
                <a:gd name="T4" fmla="*/ 302 w 532"/>
                <a:gd name="T5" fmla="*/ 175 h 186"/>
                <a:gd name="T6" fmla="*/ 50 w 532"/>
                <a:gd name="T7" fmla="*/ 157 h 186"/>
                <a:gd name="T8" fmla="*/ 1 w 532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" h="186">
                  <a:moveTo>
                    <a:pt x="532" y="0"/>
                  </a:moveTo>
                  <a:cubicBezTo>
                    <a:pt x="525" y="25"/>
                    <a:pt x="526" y="122"/>
                    <a:pt x="488" y="151"/>
                  </a:cubicBezTo>
                  <a:cubicBezTo>
                    <a:pt x="450" y="180"/>
                    <a:pt x="375" y="174"/>
                    <a:pt x="302" y="175"/>
                  </a:cubicBezTo>
                  <a:cubicBezTo>
                    <a:pt x="229" y="176"/>
                    <a:pt x="100" y="186"/>
                    <a:pt x="50" y="157"/>
                  </a:cubicBezTo>
                  <a:cubicBezTo>
                    <a:pt x="0" y="128"/>
                    <a:pt x="11" y="33"/>
                    <a:pt x="1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7005" name="Freeform 29">
              <a:extLst>
                <a:ext uri="{FF2B5EF4-FFF2-40B4-BE49-F238E27FC236}">
                  <a16:creationId xmlns:a16="http://schemas.microsoft.com/office/drawing/2014/main" id="{35125CA4-9F7A-B5A0-BED8-7FAAD3DAD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867"/>
              <a:ext cx="465" cy="145"/>
            </a:xfrm>
            <a:custGeom>
              <a:avLst/>
              <a:gdLst>
                <a:gd name="T0" fmla="*/ 532 w 532"/>
                <a:gd name="T1" fmla="*/ 0 h 186"/>
                <a:gd name="T2" fmla="*/ 488 w 532"/>
                <a:gd name="T3" fmla="*/ 151 h 186"/>
                <a:gd name="T4" fmla="*/ 302 w 532"/>
                <a:gd name="T5" fmla="*/ 175 h 186"/>
                <a:gd name="T6" fmla="*/ 50 w 532"/>
                <a:gd name="T7" fmla="*/ 157 h 186"/>
                <a:gd name="T8" fmla="*/ 1 w 532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" h="186">
                  <a:moveTo>
                    <a:pt x="532" y="0"/>
                  </a:moveTo>
                  <a:cubicBezTo>
                    <a:pt x="525" y="25"/>
                    <a:pt x="526" y="122"/>
                    <a:pt x="488" y="151"/>
                  </a:cubicBezTo>
                  <a:cubicBezTo>
                    <a:pt x="450" y="180"/>
                    <a:pt x="375" y="174"/>
                    <a:pt x="302" y="175"/>
                  </a:cubicBezTo>
                  <a:cubicBezTo>
                    <a:pt x="229" y="176"/>
                    <a:pt x="100" y="186"/>
                    <a:pt x="50" y="157"/>
                  </a:cubicBezTo>
                  <a:cubicBezTo>
                    <a:pt x="0" y="128"/>
                    <a:pt x="11" y="33"/>
                    <a:pt x="1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7006" name="Freeform 30">
              <a:extLst>
                <a:ext uri="{FF2B5EF4-FFF2-40B4-BE49-F238E27FC236}">
                  <a16:creationId xmlns:a16="http://schemas.microsoft.com/office/drawing/2014/main" id="{322AC52A-5623-A3A1-F600-4C0611ED8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" y="1873"/>
              <a:ext cx="368" cy="89"/>
            </a:xfrm>
            <a:custGeom>
              <a:avLst/>
              <a:gdLst>
                <a:gd name="T0" fmla="*/ 532 w 532"/>
                <a:gd name="T1" fmla="*/ 0 h 186"/>
                <a:gd name="T2" fmla="*/ 488 w 532"/>
                <a:gd name="T3" fmla="*/ 151 h 186"/>
                <a:gd name="T4" fmla="*/ 302 w 532"/>
                <a:gd name="T5" fmla="*/ 175 h 186"/>
                <a:gd name="T6" fmla="*/ 50 w 532"/>
                <a:gd name="T7" fmla="*/ 157 h 186"/>
                <a:gd name="T8" fmla="*/ 1 w 532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" h="186">
                  <a:moveTo>
                    <a:pt x="532" y="0"/>
                  </a:moveTo>
                  <a:cubicBezTo>
                    <a:pt x="525" y="25"/>
                    <a:pt x="526" y="122"/>
                    <a:pt x="488" y="151"/>
                  </a:cubicBezTo>
                  <a:cubicBezTo>
                    <a:pt x="450" y="180"/>
                    <a:pt x="375" y="174"/>
                    <a:pt x="302" y="175"/>
                  </a:cubicBezTo>
                  <a:cubicBezTo>
                    <a:pt x="229" y="176"/>
                    <a:pt x="100" y="186"/>
                    <a:pt x="50" y="157"/>
                  </a:cubicBezTo>
                  <a:cubicBezTo>
                    <a:pt x="0" y="128"/>
                    <a:pt x="11" y="33"/>
                    <a:pt x="1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7007" name="Freeform 31">
              <a:extLst>
                <a:ext uri="{FF2B5EF4-FFF2-40B4-BE49-F238E27FC236}">
                  <a16:creationId xmlns:a16="http://schemas.microsoft.com/office/drawing/2014/main" id="{BEB30BEE-125F-844D-A8B0-E078B666B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8" y="1875"/>
              <a:ext cx="567" cy="186"/>
            </a:xfrm>
            <a:custGeom>
              <a:avLst/>
              <a:gdLst>
                <a:gd name="T0" fmla="*/ 532 w 532"/>
                <a:gd name="T1" fmla="*/ 0 h 186"/>
                <a:gd name="T2" fmla="*/ 488 w 532"/>
                <a:gd name="T3" fmla="*/ 151 h 186"/>
                <a:gd name="T4" fmla="*/ 302 w 532"/>
                <a:gd name="T5" fmla="*/ 175 h 186"/>
                <a:gd name="T6" fmla="*/ 50 w 532"/>
                <a:gd name="T7" fmla="*/ 157 h 186"/>
                <a:gd name="T8" fmla="*/ 1 w 532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" h="186">
                  <a:moveTo>
                    <a:pt x="532" y="0"/>
                  </a:moveTo>
                  <a:cubicBezTo>
                    <a:pt x="525" y="25"/>
                    <a:pt x="526" y="122"/>
                    <a:pt x="488" y="151"/>
                  </a:cubicBezTo>
                  <a:cubicBezTo>
                    <a:pt x="450" y="180"/>
                    <a:pt x="375" y="174"/>
                    <a:pt x="302" y="175"/>
                  </a:cubicBezTo>
                  <a:cubicBezTo>
                    <a:pt x="229" y="176"/>
                    <a:pt x="100" y="186"/>
                    <a:pt x="50" y="157"/>
                  </a:cubicBezTo>
                  <a:cubicBezTo>
                    <a:pt x="0" y="128"/>
                    <a:pt x="11" y="33"/>
                    <a:pt x="1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7008" name="Freeform 32">
              <a:extLst>
                <a:ext uri="{FF2B5EF4-FFF2-40B4-BE49-F238E27FC236}">
                  <a16:creationId xmlns:a16="http://schemas.microsoft.com/office/drawing/2014/main" id="{B7D94922-7AEF-02B0-6120-73AFAC622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865"/>
              <a:ext cx="465" cy="145"/>
            </a:xfrm>
            <a:custGeom>
              <a:avLst/>
              <a:gdLst>
                <a:gd name="T0" fmla="*/ 532 w 532"/>
                <a:gd name="T1" fmla="*/ 0 h 186"/>
                <a:gd name="T2" fmla="*/ 488 w 532"/>
                <a:gd name="T3" fmla="*/ 151 h 186"/>
                <a:gd name="T4" fmla="*/ 302 w 532"/>
                <a:gd name="T5" fmla="*/ 175 h 186"/>
                <a:gd name="T6" fmla="*/ 50 w 532"/>
                <a:gd name="T7" fmla="*/ 157 h 186"/>
                <a:gd name="T8" fmla="*/ 1 w 532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" h="186">
                  <a:moveTo>
                    <a:pt x="532" y="0"/>
                  </a:moveTo>
                  <a:cubicBezTo>
                    <a:pt x="525" y="25"/>
                    <a:pt x="526" y="122"/>
                    <a:pt x="488" y="151"/>
                  </a:cubicBezTo>
                  <a:cubicBezTo>
                    <a:pt x="450" y="180"/>
                    <a:pt x="375" y="174"/>
                    <a:pt x="302" y="175"/>
                  </a:cubicBezTo>
                  <a:cubicBezTo>
                    <a:pt x="229" y="176"/>
                    <a:pt x="100" y="186"/>
                    <a:pt x="50" y="157"/>
                  </a:cubicBezTo>
                  <a:cubicBezTo>
                    <a:pt x="0" y="128"/>
                    <a:pt x="11" y="33"/>
                    <a:pt x="1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7009" name="Freeform 33">
              <a:extLst>
                <a:ext uri="{FF2B5EF4-FFF2-40B4-BE49-F238E27FC236}">
                  <a16:creationId xmlns:a16="http://schemas.microsoft.com/office/drawing/2014/main" id="{7F9D8C6B-669F-8C0A-82F2-676D4F3BF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871"/>
              <a:ext cx="368" cy="89"/>
            </a:xfrm>
            <a:custGeom>
              <a:avLst/>
              <a:gdLst>
                <a:gd name="T0" fmla="*/ 532 w 532"/>
                <a:gd name="T1" fmla="*/ 0 h 186"/>
                <a:gd name="T2" fmla="*/ 488 w 532"/>
                <a:gd name="T3" fmla="*/ 151 h 186"/>
                <a:gd name="T4" fmla="*/ 302 w 532"/>
                <a:gd name="T5" fmla="*/ 175 h 186"/>
                <a:gd name="T6" fmla="*/ 50 w 532"/>
                <a:gd name="T7" fmla="*/ 157 h 186"/>
                <a:gd name="T8" fmla="*/ 1 w 532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" h="186">
                  <a:moveTo>
                    <a:pt x="532" y="0"/>
                  </a:moveTo>
                  <a:cubicBezTo>
                    <a:pt x="525" y="25"/>
                    <a:pt x="526" y="122"/>
                    <a:pt x="488" y="151"/>
                  </a:cubicBezTo>
                  <a:cubicBezTo>
                    <a:pt x="450" y="180"/>
                    <a:pt x="375" y="174"/>
                    <a:pt x="302" y="175"/>
                  </a:cubicBezTo>
                  <a:cubicBezTo>
                    <a:pt x="229" y="176"/>
                    <a:pt x="100" y="186"/>
                    <a:pt x="50" y="157"/>
                  </a:cubicBezTo>
                  <a:cubicBezTo>
                    <a:pt x="0" y="128"/>
                    <a:pt x="11" y="33"/>
                    <a:pt x="1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7010" name="AutoShape 34">
              <a:extLst>
                <a:ext uri="{FF2B5EF4-FFF2-40B4-BE49-F238E27FC236}">
                  <a16:creationId xmlns:a16="http://schemas.microsoft.com/office/drawing/2014/main" id="{B5636AE0-7DC0-21E8-B997-1D2B6FF01B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498" y="1975"/>
              <a:ext cx="28" cy="5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7011" name="AutoShape 35">
              <a:extLst>
                <a:ext uri="{FF2B5EF4-FFF2-40B4-BE49-F238E27FC236}">
                  <a16:creationId xmlns:a16="http://schemas.microsoft.com/office/drawing/2014/main" id="{3DBA70A7-F0C0-857F-5FB3-C8C67CD941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498" y="1931"/>
              <a:ext cx="28" cy="5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7012" name="AutoShape 36">
              <a:extLst>
                <a:ext uri="{FF2B5EF4-FFF2-40B4-BE49-F238E27FC236}">
                  <a16:creationId xmlns:a16="http://schemas.microsoft.com/office/drawing/2014/main" id="{3B229A7B-A866-E598-40E3-E2CEDB2A52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496" y="2020"/>
              <a:ext cx="28" cy="5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7013" name="AutoShape 37">
              <a:extLst>
                <a:ext uri="{FF2B5EF4-FFF2-40B4-BE49-F238E27FC236}">
                  <a16:creationId xmlns:a16="http://schemas.microsoft.com/office/drawing/2014/main" id="{5E8CD1D6-645D-939E-C4E9-0FBD6AA7CB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3066" y="1974"/>
              <a:ext cx="28" cy="5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7014" name="AutoShape 38">
              <a:extLst>
                <a:ext uri="{FF2B5EF4-FFF2-40B4-BE49-F238E27FC236}">
                  <a16:creationId xmlns:a16="http://schemas.microsoft.com/office/drawing/2014/main" id="{B44445BE-BE25-E0EE-577B-0729D0CCF1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3066" y="1924"/>
              <a:ext cx="28" cy="5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7015" name="AutoShape 39">
              <a:extLst>
                <a:ext uri="{FF2B5EF4-FFF2-40B4-BE49-F238E27FC236}">
                  <a16:creationId xmlns:a16="http://schemas.microsoft.com/office/drawing/2014/main" id="{BAA2D838-1DE3-36ED-3F97-5E5A0B980D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3064" y="2019"/>
              <a:ext cx="28" cy="5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7016" name="Line 40">
              <a:extLst>
                <a:ext uri="{FF2B5EF4-FFF2-40B4-BE49-F238E27FC236}">
                  <a16:creationId xmlns:a16="http://schemas.microsoft.com/office/drawing/2014/main" id="{7A245EB0-E0F5-9ADE-FD43-438799E4D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0" y="2367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7017" name="Line 41">
              <a:extLst>
                <a:ext uri="{FF2B5EF4-FFF2-40B4-BE49-F238E27FC236}">
                  <a16:creationId xmlns:a16="http://schemas.microsoft.com/office/drawing/2014/main" id="{567A6548-1862-8DBF-0148-96EA11017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15" y="2145"/>
              <a:ext cx="5" cy="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7018" name="Text Box 42">
              <a:extLst>
                <a:ext uri="{FF2B5EF4-FFF2-40B4-BE49-F238E27FC236}">
                  <a16:creationId xmlns:a16="http://schemas.microsoft.com/office/drawing/2014/main" id="{59DD4EF3-1BC3-D5D7-E1FA-034B8A477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2" y="2340"/>
              <a:ext cx="1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y</a:t>
              </a:r>
            </a:p>
          </p:txBody>
        </p:sp>
        <p:sp>
          <p:nvSpPr>
            <p:cNvPr id="127019" name="Text Box 43">
              <a:extLst>
                <a:ext uri="{FF2B5EF4-FFF2-40B4-BE49-F238E27FC236}">
                  <a16:creationId xmlns:a16="http://schemas.microsoft.com/office/drawing/2014/main" id="{5664A1A3-8853-70EB-0929-5743C55B4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5" y="2085"/>
              <a:ext cx="17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x</a:t>
              </a:r>
            </a:p>
          </p:txBody>
        </p:sp>
        <p:sp>
          <p:nvSpPr>
            <p:cNvPr id="127020" name="Text Box 44">
              <a:extLst>
                <a:ext uri="{FF2B5EF4-FFF2-40B4-BE49-F238E27FC236}">
                  <a16:creationId xmlns:a16="http://schemas.microsoft.com/office/drawing/2014/main" id="{CD952CB3-97D6-158E-63E3-60DFB5A12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5" y="2286"/>
              <a:ext cx="14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</a:p>
          </p:txBody>
        </p:sp>
        <p:sp>
          <p:nvSpPr>
            <p:cNvPr id="127021" name="Oval 45">
              <a:extLst>
                <a:ext uri="{FF2B5EF4-FFF2-40B4-BE49-F238E27FC236}">
                  <a16:creationId xmlns:a16="http://schemas.microsoft.com/office/drawing/2014/main" id="{5D54CDB9-174D-E0B8-48F5-823A64B5B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2349"/>
              <a:ext cx="28" cy="2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022" name="Rectangle 46">
                <a:extLst>
                  <a:ext uri="{FF2B5EF4-FFF2-40B4-BE49-F238E27FC236}">
                    <a16:creationId xmlns:a16="http://schemas.microsoft.com/office/drawing/2014/main" id="{2BD0C506-B7C0-7388-A924-3889DF614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56" y="3297433"/>
                <a:ext cx="8224043" cy="810815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mode conversion is a wavelength selective process. The most efficient wavelength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is found by the phase-matching condition as </a:t>
                </a:r>
                <a:endParaRPr lang="ko-KR" altLang="en-US" sz="1800" dirty="0">
                  <a:latin typeface="Arial" panose="020B0604020202020204" pitchFamily="34" charset="0"/>
                  <a:ea typeface="굴림" panose="020B0600000101010101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7022" name="Rectangle 46">
                <a:extLst>
                  <a:ext uri="{FF2B5EF4-FFF2-40B4-BE49-F238E27FC236}">
                    <a16:creationId xmlns:a16="http://schemas.microsoft.com/office/drawing/2014/main" id="{2BD0C506-B7C0-7388-A924-3889DF614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856" y="3297433"/>
                <a:ext cx="8224043" cy="810815"/>
              </a:xfrm>
              <a:prstGeom prst="rect">
                <a:avLst/>
              </a:prstGeom>
              <a:blipFill>
                <a:blip r:embed="rId4"/>
                <a:stretch>
                  <a:fillRect l="-1557" t="-9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025" name="Object 49">
                <a:extLst>
                  <a:ext uri="{FF2B5EF4-FFF2-40B4-BE49-F238E27FC236}">
                    <a16:creationId xmlns:a16="http://schemas.microsoft.com/office/drawing/2014/main" id="{BCB6DDB1-7A5F-C68A-F301-DB12033D2313}"/>
                  </a:ext>
                </a:extLst>
              </p:cNvPr>
              <p:cNvSpPr txBox="1"/>
              <p:nvPr/>
            </p:nvSpPr>
            <p:spPr bwMode="auto">
              <a:xfrm>
                <a:off x="2582468" y="3910008"/>
                <a:ext cx="1745456" cy="30122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𝑇𝑀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𝑇𝐸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7025" name="Object 49">
                <a:extLst>
                  <a:ext uri="{FF2B5EF4-FFF2-40B4-BE49-F238E27FC236}">
                    <a16:creationId xmlns:a16="http://schemas.microsoft.com/office/drawing/2014/main" id="{BCB6DDB1-7A5F-C68A-F301-DB12033D2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2468" y="3910008"/>
                <a:ext cx="1745456" cy="3012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041" name="Rectangle 65">
                <a:extLst>
                  <a:ext uri="{FF2B5EF4-FFF2-40B4-BE49-F238E27FC236}">
                    <a16:creationId xmlns:a16="http://schemas.microsoft.com/office/drawing/2014/main" id="{968C8648-E5DD-F841-7663-54B4D1B98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1044" y="4268981"/>
                <a:ext cx="3582988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rgbClr val="0033CC"/>
                  </a:buClr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 2" panose="05020102010507070707" pitchFamily="18" charset="2"/>
                  <a:buChar char="¡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3399FF"/>
                  </a:buClr>
                  <a:buFont typeface="Wingdings 2" panose="05020102010507070707" pitchFamily="18" charset="2"/>
                  <a:buChar char="¡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en-US" altLang="ko-KR" sz="1500" dirty="0">
                    <a:ea typeface="굴림" panose="020B0600000101010101" pitchFamily="34" charset="-127"/>
                  </a:rPr>
                  <a:t>: the period of interdigital electrodes</a:t>
                </a:r>
                <a:endParaRPr lang="ko-KR" altLang="en-US" sz="1500" dirty="0"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27041" name="Rectangle 65">
                <a:extLst>
                  <a:ext uri="{FF2B5EF4-FFF2-40B4-BE49-F238E27FC236}">
                    <a16:creationId xmlns:a16="http://schemas.microsoft.com/office/drawing/2014/main" id="{968C8648-E5DD-F841-7663-54B4D1B980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1044" y="4268981"/>
                <a:ext cx="3582988" cy="338138"/>
              </a:xfrm>
              <a:prstGeom prst="rect">
                <a:avLst/>
              </a:prstGeom>
              <a:blipFill>
                <a:blip r:embed="rId6"/>
                <a:stretch>
                  <a:fillRect b="-17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048" name="Rectangle 72">
                <a:extLst>
                  <a:ext uri="{FF2B5EF4-FFF2-40B4-BE49-F238E27FC236}">
                    <a16:creationId xmlns:a16="http://schemas.microsoft.com/office/drawing/2014/main" id="{1AC27834-EE9B-C204-A9B1-FDCC306A4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150" y="4529137"/>
                <a:ext cx="57150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rgbClr val="0033CC"/>
                  </a:buClr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 2" panose="05020102010507070707" pitchFamily="18" charset="2"/>
                  <a:buChar char="¡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3399FF"/>
                  </a:buClr>
                  <a:buFont typeface="Wingdings 2" panose="05020102010507070707" pitchFamily="18" charset="2"/>
                  <a:buChar char="¡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altLang="ko-KR" sz="1500" dirty="0">
                    <a:ea typeface="굴림" panose="020B0600000101010101" pitchFamily="34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</m:oMath>
                </a14:m>
                <a:r>
                  <a:rPr lang="en-US" altLang="ko-KR" sz="1500" dirty="0">
                    <a:ea typeface="굴림" panose="020B0600000101010101" pitchFamily="34" charset="-127"/>
                  </a:rPr>
                  <a:t>: the effective refractive indices of the TM and TE modes </a:t>
                </a:r>
                <a:endParaRPr lang="ko-KR" altLang="en-US" sz="1500" dirty="0"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27048" name="Rectangle 72">
                <a:extLst>
                  <a:ext uri="{FF2B5EF4-FFF2-40B4-BE49-F238E27FC236}">
                    <a16:creationId xmlns:a16="http://schemas.microsoft.com/office/drawing/2014/main" id="{1AC27834-EE9B-C204-A9B1-FDCC306A4A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2150" y="4529137"/>
                <a:ext cx="5715000" cy="338138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Rectangle 3">
            <a:extLst>
              <a:ext uri="{FF2B5EF4-FFF2-40B4-BE49-F238E27FC236}">
                <a16:creationId xmlns:a16="http://schemas.microsoft.com/office/drawing/2014/main" id="{C0843CFE-7C0C-A21B-6DC5-D905B0D36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Principal Characteristics of EMF</a:t>
            </a:r>
            <a:r>
              <a:rPr lang="en-US" altLang="ko-KR">
                <a:ea typeface="굴림" panose="020B0600000101010101" pitchFamily="34" charset="-127"/>
              </a:rPr>
              <a:t> Continued…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64" name="Rectangle 64">
                <a:extLst>
                  <a:ext uri="{FF2B5EF4-FFF2-40B4-BE49-F238E27FC236}">
                    <a16:creationId xmlns:a16="http://schemas.microsoft.com/office/drawing/2014/main" id="{2DDC537F-46F1-91B8-078C-0182ACCEF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941" y="1028700"/>
                <a:ext cx="6123384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rgbClr val="0033CC"/>
                  </a:buClr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 2" panose="05020102010507070707" pitchFamily="18" charset="2"/>
                  <a:buChar char="¡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3399FF"/>
                  </a:buClr>
                  <a:buFont typeface="Wingdings 2" panose="05020102010507070707" pitchFamily="18" charset="2"/>
                  <a:buChar char="¡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ko-KR" sz="1500" dirty="0">
                    <a:ea typeface="굴림" panose="020B0600000101010101" pitchFamily="34" charset="-127"/>
                  </a:rPr>
                  <a:t>Wavelength selection is achieved if the first order phase-matching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5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500" dirty="0">
                    <a:ea typeface="굴림" panose="020B0600000101010101" pitchFamily="34" charset="-127"/>
                  </a:rPr>
                  <a:t> is satisfied, where the phase mismatch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1500" dirty="0">
                    <a:ea typeface="굴림" panose="020B0600000101010101" pitchFamily="34" charset="-127"/>
                  </a:rPr>
                  <a:t>  is </a:t>
                </a:r>
              </a:p>
            </p:txBody>
          </p:sp>
        </mc:Choice>
        <mc:Fallback xmlns="">
          <p:sp>
            <p:nvSpPr>
              <p:cNvPr id="153664" name="Rectangle 64">
                <a:extLst>
                  <a:ext uri="{FF2B5EF4-FFF2-40B4-BE49-F238E27FC236}">
                    <a16:creationId xmlns:a16="http://schemas.microsoft.com/office/drawing/2014/main" id="{2DDC537F-46F1-91B8-078C-0182ACCEF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941" y="1028700"/>
                <a:ext cx="6123384" cy="733425"/>
              </a:xfrm>
              <a:prstGeom prst="rect">
                <a:avLst/>
              </a:prstGeom>
              <a:blipFill>
                <a:blip r:embed="rId3"/>
                <a:stretch>
                  <a:fillRect l="-199" t="-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67" name="Object 67">
                <a:extLst>
                  <a:ext uri="{FF2B5EF4-FFF2-40B4-BE49-F238E27FC236}">
                    <a16:creationId xmlns:a16="http://schemas.microsoft.com/office/drawing/2014/main" id="{E4ACBCB6-F5E0-0C18-4063-32352235899F}"/>
                  </a:ext>
                </a:extLst>
              </p:cNvPr>
              <p:cNvSpPr txBox="1"/>
              <p:nvPr/>
            </p:nvSpPr>
            <p:spPr bwMode="auto">
              <a:xfrm>
                <a:off x="2041922" y="1535906"/>
                <a:ext cx="2825353" cy="45243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𝜋𝜈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𝑇𝑀</m:t>
                              </m:r>
                            </m:sub>
                          </m:s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𝑇𝐸</m:t>
                              </m:r>
                            </m:sub>
                          </m:s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den>
                      </m:f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53667" name="Object 67">
                <a:extLst>
                  <a:ext uri="{FF2B5EF4-FFF2-40B4-BE49-F238E27FC236}">
                    <a16:creationId xmlns:a16="http://schemas.microsoft.com/office/drawing/2014/main" id="{E4ACBCB6-F5E0-0C18-4063-323522358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1922" y="1535906"/>
                <a:ext cx="2825353" cy="452438"/>
              </a:xfrm>
              <a:prstGeom prst="rect">
                <a:avLst/>
              </a:prstGeom>
              <a:blipFill>
                <a:blip r:embed="rId4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69" name="Rectangle 69">
                <a:extLst>
                  <a:ext uri="{FF2B5EF4-FFF2-40B4-BE49-F238E27FC236}">
                    <a16:creationId xmlns:a16="http://schemas.microsoft.com/office/drawing/2014/main" id="{CB1B9386-F7D5-B306-CD11-F45EC7576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941" y="2099072"/>
                <a:ext cx="6123384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rgbClr val="0033CC"/>
                  </a:buClr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 2" panose="05020102010507070707" pitchFamily="18" charset="2"/>
                  <a:buChar char="¡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3399FF"/>
                  </a:buClr>
                  <a:buFont typeface="Wingdings 2" panose="05020102010507070707" pitchFamily="18" charset="2"/>
                  <a:buChar char="¡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ko-KR" sz="1500" dirty="0">
                    <a:ea typeface="굴림" panose="020B0600000101010101" pitchFamily="34" charset="-127"/>
                  </a:rPr>
                  <a:t>Hence, the tuning mechanism can be described by applying the voltage to the electrodes to nullify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1500" dirty="0">
                    <a:ea typeface="굴림" panose="020B0600000101010101" pitchFamily="34" charset="-127"/>
                  </a:rPr>
                  <a:t> at any desired frequency </a:t>
                </a:r>
              </a:p>
            </p:txBody>
          </p:sp>
        </mc:Choice>
        <mc:Fallback xmlns="">
          <p:sp>
            <p:nvSpPr>
              <p:cNvPr id="153669" name="Rectangle 69">
                <a:extLst>
                  <a:ext uri="{FF2B5EF4-FFF2-40B4-BE49-F238E27FC236}">
                    <a16:creationId xmlns:a16="http://schemas.microsoft.com/office/drawing/2014/main" id="{CB1B9386-F7D5-B306-CD11-F45EC7576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941" y="2099072"/>
                <a:ext cx="6123384" cy="733425"/>
              </a:xfrm>
              <a:prstGeom prst="rect">
                <a:avLst/>
              </a:prstGeom>
              <a:blipFill>
                <a:blip r:embed="rId5"/>
                <a:stretch>
                  <a:fillRect l="-199" t="-49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72" name="Rectangle 72">
            <a:extLst>
              <a:ext uri="{FF2B5EF4-FFF2-40B4-BE49-F238E27FC236}">
                <a16:creationId xmlns:a16="http://schemas.microsoft.com/office/drawing/2014/main" id="{317A212A-1AD5-9E02-B31B-EBA922AAC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941" y="2974580"/>
            <a:ext cx="6123384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1500">
                <a:ea typeface="굴림" panose="020B0600000101010101" pitchFamily="34" charset="-127"/>
              </a:rPr>
              <a:t>The sidelobe levels are suppressed to below –10 dB by applying a raised cosine apodizing function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73" name="Object 73">
                <a:extLst>
                  <a:ext uri="{FF2B5EF4-FFF2-40B4-BE49-F238E27FC236}">
                    <a16:creationId xmlns:a16="http://schemas.microsoft.com/office/drawing/2014/main" id="{1A6EE4B7-7BC4-CF6B-0D1C-AFC454B6FA21}"/>
                  </a:ext>
                </a:extLst>
              </p:cNvPr>
              <p:cNvSpPr txBox="1"/>
              <p:nvPr/>
            </p:nvSpPr>
            <p:spPr bwMode="auto">
              <a:xfrm>
                <a:off x="2007393" y="3583782"/>
                <a:ext cx="3177381" cy="51316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+0.5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en-US" sz="1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−0.5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300"/>
              </a:p>
            </p:txBody>
          </p:sp>
        </mc:Choice>
        <mc:Fallback xmlns="">
          <p:sp>
            <p:nvSpPr>
              <p:cNvPr id="153673" name="Object 73">
                <a:extLst>
                  <a:ext uri="{FF2B5EF4-FFF2-40B4-BE49-F238E27FC236}">
                    <a16:creationId xmlns:a16="http://schemas.microsoft.com/office/drawing/2014/main" id="{1A6EE4B7-7BC4-CF6B-0D1C-AFC454B6F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7393" y="3583782"/>
                <a:ext cx="3177381" cy="5131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2C2E2B71-5482-DD7F-BDC0-1B53CFED5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III. Design of Electrooptic Matched Filter</a:t>
            </a:r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B85DEA54-D512-348D-9CC5-3FB492AABD5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1"/>
            <a:ext cx="8641655" cy="756840"/>
          </a:xfrm>
        </p:spPr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The array of electrode sets is formed on the waveguide which is fabricated on an x-cut y-propagating LiNbO3 substrate by Ti diffusion 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128004" name="Text Box 4">
            <a:extLst>
              <a:ext uri="{FF2B5EF4-FFF2-40B4-BE49-F238E27FC236}">
                <a16:creationId xmlns:a16="http://schemas.microsoft.com/office/drawing/2014/main" id="{1045FCB1-9A26-C7A4-3959-B347026CF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" y="667790"/>
            <a:ext cx="61769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1" dirty="0">
                <a:ea typeface="굴림" panose="020B0600000101010101" pitchFamily="34" charset="-127"/>
              </a:rPr>
              <a:t>B. </a:t>
            </a:r>
            <a:r>
              <a:rPr lang="en-US" altLang="en-US" sz="1400" b="1" noProof="1"/>
              <a:t>The EMF Structure for Two Sidebands</a:t>
            </a:r>
            <a:endParaRPr lang="en-US" altLang="ko-KR" sz="1400" b="1" dirty="0">
              <a:ea typeface="굴림" panose="020B06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007" name="Rectangle 7">
                <a:extLst>
                  <a:ext uri="{FF2B5EF4-FFF2-40B4-BE49-F238E27FC236}">
                    <a16:creationId xmlns:a16="http://schemas.microsoft.com/office/drawing/2014/main" id="{522364D6-C008-23B3-41B6-07DE1AFE9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90" y="2155031"/>
                <a:ext cx="7907735" cy="1079897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 lnSpcReduction="10000"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EMF is composed of 8 sets of interdigital electrodes to tune 5 wavelength channels according to the relation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/2+1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                 </a:t>
                </a: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where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: the number of  selectable  channels,  </a:t>
                </a: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: the  number of electrode  sets </a:t>
                </a:r>
                <a:endParaRPr lang="ko-KR" altLang="en-US" sz="1800" dirty="0">
                  <a:latin typeface="Arial" panose="020B0604020202020204" pitchFamily="34" charset="0"/>
                  <a:ea typeface="굴림" panose="020B0600000101010101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8007" name="Rectangle 7">
                <a:extLst>
                  <a:ext uri="{FF2B5EF4-FFF2-40B4-BE49-F238E27FC236}">
                    <a16:creationId xmlns:a16="http://schemas.microsoft.com/office/drawing/2014/main" id="{522364D6-C008-23B3-41B6-07DE1AFE9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590" y="2155031"/>
                <a:ext cx="7907735" cy="1079897"/>
              </a:xfrm>
              <a:prstGeom prst="rect">
                <a:avLst/>
              </a:prstGeom>
              <a:blipFill>
                <a:blip r:embed="rId3"/>
                <a:stretch>
                  <a:fillRect l="-1619" t="-9605" b="-4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>
            <a:extLst>
              <a:ext uri="{FF2B5EF4-FFF2-40B4-BE49-F238E27FC236}">
                <a16:creationId xmlns:a16="http://schemas.microsoft.com/office/drawing/2014/main" id="{08A87C20-F896-A16D-5466-B2A944E72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EMF Structure for Two Sidebands Continued…</a:t>
            </a:r>
          </a:p>
        </p:txBody>
      </p:sp>
      <p:sp>
        <p:nvSpPr>
          <p:cNvPr id="97642" name="Rectangle 362">
            <a:extLst>
              <a:ext uri="{FF2B5EF4-FFF2-40B4-BE49-F238E27FC236}">
                <a16:creationId xmlns:a16="http://schemas.microsoft.com/office/drawing/2014/main" id="{4766FFF8-0E94-4A92-F9BA-B037115B127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883719" y="3541071"/>
            <a:ext cx="5214637" cy="665956"/>
          </a:xfrm>
          <a:noFill/>
          <a:ln/>
        </p:spPr>
        <p:txBody>
          <a:bodyPr>
            <a:normAutofit fontScale="77500" lnSpcReduction="20000"/>
          </a:bodyPr>
          <a:lstStyle/>
          <a:p>
            <a:pPr marL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ko-KR" dirty="0">
                <a:ea typeface="굴림" panose="020B0600000101010101" pitchFamily="34" charset="-127"/>
              </a:rPr>
              <a:t>: spatial period of interdigital electrodes</a:t>
            </a:r>
          </a:p>
          <a:p>
            <a:pPr marL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ko-KR" dirty="0">
                <a:ea typeface="굴림" panose="020B0600000101010101" pitchFamily="34" charset="-127"/>
              </a:rPr>
              <a:t>: period of electrode sets </a:t>
            </a:r>
          </a:p>
          <a:p>
            <a:pPr marL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ko-KR" dirty="0">
                <a:ea typeface="굴림" panose="020B0600000101010101" pitchFamily="34" charset="-127"/>
              </a:rPr>
              <a:t>: length of single mode conversion region 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grpSp>
        <p:nvGrpSpPr>
          <p:cNvPr id="97641" name="Group 361">
            <a:extLst>
              <a:ext uri="{FF2B5EF4-FFF2-40B4-BE49-F238E27FC236}">
                <a16:creationId xmlns:a16="http://schemas.microsoft.com/office/drawing/2014/main" id="{56FF6AF4-63DC-6859-6109-C45BA09C2D63}"/>
              </a:ext>
            </a:extLst>
          </p:cNvPr>
          <p:cNvGrpSpPr>
            <a:grpSpLocks/>
          </p:cNvGrpSpPr>
          <p:nvPr/>
        </p:nvGrpSpPr>
        <p:grpSpPr bwMode="auto">
          <a:xfrm>
            <a:off x="389335" y="997744"/>
            <a:ext cx="4858940" cy="2221706"/>
            <a:chOff x="952" y="1338"/>
            <a:chExt cx="4081" cy="1866"/>
          </a:xfrm>
        </p:grpSpPr>
        <p:sp>
          <p:nvSpPr>
            <p:cNvPr id="97515" name="Rectangle 235">
              <a:extLst>
                <a:ext uri="{FF2B5EF4-FFF2-40B4-BE49-F238E27FC236}">
                  <a16:creationId xmlns:a16="http://schemas.microsoft.com/office/drawing/2014/main" id="{097A66E2-2A47-1595-0CAA-4BAB1D9EC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93"/>
              <a:ext cx="2891" cy="12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16" name="Freeform 236">
              <a:extLst>
                <a:ext uri="{FF2B5EF4-FFF2-40B4-BE49-F238E27FC236}">
                  <a16:creationId xmlns:a16="http://schemas.microsoft.com/office/drawing/2014/main" id="{B6645090-6D5F-D6F4-6463-62CB2168C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2868"/>
              <a:ext cx="2982" cy="88"/>
            </a:xfrm>
            <a:custGeom>
              <a:avLst/>
              <a:gdLst>
                <a:gd name="T0" fmla="*/ 0 w 2982"/>
                <a:gd name="T1" fmla="*/ 0 h 88"/>
                <a:gd name="T2" fmla="*/ 78 w 2982"/>
                <a:gd name="T3" fmla="*/ 88 h 88"/>
                <a:gd name="T4" fmla="*/ 2982 w 2982"/>
                <a:gd name="T5" fmla="*/ 87 h 88"/>
                <a:gd name="T6" fmla="*/ 2892 w 2982"/>
                <a:gd name="T7" fmla="*/ 1 h 88"/>
                <a:gd name="T8" fmla="*/ 0 w 2982"/>
                <a:gd name="T9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82" h="88">
                  <a:moveTo>
                    <a:pt x="0" y="0"/>
                  </a:moveTo>
                  <a:lnTo>
                    <a:pt x="78" y="88"/>
                  </a:lnTo>
                  <a:lnTo>
                    <a:pt x="2982" y="87"/>
                  </a:lnTo>
                  <a:lnTo>
                    <a:pt x="2892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17" name="Freeform 237">
              <a:extLst>
                <a:ext uri="{FF2B5EF4-FFF2-40B4-BE49-F238E27FC236}">
                  <a16:creationId xmlns:a16="http://schemas.microsoft.com/office/drawing/2014/main" id="{A85A228F-CE9B-33AC-4E68-16C891F57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1592"/>
              <a:ext cx="86" cy="1362"/>
            </a:xfrm>
            <a:custGeom>
              <a:avLst/>
              <a:gdLst>
                <a:gd name="T0" fmla="*/ 86 w 86"/>
                <a:gd name="T1" fmla="*/ 1362 h 1362"/>
                <a:gd name="T2" fmla="*/ 84 w 86"/>
                <a:gd name="T3" fmla="*/ 64 h 1362"/>
                <a:gd name="T4" fmla="*/ 0 w 86"/>
                <a:gd name="T5" fmla="*/ 0 h 1362"/>
                <a:gd name="T6" fmla="*/ 1 w 86"/>
                <a:gd name="T7" fmla="*/ 1277 h 1362"/>
                <a:gd name="T8" fmla="*/ 86 w 86"/>
                <a:gd name="T9" fmla="*/ 1362 h 1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1362">
                  <a:moveTo>
                    <a:pt x="86" y="1362"/>
                  </a:moveTo>
                  <a:lnTo>
                    <a:pt x="84" y="64"/>
                  </a:lnTo>
                  <a:lnTo>
                    <a:pt x="0" y="0"/>
                  </a:lnTo>
                  <a:lnTo>
                    <a:pt x="1" y="1277"/>
                  </a:lnTo>
                  <a:lnTo>
                    <a:pt x="86" y="13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18" name="Rectangle 238">
              <a:extLst>
                <a:ext uri="{FF2B5EF4-FFF2-40B4-BE49-F238E27FC236}">
                  <a16:creationId xmlns:a16="http://schemas.microsoft.com/office/drawing/2014/main" id="{EF376B57-E095-3803-C6C6-AFA5E0B14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217"/>
              <a:ext cx="2889" cy="59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19" name="Rectangle 239">
              <a:extLst>
                <a:ext uri="{FF2B5EF4-FFF2-40B4-BE49-F238E27FC236}">
                  <a16:creationId xmlns:a16="http://schemas.microsoft.com/office/drawing/2014/main" id="{A2A1C8C3-052F-A92C-92CF-151F27EAA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1" y="1941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20" name="Line 240">
              <a:extLst>
                <a:ext uri="{FF2B5EF4-FFF2-40B4-BE49-F238E27FC236}">
                  <a16:creationId xmlns:a16="http://schemas.microsoft.com/office/drawing/2014/main" id="{50B40401-DEFB-AB61-8336-1020A5152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4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21" name="Line 241">
              <a:extLst>
                <a:ext uri="{FF2B5EF4-FFF2-40B4-BE49-F238E27FC236}">
                  <a16:creationId xmlns:a16="http://schemas.microsoft.com/office/drawing/2014/main" id="{ECBDF7C8-7368-02FC-1E6E-1D3979313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0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22" name="Line 242">
              <a:extLst>
                <a:ext uri="{FF2B5EF4-FFF2-40B4-BE49-F238E27FC236}">
                  <a16:creationId xmlns:a16="http://schemas.microsoft.com/office/drawing/2014/main" id="{59B7A17D-D910-51F2-0E86-F2E65EF88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6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23" name="Line 243">
              <a:extLst>
                <a:ext uri="{FF2B5EF4-FFF2-40B4-BE49-F238E27FC236}">
                  <a16:creationId xmlns:a16="http://schemas.microsoft.com/office/drawing/2014/main" id="{B283AF25-64E0-BA1C-610B-513FCE45D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3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24" name="Line 244">
              <a:extLst>
                <a:ext uri="{FF2B5EF4-FFF2-40B4-BE49-F238E27FC236}">
                  <a16:creationId xmlns:a16="http://schemas.microsoft.com/office/drawing/2014/main" id="{0D0063EE-B33D-FFC8-3877-536191981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9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25" name="Line 245">
              <a:extLst>
                <a:ext uri="{FF2B5EF4-FFF2-40B4-BE49-F238E27FC236}">
                  <a16:creationId xmlns:a16="http://schemas.microsoft.com/office/drawing/2014/main" id="{6C6A03B9-3184-CF62-3F29-45C1239FE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27" name="Rectangle 247">
              <a:extLst>
                <a:ext uri="{FF2B5EF4-FFF2-40B4-BE49-F238E27FC236}">
                  <a16:creationId xmlns:a16="http://schemas.microsoft.com/office/drawing/2014/main" id="{E766D62E-18F3-46E7-2621-11228736D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6" y="1936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28" name="Line 248">
              <a:extLst>
                <a:ext uri="{FF2B5EF4-FFF2-40B4-BE49-F238E27FC236}">
                  <a16:creationId xmlns:a16="http://schemas.microsoft.com/office/drawing/2014/main" id="{2E27A229-C221-1A1E-E3ED-7A919C9EF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29" name="Line 249">
              <a:extLst>
                <a:ext uri="{FF2B5EF4-FFF2-40B4-BE49-F238E27FC236}">
                  <a16:creationId xmlns:a16="http://schemas.microsoft.com/office/drawing/2014/main" id="{F281D73E-EC48-7FC7-EBF8-75FB16AA2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30" name="Line 250">
              <a:extLst>
                <a:ext uri="{FF2B5EF4-FFF2-40B4-BE49-F238E27FC236}">
                  <a16:creationId xmlns:a16="http://schemas.microsoft.com/office/drawing/2014/main" id="{A7907980-8B54-C0F1-2FA9-5F43DA7BD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1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31" name="Line 251">
              <a:extLst>
                <a:ext uri="{FF2B5EF4-FFF2-40B4-BE49-F238E27FC236}">
                  <a16:creationId xmlns:a16="http://schemas.microsoft.com/office/drawing/2014/main" id="{775F7AB4-ADCF-E940-BAAC-7019CD3E8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8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32" name="Line 252">
              <a:extLst>
                <a:ext uri="{FF2B5EF4-FFF2-40B4-BE49-F238E27FC236}">
                  <a16:creationId xmlns:a16="http://schemas.microsoft.com/office/drawing/2014/main" id="{ECDD6253-57DA-A1D0-CFA4-CAB2799DE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4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33" name="Line 253">
              <a:extLst>
                <a:ext uri="{FF2B5EF4-FFF2-40B4-BE49-F238E27FC236}">
                  <a16:creationId xmlns:a16="http://schemas.microsoft.com/office/drawing/2014/main" id="{47CD88D3-2F36-8A77-B32C-1A49E31EF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8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34" name="Rectangle 254">
              <a:extLst>
                <a:ext uri="{FF2B5EF4-FFF2-40B4-BE49-F238E27FC236}">
                  <a16:creationId xmlns:a16="http://schemas.microsoft.com/office/drawing/2014/main" id="{A345F185-D50E-2A2B-49C9-55C6AAC7D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" y="1941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35" name="Line 255">
              <a:extLst>
                <a:ext uri="{FF2B5EF4-FFF2-40B4-BE49-F238E27FC236}">
                  <a16:creationId xmlns:a16="http://schemas.microsoft.com/office/drawing/2014/main" id="{DDCDD84D-9892-E1B4-ABC0-12A71EC3F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4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36" name="Line 256">
              <a:extLst>
                <a:ext uri="{FF2B5EF4-FFF2-40B4-BE49-F238E27FC236}">
                  <a16:creationId xmlns:a16="http://schemas.microsoft.com/office/drawing/2014/main" id="{76A4A7F4-E88C-6238-F704-3295A476E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0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37" name="Line 257">
              <a:extLst>
                <a:ext uri="{FF2B5EF4-FFF2-40B4-BE49-F238E27FC236}">
                  <a16:creationId xmlns:a16="http://schemas.microsoft.com/office/drawing/2014/main" id="{64A23BDC-833F-76D9-FF3A-65E8EE9FD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6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38" name="Line 258">
              <a:extLst>
                <a:ext uri="{FF2B5EF4-FFF2-40B4-BE49-F238E27FC236}">
                  <a16:creationId xmlns:a16="http://schemas.microsoft.com/office/drawing/2014/main" id="{8418283A-2CA4-42FF-D4E3-57127D0CC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39" name="Line 259">
              <a:extLst>
                <a:ext uri="{FF2B5EF4-FFF2-40B4-BE49-F238E27FC236}">
                  <a16:creationId xmlns:a16="http://schemas.microsoft.com/office/drawing/2014/main" id="{C3C7981D-E2F7-A353-2A29-166B2A6D8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9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40" name="Line 260">
              <a:extLst>
                <a:ext uri="{FF2B5EF4-FFF2-40B4-BE49-F238E27FC236}">
                  <a16:creationId xmlns:a16="http://schemas.microsoft.com/office/drawing/2014/main" id="{A04F998D-BE02-74D0-FF65-FD7AE1460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3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41" name="Rectangle 261">
              <a:extLst>
                <a:ext uri="{FF2B5EF4-FFF2-40B4-BE49-F238E27FC236}">
                  <a16:creationId xmlns:a16="http://schemas.microsoft.com/office/drawing/2014/main" id="{6780BEC9-8E5E-9746-2701-38C7F7CE9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36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42" name="Line 262">
              <a:extLst>
                <a:ext uri="{FF2B5EF4-FFF2-40B4-BE49-F238E27FC236}">
                  <a16:creationId xmlns:a16="http://schemas.microsoft.com/office/drawing/2014/main" id="{32A48CD9-6D41-8C85-2350-CDE10841E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43" name="Line 263">
              <a:extLst>
                <a:ext uri="{FF2B5EF4-FFF2-40B4-BE49-F238E27FC236}">
                  <a16:creationId xmlns:a16="http://schemas.microsoft.com/office/drawing/2014/main" id="{132C20B3-5594-8716-A04A-02A02F18C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5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44" name="Line 264">
              <a:extLst>
                <a:ext uri="{FF2B5EF4-FFF2-40B4-BE49-F238E27FC236}">
                  <a16:creationId xmlns:a16="http://schemas.microsoft.com/office/drawing/2014/main" id="{9962B4C0-F458-8606-0A7C-E79F93F9D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1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45" name="Line 265">
              <a:extLst>
                <a:ext uri="{FF2B5EF4-FFF2-40B4-BE49-F238E27FC236}">
                  <a16:creationId xmlns:a16="http://schemas.microsoft.com/office/drawing/2014/main" id="{9C9DF057-68BC-ECFB-AD6E-67EFBBA60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8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46" name="Line 266">
              <a:extLst>
                <a:ext uri="{FF2B5EF4-FFF2-40B4-BE49-F238E27FC236}">
                  <a16:creationId xmlns:a16="http://schemas.microsoft.com/office/drawing/2014/main" id="{C2A890C0-B740-9852-56DD-92A29F184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47" name="Line 267">
              <a:extLst>
                <a:ext uri="{FF2B5EF4-FFF2-40B4-BE49-F238E27FC236}">
                  <a16:creationId xmlns:a16="http://schemas.microsoft.com/office/drawing/2014/main" id="{E2BE14CE-0853-FAF0-0F6D-756B1C164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48" name="Rectangle 268">
              <a:extLst>
                <a:ext uri="{FF2B5EF4-FFF2-40B4-BE49-F238E27FC236}">
                  <a16:creationId xmlns:a16="http://schemas.microsoft.com/office/drawing/2014/main" id="{ED794AE9-709E-7EE0-36DC-65024CE62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0" y="1941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49" name="Line 269">
              <a:extLst>
                <a:ext uri="{FF2B5EF4-FFF2-40B4-BE49-F238E27FC236}">
                  <a16:creationId xmlns:a16="http://schemas.microsoft.com/office/drawing/2014/main" id="{7562D28C-677C-4D6A-FF03-226EF4463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3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50" name="Line 270">
              <a:extLst>
                <a:ext uri="{FF2B5EF4-FFF2-40B4-BE49-F238E27FC236}">
                  <a16:creationId xmlns:a16="http://schemas.microsoft.com/office/drawing/2014/main" id="{4AC5B5DC-0766-30EB-1093-C149B8979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9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51" name="Line 271">
              <a:extLst>
                <a:ext uri="{FF2B5EF4-FFF2-40B4-BE49-F238E27FC236}">
                  <a16:creationId xmlns:a16="http://schemas.microsoft.com/office/drawing/2014/main" id="{1A561A56-8F3D-51E6-2711-A5F9EC51E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52" name="Line 272">
              <a:extLst>
                <a:ext uri="{FF2B5EF4-FFF2-40B4-BE49-F238E27FC236}">
                  <a16:creationId xmlns:a16="http://schemas.microsoft.com/office/drawing/2014/main" id="{246B074D-727D-C5B2-2A64-D84687405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2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53" name="Line 273">
              <a:extLst>
                <a:ext uri="{FF2B5EF4-FFF2-40B4-BE49-F238E27FC236}">
                  <a16:creationId xmlns:a16="http://schemas.microsoft.com/office/drawing/2014/main" id="{3C3CD543-54B0-5621-1D7B-B03FF89A3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54" name="Line 274">
              <a:extLst>
                <a:ext uri="{FF2B5EF4-FFF2-40B4-BE49-F238E27FC236}">
                  <a16:creationId xmlns:a16="http://schemas.microsoft.com/office/drawing/2014/main" id="{119FDB4D-D814-7515-5476-8BDF172BB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55" name="Rectangle 275">
              <a:extLst>
                <a:ext uri="{FF2B5EF4-FFF2-40B4-BE49-F238E27FC236}">
                  <a16:creationId xmlns:a16="http://schemas.microsoft.com/office/drawing/2014/main" id="{855DAED8-4CFD-3800-B77F-774FEC302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1936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56" name="Line 276">
              <a:extLst>
                <a:ext uri="{FF2B5EF4-FFF2-40B4-BE49-F238E27FC236}">
                  <a16:creationId xmlns:a16="http://schemas.microsoft.com/office/drawing/2014/main" id="{1782E49D-60F2-48E8-B9EE-9EC0AF672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4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57" name="Line 277">
              <a:extLst>
                <a:ext uri="{FF2B5EF4-FFF2-40B4-BE49-F238E27FC236}">
                  <a16:creationId xmlns:a16="http://schemas.microsoft.com/office/drawing/2014/main" id="{852446B0-DA27-DCD0-743F-DC72D112E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58" name="Line 278">
              <a:extLst>
                <a:ext uri="{FF2B5EF4-FFF2-40B4-BE49-F238E27FC236}">
                  <a16:creationId xmlns:a16="http://schemas.microsoft.com/office/drawing/2014/main" id="{4867A453-3C97-072F-F21F-98EB2675C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59" name="Line 279">
              <a:extLst>
                <a:ext uri="{FF2B5EF4-FFF2-40B4-BE49-F238E27FC236}">
                  <a16:creationId xmlns:a16="http://schemas.microsoft.com/office/drawing/2014/main" id="{21210A34-BEC6-63C0-0802-D1DB21BAF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60" name="Line 280">
              <a:extLst>
                <a:ext uri="{FF2B5EF4-FFF2-40B4-BE49-F238E27FC236}">
                  <a16:creationId xmlns:a16="http://schemas.microsoft.com/office/drawing/2014/main" id="{04CBD3FC-6353-14CF-B824-7E7025767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61" name="Line 281">
              <a:extLst>
                <a:ext uri="{FF2B5EF4-FFF2-40B4-BE49-F238E27FC236}">
                  <a16:creationId xmlns:a16="http://schemas.microsoft.com/office/drawing/2014/main" id="{305D5799-5388-5CE2-58DC-A7697DE8C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62" name="Rectangle 282">
              <a:extLst>
                <a:ext uri="{FF2B5EF4-FFF2-40B4-BE49-F238E27FC236}">
                  <a16:creationId xmlns:a16="http://schemas.microsoft.com/office/drawing/2014/main" id="{DE575151-D40D-ED44-197A-57BB96C76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941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63" name="Line 283">
              <a:extLst>
                <a:ext uri="{FF2B5EF4-FFF2-40B4-BE49-F238E27FC236}">
                  <a16:creationId xmlns:a16="http://schemas.microsoft.com/office/drawing/2014/main" id="{E8233EE0-CB0D-95FE-37C2-342F36C62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64" name="Line 284">
              <a:extLst>
                <a:ext uri="{FF2B5EF4-FFF2-40B4-BE49-F238E27FC236}">
                  <a16:creationId xmlns:a16="http://schemas.microsoft.com/office/drawing/2014/main" id="{1502910E-F8DE-A325-1A62-8B5665B61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5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65" name="Line 285">
              <a:extLst>
                <a:ext uri="{FF2B5EF4-FFF2-40B4-BE49-F238E27FC236}">
                  <a16:creationId xmlns:a16="http://schemas.microsoft.com/office/drawing/2014/main" id="{269EFDE3-5608-41DE-BA00-76CFF8BDC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66" name="Line 286">
              <a:extLst>
                <a:ext uri="{FF2B5EF4-FFF2-40B4-BE49-F238E27FC236}">
                  <a16:creationId xmlns:a16="http://schemas.microsoft.com/office/drawing/2014/main" id="{70D9210A-DA13-4297-A740-EC1337597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8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67" name="Line 287">
              <a:extLst>
                <a:ext uri="{FF2B5EF4-FFF2-40B4-BE49-F238E27FC236}">
                  <a16:creationId xmlns:a16="http://schemas.microsoft.com/office/drawing/2014/main" id="{4FF95885-9B6D-7146-CF8D-46A133A40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4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68" name="Line 288">
              <a:extLst>
                <a:ext uri="{FF2B5EF4-FFF2-40B4-BE49-F238E27FC236}">
                  <a16:creationId xmlns:a16="http://schemas.microsoft.com/office/drawing/2014/main" id="{9984BE19-8B72-5AFA-4E5F-21F488B3D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69" name="Rectangle 289">
              <a:extLst>
                <a:ext uri="{FF2B5EF4-FFF2-40B4-BE49-F238E27FC236}">
                  <a16:creationId xmlns:a16="http://schemas.microsoft.com/office/drawing/2014/main" id="{810761C9-B4E4-3C31-593C-0E8D512B8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1" y="1936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570" name="Line 290">
              <a:extLst>
                <a:ext uri="{FF2B5EF4-FFF2-40B4-BE49-F238E27FC236}">
                  <a16:creationId xmlns:a16="http://schemas.microsoft.com/office/drawing/2014/main" id="{BBFB36E3-95EB-F631-718A-0DDBEB9FE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71" name="Line 291">
              <a:extLst>
                <a:ext uri="{FF2B5EF4-FFF2-40B4-BE49-F238E27FC236}">
                  <a16:creationId xmlns:a16="http://schemas.microsoft.com/office/drawing/2014/main" id="{892AE1EA-04C7-9DE5-4E2D-BD56F65F0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0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72" name="Line 292">
              <a:extLst>
                <a:ext uri="{FF2B5EF4-FFF2-40B4-BE49-F238E27FC236}">
                  <a16:creationId xmlns:a16="http://schemas.microsoft.com/office/drawing/2014/main" id="{23683B6A-E91F-4B1F-6D46-122836342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73" name="Line 293">
              <a:extLst>
                <a:ext uri="{FF2B5EF4-FFF2-40B4-BE49-F238E27FC236}">
                  <a16:creationId xmlns:a16="http://schemas.microsoft.com/office/drawing/2014/main" id="{C462C168-BAB6-95E1-8AF6-71E36F48A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74" name="Line 294">
              <a:extLst>
                <a:ext uri="{FF2B5EF4-FFF2-40B4-BE49-F238E27FC236}">
                  <a16:creationId xmlns:a16="http://schemas.microsoft.com/office/drawing/2014/main" id="{259873AA-BCAD-695F-C01C-8EA0DC7CC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75" name="Line 295">
              <a:extLst>
                <a:ext uri="{FF2B5EF4-FFF2-40B4-BE49-F238E27FC236}">
                  <a16:creationId xmlns:a16="http://schemas.microsoft.com/office/drawing/2014/main" id="{909B62E2-E741-6A6F-B604-878EF5B09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76" name="Freeform 296">
              <a:extLst>
                <a:ext uri="{FF2B5EF4-FFF2-40B4-BE49-F238E27FC236}">
                  <a16:creationId xmlns:a16="http://schemas.microsoft.com/office/drawing/2014/main" id="{8D5CCBE4-BFDA-3E4D-5228-EF396467D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2217"/>
              <a:ext cx="18" cy="78"/>
            </a:xfrm>
            <a:custGeom>
              <a:avLst/>
              <a:gdLst>
                <a:gd name="T0" fmla="*/ 0 w 18"/>
                <a:gd name="T1" fmla="*/ 0 h 78"/>
                <a:gd name="T2" fmla="*/ 18 w 18"/>
                <a:gd name="T3" fmla="*/ 21 h 78"/>
                <a:gd name="T4" fmla="*/ 18 w 18"/>
                <a:gd name="T5" fmla="*/ 78 h 78"/>
                <a:gd name="T6" fmla="*/ 1 w 18"/>
                <a:gd name="T7" fmla="*/ 59 h 78"/>
                <a:gd name="T8" fmla="*/ 0 w 18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8">
                  <a:moveTo>
                    <a:pt x="0" y="0"/>
                  </a:moveTo>
                  <a:lnTo>
                    <a:pt x="18" y="21"/>
                  </a:lnTo>
                  <a:lnTo>
                    <a:pt x="18" y="78"/>
                  </a:lnTo>
                  <a:lnTo>
                    <a:pt x="1" y="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77" name="Line 297">
              <a:extLst>
                <a:ext uri="{FF2B5EF4-FFF2-40B4-BE49-F238E27FC236}">
                  <a16:creationId xmlns:a16="http://schemas.microsoft.com/office/drawing/2014/main" id="{5205C96E-94E0-BE89-5D89-C7B0DD3FB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7" y="1508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78" name="Line 298">
              <a:extLst>
                <a:ext uri="{FF2B5EF4-FFF2-40B4-BE49-F238E27FC236}">
                  <a16:creationId xmlns:a16="http://schemas.microsoft.com/office/drawing/2014/main" id="{6BAF46D1-685D-FCF0-9786-422E0D4B18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1" y="1508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79" name="Line 299">
              <a:extLst>
                <a:ext uri="{FF2B5EF4-FFF2-40B4-BE49-F238E27FC236}">
                  <a16:creationId xmlns:a16="http://schemas.microsoft.com/office/drawing/2014/main" id="{31D6A0E8-91F0-EF69-8846-D26FC185A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9" y="1512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80" name="Line 300">
              <a:extLst>
                <a:ext uri="{FF2B5EF4-FFF2-40B4-BE49-F238E27FC236}">
                  <a16:creationId xmlns:a16="http://schemas.microsoft.com/office/drawing/2014/main" id="{338C52A3-2B71-DF83-0600-822F44A817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1512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81" name="Line 301">
              <a:extLst>
                <a:ext uri="{FF2B5EF4-FFF2-40B4-BE49-F238E27FC236}">
                  <a16:creationId xmlns:a16="http://schemas.microsoft.com/office/drawing/2014/main" id="{AC449869-36EF-D64F-A93D-BF51A0CC51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6" y="1508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82" name="Line 302">
              <a:extLst>
                <a:ext uri="{FF2B5EF4-FFF2-40B4-BE49-F238E27FC236}">
                  <a16:creationId xmlns:a16="http://schemas.microsoft.com/office/drawing/2014/main" id="{BB35F385-08F0-7016-219A-597BD7CF6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6" y="1508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83" name="Line 303">
              <a:extLst>
                <a:ext uri="{FF2B5EF4-FFF2-40B4-BE49-F238E27FC236}">
                  <a16:creationId xmlns:a16="http://schemas.microsoft.com/office/drawing/2014/main" id="{80DDAB45-F2CD-A5B9-BAA9-D0536D73A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4" y="1512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84" name="Line 304">
              <a:extLst>
                <a:ext uri="{FF2B5EF4-FFF2-40B4-BE49-F238E27FC236}">
                  <a16:creationId xmlns:a16="http://schemas.microsoft.com/office/drawing/2014/main" id="{E216669B-C50F-AC8E-938B-7807D59789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8" y="1512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85" name="Text Box 305">
              <a:extLst>
                <a:ext uri="{FF2B5EF4-FFF2-40B4-BE49-F238E27FC236}">
                  <a16:creationId xmlns:a16="http://schemas.microsoft.com/office/drawing/2014/main" id="{E11A54F6-A07F-2A67-E9CC-72D92B068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1338"/>
              <a:ext cx="270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1               </a:t>
              </a: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2               </a:t>
              </a: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3</a:t>
              </a: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          V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4</a:t>
              </a: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          V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5               </a:t>
              </a: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6               </a:t>
              </a: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7               </a:t>
              </a: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8</a:t>
              </a:r>
              <a:endParaRPr lang="en-US" altLang="ko-KR" sz="9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97586" name="Line 306">
              <a:extLst>
                <a:ext uri="{FF2B5EF4-FFF2-40B4-BE49-F238E27FC236}">
                  <a16:creationId xmlns:a16="http://schemas.microsoft.com/office/drawing/2014/main" id="{5459043A-9436-E79D-E988-D2930A704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5" y="2529"/>
              <a:ext cx="0" cy="5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grpSp>
          <p:nvGrpSpPr>
            <p:cNvPr id="97587" name="Group 307">
              <a:extLst>
                <a:ext uri="{FF2B5EF4-FFF2-40B4-BE49-F238E27FC236}">
                  <a16:creationId xmlns:a16="http://schemas.microsoft.com/office/drawing/2014/main" id="{58F3B512-A9AB-E911-0308-7B956966C4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3068"/>
              <a:ext cx="170" cy="70"/>
              <a:chOff x="2937" y="2529"/>
              <a:chExt cx="170" cy="70"/>
            </a:xfrm>
          </p:grpSpPr>
          <p:sp>
            <p:nvSpPr>
              <p:cNvPr id="97588" name="Line 308">
                <a:extLst>
                  <a:ext uri="{FF2B5EF4-FFF2-40B4-BE49-F238E27FC236}">
                    <a16:creationId xmlns:a16="http://schemas.microsoft.com/office/drawing/2014/main" id="{08B2E15E-19B8-2DCC-A85E-03CEA2A1D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7" y="2529"/>
                <a:ext cx="1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97589" name="Line 309">
                <a:extLst>
                  <a:ext uri="{FF2B5EF4-FFF2-40B4-BE49-F238E27FC236}">
                    <a16:creationId xmlns:a16="http://schemas.microsoft.com/office/drawing/2014/main" id="{5542BE71-8061-CC2D-9037-D1FA64429D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2" y="2563"/>
                <a:ext cx="11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97590" name="Line 310">
                <a:extLst>
                  <a:ext uri="{FF2B5EF4-FFF2-40B4-BE49-F238E27FC236}">
                    <a16:creationId xmlns:a16="http://schemas.microsoft.com/office/drawing/2014/main" id="{AE8AC64E-5D11-A56B-9234-16FAB1B3C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2" y="2599"/>
                <a:ext cx="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</p:grpSp>
        <p:sp>
          <p:nvSpPr>
            <p:cNvPr id="97591" name="Line 311">
              <a:extLst>
                <a:ext uri="{FF2B5EF4-FFF2-40B4-BE49-F238E27FC236}">
                  <a16:creationId xmlns:a16="http://schemas.microsoft.com/office/drawing/2014/main" id="{8C499F1F-4196-DA84-9E44-A7A500E434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" y="2557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92" name="Line 312">
              <a:extLst>
                <a:ext uri="{FF2B5EF4-FFF2-40B4-BE49-F238E27FC236}">
                  <a16:creationId xmlns:a16="http://schemas.microsoft.com/office/drawing/2014/main" id="{6DD28E45-D3EA-D802-3147-7944D8AE3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7" y="2557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94" name="Line 314">
              <a:extLst>
                <a:ext uri="{FF2B5EF4-FFF2-40B4-BE49-F238E27FC236}">
                  <a16:creationId xmlns:a16="http://schemas.microsoft.com/office/drawing/2014/main" id="{6FBA36F3-7F71-4D0D-5018-BB6E5388F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7" y="2670"/>
              <a:ext cx="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95" name="Text Box 315">
              <a:extLst>
                <a:ext uri="{FF2B5EF4-FFF2-40B4-BE49-F238E27FC236}">
                  <a16:creationId xmlns:a16="http://schemas.microsoft.com/office/drawing/2014/main" id="{1079F642-23A4-8D41-055F-F4CB40062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" y="2705"/>
              <a:ext cx="1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ko-KR" altLang="en-US" sz="900">
                  <a:ea typeface="굴림" panose="020B0600000101010101" pitchFamily="34" charset="-127"/>
                  <a:sym typeface="Symbol" panose="05050102010706020507" pitchFamily="18" charset="2"/>
                </a:rPr>
                <a:t></a:t>
              </a:r>
            </a:p>
          </p:txBody>
        </p:sp>
        <p:sp>
          <p:nvSpPr>
            <p:cNvPr id="97596" name="Line 316">
              <a:extLst>
                <a:ext uri="{FF2B5EF4-FFF2-40B4-BE49-F238E27FC236}">
                  <a16:creationId xmlns:a16="http://schemas.microsoft.com/office/drawing/2014/main" id="{2D1611C1-C725-62C9-EE4E-53430872BD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4" y="167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97" name="Line 317">
              <a:extLst>
                <a:ext uri="{FF2B5EF4-FFF2-40B4-BE49-F238E27FC236}">
                  <a16:creationId xmlns:a16="http://schemas.microsoft.com/office/drawing/2014/main" id="{7AAE4C69-EC47-1D9F-227D-8A32BC7D4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8" y="1678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98" name="Line 318">
              <a:extLst>
                <a:ext uri="{FF2B5EF4-FFF2-40B4-BE49-F238E27FC236}">
                  <a16:creationId xmlns:a16="http://schemas.microsoft.com/office/drawing/2014/main" id="{F3B1EAE7-4EE9-57D0-C360-1C00B45493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4" y="1678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599" name="Line 319">
              <a:extLst>
                <a:ext uri="{FF2B5EF4-FFF2-40B4-BE49-F238E27FC236}">
                  <a16:creationId xmlns:a16="http://schemas.microsoft.com/office/drawing/2014/main" id="{97743771-D7DD-6E49-08A1-FCAB6F6DD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8" y="1686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00" name="Line 320">
              <a:extLst>
                <a:ext uri="{FF2B5EF4-FFF2-40B4-BE49-F238E27FC236}">
                  <a16:creationId xmlns:a16="http://schemas.microsoft.com/office/drawing/2014/main" id="{B471FE29-FC36-A2BD-1C92-4EB21DBF0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4" y="1791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01" name="Line 321">
              <a:extLst>
                <a:ext uri="{FF2B5EF4-FFF2-40B4-BE49-F238E27FC236}">
                  <a16:creationId xmlns:a16="http://schemas.microsoft.com/office/drawing/2014/main" id="{A5869990-F170-8420-977F-6B53FEB3C4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4" y="1791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02" name="Line 322">
              <a:extLst>
                <a:ext uri="{FF2B5EF4-FFF2-40B4-BE49-F238E27FC236}">
                  <a16:creationId xmlns:a16="http://schemas.microsoft.com/office/drawing/2014/main" id="{651B228C-3492-60D0-829B-C3AC98DB9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4" y="1791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03" name="Text Box 323">
              <a:extLst>
                <a:ext uri="{FF2B5EF4-FFF2-40B4-BE49-F238E27FC236}">
                  <a16:creationId xmlns:a16="http://schemas.microsoft.com/office/drawing/2014/main" id="{046ACD61-F139-3F14-3DD7-6B3569F28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1618"/>
              <a:ext cx="107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                       </a:t>
              </a:r>
            </a:p>
          </p:txBody>
        </p:sp>
        <p:sp>
          <p:nvSpPr>
            <p:cNvPr id="97604" name="Line 324">
              <a:extLst>
                <a:ext uri="{FF2B5EF4-FFF2-40B4-BE49-F238E27FC236}">
                  <a16:creationId xmlns:a16="http://schemas.microsoft.com/office/drawing/2014/main" id="{B32759C0-11DC-41C1-69BC-8398574F5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069"/>
              <a:ext cx="0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05" name="Text Box 325">
              <a:extLst>
                <a:ext uri="{FF2B5EF4-FFF2-40B4-BE49-F238E27FC236}">
                  <a16:creationId xmlns:a16="http://schemas.microsoft.com/office/drawing/2014/main" id="{A6982F25-3E0C-78F5-872D-8FBA624CC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" y="2406"/>
              <a:ext cx="283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TE/TM</a:t>
              </a:r>
            </a:p>
          </p:txBody>
        </p:sp>
        <p:sp>
          <p:nvSpPr>
            <p:cNvPr id="97606" name="Text Box 326">
              <a:extLst>
                <a:ext uri="{FF2B5EF4-FFF2-40B4-BE49-F238E27FC236}">
                  <a16:creationId xmlns:a16="http://schemas.microsoft.com/office/drawing/2014/main" id="{47F74373-9C0B-41BA-33EE-27B32A90A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" y="2141"/>
              <a:ext cx="28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P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i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97607" name="Text Box 327">
              <a:extLst>
                <a:ext uri="{FF2B5EF4-FFF2-40B4-BE49-F238E27FC236}">
                  <a16:creationId xmlns:a16="http://schemas.microsoft.com/office/drawing/2014/main" id="{97379AF2-F741-237E-1E73-A7A2DF0AD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1" y="2157"/>
              <a:ext cx="28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P</a:t>
              </a:r>
              <a:r>
                <a:rPr lang="en-US" altLang="ko-KR" sz="9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o</a:t>
              </a:r>
              <a:endParaRPr lang="en-US" altLang="ko-KR" sz="9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97608" name="Line 328">
              <a:extLst>
                <a:ext uri="{FF2B5EF4-FFF2-40B4-BE49-F238E27FC236}">
                  <a16:creationId xmlns:a16="http://schemas.microsoft.com/office/drawing/2014/main" id="{4A6A3E2C-34AA-63E4-EB39-DC5A852DA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9" y="2144"/>
              <a:ext cx="198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09" name="AutoShape 329">
              <a:extLst>
                <a:ext uri="{FF2B5EF4-FFF2-40B4-BE49-F238E27FC236}">
                  <a16:creationId xmlns:a16="http://schemas.microsoft.com/office/drawing/2014/main" id="{5F85FEDF-3698-8106-526F-D1040023F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" y="2217"/>
              <a:ext cx="353" cy="67"/>
            </a:xfrm>
            <a:prstGeom prst="rightArrow">
              <a:avLst>
                <a:gd name="adj1" fmla="val 50000"/>
                <a:gd name="adj2" fmla="val 13171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610" name="Text Box 330">
              <a:extLst>
                <a:ext uri="{FF2B5EF4-FFF2-40B4-BE49-F238E27FC236}">
                  <a16:creationId xmlns:a16="http://schemas.microsoft.com/office/drawing/2014/main" id="{FCE62C77-B78D-7280-3C4D-6E62243645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365"/>
              <a:ext cx="31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TM/TE</a:t>
              </a:r>
            </a:p>
          </p:txBody>
        </p:sp>
        <p:sp>
          <p:nvSpPr>
            <p:cNvPr id="97611" name="Line 331">
              <a:extLst>
                <a:ext uri="{FF2B5EF4-FFF2-40B4-BE49-F238E27FC236}">
                  <a16:creationId xmlns:a16="http://schemas.microsoft.com/office/drawing/2014/main" id="{6C97BAEC-BE60-C9B6-42DC-DFCFF3D0F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3035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12" name="Line 332">
              <a:extLst>
                <a:ext uri="{FF2B5EF4-FFF2-40B4-BE49-F238E27FC236}">
                  <a16:creationId xmlns:a16="http://schemas.microsoft.com/office/drawing/2014/main" id="{EB1CB8E1-1DBD-AD14-192B-103D06D076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3" y="2877"/>
              <a:ext cx="121" cy="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13" name="Line 333">
              <a:extLst>
                <a:ext uri="{FF2B5EF4-FFF2-40B4-BE49-F238E27FC236}">
                  <a16:creationId xmlns:a16="http://schemas.microsoft.com/office/drawing/2014/main" id="{D5F075AE-A02E-909E-1655-1A85EC5C7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65" y="2754"/>
              <a:ext cx="2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14" name="Text Box 334">
              <a:extLst>
                <a:ext uri="{FF2B5EF4-FFF2-40B4-BE49-F238E27FC236}">
                  <a16:creationId xmlns:a16="http://schemas.microsoft.com/office/drawing/2014/main" id="{29BAE5A2-3C63-4307-74A5-79B47870F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" y="3008"/>
              <a:ext cx="1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y</a:t>
              </a:r>
            </a:p>
          </p:txBody>
        </p:sp>
        <p:sp>
          <p:nvSpPr>
            <p:cNvPr id="97615" name="Text Box 335">
              <a:extLst>
                <a:ext uri="{FF2B5EF4-FFF2-40B4-BE49-F238E27FC236}">
                  <a16:creationId xmlns:a16="http://schemas.microsoft.com/office/drawing/2014/main" id="{47273D4A-7724-7693-D85C-4679DA3D5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2834"/>
              <a:ext cx="17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x</a:t>
              </a:r>
            </a:p>
          </p:txBody>
        </p:sp>
        <p:sp>
          <p:nvSpPr>
            <p:cNvPr id="97616" name="Text Box 336">
              <a:extLst>
                <a:ext uri="{FF2B5EF4-FFF2-40B4-BE49-F238E27FC236}">
                  <a16:creationId xmlns:a16="http://schemas.microsoft.com/office/drawing/2014/main" id="{B948D950-15A5-ECDF-190D-B85F34346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3" y="2699"/>
              <a:ext cx="14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</a:p>
          </p:txBody>
        </p:sp>
        <p:sp>
          <p:nvSpPr>
            <p:cNvPr id="97617" name="AutoShape 337">
              <a:extLst>
                <a:ext uri="{FF2B5EF4-FFF2-40B4-BE49-F238E27FC236}">
                  <a16:creationId xmlns:a16="http://schemas.microsoft.com/office/drawing/2014/main" id="{43D710F7-FEEB-C47C-E727-DDDF35694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2223"/>
              <a:ext cx="353" cy="67"/>
            </a:xfrm>
            <a:prstGeom prst="rightArrow">
              <a:avLst>
                <a:gd name="adj1" fmla="val 50000"/>
                <a:gd name="adj2" fmla="val 13171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622" name="Line 342">
              <a:extLst>
                <a:ext uri="{FF2B5EF4-FFF2-40B4-BE49-F238E27FC236}">
                  <a16:creationId xmlns:a16="http://schemas.microsoft.com/office/drawing/2014/main" id="{1585E9CA-480F-1C82-5249-27C8503F65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2" y="2670"/>
              <a:ext cx="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23" name="Line 343">
              <a:extLst>
                <a:ext uri="{FF2B5EF4-FFF2-40B4-BE49-F238E27FC236}">
                  <a16:creationId xmlns:a16="http://schemas.microsoft.com/office/drawing/2014/main" id="{CC60366D-1818-BAF2-A94E-96FB9372D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564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24" name="Line 344">
              <a:extLst>
                <a:ext uri="{FF2B5EF4-FFF2-40B4-BE49-F238E27FC236}">
                  <a16:creationId xmlns:a16="http://schemas.microsoft.com/office/drawing/2014/main" id="{F53A6448-1825-FD06-FDC8-A1F73A2BB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0" y="2564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26" name="Text Box 346">
              <a:extLst>
                <a:ext uri="{FF2B5EF4-FFF2-40B4-BE49-F238E27FC236}">
                  <a16:creationId xmlns:a16="http://schemas.microsoft.com/office/drawing/2014/main" id="{5B8CE7CE-F0A3-E196-176C-AE69D056E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4" y="2687"/>
              <a:ext cx="44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l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c      </a:t>
              </a: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l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p</a:t>
              </a:r>
              <a:endParaRPr lang="ko-KR" altLang="en-US" sz="900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endParaRPr>
            </a:p>
          </p:txBody>
        </p:sp>
        <p:sp>
          <p:nvSpPr>
            <p:cNvPr id="97629" name="Line 349">
              <a:extLst>
                <a:ext uri="{FF2B5EF4-FFF2-40B4-BE49-F238E27FC236}">
                  <a16:creationId xmlns:a16="http://schemas.microsoft.com/office/drawing/2014/main" id="{926015C6-9D32-BE75-7813-397E2B894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670"/>
              <a:ext cx="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31" name="Rectangle 351">
              <a:extLst>
                <a:ext uri="{FF2B5EF4-FFF2-40B4-BE49-F238E27FC236}">
                  <a16:creationId xmlns:a16="http://schemas.microsoft.com/office/drawing/2014/main" id="{30C4ECE3-CA7F-8119-474C-6092AF79E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9" y="2506"/>
              <a:ext cx="252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97633" name="Text Box 353">
              <a:extLst>
                <a:ext uri="{FF2B5EF4-FFF2-40B4-BE49-F238E27FC236}">
                  <a16:creationId xmlns:a16="http://schemas.microsoft.com/office/drawing/2014/main" id="{0E74A27F-2F6A-84C7-29AA-ECD0C1BF9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8" y="3010"/>
              <a:ext cx="48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LiNbO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3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97634" name="Line 354">
              <a:extLst>
                <a:ext uri="{FF2B5EF4-FFF2-40B4-BE49-F238E27FC236}">
                  <a16:creationId xmlns:a16="http://schemas.microsoft.com/office/drawing/2014/main" id="{17DEF3EB-06ED-71D1-36E3-FFCBFD2B8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" y="2907"/>
              <a:ext cx="114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35" name="Line 355">
              <a:extLst>
                <a:ext uri="{FF2B5EF4-FFF2-40B4-BE49-F238E27FC236}">
                  <a16:creationId xmlns:a16="http://schemas.microsoft.com/office/drawing/2014/main" id="{037773A1-6BD7-4D68-B420-20D38185AF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5" y="1536"/>
              <a:ext cx="148" cy="6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36" name="Text Box 356">
              <a:extLst>
                <a:ext uri="{FF2B5EF4-FFF2-40B4-BE49-F238E27FC236}">
                  <a16:creationId xmlns:a16="http://schemas.microsoft.com/office/drawing/2014/main" id="{39F4921F-15A2-488A-0147-364C9DEBF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6" y="1366"/>
              <a:ext cx="53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Ti:LiNbO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3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97639" name="Line 359">
              <a:extLst>
                <a:ext uri="{FF2B5EF4-FFF2-40B4-BE49-F238E27FC236}">
                  <a16:creationId xmlns:a16="http://schemas.microsoft.com/office/drawing/2014/main" id="{7A0D7B04-7089-196F-A244-0B1208FC6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0" y="2671"/>
              <a:ext cx="15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97640" name="Line 360">
              <a:extLst>
                <a:ext uri="{FF2B5EF4-FFF2-40B4-BE49-F238E27FC236}">
                  <a16:creationId xmlns:a16="http://schemas.microsoft.com/office/drawing/2014/main" id="{3FBA57E4-6666-2AC9-9F5D-E47E291D9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1" y="2567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643" name="Object 363">
                <a:extLst>
                  <a:ext uri="{FF2B5EF4-FFF2-40B4-BE49-F238E27FC236}">
                    <a16:creationId xmlns:a16="http://schemas.microsoft.com/office/drawing/2014/main" id="{8360B05B-836E-BBC0-46EE-3F9705DF941C}"/>
                  </a:ext>
                </a:extLst>
              </p:cNvPr>
              <p:cNvSpPr txBox="1"/>
              <p:nvPr/>
            </p:nvSpPr>
            <p:spPr bwMode="auto">
              <a:xfrm>
                <a:off x="841971" y="3450980"/>
                <a:ext cx="1152524" cy="23098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=21 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97643" name="Object 363">
                <a:extLst>
                  <a:ext uri="{FF2B5EF4-FFF2-40B4-BE49-F238E27FC236}">
                    <a16:creationId xmlns:a16="http://schemas.microsoft.com/office/drawing/2014/main" id="{8360B05B-836E-BBC0-46EE-3F9705DF9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1971" y="3450980"/>
                <a:ext cx="1152524" cy="230981"/>
              </a:xfrm>
              <a:prstGeom prst="rect">
                <a:avLst/>
              </a:prstGeom>
              <a:blipFill>
                <a:blip r:embed="rId3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647" name="Object 367">
                <a:extLst>
                  <a:ext uri="{FF2B5EF4-FFF2-40B4-BE49-F238E27FC236}">
                    <a16:creationId xmlns:a16="http://schemas.microsoft.com/office/drawing/2014/main" id="{D40704CA-AE3F-0A59-CF5E-BA6223311A63}"/>
                  </a:ext>
                </a:extLst>
              </p:cNvPr>
              <p:cNvSpPr txBox="1"/>
              <p:nvPr/>
            </p:nvSpPr>
            <p:spPr bwMode="auto">
              <a:xfrm>
                <a:off x="794147" y="3721101"/>
                <a:ext cx="1078706" cy="18692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=200⋅</m:t>
                      </m:r>
                      <m:r>
                        <m:rPr>
                          <m:sty m:val="p"/>
                        </m:rP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97647" name="Object 367">
                <a:extLst>
                  <a:ext uri="{FF2B5EF4-FFF2-40B4-BE49-F238E27FC236}">
                    <a16:creationId xmlns:a16="http://schemas.microsoft.com/office/drawing/2014/main" id="{D40704CA-AE3F-0A59-CF5E-BA622331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4147" y="3721101"/>
                <a:ext cx="1078706" cy="186929"/>
              </a:xfrm>
              <a:prstGeom prst="rect">
                <a:avLst/>
              </a:prstGeom>
              <a:blipFill>
                <a:blip r:embed="rId4"/>
                <a:stretch>
                  <a:fillRect b="-38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649" name="Object 369">
                <a:extLst>
                  <a:ext uri="{FF2B5EF4-FFF2-40B4-BE49-F238E27FC236}">
                    <a16:creationId xmlns:a16="http://schemas.microsoft.com/office/drawing/2014/main" id="{571A1662-EDF2-124C-0299-5F2ED353A1A1}"/>
                  </a:ext>
                </a:extLst>
              </p:cNvPr>
              <p:cNvSpPr txBox="1"/>
              <p:nvPr/>
            </p:nvSpPr>
            <p:spPr bwMode="auto">
              <a:xfrm>
                <a:off x="187722" y="3974306"/>
                <a:ext cx="1617266" cy="26550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=(179+3/4)⋅</m:t>
                      </m:r>
                      <m:r>
                        <m:rPr>
                          <m:sty m:val="p"/>
                        </m:rP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97649" name="Object 369">
                <a:extLst>
                  <a:ext uri="{FF2B5EF4-FFF2-40B4-BE49-F238E27FC236}">
                    <a16:creationId xmlns:a16="http://schemas.microsoft.com/office/drawing/2014/main" id="{571A1662-EDF2-124C-0299-5F2ED353A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722" y="3974306"/>
                <a:ext cx="1617266" cy="265509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D982391C-F655-33B2-E909-57A305152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Coupling Strength Distribution</a:t>
            </a:r>
          </a:p>
        </p:txBody>
      </p:sp>
      <p:sp>
        <p:nvSpPr>
          <p:cNvPr id="154749" name="Rectangle 125">
            <a:extLst>
              <a:ext uri="{FF2B5EF4-FFF2-40B4-BE49-F238E27FC236}">
                <a16:creationId xmlns:a16="http://schemas.microsoft.com/office/drawing/2014/main" id="{4B0BDC1D-ECBB-C06E-345F-97E8F249D34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1"/>
            <a:ext cx="8641655" cy="709272"/>
          </a:xfrm>
        </p:spPr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The ideal coupling strength distribution along the length of the electrode sets in the structure for two sidebands is 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750" name="Object 126">
                <a:extLst>
                  <a:ext uri="{FF2B5EF4-FFF2-40B4-BE49-F238E27FC236}">
                    <a16:creationId xmlns:a16="http://schemas.microsoft.com/office/drawing/2014/main" id="{8CD3D86D-6305-10AA-3C22-1B4228B2F07E}"/>
                  </a:ext>
                </a:extLst>
              </p:cNvPr>
              <p:cNvSpPr txBox="1"/>
              <p:nvPr/>
            </p:nvSpPr>
            <p:spPr bwMode="auto">
              <a:xfrm>
                <a:off x="1054100" y="1638300"/>
                <a:ext cx="3340894" cy="31551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=1, 2, 3,⋯, 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4750" name="Object 126">
                <a:extLst>
                  <a:ext uri="{FF2B5EF4-FFF2-40B4-BE49-F238E27FC236}">
                    <a16:creationId xmlns:a16="http://schemas.microsoft.com/office/drawing/2014/main" id="{8CD3D86D-6305-10AA-3C22-1B4228B2F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4100" y="1638300"/>
                <a:ext cx="3340894" cy="315515"/>
              </a:xfrm>
              <a:prstGeom prst="rect">
                <a:avLst/>
              </a:prstGeom>
              <a:blipFill>
                <a:blip r:embed="rId3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752" name="Object 128">
                <a:extLst>
                  <a:ext uri="{FF2B5EF4-FFF2-40B4-BE49-F238E27FC236}">
                    <a16:creationId xmlns:a16="http://schemas.microsoft.com/office/drawing/2014/main" id="{38658EA4-A316-285B-140A-2234DC2FE6F9}"/>
                  </a:ext>
                </a:extLst>
              </p:cNvPr>
              <p:cNvSpPr txBox="1"/>
              <p:nvPr/>
            </p:nvSpPr>
            <p:spPr bwMode="auto">
              <a:xfrm>
                <a:off x="1052910" y="2178843"/>
                <a:ext cx="472678" cy="283369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4752" name="Object 128">
                <a:extLst>
                  <a:ext uri="{FF2B5EF4-FFF2-40B4-BE49-F238E27FC236}">
                    <a16:creationId xmlns:a16="http://schemas.microsoft.com/office/drawing/2014/main" id="{38658EA4-A316-285B-140A-2234DC2FE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2910" y="2178843"/>
                <a:ext cx="472678" cy="283369"/>
              </a:xfrm>
              <a:prstGeom prst="rect">
                <a:avLst/>
              </a:prstGeom>
              <a:blipFill>
                <a:blip r:embed="rId4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754" name="Rectangle 130">
            <a:extLst>
              <a:ext uri="{FF2B5EF4-FFF2-40B4-BE49-F238E27FC236}">
                <a16:creationId xmlns:a16="http://schemas.microsoft.com/office/drawing/2014/main" id="{F464E6F6-BE57-8136-AB84-74D650892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106" y="2132752"/>
            <a:ext cx="219803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ko-KR" sz="1500">
                <a:latin typeface="Times New Roman" panose="02020603050405020304" pitchFamily="18" charset="0"/>
                <a:ea typeface="굴림" panose="020B0600000101010101" pitchFamily="34" charset="-127"/>
              </a:rPr>
              <a:t>: the apodization function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755" name="Object 131">
                <a:extLst>
                  <a:ext uri="{FF2B5EF4-FFF2-40B4-BE49-F238E27FC236}">
                    <a16:creationId xmlns:a16="http://schemas.microsoft.com/office/drawing/2014/main" id="{944CDE5B-9A43-7352-EB2F-A8123AC216C1}"/>
                  </a:ext>
                </a:extLst>
              </p:cNvPr>
              <p:cNvSpPr txBox="1"/>
              <p:nvPr/>
            </p:nvSpPr>
            <p:spPr bwMode="auto">
              <a:xfrm>
                <a:off x="1120776" y="2522933"/>
                <a:ext cx="1822847" cy="500063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755" name="Object 131">
                <a:extLst>
                  <a:ext uri="{FF2B5EF4-FFF2-40B4-BE49-F238E27FC236}">
                    <a16:creationId xmlns:a16="http://schemas.microsoft.com/office/drawing/2014/main" id="{944CDE5B-9A43-7352-EB2F-A8123AC21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0776" y="2522933"/>
                <a:ext cx="1822847" cy="5000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757" name="Rectangle 133">
                <a:extLst>
                  <a:ext uri="{FF2B5EF4-FFF2-40B4-BE49-F238E27FC236}">
                    <a16:creationId xmlns:a16="http://schemas.microsoft.com/office/drawing/2014/main" id="{77AB6B38-8DA0-7BE4-6766-A06E18BA5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" y="3189685"/>
                <a:ext cx="7632700" cy="1191815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 fontScale="92500" lnSpcReduction="10000"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integral of coupling coefficient over the interaction length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is given by </a:t>
                </a: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for a complete TE↔TM power conversion </a:t>
                </a:r>
                <a:endParaRPr lang="ko-KR" altLang="en-US" sz="1800" dirty="0">
                  <a:latin typeface="Arial" panose="020B0604020202020204" pitchFamily="34" charset="0"/>
                  <a:ea typeface="굴림" panose="020B0600000101010101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4757" name="Rectangle 133">
                <a:extLst>
                  <a:ext uri="{FF2B5EF4-FFF2-40B4-BE49-F238E27FC236}">
                    <a16:creationId xmlns:a16="http://schemas.microsoft.com/office/drawing/2014/main" id="{77AB6B38-8DA0-7BE4-6766-A06E18BA5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450" y="3189685"/>
                <a:ext cx="7632700" cy="1191815"/>
              </a:xfrm>
              <a:prstGeom prst="rect">
                <a:avLst/>
              </a:prstGeom>
              <a:blipFill>
                <a:blip r:embed="rId6"/>
                <a:stretch>
                  <a:fillRect l="-1597" t="-7653" b="-9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760" name="Object 136">
                <a:extLst>
                  <a:ext uri="{FF2B5EF4-FFF2-40B4-BE49-F238E27FC236}">
                    <a16:creationId xmlns:a16="http://schemas.microsoft.com/office/drawing/2014/main" id="{B48EFA67-F18D-E5EC-B7E0-4F45E0B658B0}"/>
                  </a:ext>
                </a:extLst>
              </p:cNvPr>
              <p:cNvSpPr txBox="1"/>
              <p:nvPr/>
            </p:nvSpPr>
            <p:spPr bwMode="auto">
              <a:xfrm>
                <a:off x="1718073" y="3536949"/>
                <a:ext cx="945356" cy="510778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760" name="Object 136">
                <a:extLst>
                  <a:ext uri="{FF2B5EF4-FFF2-40B4-BE49-F238E27FC236}">
                    <a16:creationId xmlns:a16="http://schemas.microsoft.com/office/drawing/2014/main" id="{B48EFA67-F18D-E5EC-B7E0-4F45E0B65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8073" y="3536949"/>
                <a:ext cx="945356" cy="510778"/>
              </a:xfrm>
              <a:prstGeom prst="rect">
                <a:avLst/>
              </a:prstGeom>
              <a:blipFill>
                <a:blip r:embed="rId7"/>
                <a:stretch>
                  <a:fillRect l="-60645" t="-140476" r="-23226" b="-2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8BC67822-4CC4-7A83-6C55-998DAC882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Applied Voltages to Eight Sets of Electrodes</a:t>
            </a:r>
            <a:endParaRPr lang="en-US" altLang="ko-KR" sz="1800" dirty="0">
              <a:ea typeface="굴림" panose="020B0600000101010101" pitchFamily="34" charset="-127"/>
            </a:endParaRPr>
          </a:p>
        </p:txBody>
      </p:sp>
      <p:grpSp>
        <p:nvGrpSpPr>
          <p:cNvPr id="102191" name="Group 815">
            <a:extLst>
              <a:ext uri="{FF2B5EF4-FFF2-40B4-BE49-F238E27FC236}">
                <a16:creationId xmlns:a16="http://schemas.microsoft.com/office/drawing/2014/main" id="{C1C6ACFD-C85A-CF8E-0A59-6DC30A8D45BA}"/>
              </a:ext>
            </a:extLst>
          </p:cNvPr>
          <p:cNvGrpSpPr>
            <a:grpSpLocks/>
          </p:cNvGrpSpPr>
          <p:nvPr/>
        </p:nvGrpSpPr>
        <p:grpSpPr bwMode="auto">
          <a:xfrm>
            <a:off x="1603506" y="1152526"/>
            <a:ext cx="3630215" cy="3612356"/>
            <a:chOff x="1491" y="998"/>
            <a:chExt cx="3049" cy="3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192" name="Object 816">
                  <a:extLst>
                    <a:ext uri="{FF2B5EF4-FFF2-40B4-BE49-F238E27FC236}">
                      <a16:creationId xmlns:a16="http://schemas.microsoft.com/office/drawing/2014/main" id="{1AD51E92-284A-A0A8-AEB3-76CD57DEA982}"/>
                    </a:ext>
                  </a:extLst>
                </p:cNvPr>
                <p:cNvSpPr txBox="1"/>
                <p:nvPr/>
              </p:nvSpPr>
              <p:spPr bwMode="auto">
                <a:xfrm>
                  <a:off x="1491" y="2019"/>
                  <a:ext cx="346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02192" name="Object 816">
                  <a:extLst>
                    <a:ext uri="{FF2B5EF4-FFF2-40B4-BE49-F238E27FC236}">
                      <a16:creationId xmlns:a16="http://schemas.microsoft.com/office/drawing/2014/main" id="{1AD51E92-284A-A0A8-AEB3-76CD57DEA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91" y="2019"/>
                  <a:ext cx="346" cy="144"/>
                </a:xfrm>
                <a:prstGeom prst="rect">
                  <a:avLst/>
                </a:prstGeom>
                <a:blipFill>
                  <a:blip r:embed="rId3"/>
                  <a:stretch>
                    <a:fillRect b="-241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193" name="Object 817">
                  <a:extLst>
                    <a:ext uri="{FF2B5EF4-FFF2-40B4-BE49-F238E27FC236}">
                      <a16:creationId xmlns:a16="http://schemas.microsoft.com/office/drawing/2014/main" id="{CAF84217-A836-D6FE-60CC-C20DA18EA699}"/>
                    </a:ext>
                  </a:extLst>
                </p:cNvPr>
                <p:cNvSpPr txBox="1"/>
                <p:nvPr/>
              </p:nvSpPr>
              <p:spPr bwMode="auto">
                <a:xfrm>
                  <a:off x="1918" y="1027"/>
                  <a:ext cx="128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02193" name="Object 817">
                  <a:extLst>
                    <a:ext uri="{FF2B5EF4-FFF2-40B4-BE49-F238E27FC236}">
                      <a16:creationId xmlns:a16="http://schemas.microsoft.com/office/drawing/2014/main" id="{CAF84217-A836-D6FE-60CC-C20DA18EA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18" y="1027"/>
                  <a:ext cx="128" cy="152"/>
                </a:xfrm>
                <a:prstGeom prst="rect">
                  <a:avLst/>
                </a:prstGeom>
                <a:blipFill>
                  <a:blip r:embed="rId4"/>
                  <a:stretch>
                    <a:fillRect r="-52000" b="-2069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194" name="Object 818">
                  <a:extLst>
                    <a:ext uri="{FF2B5EF4-FFF2-40B4-BE49-F238E27FC236}">
                      <a16:creationId xmlns:a16="http://schemas.microsoft.com/office/drawing/2014/main" id="{7548074D-D342-160E-867E-94D1FF2BE2B7}"/>
                    </a:ext>
                  </a:extLst>
                </p:cNvPr>
                <p:cNvSpPr txBox="1"/>
                <p:nvPr/>
              </p:nvSpPr>
              <p:spPr bwMode="auto">
                <a:xfrm>
                  <a:off x="4207" y="2614"/>
                  <a:ext cx="321" cy="1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02194" name="Object 818">
                  <a:extLst>
                    <a:ext uri="{FF2B5EF4-FFF2-40B4-BE49-F238E27FC236}">
                      <a16:creationId xmlns:a16="http://schemas.microsoft.com/office/drawing/2014/main" id="{7548074D-D342-160E-867E-94D1FF2BE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7" y="2614"/>
                  <a:ext cx="321" cy="1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195" name="Line 819">
              <a:extLst>
                <a:ext uri="{FF2B5EF4-FFF2-40B4-BE49-F238E27FC236}">
                  <a16:creationId xmlns:a16="http://schemas.microsoft.com/office/drawing/2014/main" id="{093D3F9F-3FCC-DF68-5177-732CB0491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0" y="2075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196" name="Line 820">
              <a:extLst>
                <a:ext uri="{FF2B5EF4-FFF2-40B4-BE49-F238E27FC236}">
                  <a16:creationId xmlns:a16="http://schemas.microsoft.com/office/drawing/2014/main" id="{39643ED5-E9D2-DC35-CEDC-632F639A1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2586"/>
              <a:ext cx="2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197" name="Object 821">
                  <a:extLst>
                    <a:ext uri="{FF2B5EF4-FFF2-40B4-BE49-F238E27FC236}">
                      <a16:creationId xmlns:a16="http://schemas.microsoft.com/office/drawing/2014/main" id="{4E9612E6-6297-13E4-869E-0B3C284C1CBC}"/>
                    </a:ext>
                  </a:extLst>
                </p:cNvPr>
                <p:cNvSpPr txBox="1"/>
                <p:nvPr/>
              </p:nvSpPr>
              <p:spPr bwMode="auto">
                <a:xfrm>
                  <a:off x="1502" y="3040"/>
                  <a:ext cx="335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02197" name="Object 821">
                  <a:extLst>
                    <a:ext uri="{FF2B5EF4-FFF2-40B4-BE49-F238E27FC236}">
                      <a16:creationId xmlns:a16="http://schemas.microsoft.com/office/drawing/2014/main" id="{4E9612E6-6297-13E4-869E-0B3C284C1C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02" y="3040"/>
                  <a:ext cx="335" cy="144"/>
                </a:xfrm>
                <a:prstGeom prst="rect">
                  <a:avLst/>
                </a:prstGeom>
                <a:blipFill>
                  <a:blip r:embed="rId6"/>
                  <a:stretch>
                    <a:fillRect b="-285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198" name="Line 822">
              <a:extLst>
                <a:ext uri="{FF2B5EF4-FFF2-40B4-BE49-F238E27FC236}">
                  <a16:creationId xmlns:a16="http://schemas.microsoft.com/office/drawing/2014/main" id="{F2B441FC-64A4-B5B1-1A9F-49C7E6D60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0" y="3096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199" name="Line 823">
              <a:extLst>
                <a:ext uri="{FF2B5EF4-FFF2-40B4-BE49-F238E27FC236}">
                  <a16:creationId xmlns:a16="http://schemas.microsoft.com/office/drawing/2014/main" id="{3B205434-D605-A8E2-9B87-CA4916EE5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3607"/>
              <a:ext cx="2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00" name="Object 824">
                  <a:extLst>
                    <a:ext uri="{FF2B5EF4-FFF2-40B4-BE49-F238E27FC236}">
                      <a16:creationId xmlns:a16="http://schemas.microsoft.com/office/drawing/2014/main" id="{121639E8-F25B-550A-518B-D3794FF97D13}"/>
                    </a:ext>
                  </a:extLst>
                </p:cNvPr>
                <p:cNvSpPr txBox="1"/>
                <p:nvPr/>
              </p:nvSpPr>
              <p:spPr bwMode="auto">
                <a:xfrm>
                  <a:off x="4211" y="3635"/>
                  <a:ext cx="296" cy="2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2200" name="Object 824">
                  <a:extLst>
                    <a:ext uri="{FF2B5EF4-FFF2-40B4-BE49-F238E27FC236}">
                      <a16:creationId xmlns:a16="http://schemas.microsoft.com/office/drawing/2014/main" id="{121639E8-F25B-550A-518B-D3794FF97D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1" y="3635"/>
                  <a:ext cx="296" cy="2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01" name="Object 825">
                  <a:extLst>
                    <a:ext uri="{FF2B5EF4-FFF2-40B4-BE49-F238E27FC236}">
                      <a16:creationId xmlns:a16="http://schemas.microsoft.com/office/drawing/2014/main" id="{829DE76C-D779-192B-431D-6C34DE37960C}"/>
                    </a:ext>
                  </a:extLst>
                </p:cNvPr>
                <p:cNvSpPr txBox="1"/>
                <p:nvPr/>
              </p:nvSpPr>
              <p:spPr bwMode="auto">
                <a:xfrm>
                  <a:off x="1491" y="998"/>
                  <a:ext cx="346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02201" name="Object 825">
                  <a:extLst>
                    <a:ext uri="{FF2B5EF4-FFF2-40B4-BE49-F238E27FC236}">
                      <a16:creationId xmlns:a16="http://schemas.microsoft.com/office/drawing/2014/main" id="{829DE76C-D779-192B-431D-6C34DE379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91" y="998"/>
                  <a:ext cx="346" cy="173"/>
                </a:xfrm>
                <a:prstGeom prst="rect">
                  <a:avLst/>
                </a:prstGeom>
                <a:blipFill>
                  <a:blip r:embed="rId3"/>
                  <a:stretch>
                    <a:fillRect b="-588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202" name="Line 826">
              <a:extLst>
                <a:ext uri="{FF2B5EF4-FFF2-40B4-BE49-F238E27FC236}">
                  <a16:creationId xmlns:a16="http://schemas.microsoft.com/office/drawing/2014/main" id="{FC1C0B6D-4206-A792-866F-4E9989453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0" y="1055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03" name="Line 827">
              <a:extLst>
                <a:ext uri="{FF2B5EF4-FFF2-40B4-BE49-F238E27FC236}">
                  <a16:creationId xmlns:a16="http://schemas.microsoft.com/office/drawing/2014/main" id="{41D0B09D-F207-934D-9BBD-B38AC3ADD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1566"/>
              <a:ext cx="2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04" name="Object 828">
                  <a:extLst>
                    <a:ext uri="{FF2B5EF4-FFF2-40B4-BE49-F238E27FC236}">
                      <a16:creationId xmlns:a16="http://schemas.microsoft.com/office/drawing/2014/main" id="{6024F30C-1173-4459-A536-6B15091132F4}"/>
                    </a:ext>
                  </a:extLst>
                </p:cNvPr>
                <p:cNvSpPr txBox="1"/>
                <p:nvPr/>
              </p:nvSpPr>
              <p:spPr bwMode="auto">
                <a:xfrm>
                  <a:off x="4201" y="1561"/>
                  <a:ext cx="339" cy="1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02204" name="Object 828">
                  <a:extLst>
                    <a:ext uri="{FF2B5EF4-FFF2-40B4-BE49-F238E27FC236}">
                      <a16:creationId xmlns:a16="http://schemas.microsoft.com/office/drawing/2014/main" id="{6024F30C-1173-4459-A536-6B1509113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1" y="1561"/>
                  <a:ext cx="339" cy="156"/>
                </a:xfrm>
                <a:prstGeom prst="rect">
                  <a:avLst/>
                </a:prstGeom>
                <a:blipFill>
                  <a:blip r:embed="rId8"/>
                  <a:stretch>
                    <a:fillRect b="-2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205" name="Line 829">
              <a:extLst>
                <a:ext uri="{FF2B5EF4-FFF2-40B4-BE49-F238E27FC236}">
                  <a16:creationId xmlns:a16="http://schemas.microsoft.com/office/drawing/2014/main" id="{52C4D9AE-5D24-32BF-99C6-E3EBEB1F6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1197"/>
              <a:ext cx="2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06" name="Line 830">
              <a:extLst>
                <a:ext uri="{FF2B5EF4-FFF2-40B4-BE49-F238E27FC236}">
                  <a16:creationId xmlns:a16="http://schemas.microsoft.com/office/drawing/2014/main" id="{E88104F9-661B-A2BD-4585-C513634B8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0" y="1079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07" name="Line 831">
              <a:extLst>
                <a:ext uri="{FF2B5EF4-FFF2-40B4-BE49-F238E27FC236}">
                  <a16:creationId xmlns:a16="http://schemas.microsoft.com/office/drawing/2014/main" id="{41A09F11-1570-1BC1-3CC9-551DB55EB3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1" y="1083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08" name="Line 832">
              <a:extLst>
                <a:ext uri="{FF2B5EF4-FFF2-40B4-BE49-F238E27FC236}">
                  <a16:creationId xmlns:a16="http://schemas.microsoft.com/office/drawing/2014/main" id="{060A4749-E593-544A-2FEC-52D00A967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7" y="1083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09" name="Line 833">
              <a:extLst>
                <a:ext uri="{FF2B5EF4-FFF2-40B4-BE49-F238E27FC236}">
                  <a16:creationId xmlns:a16="http://schemas.microsoft.com/office/drawing/2014/main" id="{322C0704-2B5A-FB63-3F31-CD14DA033A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4" y="1083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0" name="Line 834">
              <a:extLst>
                <a:ext uri="{FF2B5EF4-FFF2-40B4-BE49-F238E27FC236}">
                  <a16:creationId xmlns:a16="http://schemas.microsoft.com/office/drawing/2014/main" id="{ECE8EB0F-5174-53A3-286C-A9A72E42B7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1" y="1083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1" name="Line 835">
              <a:extLst>
                <a:ext uri="{FF2B5EF4-FFF2-40B4-BE49-F238E27FC236}">
                  <a16:creationId xmlns:a16="http://schemas.microsoft.com/office/drawing/2014/main" id="{68BD36F7-A43C-C840-6D74-3A07895182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6" y="1083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2" name="Line 836">
              <a:extLst>
                <a:ext uri="{FF2B5EF4-FFF2-40B4-BE49-F238E27FC236}">
                  <a16:creationId xmlns:a16="http://schemas.microsoft.com/office/drawing/2014/main" id="{3461E16F-CF72-9930-F1DD-FCB429626A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5" y="1083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3" name="Line 837">
              <a:extLst>
                <a:ext uri="{FF2B5EF4-FFF2-40B4-BE49-F238E27FC236}">
                  <a16:creationId xmlns:a16="http://schemas.microsoft.com/office/drawing/2014/main" id="{AEFC66FD-CCB6-BCA0-094B-83D4E7F7C3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5" y="1083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4" name="Line 838">
              <a:extLst>
                <a:ext uri="{FF2B5EF4-FFF2-40B4-BE49-F238E27FC236}">
                  <a16:creationId xmlns:a16="http://schemas.microsoft.com/office/drawing/2014/main" id="{F8F8C31B-4BAC-6762-65D5-228CB4F79F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4" y="1371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5" name="Line 839">
              <a:extLst>
                <a:ext uri="{FF2B5EF4-FFF2-40B4-BE49-F238E27FC236}">
                  <a16:creationId xmlns:a16="http://schemas.microsoft.com/office/drawing/2014/main" id="{8DA02CA4-C4AC-DB3D-CBED-F70BC60D3D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2" y="2247"/>
              <a:ext cx="0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6" name="Line 840">
              <a:extLst>
                <a:ext uri="{FF2B5EF4-FFF2-40B4-BE49-F238E27FC236}">
                  <a16:creationId xmlns:a16="http://schemas.microsoft.com/office/drawing/2014/main" id="{E7104364-C7B1-E1E0-3712-EA21F6AA7B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1" y="2445"/>
              <a:ext cx="0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7" name="Line 841">
              <a:extLst>
                <a:ext uri="{FF2B5EF4-FFF2-40B4-BE49-F238E27FC236}">
                  <a16:creationId xmlns:a16="http://schemas.microsoft.com/office/drawing/2014/main" id="{9D3DD314-8648-2857-EB8D-C3D0E6BC0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9" y="2586"/>
              <a:ext cx="0" cy="1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8" name="Line 842">
              <a:extLst>
                <a:ext uri="{FF2B5EF4-FFF2-40B4-BE49-F238E27FC236}">
                  <a16:creationId xmlns:a16="http://schemas.microsoft.com/office/drawing/2014/main" id="{E626CF72-F176-712B-445F-B2CEC8449D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3" y="2586"/>
              <a:ext cx="1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19" name="Line 843">
              <a:extLst>
                <a:ext uri="{FF2B5EF4-FFF2-40B4-BE49-F238E27FC236}">
                  <a16:creationId xmlns:a16="http://schemas.microsoft.com/office/drawing/2014/main" id="{5BC8C7A3-536C-9F73-46E9-9680FA571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2586"/>
              <a:ext cx="0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0" name="Line 844">
              <a:extLst>
                <a:ext uri="{FF2B5EF4-FFF2-40B4-BE49-F238E27FC236}">
                  <a16:creationId xmlns:a16="http://schemas.microsoft.com/office/drawing/2014/main" id="{2BEAA3F8-C902-A1D3-8AC2-60107C146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" y="2586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1" name="Line 845">
              <a:extLst>
                <a:ext uri="{FF2B5EF4-FFF2-40B4-BE49-F238E27FC236}">
                  <a16:creationId xmlns:a16="http://schemas.microsoft.com/office/drawing/2014/main" id="{7D75C57B-4AA0-A95D-BFD0-1B0ECD546E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2" y="2445"/>
              <a:ext cx="0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2" name="Line 846">
              <a:extLst>
                <a:ext uri="{FF2B5EF4-FFF2-40B4-BE49-F238E27FC236}">
                  <a16:creationId xmlns:a16="http://schemas.microsoft.com/office/drawing/2014/main" id="{5AC698BB-2B83-7042-9ED5-4AA58012CB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7" y="2241"/>
              <a:ext cx="0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3" name="Line 847">
              <a:extLst>
                <a:ext uri="{FF2B5EF4-FFF2-40B4-BE49-F238E27FC236}">
                  <a16:creationId xmlns:a16="http://schemas.microsoft.com/office/drawing/2014/main" id="{2FF13742-F4CD-8FFF-7789-4AB0ED05B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2" y="3358"/>
              <a:ext cx="0" cy="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4" name="Line 848">
              <a:extLst>
                <a:ext uri="{FF2B5EF4-FFF2-40B4-BE49-F238E27FC236}">
                  <a16:creationId xmlns:a16="http://schemas.microsoft.com/office/drawing/2014/main" id="{F3DD5F60-1F4D-C5AE-EED0-0B110DA55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607"/>
              <a:ext cx="0" cy="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5" name="Line 849">
              <a:extLst>
                <a:ext uri="{FF2B5EF4-FFF2-40B4-BE49-F238E27FC236}">
                  <a16:creationId xmlns:a16="http://schemas.microsoft.com/office/drawing/2014/main" id="{0C33B691-68B7-DF49-EB63-9E0F4B9D2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9" y="3607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6" name="Line 850">
              <a:extLst>
                <a:ext uri="{FF2B5EF4-FFF2-40B4-BE49-F238E27FC236}">
                  <a16:creationId xmlns:a16="http://schemas.microsoft.com/office/drawing/2014/main" id="{4B1C5DDE-CC9D-6741-66B5-E372C49A1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4" y="3352"/>
              <a:ext cx="0" cy="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7" name="Line 851">
              <a:extLst>
                <a:ext uri="{FF2B5EF4-FFF2-40B4-BE49-F238E27FC236}">
                  <a16:creationId xmlns:a16="http://schemas.microsoft.com/office/drawing/2014/main" id="{C64AC729-82A4-C29B-0102-E5C8BD42E6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5" y="3346"/>
              <a:ext cx="0" cy="2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8" name="Line 852">
              <a:extLst>
                <a:ext uri="{FF2B5EF4-FFF2-40B4-BE49-F238E27FC236}">
                  <a16:creationId xmlns:a16="http://schemas.microsoft.com/office/drawing/2014/main" id="{4C9400BD-9CCB-353E-832E-16013D15B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" y="3607"/>
              <a:ext cx="0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29" name="Line 853">
              <a:extLst>
                <a:ext uri="{FF2B5EF4-FFF2-40B4-BE49-F238E27FC236}">
                  <a16:creationId xmlns:a16="http://schemas.microsoft.com/office/drawing/2014/main" id="{D25CD224-5136-7613-9BEF-DD1097471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2" y="3607"/>
              <a:ext cx="0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30" name="Line 854">
              <a:extLst>
                <a:ext uri="{FF2B5EF4-FFF2-40B4-BE49-F238E27FC236}">
                  <a16:creationId xmlns:a16="http://schemas.microsoft.com/office/drawing/2014/main" id="{0B791806-0A32-87FF-C87F-A0CF126F6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7" y="3346"/>
              <a:ext cx="0" cy="2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31" name="Object 855">
                  <a:extLst>
                    <a:ext uri="{FF2B5EF4-FFF2-40B4-BE49-F238E27FC236}">
                      <a16:creationId xmlns:a16="http://schemas.microsoft.com/office/drawing/2014/main" id="{63BBBCE6-A754-EAE9-C07A-6631BA63E08C}"/>
                    </a:ext>
                  </a:extLst>
                </p:cNvPr>
                <p:cNvSpPr txBox="1"/>
                <p:nvPr/>
              </p:nvSpPr>
              <p:spPr bwMode="auto">
                <a:xfrm>
                  <a:off x="2202" y="1033"/>
                  <a:ext cx="128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02231" name="Object 855">
                  <a:extLst>
                    <a:ext uri="{FF2B5EF4-FFF2-40B4-BE49-F238E27FC236}">
                      <a16:creationId xmlns:a16="http://schemas.microsoft.com/office/drawing/2014/main" id="{63BBBCE6-A754-EAE9-C07A-6631BA63E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02" y="1033"/>
                  <a:ext cx="128" cy="143"/>
                </a:xfrm>
                <a:prstGeom prst="rect">
                  <a:avLst/>
                </a:prstGeom>
                <a:blipFill>
                  <a:blip r:embed="rId9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32" name="Object 856">
                  <a:extLst>
                    <a:ext uri="{FF2B5EF4-FFF2-40B4-BE49-F238E27FC236}">
                      <a16:creationId xmlns:a16="http://schemas.microsoft.com/office/drawing/2014/main" id="{02C9E2D9-ADC7-0ADB-BD0E-F17316745F26}"/>
                    </a:ext>
                  </a:extLst>
                </p:cNvPr>
                <p:cNvSpPr txBox="1"/>
                <p:nvPr/>
              </p:nvSpPr>
              <p:spPr bwMode="auto">
                <a:xfrm>
                  <a:off x="2485" y="1027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02232" name="Object 856">
                  <a:extLst>
                    <a:ext uri="{FF2B5EF4-FFF2-40B4-BE49-F238E27FC236}">
                      <a16:creationId xmlns:a16="http://schemas.microsoft.com/office/drawing/2014/main" id="{02C9E2D9-ADC7-0ADB-BD0E-F17316745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85" y="1027"/>
                  <a:ext cx="129" cy="144"/>
                </a:xfrm>
                <a:prstGeom prst="rect">
                  <a:avLst/>
                </a:prstGeom>
                <a:blipFill>
                  <a:blip r:embed="rId10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33" name="Object 857">
                  <a:extLst>
                    <a:ext uri="{FF2B5EF4-FFF2-40B4-BE49-F238E27FC236}">
                      <a16:creationId xmlns:a16="http://schemas.microsoft.com/office/drawing/2014/main" id="{4F6D5B68-13C9-5D46-2C07-0A8A6AB6426D}"/>
                    </a:ext>
                  </a:extLst>
                </p:cNvPr>
                <p:cNvSpPr txBox="1"/>
                <p:nvPr/>
              </p:nvSpPr>
              <p:spPr bwMode="auto">
                <a:xfrm>
                  <a:off x="2769" y="1027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02233" name="Object 857">
                  <a:extLst>
                    <a:ext uri="{FF2B5EF4-FFF2-40B4-BE49-F238E27FC236}">
                      <a16:creationId xmlns:a16="http://schemas.microsoft.com/office/drawing/2014/main" id="{4F6D5B68-13C9-5D46-2C07-0A8A6AB642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69" y="1027"/>
                  <a:ext cx="129" cy="144"/>
                </a:xfrm>
                <a:prstGeom prst="rect">
                  <a:avLst/>
                </a:prstGeom>
                <a:blipFill>
                  <a:blip r:embed="rId11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34" name="Object 858">
                  <a:extLst>
                    <a:ext uri="{FF2B5EF4-FFF2-40B4-BE49-F238E27FC236}">
                      <a16:creationId xmlns:a16="http://schemas.microsoft.com/office/drawing/2014/main" id="{038C7541-BA80-FCD1-1952-25D8EAECC65B}"/>
                    </a:ext>
                  </a:extLst>
                </p:cNvPr>
                <p:cNvSpPr txBox="1"/>
                <p:nvPr/>
              </p:nvSpPr>
              <p:spPr bwMode="auto">
                <a:xfrm>
                  <a:off x="3080" y="1027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02234" name="Object 858">
                  <a:extLst>
                    <a:ext uri="{FF2B5EF4-FFF2-40B4-BE49-F238E27FC236}">
                      <a16:creationId xmlns:a16="http://schemas.microsoft.com/office/drawing/2014/main" id="{038C7541-BA80-FCD1-1952-25D8EAECC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80" y="1027"/>
                  <a:ext cx="129" cy="144"/>
                </a:xfrm>
                <a:prstGeom prst="rect">
                  <a:avLst/>
                </a:prstGeom>
                <a:blipFill>
                  <a:blip r:embed="rId12"/>
                  <a:stretch>
                    <a:fillRect r="-46154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35" name="Object 859">
                  <a:extLst>
                    <a:ext uri="{FF2B5EF4-FFF2-40B4-BE49-F238E27FC236}">
                      <a16:creationId xmlns:a16="http://schemas.microsoft.com/office/drawing/2014/main" id="{FB37FE61-721E-62C3-1A39-5100DBF425FA}"/>
                    </a:ext>
                  </a:extLst>
                </p:cNvPr>
                <p:cNvSpPr txBox="1"/>
                <p:nvPr/>
              </p:nvSpPr>
              <p:spPr bwMode="auto">
                <a:xfrm>
                  <a:off x="3364" y="1027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02235" name="Object 859">
                  <a:extLst>
                    <a:ext uri="{FF2B5EF4-FFF2-40B4-BE49-F238E27FC236}">
                      <a16:creationId xmlns:a16="http://schemas.microsoft.com/office/drawing/2014/main" id="{FB37FE61-721E-62C3-1A39-5100DBF425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64" y="1027"/>
                  <a:ext cx="129" cy="144"/>
                </a:xfrm>
                <a:prstGeom prst="rect">
                  <a:avLst/>
                </a:prstGeom>
                <a:blipFill>
                  <a:blip r:embed="rId13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36" name="Object 860">
                  <a:extLst>
                    <a:ext uri="{FF2B5EF4-FFF2-40B4-BE49-F238E27FC236}">
                      <a16:creationId xmlns:a16="http://schemas.microsoft.com/office/drawing/2014/main" id="{41C02EC7-0D72-7576-8477-74A02CE486A6}"/>
                    </a:ext>
                  </a:extLst>
                </p:cNvPr>
                <p:cNvSpPr txBox="1"/>
                <p:nvPr/>
              </p:nvSpPr>
              <p:spPr bwMode="auto">
                <a:xfrm>
                  <a:off x="3647" y="1027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02236" name="Object 860">
                  <a:extLst>
                    <a:ext uri="{FF2B5EF4-FFF2-40B4-BE49-F238E27FC236}">
                      <a16:creationId xmlns:a16="http://schemas.microsoft.com/office/drawing/2014/main" id="{41C02EC7-0D72-7576-8477-74A02CE48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47" y="1027"/>
                  <a:ext cx="129" cy="144"/>
                </a:xfrm>
                <a:prstGeom prst="rect">
                  <a:avLst/>
                </a:prstGeom>
                <a:blipFill>
                  <a:blip r:embed="rId14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237" name="Object 861">
                  <a:extLst>
                    <a:ext uri="{FF2B5EF4-FFF2-40B4-BE49-F238E27FC236}">
                      <a16:creationId xmlns:a16="http://schemas.microsoft.com/office/drawing/2014/main" id="{B132C82B-66A2-38E6-9D1C-1A82306012CF}"/>
                    </a:ext>
                  </a:extLst>
                </p:cNvPr>
                <p:cNvSpPr txBox="1"/>
                <p:nvPr/>
              </p:nvSpPr>
              <p:spPr bwMode="auto">
                <a:xfrm>
                  <a:off x="3937" y="1027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02237" name="Object 861">
                  <a:extLst>
                    <a:ext uri="{FF2B5EF4-FFF2-40B4-BE49-F238E27FC236}">
                      <a16:creationId xmlns:a16="http://schemas.microsoft.com/office/drawing/2014/main" id="{B132C82B-66A2-38E6-9D1C-1A8230601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37" y="1027"/>
                  <a:ext cx="129" cy="144"/>
                </a:xfrm>
                <a:prstGeom prst="rect">
                  <a:avLst/>
                </a:prstGeom>
                <a:blipFill>
                  <a:blip r:embed="rId15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238" name="Text Box 862">
              <a:extLst>
                <a:ext uri="{FF2B5EF4-FFF2-40B4-BE49-F238E27FC236}">
                  <a16:creationId xmlns:a16="http://schemas.microsoft.com/office/drawing/2014/main" id="{AC0D2E33-1DAF-8E65-1181-549D27C69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1" y="1477"/>
              <a:ext cx="27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(a)</a:t>
              </a:r>
              <a:endParaRPr lang="ko-KR" altLang="en-US" sz="9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02239" name="Text Box 863">
              <a:extLst>
                <a:ext uri="{FF2B5EF4-FFF2-40B4-BE49-F238E27FC236}">
                  <a16:creationId xmlns:a16="http://schemas.microsoft.com/office/drawing/2014/main" id="{05AB1E6D-9216-57D0-57F8-26839178A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1" y="2498"/>
              <a:ext cx="28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(b)</a:t>
              </a:r>
              <a:endParaRPr lang="ko-KR" altLang="en-US" sz="9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02240" name="Text Box 864">
              <a:extLst>
                <a:ext uri="{FF2B5EF4-FFF2-40B4-BE49-F238E27FC236}">
                  <a16:creationId xmlns:a16="http://schemas.microsoft.com/office/drawing/2014/main" id="{904FD045-6433-05D3-99E6-F3CB145CA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1" y="3519"/>
              <a:ext cx="26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(c)</a:t>
              </a:r>
              <a:endParaRPr lang="ko-KR" altLang="en-US" sz="9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02241" name="Line 865">
              <a:extLst>
                <a:ext uri="{FF2B5EF4-FFF2-40B4-BE49-F238E27FC236}">
                  <a16:creationId xmlns:a16="http://schemas.microsoft.com/office/drawing/2014/main" id="{5D600917-0A6C-E191-4450-832A230B4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1367"/>
              <a:ext cx="2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42" name="Line 866">
              <a:extLst>
                <a:ext uri="{FF2B5EF4-FFF2-40B4-BE49-F238E27FC236}">
                  <a16:creationId xmlns:a16="http://schemas.microsoft.com/office/drawing/2014/main" id="{D73DC0A8-EA0B-81F0-2B57-0EF870B53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1" y="1367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43" name="Line 867">
              <a:extLst>
                <a:ext uri="{FF2B5EF4-FFF2-40B4-BE49-F238E27FC236}">
                  <a16:creationId xmlns:a16="http://schemas.microsoft.com/office/drawing/2014/main" id="{75AAD79D-66DD-BFC4-3A59-508C86CB12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1" y="1367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44" name="Line 868">
              <a:extLst>
                <a:ext uri="{FF2B5EF4-FFF2-40B4-BE49-F238E27FC236}">
                  <a16:creationId xmlns:a16="http://schemas.microsoft.com/office/drawing/2014/main" id="{10040676-6403-C6BD-923C-81B4F3B6D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8" y="1367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45" name="Line 869">
              <a:extLst>
                <a:ext uri="{FF2B5EF4-FFF2-40B4-BE49-F238E27FC236}">
                  <a16:creationId xmlns:a16="http://schemas.microsoft.com/office/drawing/2014/main" id="{B96CDAC7-2F3E-3CF5-5759-7E7828AF7D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367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46" name="Line 870">
              <a:extLst>
                <a:ext uri="{FF2B5EF4-FFF2-40B4-BE49-F238E27FC236}">
                  <a16:creationId xmlns:a16="http://schemas.microsoft.com/office/drawing/2014/main" id="{CBBC352D-E524-8D9F-5114-913C67D10C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3" y="1367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47" name="Line 871">
              <a:extLst>
                <a:ext uri="{FF2B5EF4-FFF2-40B4-BE49-F238E27FC236}">
                  <a16:creationId xmlns:a16="http://schemas.microsoft.com/office/drawing/2014/main" id="{40469E24-304D-1BE6-2876-9373675EC3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0" y="1367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48" name="Line 872">
              <a:extLst>
                <a:ext uri="{FF2B5EF4-FFF2-40B4-BE49-F238E27FC236}">
                  <a16:creationId xmlns:a16="http://schemas.microsoft.com/office/drawing/2014/main" id="{DAFDC550-BB44-A6F3-ECE9-3A55B8284F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4" y="1367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49" name="Line 873">
              <a:extLst>
                <a:ext uri="{FF2B5EF4-FFF2-40B4-BE49-F238E27FC236}">
                  <a16:creationId xmlns:a16="http://schemas.microsoft.com/office/drawing/2014/main" id="{7D102CBD-78FC-5A3A-727A-40E5BFA39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2217"/>
              <a:ext cx="2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50" name="Line 874">
              <a:extLst>
                <a:ext uri="{FF2B5EF4-FFF2-40B4-BE49-F238E27FC236}">
                  <a16:creationId xmlns:a16="http://schemas.microsoft.com/office/drawing/2014/main" id="{4B184633-954A-84A7-2FCB-3A1E6536BC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3232"/>
              <a:ext cx="2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02251" name="Text Box 875">
              <a:extLst>
                <a:ext uri="{FF2B5EF4-FFF2-40B4-BE49-F238E27FC236}">
                  <a16:creationId xmlns:a16="http://schemas.microsoft.com/office/drawing/2014/main" id="{7CE1C7EC-9B7D-B42C-E123-D56018802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1106"/>
              <a:ext cx="22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1</a:t>
              </a:r>
              <a:endParaRPr lang="ko-KR" altLang="en-US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02252" name="Text Box 876">
              <a:extLst>
                <a:ext uri="{FF2B5EF4-FFF2-40B4-BE49-F238E27FC236}">
                  <a16:creationId xmlns:a16="http://schemas.microsoft.com/office/drawing/2014/main" id="{483BB3EB-7736-41CB-AAD6-D2A68FE849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" y="2132"/>
              <a:ext cx="22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1</a:t>
              </a:r>
              <a:endParaRPr lang="ko-KR" altLang="en-US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02253" name="Text Box 877">
              <a:extLst>
                <a:ext uri="{FF2B5EF4-FFF2-40B4-BE49-F238E27FC236}">
                  <a16:creationId xmlns:a16="http://schemas.microsoft.com/office/drawing/2014/main" id="{C173EC8B-948E-BAA8-A89C-F8B13D794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" y="3153"/>
              <a:ext cx="22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1</a:t>
              </a:r>
              <a:endParaRPr lang="ko-KR" altLang="en-US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grpSp>
          <p:nvGrpSpPr>
            <p:cNvPr id="102254" name="Group 878">
              <a:extLst>
                <a:ext uri="{FF2B5EF4-FFF2-40B4-BE49-F238E27FC236}">
                  <a16:creationId xmlns:a16="http://schemas.microsoft.com/office/drawing/2014/main" id="{A72555DB-579E-43B3-6393-E06F88920330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856" y="3234"/>
              <a:ext cx="2316" cy="737"/>
              <a:chOff x="1264" y="2784"/>
              <a:chExt cx="680" cy="142"/>
            </a:xfrm>
          </p:grpSpPr>
          <p:grpSp>
            <p:nvGrpSpPr>
              <p:cNvPr id="102255" name="Group 879">
                <a:extLst>
                  <a:ext uri="{FF2B5EF4-FFF2-40B4-BE49-F238E27FC236}">
                    <a16:creationId xmlns:a16="http://schemas.microsoft.com/office/drawing/2014/main" id="{73EF5F3B-B2DC-B422-5F0D-DD4E8DD647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264" y="2784"/>
                <a:ext cx="340" cy="142"/>
                <a:chOff x="529" y="1178"/>
                <a:chExt cx="2455" cy="1812"/>
              </a:xfrm>
            </p:grpSpPr>
            <p:sp>
              <p:nvSpPr>
                <p:cNvPr id="102256" name="Freeform 880">
                  <a:extLst>
                    <a:ext uri="{FF2B5EF4-FFF2-40B4-BE49-F238E27FC236}">
                      <a16:creationId xmlns:a16="http://schemas.microsoft.com/office/drawing/2014/main" id="{36C5620D-DFA7-D39D-8A63-99E399CFA8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102257" name="Freeform 881">
                  <a:extLst>
                    <a:ext uri="{FF2B5EF4-FFF2-40B4-BE49-F238E27FC236}">
                      <a16:creationId xmlns:a16="http://schemas.microsoft.com/office/drawing/2014/main" id="{D4A8EC18-F4C7-864B-777D-1880CF7726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102258" name="Freeform 882">
                  <a:extLst>
                    <a:ext uri="{FF2B5EF4-FFF2-40B4-BE49-F238E27FC236}">
                      <a16:creationId xmlns:a16="http://schemas.microsoft.com/office/drawing/2014/main" id="{713B5CBF-41A8-3F93-B8DC-1961CE03F1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102259" name="Freeform 883">
                  <a:extLst>
                    <a:ext uri="{FF2B5EF4-FFF2-40B4-BE49-F238E27FC236}">
                      <a16:creationId xmlns:a16="http://schemas.microsoft.com/office/drawing/2014/main" id="{AAB68C73-8429-07C0-CB69-15CA372D2B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102260" name="Freeform 884">
                  <a:extLst>
                    <a:ext uri="{FF2B5EF4-FFF2-40B4-BE49-F238E27FC236}">
                      <a16:creationId xmlns:a16="http://schemas.microsoft.com/office/drawing/2014/main" id="{65F5EE51-9F92-6FEF-2810-FADD240CB4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  <p:grpSp>
            <p:nvGrpSpPr>
              <p:cNvPr id="102261" name="Group 885">
                <a:extLst>
                  <a:ext uri="{FF2B5EF4-FFF2-40B4-BE49-F238E27FC236}">
                    <a16:creationId xmlns:a16="http://schemas.microsoft.com/office/drawing/2014/main" id="{6CC376E5-024B-231C-5516-EA39C8E916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604" y="2784"/>
                <a:ext cx="340" cy="142"/>
                <a:chOff x="529" y="1178"/>
                <a:chExt cx="2455" cy="1812"/>
              </a:xfrm>
            </p:grpSpPr>
            <p:sp>
              <p:nvSpPr>
                <p:cNvPr id="102262" name="Freeform 886">
                  <a:extLst>
                    <a:ext uri="{FF2B5EF4-FFF2-40B4-BE49-F238E27FC236}">
                      <a16:creationId xmlns:a16="http://schemas.microsoft.com/office/drawing/2014/main" id="{52C155C0-0F46-3990-9656-3C276BD3B0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9" y="1178"/>
                  <a:ext cx="521" cy="702"/>
                </a:xfrm>
                <a:custGeom>
                  <a:avLst/>
                  <a:gdLst>
                    <a:gd name="T0" fmla="*/ 11 w 521"/>
                    <a:gd name="T1" fmla="*/ 0 h 702"/>
                    <a:gd name="T2" fmla="*/ 28 w 521"/>
                    <a:gd name="T3" fmla="*/ 0 h 702"/>
                    <a:gd name="T4" fmla="*/ 45 w 521"/>
                    <a:gd name="T5" fmla="*/ 5 h 702"/>
                    <a:gd name="T6" fmla="*/ 62 w 521"/>
                    <a:gd name="T7" fmla="*/ 11 h 702"/>
                    <a:gd name="T8" fmla="*/ 79 w 521"/>
                    <a:gd name="T9" fmla="*/ 16 h 702"/>
                    <a:gd name="T10" fmla="*/ 96 w 521"/>
                    <a:gd name="T11" fmla="*/ 27 h 702"/>
                    <a:gd name="T12" fmla="*/ 113 w 521"/>
                    <a:gd name="T13" fmla="*/ 37 h 702"/>
                    <a:gd name="T14" fmla="*/ 130 w 521"/>
                    <a:gd name="T15" fmla="*/ 53 h 702"/>
                    <a:gd name="T16" fmla="*/ 147 w 521"/>
                    <a:gd name="T17" fmla="*/ 64 h 702"/>
                    <a:gd name="T18" fmla="*/ 164 w 521"/>
                    <a:gd name="T19" fmla="*/ 80 h 702"/>
                    <a:gd name="T20" fmla="*/ 187 w 521"/>
                    <a:gd name="T21" fmla="*/ 101 h 702"/>
                    <a:gd name="T22" fmla="*/ 198 w 521"/>
                    <a:gd name="T23" fmla="*/ 117 h 702"/>
                    <a:gd name="T24" fmla="*/ 221 w 521"/>
                    <a:gd name="T25" fmla="*/ 138 h 702"/>
                    <a:gd name="T26" fmla="*/ 238 w 521"/>
                    <a:gd name="T27" fmla="*/ 159 h 702"/>
                    <a:gd name="T28" fmla="*/ 249 w 521"/>
                    <a:gd name="T29" fmla="*/ 181 h 702"/>
                    <a:gd name="T30" fmla="*/ 261 w 521"/>
                    <a:gd name="T31" fmla="*/ 197 h 702"/>
                    <a:gd name="T32" fmla="*/ 278 w 521"/>
                    <a:gd name="T33" fmla="*/ 218 h 702"/>
                    <a:gd name="T34" fmla="*/ 289 w 521"/>
                    <a:gd name="T35" fmla="*/ 239 h 702"/>
                    <a:gd name="T36" fmla="*/ 300 w 521"/>
                    <a:gd name="T37" fmla="*/ 255 h 702"/>
                    <a:gd name="T38" fmla="*/ 312 w 521"/>
                    <a:gd name="T39" fmla="*/ 271 h 702"/>
                    <a:gd name="T40" fmla="*/ 323 w 521"/>
                    <a:gd name="T41" fmla="*/ 292 h 702"/>
                    <a:gd name="T42" fmla="*/ 334 w 521"/>
                    <a:gd name="T43" fmla="*/ 308 h 702"/>
                    <a:gd name="T44" fmla="*/ 346 w 521"/>
                    <a:gd name="T45" fmla="*/ 335 h 702"/>
                    <a:gd name="T46" fmla="*/ 357 w 521"/>
                    <a:gd name="T47" fmla="*/ 356 h 702"/>
                    <a:gd name="T48" fmla="*/ 368 w 521"/>
                    <a:gd name="T49" fmla="*/ 372 h 702"/>
                    <a:gd name="T50" fmla="*/ 380 w 521"/>
                    <a:gd name="T51" fmla="*/ 393 h 702"/>
                    <a:gd name="T52" fmla="*/ 385 w 521"/>
                    <a:gd name="T53" fmla="*/ 409 h 702"/>
                    <a:gd name="T54" fmla="*/ 397 w 521"/>
                    <a:gd name="T55" fmla="*/ 431 h 702"/>
                    <a:gd name="T56" fmla="*/ 408 w 521"/>
                    <a:gd name="T57" fmla="*/ 446 h 702"/>
                    <a:gd name="T58" fmla="*/ 414 w 521"/>
                    <a:gd name="T59" fmla="*/ 468 h 702"/>
                    <a:gd name="T60" fmla="*/ 425 w 521"/>
                    <a:gd name="T61" fmla="*/ 484 h 702"/>
                    <a:gd name="T62" fmla="*/ 431 w 521"/>
                    <a:gd name="T63" fmla="*/ 505 h 702"/>
                    <a:gd name="T64" fmla="*/ 442 w 521"/>
                    <a:gd name="T65" fmla="*/ 521 h 702"/>
                    <a:gd name="T66" fmla="*/ 448 w 521"/>
                    <a:gd name="T67" fmla="*/ 542 h 702"/>
                    <a:gd name="T68" fmla="*/ 459 w 521"/>
                    <a:gd name="T69" fmla="*/ 558 h 702"/>
                    <a:gd name="T70" fmla="*/ 465 w 521"/>
                    <a:gd name="T71" fmla="*/ 579 h 702"/>
                    <a:gd name="T72" fmla="*/ 476 w 521"/>
                    <a:gd name="T73" fmla="*/ 595 h 702"/>
                    <a:gd name="T74" fmla="*/ 482 w 521"/>
                    <a:gd name="T75" fmla="*/ 617 h 702"/>
                    <a:gd name="T76" fmla="*/ 493 w 521"/>
                    <a:gd name="T77" fmla="*/ 632 h 702"/>
                    <a:gd name="T78" fmla="*/ 499 w 521"/>
                    <a:gd name="T79" fmla="*/ 654 h 702"/>
                    <a:gd name="T80" fmla="*/ 510 w 521"/>
                    <a:gd name="T81" fmla="*/ 670 h 702"/>
                    <a:gd name="T82" fmla="*/ 516 w 521"/>
                    <a:gd name="T83" fmla="*/ 686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1" h="702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3" y="0"/>
                      </a:lnTo>
                      <a:lnTo>
                        <a:pt x="28" y="0"/>
                      </a:lnTo>
                      <a:lnTo>
                        <a:pt x="34" y="0"/>
                      </a:lnTo>
                      <a:lnTo>
                        <a:pt x="40" y="5"/>
                      </a:lnTo>
                      <a:lnTo>
                        <a:pt x="45" y="5"/>
                      </a:lnTo>
                      <a:lnTo>
                        <a:pt x="51" y="5"/>
                      </a:lnTo>
                      <a:lnTo>
                        <a:pt x="57" y="11"/>
                      </a:lnTo>
                      <a:lnTo>
                        <a:pt x="62" y="11"/>
                      </a:lnTo>
                      <a:lnTo>
                        <a:pt x="68" y="11"/>
                      </a:lnTo>
                      <a:lnTo>
                        <a:pt x="74" y="16"/>
                      </a:lnTo>
                      <a:lnTo>
                        <a:pt x="79" y="16"/>
                      </a:lnTo>
                      <a:lnTo>
                        <a:pt x="85" y="21"/>
                      </a:lnTo>
                      <a:lnTo>
                        <a:pt x="91" y="27"/>
                      </a:lnTo>
                      <a:lnTo>
                        <a:pt x="96" y="27"/>
                      </a:lnTo>
                      <a:lnTo>
                        <a:pt x="102" y="32"/>
                      </a:lnTo>
                      <a:lnTo>
                        <a:pt x="108" y="37"/>
                      </a:lnTo>
                      <a:lnTo>
                        <a:pt x="113" y="37"/>
                      </a:lnTo>
                      <a:lnTo>
                        <a:pt x="119" y="43"/>
                      </a:lnTo>
                      <a:lnTo>
                        <a:pt x="125" y="48"/>
                      </a:lnTo>
                      <a:lnTo>
                        <a:pt x="130" y="53"/>
                      </a:lnTo>
                      <a:lnTo>
                        <a:pt x="136" y="53"/>
                      </a:lnTo>
                      <a:lnTo>
                        <a:pt x="142" y="59"/>
                      </a:lnTo>
                      <a:lnTo>
                        <a:pt x="147" y="64"/>
                      </a:lnTo>
                      <a:lnTo>
                        <a:pt x="153" y="69"/>
                      </a:lnTo>
                      <a:lnTo>
                        <a:pt x="159" y="74"/>
                      </a:lnTo>
                      <a:lnTo>
                        <a:pt x="164" y="80"/>
                      </a:lnTo>
                      <a:lnTo>
                        <a:pt x="170" y="85"/>
                      </a:lnTo>
                      <a:lnTo>
                        <a:pt x="176" y="90"/>
                      </a:lnTo>
                      <a:lnTo>
                        <a:pt x="187" y="101"/>
                      </a:lnTo>
                      <a:lnTo>
                        <a:pt x="187" y="106"/>
                      </a:lnTo>
                      <a:lnTo>
                        <a:pt x="193" y="112"/>
                      </a:lnTo>
                      <a:lnTo>
                        <a:pt x="198" y="117"/>
                      </a:lnTo>
                      <a:lnTo>
                        <a:pt x="204" y="122"/>
                      </a:lnTo>
                      <a:lnTo>
                        <a:pt x="210" y="128"/>
                      </a:lnTo>
                      <a:lnTo>
                        <a:pt x="221" y="138"/>
                      </a:lnTo>
                      <a:lnTo>
                        <a:pt x="221" y="144"/>
                      </a:lnTo>
                      <a:lnTo>
                        <a:pt x="227" y="149"/>
                      </a:lnTo>
                      <a:lnTo>
                        <a:pt x="238" y="159"/>
                      </a:lnTo>
                      <a:lnTo>
                        <a:pt x="238" y="170"/>
                      </a:lnTo>
                      <a:lnTo>
                        <a:pt x="244" y="175"/>
                      </a:lnTo>
                      <a:lnTo>
                        <a:pt x="249" y="181"/>
                      </a:lnTo>
                      <a:lnTo>
                        <a:pt x="255" y="186"/>
                      </a:lnTo>
                      <a:lnTo>
                        <a:pt x="261" y="191"/>
                      </a:lnTo>
                      <a:lnTo>
                        <a:pt x="261" y="197"/>
                      </a:lnTo>
                      <a:lnTo>
                        <a:pt x="272" y="207"/>
                      </a:lnTo>
                      <a:lnTo>
                        <a:pt x="272" y="213"/>
                      </a:lnTo>
                      <a:lnTo>
                        <a:pt x="278" y="218"/>
                      </a:lnTo>
                      <a:lnTo>
                        <a:pt x="278" y="223"/>
                      </a:lnTo>
                      <a:lnTo>
                        <a:pt x="289" y="234"/>
                      </a:lnTo>
                      <a:lnTo>
                        <a:pt x="289" y="239"/>
                      </a:lnTo>
                      <a:lnTo>
                        <a:pt x="295" y="245"/>
                      </a:lnTo>
                      <a:lnTo>
                        <a:pt x="295" y="250"/>
                      </a:lnTo>
                      <a:lnTo>
                        <a:pt x="300" y="255"/>
                      </a:lnTo>
                      <a:lnTo>
                        <a:pt x="300" y="260"/>
                      </a:lnTo>
                      <a:lnTo>
                        <a:pt x="306" y="266"/>
                      </a:lnTo>
                      <a:lnTo>
                        <a:pt x="312" y="271"/>
                      </a:lnTo>
                      <a:lnTo>
                        <a:pt x="312" y="282"/>
                      </a:lnTo>
                      <a:lnTo>
                        <a:pt x="317" y="287"/>
                      </a:lnTo>
                      <a:lnTo>
                        <a:pt x="323" y="292"/>
                      </a:lnTo>
                      <a:lnTo>
                        <a:pt x="323" y="298"/>
                      </a:lnTo>
                      <a:lnTo>
                        <a:pt x="329" y="303"/>
                      </a:lnTo>
                      <a:lnTo>
                        <a:pt x="334" y="308"/>
                      </a:lnTo>
                      <a:lnTo>
                        <a:pt x="334" y="319"/>
                      </a:lnTo>
                      <a:lnTo>
                        <a:pt x="346" y="330"/>
                      </a:lnTo>
                      <a:lnTo>
                        <a:pt x="346" y="335"/>
                      </a:lnTo>
                      <a:lnTo>
                        <a:pt x="351" y="340"/>
                      </a:lnTo>
                      <a:lnTo>
                        <a:pt x="351" y="351"/>
                      </a:lnTo>
                      <a:lnTo>
                        <a:pt x="357" y="356"/>
                      </a:lnTo>
                      <a:lnTo>
                        <a:pt x="363" y="361"/>
                      </a:lnTo>
                      <a:lnTo>
                        <a:pt x="363" y="367"/>
                      </a:lnTo>
                      <a:lnTo>
                        <a:pt x="368" y="372"/>
                      </a:lnTo>
                      <a:lnTo>
                        <a:pt x="368" y="383"/>
                      </a:lnTo>
                      <a:lnTo>
                        <a:pt x="374" y="388"/>
                      </a:lnTo>
                      <a:lnTo>
                        <a:pt x="380" y="393"/>
                      </a:lnTo>
                      <a:lnTo>
                        <a:pt x="380" y="399"/>
                      </a:lnTo>
                      <a:lnTo>
                        <a:pt x="385" y="404"/>
                      </a:lnTo>
                      <a:lnTo>
                        <a:pt x="385" y="409"/>
                      </a:lnTo>
                      <a:lnTo>
                        <a:pt x="391" y="415"/>
                      </a:lnTo>
                      <a:lnTo>
                        <a:pt x="391" y="425"/>
                      </a:lnTo>
                      <a:lnTo>
                        <a:pt x="397" y="431"/>
                      </a:lnTo>
                      <a:lnTo>
                        <a:pt x="397" y="436"/>
                      </a:lnTo>
                      <a:lnTo>
                        <a:pt x="402" y="441"/>
                      </a:lnTo>
                      <a:lnTo>
                        <a:pt x="408" y="446"/>
                      </a:lnTo>
                      <a:lnTo>
                        <a:pt x="408" y="457"/>
                      </a:lnTo>
                      <a:lnTo>
                        <a:pt x="414" y="462"/>
                      </a:lnTo>
                      <a:lnTo>
                        <a:pt x="414" y="468"/>
                      </a:lnTo>
                      <a:lnTo>
                        <a:pt x="419" y="473"/>
                      </a:lnTo>
                      <a:lnTo>
                        <a:pt x="419" y="478"/>
                      </a:lnTo>
                      <a:lnTo>
                        <a:pt x="425" y="484"/>
                      </a:lnTo>
                      <a:lnTo>
                        <a:pt x="425" y="494"/>
                      </a:lnTo>
                      <a:lnTo>
                        <a:pt x="431" y="500"/>
                      </a:lnTo>
                      <a:lnTo>
                        <a:pt x="431" y="505"/>
                      </a:lnTo>
                      <a:lnTo>
                        <a:pt x="436" y="510"/>
                      </a:lnTo>
                      <a:lnTo>
                        <a:pt x="436" y="516"/>
                      </a:lnTo>
                      <a:lnTo>
                        <a:pt x="442" y="521"/>
                      </a:lnTo>
                      <a:lnTo>
                        <a:pt x="442" y="531"/>
                      </a:lnTo>
                      <a:lnTo>
                        <a:pt x="448" y="537"/>
                      </a:lnTo>
                      <a:lnTo>
                        <a:pt x="448" y="542"/>
                      </a:lnTo>
                      <a:lnTo>
                        <a:pt x="453" y="547"/>
                      </a:lnTo>
                      <a:lnTo>
                        <a:pt x="453" y="553"/>
                      </a:lnTo>
                      <a:lnTo>
                        <a:pt x="459" y="558"/>
                      </a:lnTo>
                      <a:lnTo>
                        <a:pt x="459" y="563"/>
                      </a:lnTo>
                      <a:lnTo>
                        <a:pt x="465" y="569"/>
                      </a:lnTo>
                      <a:lnTo>
                        <a:pt x="465" y="579"/>
                      </a:lnTo>
                      <a:lnTo>
                        <a:pt x="470" y="585"/>
                      </a:lnTo>
                      <a:lnTo>
                        <a:pt x="470" y="590"/>
                      </a:lnTo>
                      <a:lnTo>
                        <a:pt x="476" y="595"/>
                      </a:lnTo>
                      <a:lnTo>
                        <a:pt x="476" y="601"/>
                      </a:lnTo>
                      <a:lnTo>
                        <a:pt x="482" y="606"/>
                      </a:lnTo>
                      <a:lnTo>
                        <a:pt x="482" y="617"/>
                      </a:lnTo>
                      <a:lnTo>
                        <a:pt x="487" y="622"/>
                      </a:lnTo>
                      <a:lnTo>
                        <a:pt x="487" y="627"/>
                      </a:lnTo>
                      <a:lnTo>
                        <a:pt x="493" y="632"/>
                      </a:lnTo>
                      <a:lnTo>
                        <a:pt x="493" y="638"/>
                      </a:lnTo>
                      <a:lnTo>
                        <a:pt x="499" y="643"/>
                      </a:lnTo>
                      <a:lnTo>
                        <a:pt x="499" y="654"/>
                      </a:lnTo>
                      <a:lnTo>
                        <a:pt x="504" y="659"/>
                      </a:lnTo>
                      <a:lnTo>
                        <a:pt x="504" y="664"/>
                      </a:lnTo>
                      <a:lnTo>
                        <a:pt x="510" y="670"/>
                      </a:lnTo>
                      <a:lnTo>
                        <a:pt x="510" y="675"/>
                      </a:lnTo>
                      <a:lnTo>
                        <a:pt x="516" y="680"/>
                      </a:lnTo>
                      <a:lnTo>
                        <a:pt x="516" y="686"/>
                      </a:lnTo>
                      <a:lnTo>
                        <a:pt x="521" y="691"/>
                      </a:lnTo>
                      <a:lnTo>
                        <a:pt x="521" y="70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102263" name="Freeform 887">
                  <a:extLst>
                    <a:ext uri="{FF2B5EF4-FFF2-40B4-BE49-F238E27FC236}">
                      <a16:creationId xmlns:a16="http://schemas.microsoft.com/office/drawing/2014/main" id="{C36F882E-5C4A-AEB9-4AAE-3CD3285D53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0" y="1880"/>
                  <a:ext cx="380" cy="813"/>
                </a:xfrm>
                <a:custGeom>
                  <a:avLst/>
                  <a:gdLst>
                    <a:gd name="T0" fmla="*/ 6 w 380"/>
                    <a:gd name="T1" fmla="*/ 10 h 813"/>
                    <a:gd name="T2" fmla="*/ 18 w 380"/>
                    <a:gd name="T3" fmla="*/ 26 h 813"/>
                    <a:gd name="T4" fmla="*/ 23 w 380"/>
                    <a:gd name="T5" fmla="*/ 53 h 813"/>
                    <a:gd name="T6" fmla="*/ 35 w 380"/>
                    <a:gd name="T7" fmla="*/ 69 h 813"/>
                    <a:gd name="T8" fmla="*/ 40 w 380"/>
                    <a:gd name="T9" fmla="*/ 90 h 813"/>
                    <a:gd name="T10" fmla="*/ 52 w 380"/>
                    <a:gd name="T11" fmla="*/ 106 h 813"/>
                    <a:gd name="T12" fmla="*/ 57 w 380"/>
                    <a:gd name="T13" fmla="*/ 132 h 813"/>
                    <a:gd name="T14" fmla="*/ 69 w 380"/>
                    <a:gd name="T15" fmla="*/ 148 h 813"/>
                    <a:gd name="T16" fmla="*/ 74 w 380"/>
                    <a:gd name="T17" fmla="*/ 170 h 813"/>
                    <a:gd name="T18" fmla="*/ 86 w 380"/>
                    <a:gd name="T19" fmla="*/ 186 h 813"/>
                    <a:gd name="T20" fmla="*/ 91 w 380"/>
                    <a:gd name="T21" fmla="*/ 212 h 813"/>
                    <a:gd name="T22" fmla="*/ 103 w 380"/>
                    <a:gd name="T23" fmla="*/ 228 h 813"/>
                    <a:gd name="T24" fmla="*/ 108 w 380"/>
                    <a:gd name="T25" fmla="*/ 249 h 813"/>
                    <a:gd name="T26" fmla="*/ 120 w 380"/>
                    <a:gd name="T27" fmla="*/ 265 h 813"/>
                    <a:gd name="T28" fmla="*/ 125 w 380"/>
                    <a:gd name="T29" fmla="*/ 287 h 813"/>
                    <a:gd name="T30" fmla="*/ 137 w 380"/>
                    <a:gd name="T31" fmla="*/ 308 h 813"/>
                    <a:gd name="T32" fmla="*/ 142 w 380"/>
                    <a:gd name="T33" fmla="*/ 324 h 813"/>
                    <a:gd name="T34" fmla="*/ 154 w 380"/>
                    <a:gd name="T35" fmla="*/ 345 h 813"/>
                    <a:gd name="T36" fmla="*/ 159 w 380"/>
                    <a:gd name="T37" fmla="*/ 361 h 813"/>
                    <a:gd name="T38" fmla="*/ 171 w 380"/>
                    <a:gd name="T39" fmla="*/ 387 h 813"/>
                    <a:gd name="T40" fmla="*/ 176 w 380"/>
                    <a:gd name="T41" fmla="*/ 403 h 813"/>
                    <a:gd name="T42" fmla="*/ 188 w 380"/>
                    <a:gd name="T43" fmla="*/ 425 h 813"/>
                    <a:gd name="T44" fmla="*/ 193 w 380"/>
                    <a:gd name="T45" fmla="*/ 441 h 813"/>
                    <a:gd name="T46" fmla="*/ 205 w 380"/>
                    <a:gd name="T47" fmla="*/ 457 h 813"/>
                    <a:gd name="T48" fmla="*/ 210 w 380"/>
                    <a:gd name="T49" fmla="*/ 478 h 813"/>
                    <a:gd name="T50" fmla="*/ 222 w 380"/>
                    <a:gd name="T51" fmla="*/ 494 h 813"/>
                    <a:gd name="T52" fmla="*/ 227 w 380"/>
                    <a:gd name="T53" fmla="*/ 515 h 813"/>
                    <a:gd name="T54" fmla="*/ 239 w 380"/>
                    <a:gd name="T55" fmla="*/ 531 h 813"/>
                    <a:gd name="T56" fmla="*/ 244 w 380"/>
                    <a:gd name="T57" fmla="*/ 552 h 813"/>
                    <a:gd name="T58" fmla="*/ 256 w 380"/>
                    <a:gd name="T59" fmla="*/ 568 h 813"/>
                    <a:gd name="T60" fmla="*/ 261 w 380"/>
                    <a:gd name="T61" fmla="*/ 589 h 813"/>
                    <a:gd name="T62" fmla="*/ 273 w 380"/>
                    <a:gd name="T63" fmla="*/ 605 h 813"/>
                    <a:gd name="T64" fmla="*/ 278 w 380"/>
                    <a:gd name="T65" fmla="*/ 627 h 813"/>
                    <a:gd name="T66" fmla="*/ 290 w 380"/>
                    <a:gd name="T67" fmla="*/ 643 h 813"/>
                    <a:gd name="T68" fmla="*/ 295 w 380"/>
                    <a:gd name="T69" fmla="*/ 664 h 813"/>
                    <a:gd name="T70" fmla="*/ 307 w 380"/>
                    <a:gd name="T71" fmla="*/ 680 h 813"/>
                    <a:gd name="T72" fmla="*/ 318 w 380"/>
                    <a:gd name="T73" fmla="*/ 701 h 813"/>
                    <a:gd name="T74" fmla="*/ 324 w 380"/>
                    <a:gd name="T75" fmla="*/ 717 h 813"/>
                    <a:gd name="T76" fmla="*/ 335 w 380"/>
                    <a:gd name="T77" fmla="*/ 738 h 813"/>
                    <a:gd name="T78" fmla="*/ 346 w 380"/>
                    <a:gd name="T79" fmla="*/ 754 h 813"/>
                    <a:gd name="T80" fmla="*/ 363 w 380"/>
                    <a:gd name="T81" fmla="*/ 781 h 813"/>
                    <a:gd name="T82" fmla="*/ 369 w 380"/>
                    <a:gd name="T83" fmla="*/ 802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0"/>
                      </a:moveTo>
                      <a:lnTo>
                        <a:pt x="6" y="5"/>
                      </a:lnTo>
                      <a:lnTo>
                        <a:pt x="6" y="10"/>
                      </a:lnTo>
                      <a:lnTo>
                        <a:pt x="12" y="15"/>
                      </a:lnTo>
                      <a:lnTo>
                        <a:pt x="12" y="21"/>
                      </a:lnTo>
                      <a:lnTo>
                        <a:pt x="18" y="26"/>
                      </a:lnTo>
                      <a:lnTo>
                        <a:pt x="18" y="42"/>
                      </a:lnTo>
                      <a:lnTo>
                        <a:pt x="23" y="47"/>
                      </a:lnTo>
                      <a:lnTo>
                        <a:pt x="23" y="53"/>
                      </a:lnTo>
                      <a:lnTo>
                        <a:pt x="29" y="58"/>
                      </a:lnTo>
                      <a:lnTo>
                        <a:pt x="29" y="63"/>
                      </a:lnTo>
                      <a:lnTo>
                        <a:pt x="35" y="69"/>
                      </a:lnTo>
                      <a:lnTo>
                        <a:pt x="35" y="79"/>
                      </a:lnTo>
                      <a:lnTo>
                        <a:pt x="40" y="85"/>
                      </a:lnTo>
                      <a:lnTo>
                        <a:pt x="40" y="90"/>
                      </a:lnTo>
                      <a:lnTo>
                        <a:pt x="46" y="95"/>
                      </a:lnTo>
                      <a:lnTo>
                        <a:pt x="46" y="101"/>
                      </a:lnTo>
                      <a:lnTo>
                        <a:pt x="52" y="106"/>
                      </a:lnTo>
                      <a:lnTo>
                        <a:pt x="52" y="116"/>
                      </a:lnTo>
                      <a:lnTo>
                        <a:pt x="57" y="122"/>
                      </a:lnTo>
                      <a:lnTo>
                        <a:pt x="57" y="132"/>
                      </a:lnTo>
                      <a:lnTo>
                        <a:pt x="63" y="138"/>
                      </a:lnTo>
                      <a:lnTo>
                        <a:pt x="63" y="143"/>
                      </a:lnTo>
                      <a:lnTo>
                        <a:pt x="69" y="148"/>
                      </a:lnTo>
                      <a:lnTo>
                        <a:pt x="69" y="154"/>
                      </a:lnTo>
                      <a:lnTo>
                        <a:pt x="74" y="159"/>
                      </a:lnTo>
                      <a:lnTo>
                        <a:pt x="74" y="170"/>
                      </a:lnTo>
                      <a:lnTo>
                        <a:pt x="80" y="175"/>
                      </a:lnTo>
                      <a:lnTo>
                        <a:pt x="80" y="180"/>
                      </a:lnTo>
                      <a:lnTo>
                        <a:pt x="86" y="186"/>
                      </a:lnTo>
                      <a:lnTo>
                        <a:pt x="86" y="191"/>
                      </a:lnTo>
                      <a:lnTo>
                        <a:pt x="91" y="196"/>
                      </a:lnTo>
                      <a:lnTo>
                        <a:pt x="91" y="212"/>
                      </a:lnTo>
                      <a:lnTo>
                        <a:pt x="97" y="217"/>
                      </a:lnTo>
                      <a:lnTo>
                        <a:pt x="97" y="223"/>
                      </a:lnTo>
                      <a:lnTo>
                        <a:pt x="103" y="228"/>
                      </a:lnTo>
                      <a:lnTo>
                        <a:pt x="103" y="233"/>
                      </a:lnTo>
                      <a:lnTo>
                        <a:pt x="108" y="239"/>
                      </a:lnTo>
                      <a:lnTo>
                        <a:pt x="108" y="249"/>
                      </a:lnTo>
                      <a:lnTo>
                        <a:pt x="114" y="255"/>
                      </a:lnTo>
                      <a:lnTo>
                        <a:pt x="114" y="260"/>
                      </a:lnTo>
                      <a:lnTo>
                        <a:pt x="120" y="265"/>
                      </a:lnTo>
                      <a:lnTo>
                        <a:pt x="120" y="271"/>
                      </a:lnTo>
                      <a:lnTo>
                        <a:pt x="125" y="276"/>
                      </a:lnTo>
                      <a:lnTo>
                        <a:pt x="125" y="287"/>
                      </a:lnTo>
                      <a:lnTo>
                        <a:pt x="131" y="292"/>
                      </a:lnTo>
                      <a:lnTo>
                        <a:pt x="131" y="302"/>
                      </a:lnTo>
                      <a:lnTo>
                        <a:pt x="137" y="308"/>
                      </a:lnTo>
                      <a:lnTo>
                        <a:pt x="137" y="313"/>
                      </a:lnTo>
                      <a:lnTo>
                        <a:pt x="142" y="318"/>
                      </a:lnTo>
                      <a:lnTo>
                        <a:pt x="142" y="324"/>
                      </a:lnTo>
                      <a:lnTo>
                        <a:pt x="148" y="329"/>
                      </a:lnTo>
                      <a:lnTo>
                        <a:pt x="148" y="340"/>
                      </a:lnTo>
                      <a:lnTo>
                        <a:pt x="154" y="345"/>
                      </a:lnTo>
                      <a:lnTo>
                        <a:pt x="154" y="350"/>
                      </a:lnTo>
                      <a:lnTo>
                        <a:pt x="159" y="356"/>
                      </a:lnTo>
                      <a:lnTo>
                        <a:pt x="159" y="361"/>
                      </a:lnTo>
                      <a:lnTo>
                        <a:pt x="165" y="366"/>
                      </a:lnTo>
                      <a:lnTo>
                        <a:pt x="165" y="382"/>
                      </a:lnTo>
                      <a:lnTo>
                        <a:pt x="171" y="387"/>
                      </a:lnTo>
                      <a:lnTo>
                        <a:pt x="171" y="393"/>
                      </a:lnTo>
                      <a:lnTo>
                        <a:pt x="176" y="398"/>
                      </a:lnTo>
                      <a:lnTo>
                        <a:pt x="176" y="403"/>
                      </a:lnTo>
                      <a:lnTo>
                        <a:pt x="182" y="409"/>
                      </a:lnTo>
                      <a:lnTo>
                        <a:pt x="182" y="419"/>
                      </a:lnTo>
                      <a:lnTo>
                        <a:pt x="188" y="425"/>
                      </a:lnTo>
                      <a:lnTo>
                        <a:pt x="188" y="430"/>
                      </a:lnTo>
                      <a:lnTo>
                        <a:pt x="193" y="435"/>
                      </a:lnTo>
                      <a:lnTo>
                        <a:pt x="193" y="441"/>
                      </a:lnTo>
                      <a:lnTo>
                        <a:pt x="199" y="446"/>
                      </a:lnTo>
                      <a:lnTo>
                        <a:pt x="199" y="451"/>
                      </a:lnTo>
                      <a:lnTo>
                        <a:pt x="205" y="457"/>
                      </a:lnTo>
                      <a:lnTo>
                        <a:pt x="205" y="467"/>
                      </a:lnTo>
                      <a:lnTo>
                        <a:pt x="210" y="473"/>
                      </a:lnTo>
                      <a:lnTo>
                        <a:pt x="210" y="478"/>
                      </a:lnTo>
                      <a:lnTo>
                        <a:pt x="216" y="483"/>
                      </a:lnTo>
                      <a:lnTo>
                        <a:pt x="216" y="488"/>
                      </a:lnTo>
                      <a:lnTo>
                        <a:pt x="222" y="494"/>
                      </a:lnTo>
                      <a:lnTo>
                        <a:pt x="222" y="504"/>
                      </a:lnTo>
                      <a:lnTo>
                        <a:pt x="227" y="510"/>
                      </a:lnTo>
                      <a:lnTo>
                        <a:pt x="227" y="515"/>
                      </a:lnTo>
                      <a:lnTo>
                        <a:pt x="233" y="520"/>
                      </a:lnTo>
                      <a:lnTo>
                        <a:pt x="233" y="526"/>
                      </a:lnTo>
                      <a:lnTo>
                        <a:pt x="239" y="531"/>
                      </a:lnTo>
                      <a:lnTo>
                        <a:pt x="239" y="542"/>
                      </a:lnTo>
                      <a:lnTo>
                        <a:pt x="244" y="547"/>
                      </a:lnTo>
                      <a:lnTo>
                        <a:pt x="244" y="552"/>
                      </a:lnTo>
                      <a:lnTo>
                        <a:pt x="250" y="558"/>
                      </a:lnTo>
                      <a:lnTo>
                        <a:pt x="250" y="563"/>
                      </a:lnTo>
                      <a:lnTo>
                        <a:pt x="256" y="568"/>
                      </a:lnTo>
                      <a:lnTo>
                        <a:pt x="256" y="573"/>
                      </a:lnTo>
                      <a:lnTo>
                        <a:pt x="261" y="579"/>
                      </a:lnTo>
                      <a:lnTo>
                        <a:pt x="261" y="589"/>
                      </a:lnTo>
                      <a:lnTo>
                        <a:pt x="267" y="595"/>
                      </a:lnTo>
                      <a:lnTo>
                        <a:pt x="267" y="600"/>
                      </a:lnTo>
                      <a:lnTo>
                        <a:pt x="273" y="605"/>
                      </a:lnTo>
                      <a:lnTo>
                        <a:pt x="273" y="611"/>
                      </a:lnTo>
                      <a:lnTo>
                        <a:pt x="278" y="616"/>
                      </a:lnTo>
                      <a:lnTo>
                        <a:pt x="278" y="627"/>
                      </a:lnTo>
                      <a:lnTo>
                        <a:pt x="284" y="632"/>
                      </a:lnTo>
                      <a:lnTo>
                        <a:pt x="284" y="637"/>
                      </a:lnTo>
                      <a:lnTo>
                        <a:pt x="290" y="643"/>
                      </a:lnTo>
                      <a:lnTo>
                        <a:pt x="290" y="648"/>
                      </a:lnTo>
                      <a:lnTo>
                        <a:pt x="295" y="653"/>
                      </a:lnTo>
                      <a:lnTo>
                        <a:pt x="295" y="664"/>
                      </a:lnTo>
                      <a:lnTo>
                        <a:pt x="301" y="669"/>
                      </a:lnTo>
                      <a:lnTo>
                        <a:pt x="307" y="674"/>
                      </a:lnTo>
                      <a:lnTo>
                        <a:pt x="307" y="680"/>
                      </a:lnTo>
                      <a:lnTo>
                        <a:pt x="312" y="685"/>
                      </a:lnTo>
                      <a:lnTo>
                        <a:pt x="312" y="696"/>
                      </a:lnTo>
                      <a:lnTo>
                        <a:pt x="318" y="701"/>
                      </a:lnTo>
                      <a:lnTo>
                        <a:pt x="318" y="706"/>
                      </a:lnTo>
                      <a:lnTo>
                        <a:pt x="324" y="712"/>
                      </a:lnTo>
                      <a:lnTo>
                        <a:pt x="324" y="717"/>
                      </a:lnTo>
                      <a:lnTo>
                        <a:pt x="329" y="722"/>
                      </a:lnTo>
                      <a:lnTo>
                        <a:pt x="335" y="728"/>
                      </a:lnTo>
                      <a:lnTo>
                        <a:pt x="335" y="738"/>
                      </a:lnTo>
                      <a:lnTo>
                        <a:pt x="341" y="744"/>
                      </a:lnTo>
                      <a:lnTo>
                        <a:pt x="341" y="749"/>
                      </a:lnTo>
                      <a:lnTo>
                        <a:pt x="346" y="754"/>
                      </a:lnTo>
                      <a:lnTo>
                        <a:pt x="352" y="759"/>
                      </a:lnTo>
                      <a:lnTo>
                        <a:pt x="352" y="770"/>
                      </a:lnTo>
                      <a:lnTo>
                        <a:pt x="363" y="781"/>
                      </a:lnTo>
                      <a:lnTo>
                        <a:pt x="363" y="786"/>
                      </a:lnTo>
                      <a:lnTo>
                        <a:pt x="369" y="791"/>
                      </a:lnTo>
                      <a:lnTo>
                        <a:pt x="369" y="802"/>
                      </a:lnTo>
                      <a:lnTo>
                        <a:pt x="375" y="807"/>
                      </a:lnTo>
                      <a:lnTo>
                        <a:pt x="380" y="8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102264" name="Freeform 888">
                  <a:extLst>
                    <a:ext uri="{FF2B5EF4-FFF2-40B4-BE49-F238E27FC236}">
                      <a16:creationId xmlns:a16="http://schemas.microsoft.com/office/drawing/2014/main" id="{64DE14B1-ADB9-384E-3F26-700D705EF0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30" y="2693"/>
                  <a:ext cx="652" cy="297"/>
                </a:xfrm>
                <a:custGeom>
                  <a:avLst/>
                  <a:gdLst>
                    <a:gd name="T0" fmla="*/ 12 w 652"/>
                    <a:gd name="T1" fmla="*/ 16 h 297"/>
                    <a:gd name="T2" fmla="*/ 23 w 652"/>
                    <a:gd name="T3" fmla="*/ 37 h 297"/>
                    <a:gd name="T4" fmla="*/ 29 w 652"/>
                    <a:gd name="T5" fmla="*/ 53 h 297"/>
                    <a:gd name="T6" fmla="*/ 46 w 652"/>
                    <a:gd name="T7" fmla="*/ 74 h 297"/>
                    <a:gd name="T8" fmla="*/ 57 w 652"/>
                    <a:gd name="T9" fmla="*/ 95 h 297"/>
                    <a:gd name="T10" fmla="*/ 68 w 652"/>
                    <a:gd name="T11" fmla="*/ 111 h 297"/>
                    <a:gd name="T12" fmla="*/ 91 w 652"/>
                    <a:gd name="T13" fmla="*/ 138 h 297"/>
                    <a:gd name="T14" fmla="*/ 108 w 652"/>
                    <a:gd name="T15" fmla="*/ 159 h 297"/>
                    <a:gd name="T16" fmla="*/ 125 w 652"/>
                    <a:gd name="T17" fmla="*/ 180 h 297"/>
                    <a:gd name="T18" fmla="*/ 136 w 652"/>
                    <a:gd name="T19" fmla="*/ 196 h 297"/>
                    <a:gd name="T20" fmla="*/ 153 w 652"/>
                    <a:gd name="T21" fmla="*/ 212 h 297"/>
                    <a:gd name="T22" fmla="*/ 165 w 652"/>
                    <a:gd name="T23" fmla="*/ 223 h 297"/>
                    <a:gd name="T24" fmla="*/ 182 w 652"/>
                    <a:gd name="T25" fmla="*/ 239 h 297"/>
                    <a:gd name="T26" fmla="*/ 199 w 652"/>
                    <a:gd name="T27" fmla="*/ 255 h 297"/>
                    <a:gd name="T28" fmla="*/ 216 w 652"/>
                    <a:gd name="T29" fmla="*/ 265 h 297"/>
                    <a:gd name="T30" fmla="*/ 233 w 652"/>
                    <a:gd name="T31" fmla="*/ 276 h 297"/>
                    <a:gd name="T32" fmla="*/ 250 w 652"/>
                    <a:gd name="T33" fmla="*/ 281 h 297"/>
                    <a:gd name="T34" fmla="*/ 267 w 652"/>
                    <a:gd name="T35" fmla="*/ 292 h 297"/>
                    <a:gd name="T36" fmla="*/ 284 w 652"/>
                    <a:gd name="T37" fmla="*/ 297 h 297"/>
                    <a:gd name="T38" fmla="*/ 301 w 652"/>
                    <a:gd name="T39" fmla="*/ 297 h 297"/>
                    <a:gd name="T40" fmla="*/ 318 w 652"/>
                    <a:gd name="T41" fmla="*/ 297 h 297"/>
                    <a:gd name="T42" fmla="*/ 335 w 652"/>
                    <a:gd name="T43" fmla="*/ 297 h 297"/>
                    <a:gd name="T44" fmla="*/ 352 w 652"/>
                    <a:gd name="T45" fmla="*/ 297 h 297"/>
                    <a:gd name="T46" fmla="*/ 369 w 652"/>
                    <a:gd name="T47" fmla="*/ 292 h 297"/>
                    <a:gd name="T48" fmla="*/ 386 w 652"/>
                    <a:gd name="T49" fmla="*/ 287 h 297"/>
                    <a:gd name="T50" fmla="*/ 403 w 652"/>
                    <a:gd name="T51" fmla="*/ 281 h 297"/>
                    <a:gd name="T52" fmla="*/ 420 w 652"/>
                    <a:gd name="T53" fmla="*/ 271 h 297"/>
                    <a:gd name="T54" fmla="*/ 437 w 652"/>
                    <a:gd name="T55" fmla="*/ 260 h 297"/>
                    <a:gd name="T56" fmla="*/ 454 w 652"/>
                    <a:gd name="T57" fmla="*/ 249 h 297"/>
                    <a:gd name="T58" fmla="*/ 471 w 652"/>
                    <a:gd name="T59" fmla="*/ 239 h 297"/>
                    <a:gd name="T60" fmla="*/ 488 w 652"/>
                    <a:gd name="T61" fmla="*/ 223 h 297"/>
                    <a:gd name="T62" fmla="*/ 505 w 652"/>
                    <a:gd name="T63" fmla="*/ 207 h 297"/>
                    <a:gd name="T64" fmla="*/ 522 w 652"/>
                    <a:gd name="T65" fmla="*/ 186 h 297"/>
                    <a:gd name="T66" fmla="*/ 539 w 652"/>
                    <a:gd name="T67" fmla="*/ 170 h 297"/>
                    <a:gd name="T68" fmla="*/ 556 w 652"/>
                    <a:gd name="T69" fmla="*/ 148 h 297"/>
                    <a:gd name="T70" fmla="*/ 573 w 652"/>
                    <a:gd name="T71" fmla="*/ 122 h 297"/>
                    <a:gd name="T72" fmla="*/ 590 w 652"/>
                    <a:gd name="T73" fmla="*/ 106 h 297"/>
                    <a:gd name="T74" fmla="*/ 601 w 652"/>
                    <a:gd name="T75" fmla="*/ 85 h 297"/>
                    <a:gd name="T76" fmla="*/ 618 w 652"/>
                    <a:gd name="T77" fmla="*/ 63 h 297"/>
                    <a:gd name="T78" fmla="*/ 624 w 652"/>
                    <a:gd name="T79" fmla="*/ 47 h 297"/>
                    <a:gd name="T80" fmla="*/ 635 w 652"/>
                    <a:gd name="T81" fmla="*/ 32 h 297"/>
                    <a:gd name="T82" fmla="*/ 647 w 652"/>
                    <a:gd name="T83" fmla="*/ 10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52" h="297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2" y="16"/>
                      </a:lnTo>
                      <a:lnTo>
                        <a:pt x="12" y="26"/>
                      </a:lnTo>
                      <a:lnTo>
                        <a:pt x="17" y="32"/>
                      </a:lnTo>
                      <a:lnTo>
                        <a:pt x="23" y="37"/>
                      </a:lnTo>
                      <a:lnTo>
                        <a:pt x="23" y="42"/>
                      </a:lnTo>
                      <a:lnTo>
                        <a:pt x="29" y="47"/>
                      </a:lnTo>
                      <a:lnTo>
                        <a:pt x="29" y="53"/>
                      </a:lnTo>
                      <a:lnTo>
                        <a:pt x="40" y="63"/>
                      </a:lnTo>
                      <a:lnTo>
                        <a:pt x="40" y="69"/>
                      </a:lnTo>
                      <a:lnTo>
                        <a:pt x="46" y="74"/>
                      </a:lnTo>
                      <a:lnTo>
                        <a:pt x="46" y="79"/>
                      </a:lnTo>
                      <a:lnTo>
                        <a:pt x="57" y="90"/>
                      </a:lnTo>
                      <a:lnTo>
                        <a:pt x="57" y="95"/>
                      </a:lnTo>
                      <a:lnTo>
                        <a:pt x="63" y="101"/>
                      </a:lnTo>
                      <a:lnTo>
                        <a:pt x="63" y="106"/>
                      </a:lnTo>
                      <a:lnTo>
                        <a:pt x="68" y="111"/>
                      </a:lnTo>
                      <a:lnTo>
                        <a:pt x="80" y="122"/>
                      </a:lnTo>
                      <a:lnTo>
                        <a:pt x="80" y="127"/>
                      </a:lnTo>
                      <a:lnTo>
                        <a:pt x="91" y="138"/>
                      </a:lnTo>
                      <a:lnTo>
                        <a:pt x="91" y="143"/>
                      </a:lnTo>
                      <a:lnTo>
                        <a:pt x="97" y="148"/>
                      </a:lnTo>
                      <a:lnTo>
                        <a:pt x="108" y="159"/>
                      </a:lnTo>
                      <a:lnTo>
                        <a:pt x="108" y="164"/>
                      </a:lnTo>
                      <a:lnTo>
                        <a:pt x="114" y="170"/>
                      </a:lnTo>
                      <a:lnTo>
                        <a:pt x="125" y="180"/>
                      </a:lnTo>
                      <a:lnTo>
                        <a:pt x="125" y="186"/>
                      </a:lnTo>
                      <a:lnTo>
                        <a:pt x="131" y="191"/>
                      </a:lnTo>
                      <a:lnTo>
                        <a:pt x="136" y="196"/>
                      </a:lnTo>
                      <a:lnTo>
                        <a:pt x="142" y="202"/>
                      </a:lnTo>
                      <a:lnTo>
                        <a:pt x="148" y="207"/>
                      </a:lnTo>
                      <a:lnTo>
                        <a:pt x="153" y="212"/>
                      </a:lnTo>
                      <a:lnTo>
                        <a:pt x="165" y="223"/>
                      </a:lnTo>
                      <a:lnTo>
                        <a:pt x="159" y="223"/>
                      </a:lnTo>
                      <a:lnTo>
                        <a:pt x="165" y="223"/>
                      </a:lnTo>
                      <a:lnTo>
                        <a:pt x="170" y="228"/>
                      </a:lnTo>
                      <a:lnTo>
                        <a:pt x="176" y="233"/>
                      </a:lnTo>
                      <a:lnTo>
                        <a:pt x="182" y="239"/>
                      </a:lnTo>
                      <a:lnTo>
                        <a:pt x="187" y="244"/>
                      </a:lnTo>
                      <a:lnTo>
                        <a:pt x="193" y="249"/>
                      </a:lnTo>
                      <a:lnTo>
                        <a:pt x="199" y="255"/>
                      </a:lnTo>
                      <a:lnTo>
                        <a:pt x="204" y="255"/>
                      </a:lnTo>
                      <a:lnTo>
                        <a:pt x="210" y="260"/>
                      </a:lnTo>
                      <a:lnTo>
                        <a:pt x="216" y="265"/>
                      </a:lnTo>
                      <a:lnTo>
                        <a:pt x="221" y="271"/>
                      </a:lnTo>
                      <a:lnTo>
                        <a:pt x="227" y="271"/>
                      </a:lnTo>
                      <a:lnTo>
                        <a:pt x="233" y="276"/>
                      </a:lnTo>
                      <a:lnTo>
                        <a:pt x="238" y="276"/>
                      </a:lnTo>
                      <a:lnTo>
                        <a:pt x="244" y="281"/>
                      </a:lnTo>
                      <a:lnTo>
                        <a:pt x="250" y="281"/>
                      </a:lnTo>
                      <a:lnTo>
                        <a:pt x="255" y="287"/>
                      </a:lnTo>
                      <a:lnTo>
                        <a:pt x="261" y="287"/>
                      </a:lnTo>
                      <a:lnTo>
                        <a:pt x="267" y="292"/>
                      </a:lnTo>
                      <a:lnTo>
                        <a:pt x="273" y="292"/>
                      </a:lnTo>
                      <a:lnTo>
                        <a:pt x="278" y="292"/>
                      </a:lnTo>
                      <a:lnTo>
                        <a:pt x="284" y="297"/>
                      </a:lnTo>
                      <a:lnTo>
                        <a:pt x="290" y="297"/>
                      </a:lnTo>
                      <a:lnTo>
                        <a:pt x="295" y="297"/>
                      </a:lnTo>
                      <a:lnTo>
                        <a:pt x="301" y="297"/>
                      </a:lnTo>
                      <a:lnTo>
                        <a:pt x="307" y="297"/>
                      </a:lnTo>
                      <a:lnTo>
                        <a:pt x="312" y="297"/>
                      </a:lnTo>
                      <a:lnTo>
                        <a:pt x="318" y="297"/>
                      </a:lnTo>
                      <a:lnTo>
                        <a:pt x="324" y="297"/>
                      </a:lnTo>
                      <a:lnTo>
                        <a:pt x="329" y="297"/>
                      </a:lnTo>
                      <a:lnTo>
                        <a:pt x="335" y="297"/>
                      </a:lnTo>
                      <a:lnTo>
                        <a:pt x="341" y="297"/>
                      </a:lnTo>
                      <a:lnTo>
                        <a:pt x="346" y="297"/>
                      </a:lnTo>
                      <a:lnTo>
                        <a:pt x="352" y="297"/>
                      </a:lnTo>
                      <a:lnTo>
                        <a:pt x="358" y="297"/>
                      </a:lnTo>
                      <a:lnTo>
                        <a:pt x="363" y="297"/>
                      </a:lnTo>
                      <a:lnTo>
                        <a:pt x="369" y="292"/>
                      </a:lnTo>
                      <a:lnTo>
                        <a:pt x="375" y="292"/>
                      </a:lnTo>
                      <a:lnTo>
                        <a:pt x="380" y="292"/>
                      </a:lnTo>
                      <a:lnTo>
                        <a:pt x="386" y="287"/>
                      </a:lnTo>
                      <a:lnTo>
                        <a:pt x="392" y="287"/>
                      </a:lnTo>
                      <a:lnTo>
                        <a:pt x="397" y="287"/>
                      </a:lnTo>
                      <a:lnTo>
                        <a:pt x="403" y="281"/>
                      </a:lnTo>
                      <a:lnTo>
                        <a:pt x="409" y="281"/>
                      </a:lnTo>
                      <a:lnTo>
                        <a:pt x="414" y="276"/>
                      </a:lnTo>
                      <a:lnTo>
                        <a:pt x="420" y="271"/>
                      </a:lnTo>
                      <a:lnTo>
                        <a:pt x="426" y="271"/>
                      </a:lnTo>
                      <a:lnTo>
                        <a:pt x="431" y="265"/>
                      </a:lnTo>
                      <a:lnTo>
                        <a:pt x="437" y="260"/>
                      </a:lnTo>
                      <a:lnTo>
                        <a:pt x="443" y="260"/>
                      </a:lnTo>
                      <a:lnTo>
                        <a:pt x="448" y="255"/>
                      </a:lnTo>
                      <a:lnTo>
                        <a:pt x="454" y="249"/>
                      </a:lnTo>
                      <a:lnTo>
                        <a:pt x="460" y="244"/>
                      </a:lnTo>
                      <a:lnTo>
                        <a:pt x="465" y="244"/>
                      </a:lnTo>
                      <a:lnTo>
                        <a:pt x="471" y="239"/>
                      </a:lnTo>
                      <a:lnTo>
                        <a:pt x="477" y="233"/>
                      </a:lnTo>
                      <a:lnTo>
                        <a:pt x="482" y="228"/>
                      </a:lnTo>
                      <a:lnTo>
                        <a:pt x="488" y="223"/>
                      </a:lnTo>
                      <a:lnTo>
                        <a:pt x="494" y="218"/>
                      </a:lnTo>
                      <a:lnTo>
                        <a:pt x="499" y="212"/>
                      </a:lnTo>
                      <a:lnTo>
                        <a:pt x="505" y="207"/>
                      </a:lnTo>
                      <a:lnTo>
                        <a:pt x="516" y="196"/>
                      </a:lnTo>
                      <a:lnTo>
                        <a:pt x="516" y="191"/>
                      </a:lnTo>
                      <a:lnTo>
                        <a:pt x="522" y="186"/>
                      </a:lnTo>
                      <a:lnTo>
                        <a:pt x="528" y="180"/>
                      </a:lnTo>
                      <a:lnTo>
                        <a:pt x="533" y="175"/>
                      </a:lnTo>
                      <a:lnTo>
                        <a:pt x="539" y="170"/>
                      </a:lnTo>
                      <a:lnTo>
                        <a:pt x="550" y="159"/>
                      </a:lnTo>
                      <a:lnTo>
                        <a:pt x="550" y="154"/>
                      </a:lnTo>
                      <a:lnTo>
                        <a:pt x="556" y="148"/>
                      </a:lnTo>
                      <a:lnTo>
                        <a:pt x="567" y="138"/>
                      </a:lnTo>
                      <a:lnTo>
                        <a:pt x="567" y="127"/>
                      </a:lnTo>
                      <a:lnTo>
                        <a:pt x="573" y="122"/>
                      </a:lnTo>
                      <a:lnTo>
                        <a:pt x="579" y="117"/>
                      </a:lnTo>
                      <a:lnTo>
                        <a:pt x="584" y="111"/>
                      </a:lnTo>
                      <a:lnTo>
                        <a:pt x="590" y="106"/>
                      </a:lnTo>
                      <a:lnTo>
                        <a:pt x="590" y="101"/>
                      </a:lnTo>
                      <a:lnTo>
                        <a:pt x="601" y="90"/>
                      </a:lnTo>
                      <a:lnTo>
                        <a:pt x="601" y="85"/>
                      </a:lnTo>
                      <a:lnTo>
                        <a:pt x="607" y="79"/>
                      </a:lnTo>
                      <a:lnTo>
                        <a:pt x="607" y="74"/>
                      </a:lnTo>
                      <a:lnTo>
                        <a:pt x="618" y="63"/>
                      </a:lnTo>
                      <a:lnTo>
                        <a:pt x="618" y="58"/>
                      </a:lnTo>
                      <a:lnTo>
                        <a:pt x="624" y="53"/>
                      </a:lnTo>
                      <a:lnTo>
                        <a:pt x="624" y="47"/>
                      </a:lnTo>
                      <a:lnTo>
                        <a:pt x="630" y="42"/>
                      </a:lnTo>
                      <a:lnTo>
                        <a:pt x="630" y="37"/>
                      </a:lnTo>
                      <a:lnTo>
                        <a:pt x="635" y="32"/>
                      </a:lnTo>
                      <a:lnTo>
                        <a:pt x="641" y="26"/>
                      </a:lnTo>
                      <a:lnTo>
                        <a:pt x="641" y="16"/>
                      </a:lnTo>
                      <a:lnTo>
                        <a:pt x="647" y="10"/>
                      </a:lnTo>
                      <a:lnTo>
                        <a:pt x="652" y="5"/>
                      </a:lnTo>
                      <a:lnTo>
                        <a:pt x="65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102265" name="Freeform 889">
                  <a:extLst>
                    <a:ext uri="{FF2B5EF4-FFF2-40B4-BE49-F238E27FC236}">
                      <a16:creationId xmlns:a16="http://schemas.microsoft.com/office/drawing/2014/main" id="{1FC70AB6-F675-1726-3D94-4504CC418F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880"/>
                  <a:ext cx="380" cy="813"/>
                </a:xfrm>
                <a:custGeom>
                  <a:avLst/>
                  <a:gdLst>
                    <a:gd name="T0" fmla="*/ 12 w 380"/>
                    <a:gd name="T1" fmla="*/ 802 h 813"/>
                    <a:gd name="T2" fmla="*/ 23 w 380"/>
                    <a:gd name="T3" fmla="*/ 775 h 813"/>
                    <a:gd name="T4" fmla="*/ 34 w 380"/>
                    <a:gd name="T5" fmla="*/ 754 h 813"/>
                    <a:gd name="T6" fmla="*/ 46 w 380"/>
                    <a:gd name="T7" fmla="*/ 738 h 813"/>
                    <a:gd name="T8" fmla="*/ 57 w 380"/>
                    <a:gd name="T9" fmla="*/ 717 h 813"/>
                    <a:gd name="T10" fmla="*/ 63 w 380"/>
                    <a:gd name="T11" fmla="*/ 701 h 813"/>
                    <a:gd name="T12" fmla="*/ 74 w 380"/>
                    <a:gd name="T13" fmla="*/ 680 h 813"/>
                    <a:gd name="T14" fmla="*/ 85 w 380"/>
                    <a:gd name="T15" fmla="*/ 664 h 813"/>
                    <a:gd name="T16" fmla="*/ 91 w 380"/>
                    <a:gd name="T17" fmla="*/ 643 h 813"/>
                    <a:gd name="T18" fmla="*/ 102 w 380"/>
                    <a:gd name="T19" fmla="*/ 627 h 813"/>
                    <a:gd name="T20" fmla="*/ 108 w 380"/>
                    <a:gd name="T21" fmla="*/ 605 h 813"/>
                    <a:gd name="T22" fmla="*/ 119 w 380"/>
                    <a:gd name="T23" fmla="*/ 589 h 813"/>
                    <a:gd name="T24" fmla="*/ 125 w 380"/>
                    <a:gd name="T25" fmla="*/ 568 h 813"/>
                    <a:gd name="T26" fmla="*/ 136 w 380"/>
                    <a:gd name="T27" fmla="*/ 552 h 813"/>
                    <a:gd name="T28" fmla="*/ 142 w 380"/>
                    <a:gd name="T29" fmla="*/ 531 h 813"/>
                    <a:gd name="T30" fmla="*/ 153 w 380"/>
                    <a:gd name="T31" fmla="*/ 515 h 813"/>
                    <a:gd name="T32" fmla="*/ 159 w 380"/>
                    <a:gd name="T33" fmla="*/ 494 h 813"/>
                    <a:gd name="T34" fmla="*/ 170 w 380"/>
                    <a:gd name="T35" fmla="*/ 478 h 813"/>
                    <a:gd name="T36" fmla="*/ 176 w 380"/>
                    <a:gd name="T37" fmla="*/ 457 h 813"/>
                    <a:gd name="T38" fmla="*/ 187 w 380"/>
                    <a:gd name="T39" fmla="*/ 441 h 813"/>
                    <a:gd name="T40" fmla="*/ 193 w 380"/>
                    <a:gd name="T41" fmla="*/ 425 h 813"/>
                    <a:gd name="T42" fmla="*/ 204 w 380"/>
                    <a:gd name="T43" fmla="*/ 403 h 813"/>
                    <a:gd name="T44" fmla="*/ 210 w 380"/>
                    <a:gd name="T45" fmla="*/ 387 h 813"/>
                    <a:gd name="T46" fmla="*/ 221 w 380"/>
                    <a:gd name="T47" fmla="*/ 361 h 813"/>
                    <a:gd name="T48" fmla="*/ 227 w 380"/>
                    <a:gd name="T49" fmla="*/ 345 h 813"/>
                    <a:gd name="T50" fmla="*/ 238 w 380"/>
                    <a:gd name="T51" fmla="*/ 324 h 813"/>
                    <a:gd name="T52" fmla="*/ 244 w 380"/>
                    <a:gd name="T53" fmla="*/ 308 h 813"/>
                    <a:gd name="T54" fmla="*/ 256 w 380"/>
                    <a:gd name="T55" fmla="*/ 287 h 813"/>
                    <a:gd name="T56" fmla="*/ 261 w 380"/>
                    <a:gd name="T57" fmla="*/ 265 h 813"/>
                    <a:gd name="T58" fmla="*/ 273 w 380"/>
                    <a:gd name="T59" fmla="*/ 249 h 813"/>
                    <a:gd name="T60" fmla="*/ 278 w 380"/>
                    <a:gd name="T61" fmla="*/ 228 h 813"/>
                    <a:gd name="T62" fmla="*/ 290 w 380"/>
                    <a:gd name="T63" fmla="*/ 212 h 813"/>
                    <a:gd name="T64" fmla="*/ 295 w 380"/>
                    <a:gd name="T65" fmla="*/ 186 h 813"/>
                    <a:gd name="T66" fmla="*/ 307 w 380"/>
                    <a:gd name="T67" fmla="*/ 170 h 813"/>
                    <a:gd name="T68" fmla="*/ 312 w 380"/>
                    <a:gd name="T69" fmla="*/ 148 h 813"/>
                    <a:gd name="T70" fmla="*/ 324 w 380"/>
                    <a:gd name="T71" fmla="*/ 132 h 813"/>
                    <a:gd name="T72" fmla="*/ 329 w 380"/>
                    <a:gd name="T73" fmla="*/ 106 h 813"/>
                    <a:gd name="T74" fmla="*/ 341 w 380"/>
                    <a:gd name="T75" fmla="*/ 90 h 813"/>
                    <a:gd name="T76" fmla="*/ 346 w 380"/>
                    <a:gd name="T77" fmla="*/ 69 h 813"/>
                    <a:gd name="T78" fmla="*/ 358 w 380"/>
                    <a:gd name="T79" fmla="*/ 53 h 813"/>
                    <a:gd name="T80" fmla="*/ 363 w 380"/>
                    <a:gd name="T81" fmla="*/ 26 h 813"/>
                    <a:gd name="T82" fmla="*/ 375 w 380"/>
                    <a:gd name="T83" fmla="*/ 10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80" h="813">
                      <a:moveTo>
                        <a:pt x="0" y="813"/>
                      </a:moveTo>
                      <a:lnTo>
                        <a:pt x="6" y="807"/>
                      </a:lnTo>
                      <a:lnTo>
                        <a:pt x="12" y="802"/>
                      </a:lnTo>
                      <a:lnTo>
                        <a:pt x="12" y="791"/>
                      </a:lnTo>
                      <a:lnTo>
                        <a:pt x="23" y="781"/>
                      </a:lnTo>
                      <a:lnTo>
                        <a:pt x="23" y="775"/>
                      </a:lnTo>
                      <a:lnTo>
                        <a:pt x="29" y="770"/>
                      </a:lnTo>
                      <a:lnTo>
                        <a:pt x="29" y="759"/>
                      </a:lnTo>
                      <a:lnTo>
                        <a:pt x="34" y="754"/>
                      </a:lnTo>
                      <a:lnTo>
                        <a:pt x="40" y="749"/>
                      </a:lnTo>
                      <a:lnTo>
                        <a:pt x="40" y="744"/>
                      </a:lnTo>
                      <a:lnTo>
                        <a:pt x="46" y="738"/>
                      </a:lnTo>
                      <a:lnTo>
                        <a:pt x="46" y="728"/>
                      </a:lnTo>
                      <a:lnTo>
                        <a:pt x="51" y="722"/>
                      </a:lnTo>
                      <a:lnTo>
                        <a:pt x="57" y="717"/>
                      </a:lnTo>
                      <a:lnTo>
                        <a:pt x="57" y="712"/>
                      </a:lnTo>
                      <a:lnTo>
                        <a:pt x="63" y="706"/>
                      </a:lnTo>
                      <a:lnTo>
                        <a:pt x="63" y="701"/>
                      </a:lnTo>
                      <a:lnTo>
                        <a:pt x="68" y="696"/>
                      </a:lnTo>
                      <a:lnTo>
                        <a:pt x="68" y="685"/>
                      </a:lnTo>
                      <a:lnTo>
                        <a:pt x="74" y="680"/>
                      </a:lnTo>
                      <a:lnTo>
                        <a:pt x="74" y="674"/>
                      </a:lnTo>
                      <a:lnTo>
                        <a:pt x="80" y="669"/>
                      </a:lnTo>
                      <a:lnTo>
                        <a:pt x="85" y="664"/>
                      </a:lnTo>
                      <a:lnTo>
                        <a:pt x="85" y="653"/>
                      </a:lnTo>
                      <a:lnTo>
                        <a:pt x="91" y="648"/>
                      </a:lnTo>
                      <a:lnTo>
                        <a:pt x="91" y="643"/>
                      </a:lnTo>
                      <a:lnTo>
                        <a:pt x="97" y="637"/>
                      </a:lnTo>
                      <a:lnTo>
                        <a:pt x="97" y="632"/>
                      </a:lnTo>
                      <a:lnTo>
                        <a:pt x="102" y="627"/>
                      </a:lnTo>
                      <a:lnTo>
                        <a:pt x="102" y="616"/>
                      </a:lnTo>
                      <a:lnTo>
                        <a:pt x="108" y="611"/>
                      </a:lnTo>
                      <a:lnTo>
                        <a:pt x="108" y="605"/>
                      </a:lnTo>
                      <a:lnTo>
                        <a:pt x="114" y="600"/>
                      </a:lnTo>
                      <a:lnTo>
                        <a:pt x="114" y="595"/>
                      </a:lnTo>
                      <a:lnTo>
                        <a:pt x="119" y="589"/>
                      </a:lnTo>
                      <a:lnTo>
                        <a:pt x="119" y="579"/>
                      </a:lnTo>
                      <a:lnTo>
                        <a:pt x="125" y="573"/>
                      </a:lnTo>
                      <a:lnTo>
                        <a:pt x="125" y="568"/>
                      </a:lnTo>
                      <a:lnTo>
                        <a:pt x="131" y="563"/>
                      </a:lnTo>
                      <a:lnTo>
                        <a:pt x="131" y="558"/>
                      </a:lnTo>
                      <a:lnTo>
                        <a:pt x="136" y="552"/>
                      </a:lnTo>
                      <a:lnTo>
                        <a:pt x="136" y="547"/>
                      </a:lnTo>
                      <a:lnTo>
                        <a:pt x="142" y="542"/>
                      </a:lnTo>
                      <a:lnTo>
                        <a:pt x="142" y="531"/>
                      </a:lnTo>
                      <a:lnTo>
                        <a:pt x="148" y="526"/>
                      </a:lnTo>
                      <a:lnTo>
                        <a:pt x="148" y="520"/>
                      </a:lnTo>
                      <a:lnTo>
                        <a:pt x="153" y="515"/>
                      </a:lnTo>
                      <a:lnTo>
                        <a:pt x="153" y="510"/>
                      </a:lnTo>
                      <a:lnTo>
                        <a:pt x="159" y="504"/>
                      </a:lnTo>
                      <a:lnTo>
                        <a:pt x="159" y="494"/>
                      </a:lnTo>
                      <a:lnTo>
                        <a:pt x="165" y="488"/>
                      </a:lnTo>
                      <a:lnTo>
                        <a:pt x="165" y="483"/>
                      </a:lnTo>
                      <a:lnTo>
                        <a:pt x="170" y="478"/>
                      </a:lnTo>
                      <a:lnTo>
                        <a:pt x="170" y="473"/>
                      </a:lnTo>
                      <a:lnTo>
                        <a:pt x="176" y="467"/>
                      </a:lnTo>
                      <a:lnTo>
                        <a:pt x="176" y="457"/>
                      </a:lnTo>
                      <a:lnTo>
                        <a:pt x="182" y="451"/>
                      </a:lnTo>
                      <a:lnTo>
                        <a:pt x="182" y="446"/>
                      </a:lnTo>
                      <a:lnTo>
                        <a:pt x="187" y="441"/>
                      </a:lnTo>
                      <a:lnTo>
                        <a:pt x="187" y="435"/>
                      </a:lnTo>
                      <a:lnTo>
                        <a:pt x="193" y="430"/>
                      </a:lnTo>
                      <a:lnTo>
                        <a:pt x="193" y="425"/>
                      </a:lnTo>
                      <a:lnTo>
                        <a:pt x="199" y="419"/>
                      </a:lnTo>
                      <a:lnTo>
                        <a:pt x="199" y="409"/>
                      </a:lnTo>
                      <a:lnTo>
                        <a:pt x="204" y="403"/>
                      </a:lnTo>
                      <a:lnTo>
                        <a:pt x="204" y="398"/>
                      </a:lnTo>
                      <a:lnTo>
                        <a:pt x="210" y="393"/>
                      </a:lnTo>
                      <a:lnTo>
                        <a:pt x="210" y="387"/>
                      </a:lnTo>
                      <a:lnTo>
                        <a:pt x="216" y="382"/>
                      </a:lnTo>
                      <a:lnTo>
                        <a:pt x="216" y="366"/>
                      </a:lnTo>
                      <a:lnTo>
                        <a:pt x="221" y="361"/>
                      </a:lnTo>
                      <a:lnTo>
                        <a:pt x="221" y="356"/>
                      </a:lnTo>
                      <a:lnTo>
                        <a:pt x="227" y="350"/>
                      </a:lnTo>
                      <a:lnTo>
                        <a:pt x="227" y="345"/>
                      </a:lnTo>
                      <a:lnTo>
                        <a:pt x="233" y="340"/>
                      </a:lnTo>
                      <a:lnTo>
                        <a:pt x="233" y="329"/>
                      </a:lnTo>
                      <a:lnTo>
                        <a:pt x="238" y="324"/>
                      </a:lnTo>
                      <a:lnTo>
                        <a:pt x="238" y="318"/>
                      </a:lnTo>
                      <a:lnTo>
                        <a:pt x="244" y="313"/>
                      </a:lnTo>
                      <a:lnTo>
                        <a:pt x="244" y="308"/>
                      </a:lnTo>
                      <a:lnTo>
                        <a:pt x="250" y="302"/>
                      </a:lnTo>
                      <a:lnTo>
                        <a:pt x="250" y="292"/>
                      </a:lnTo>
                      <a:lnTo>
                        <a:pt x="256" y="287"/>
                      </a:lnTo>
                      <a:lnTo>
                        <a:pt x="256" y="276"/>
                      </a:lnTo>
                      <a:lnTo>
                        <a:pt x="261" y="271"/>
                      </a:lnTo>
                      <a:lnTo>
                        <a:pt x="261" y="265"/>
                      </a:lnTo>
                      <a:lnTo>
                        <a:pt x="267" y="260"/>
                      </a:lnTo>
                      <a:lnTo>
                        <a:pt x="267" y="255"/>
                      </a:lnTo>
                      <a:lnTo>
                        <a:pt x="273" y="249"/>
                      </a:lnTo>
                      <a:lnTo>
                        <a:pt x="273" y="239"/>
                      </a:lnTo>
                      <a:lnTo>
                        <a:pt x="278" y="233"/>
                      </a:lnTo>
                      <a:lnTo>
                        <a:pt x="278" y="228"/>
                      </a:lnTo>
                      <a:lnTo>
                        <a:pt x="284" y="223"/>
                      </a:lnTo>
                      <a:lnTo>
                        <a:pt x="284" y="217"/>
                      </a:lnTo>
                      <a:lnTo>
                        <a:pt x="290" y="212"/>
                      </a:lnTo>
                      <a:lnTo>
                        <a:pt x="290" y="196"/>
                      </a:lnTo>
                      <a:lnTo>
                        <a:pt x="295" y="191"/>
                      </a:lnTo>
                      <a:lnTo>
                        <a:pt x="295" y="186"/>
                      </a:lnTo>
                      <a:lnTo>
                        <a:pt x="301" y="180"/>
                      </a:lnTo>
                      <a:lnTo>
                        <a:pt x="301" y="175"/>
                      </a:lnTo>
                      <a:lnTo>
                        <a:pt x="307" y="170"/>
                      </a:lnTo>
                      <a:lnTo>
                        <a:pt x="307" y="159"/>
                      </a:lnTo>
                      <a:lnTo>
                        <a:pt x="312" y="154"/>
                      </a:lnTo>
                      <a:lnTo>
                        <a:pt x="312" y="148"/>
                      </a:lnTo>
                      <a:lnTo>
                        <a:pt x="318" y="143"/>
                      </a:lnTo>
                      <a:lnTo>
                        <a:pt x="318" y="138"/>
                      </a:lnTo>
                      <a:lnTo>
                        <a:pt x="324" y="132"/>
                      </a:lnTo>
                      <a:lnTo>
                        <a:pt x="324" y="122"/>
                      </a:lnTo>
                      <a:lnTo>
                        <a:pt x="329" y="116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35" y="95"/>
                      </a:lnTo>
                      <a:lnTo>
                        <a:pt x="341" y="90"/>
                      </a:lnTo>
                      <a:lnTo>
                        <a:pt x="341" y="85"/>
                      </a:lnTo>
                      <a:lnTo>
                        <a:pt x="346" y="79"/>
                      </a:lnTo>
                      <a:lnTo>
                        <a:pt x="346" y="69"/>
                      </a:lnTo>
                      <a:lnTo>
                        <a:pt x="352" y="63"/>
                      </a:lnTo>
                      <a:lnTo>
                        <a:pt x="352" y="58"/>
                      </a:lnTo>
                      <a:lnTo>
                        <a:pt x="358" y="53"/>
                      </a:lnTo>
                      <a:lnTo>
                        <a:pt x="358" y="47"/>
                      </a:lnTo>
                      <a:lnTo>
                        <a:pt x="363" y="42"/>
                      </a:lnTo>
                      <a:lnTo>
                        <a:pt x="363" y="26"/>
                      </a:lnTo>
                      <a:lnTo>
                        <a:pt x="369" y="21"/>
                      </a:lnTo>
                      <a:lnTo>
                        <a:pt x="369" y="15"/>
                      </a:lnTo>
                      <a:lnTo>
                        <a:pt x="375" y="10"/>
                      </a:lnTo>
                      <a:lnTo>
                        <a:pt x="375" y="5"/>
                      </a:lnTo>
                      <a:lnTo>
                        <a:pt x="38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  <p:sp>
              <p:nvSpPr>
                <p:cNvPr id="102266" name="Freeform 890">
                  <a:extLst>
                    <a:ext uri="{FF2B5EF4-FFF2-40B4-BE49-F238E27FC236}">
                      <a16:creationId xmlns:a16="http://schemas.microsoft.com/office/drawing/2014/main" id="{4D7BFD63-A471-6D93-5E3C-FC0DFCF685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2" y="1178"/>
                  <a:ext cx="522" cy="702"/>
                </a:xfrm>
                <a:custGeom>
                  <a:avLst/>
                  <a:gdLst>
                    <a:gd name="T0" fmla="*/ 6 w 522"/>
                    <a:gd name="T1" fmla="*/ 686 h 702"/>
                    <a:gd name="T2" fmla="*/ 12 w 522"/>
                    <a:gd name="T3" fmla="*/ 670 h 702"/>
                    <a:gd name="T4" fmla="*/ 23 w 522"/>
                    <a:gd name="T5" fmla="*/ 654 h 702"/>
                    <a:gd name="T6" fmla="*/ 29 w 522"/>
                    <a:gd name="T7" fmla="*/ 632 h 702"/>
                    <a:gd name="T8" fmla="*/ 40 w 522"/>
                    <a:gd name="T9" fmla="*/ 617 h 702"/>
                    <a:gd name="T10" fmla="*/ 46 w 522"/>
                    <a:gd name="T11" fmla="*/ 595 h 702"/>
                    <a:gd name="T12" fmla="*/ 57 w 522"/>
                    <a:gd name="T13" fmla="*/ 579 h 702"/>
                    <a:gd name="T14" fmla="*/ 63 w 522"/>
                    <a:gd name="T15" fmla="*/ 558 h 702"/>
                    <a:gd name="T16" fmla="*/ 74 w 522"/>
                    <a:gd name="T17" fmla="*/ 542 h 702"/>
                    <a:gd name="T18" fmla="*/ 80 w 522"/>
                    <a:gd name="T19" fmla="*/ 521 h 702"/>
                    <a:gd name="T20" fmla="*/ 91 w 522"/>
                    <a:gd name="T21" fmla="*/ 505 h 702"/>
                    <a:gd name="T22" fmla="*/ 97 w 522"/>
                    <a:gd name="T23" fmla="*/ 484 h 702"/>
                    <a:gd name="T24" fmla="*/ 108 w 522"/>
                    <a:gd name="T25" fmla="*/ 468 h 702"/>
                    <a:gd name="T26" fmla="*/ 114 w 522"/>
                    <a:gd name="T27" fmla="*/ 446 h 702"/>
                    <a:gd name="T28" fmla="*/ 125 w 522"/>
                    <a:gd name="T29" fmla="*/ 431 h 702"/>
                    <a:gd name="T30" fmla="*/ 136 w 522"/>
                    <a:gd name="T31" fmla="*/ 409 h 702"/>
                    <a:gd name="T32" fmla="*/ 142 w 522"/>
                    <a:gd name="T33" fmla="*/ 393 h 702"/>
                    <a:gd name="T34" fmla="*/ 153 w 522"/>
                    <a:gd name="T35" fmla="*/ 372 h 702"/>
                    <a:gd name="T36" fmla="*/ 165 w 522"/>
                    <a:gd name="T37" fmla="*/ 356 h 702"/>
                    <a:gd name="T38" fmla="*/ 182 w 522"/>
                    <a:gd name="T39" fmla="*/ 330 h 702"/>
                    <a:gd name="T40" fmla="*/ 187 w 522"/>
                    <a:gd name="T41" fmla="*/ 308 h 702"/>
                    <a:gd name="T42" fmla="*/ 199 w 522"/>
                    <a:gd name="T43" fmla="*/ 292 h 702"/>
                    <a:gd name="T44" fmla="*/ 216 w 522"/>
                    <a:gd name="T45" fmla="*/ 266 h 702"/>
                    <a:gd name="T46" fmla="*/ 227 w 522"/>
                    <a:gd name="T47" fmla="*/ 250 h 702"/>
                    <a:gd name="T48" fmla="*/ 238 w 522"/>
                    <a:gd name="T49" fmla="*/ 229 h 702"/>
                    <a:gd name="T50" fmla="*/ 255 w 522"/>
                    <a:gd name="T51" fmla="*/ 207 h 702"/>
                    <a:gd name="T52" fmla="*/ 261 w 522"/>
                    <a:gd name="T53" fmla="*/ 191 h 702"/>
                    <a:gd name="T54" fmla="*/ 278 w 522"/>
                    <a:gd name="T55" fmla="*/ 170 h 702"/>
                    <a:gd name="T56" fmla="*/ 295 w 522"/>
                    <a:gd name="T57" fmla="*/ 149 h 702"/>
                    <a:gd name="T58" fmla="*/ 312 w 522"/>
                    <a:gd name="T59" fmla="*/ 128 h 702"/>
                    <a:gd name="T60" fmla="*/ 329 w 522"/>
                    <a:gd name="T61" fmla="*/ 106 h 702"/>
                    <a:gd name="T62" fmla="*/ 346 w 522"/>
                    <a:gd name="T63" fmla="*/ 90 h 702"/>
                    <a:gd name="T64" fmla="*/ 357 w 522"/>
                    <a:gd name="T65" fmla="*/ 74 h 702"/>
                    <a:gd name="T66" fmla="*/ 374 w 522"/>
                    <a:gd name="T67" fmla="*/ 64 h 702"/>
                    <a:gd name="T68" fmla="*/ 391 w 522"/>
                    <a:gd name="T69" fmla="*/ 48 h 702"/>
                    <a:gd name="T70" fmla="*/ 408 w 522"/>
                    <a:gd name="T71" fmla="*/ 37 h 702"/>
                    <a:gd name="T72" fmla="*/ 425 w 522"/>
                    <a:gd name="T73" fmla="*/ 27 h 702"/>
                    <a:gd name="T74" fmla="*/ 442 w 522"/>
                    <a:gd name="T75" fmla="*/ 16 h 702"/>
                    <a:gd name="T76" fmla="*/ 459 w 522"/>
                    <a:gd name="T77" fmla="*/ 11 h 702"/>
                    <a:gd name="T78" fmla="*/ 476 w 522"/>
                    <a:gd name="T79" fmla="*/ 5 h 702"/>
                    <a:gd name="T80" fmla="*/ 493 w 522"/>
                    <a:gd name="T81" fmla="*/ 0 h 702"/>
                    <a:gd name="T82" fmla="*/ 511 w 522"/>
                    <a:gd name="T83" fmla="*/ 0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22" h="702">
                      <a:moveTo>
                        <a:pt x="0" y="702"/>
                      </a:moveTo>
                      <a:lnTo>
                        <a:pt x="0" y="691"/>
                      </a:lnTo>
                      <a:lnTo>
                        <a:pt x="6" y="686"/>
                      </a:lnTo>
                      <a:lnTo>
                        <a:pt x="6" y="680"/>
                      </a:lnTo>
                      <a:lnTo>
                        <a:pt x="12" y="675"/>
                      </a:lnTo>
                      <a:lnTo>
                        <a:pt x="12" y="670"/>
                      </a:lnTo>
                      <a:lnTo>
                        <a:pt x="17" y="664"/>
                      </a:lnTo>
                      <a:lnTo>
                        <a:pt x="17" y="659"/>
                      </a:lnTo>
                      <a:lnTo>
                        <a:pt x="23" y="654"/>
                      </a:lnTo>
                      <a:lnTo>
                        <a:pt x="23" y="643"/>
                      </a:lnTo>
                      <a:lnTo>
                        <a:pt x="29" y="638"/>
                      </a:lnTo>
                      <a:lnTo>
                        <a:pt x="29" y="632"/>
                      </a:lnTo>
                      <a:lnTo>
                        <a:pt x="34" y="627"/>
                      </a:lnTo>
                      <a:lnTo>
                        <a:pt x="34" y="622"/>
                      </a:lnTo>
                      <a:lnTo>
                        <a:pt x="40" y="617"/>
                      </a:lnTo>
                      <a:lnTo>
                        <a:pt x="40" y="606"/>
                      </a:lnTo>
                      <a:lnTo>
                        <a:pt x="46" y="601"/>
                      </a:lnTo>
                      <a:lnTo>
                        <a:pt x="46" y="595"/>
                      </a:lnTo>
                      <a:lnTo>
                        <a:pt x="51" y="590"/>
                      </a:lnTo>
                      <a:lnTo>
                        <a:pt x="51" y="585"/>
                      </a:lnTo>
                      <a:lnTo>
                        <a:pt x="57" y="579"/>
                      </a:lnTo>
                      <a:lnTo>
                        <a:pt x="57" y="569"/>
                      </a:lnTo>
                      <a:lnTo>
                        <a:pt x="63" y="563"/>
                      </a:lnTo>
                      <a:lnTo>
                        <a:pt x="63" y="558"/>
                      </a:lnTo>
                      <a:lnTo>
                        <a:pt x="68" y="553"/>
                      </a:lnTo>
                      <a:lnTo>
                        <a:pt x="68" y="547"/>
                      </a:lnTo>
                      <a:lnTo>
                        <a:pt x="74" y="542"/>
                      </a:lnTo>
                      <a:lnTo>
                        <a:pt x="74" y="537"/>
                      </a:lnTo>
                      <a:lnTo>
                        <a:pt x="80" y="531"/>
                      </a:lnTo>
                      <a:lnTo>
                        <a:pt x="80" y="521"/>
                      </a:lnTo>
                      <a:lnTo>
                        <a:pt x="85" y="516"/>
                      </a:lnTo>
                      <a:lnTo>
                        <a:pt x="85" y="510"/>
                      </a:lnTo>
                      <a:lnTo>
                        <a:pt x="91" y="505"/>
                      </a:lnTo>
                      <a:lnTo>
                        <a:pt x="91" y="500"/>
                      </a:lnTo>
                      <a:lnTo>
                        <a:pt x="97" y="494"/>
                      </a:lnTo>
                      <a:lnTo>
                        <a:pt x="97" y="484"/>
                      </a:lnTo>
                      <a:lnTo>
                        <a:pt x="102" y="478"/>
                      </a:lnTo>
                      <a:lnTo>
                        <a:pt x="102" y="473"/>
                      </a:lnTo>
                      <a:lnTo>
                        <a:pt x="108" y="468"/>
                      </a:lnTo>
                      <a:lnTo>
                        <a:pt x="108" y="462"/>
                      </a:lnTo>
                      <a:lnTo>
                        <a:pt x="114" y="457"/>
                      </a:lnTo>
                      <a:lnTo>
                        <a:pt x="114" y="446"/>
                      </a:lnTo>
                      <a:lnTo>
                        <a:pt x="119" y="441"/>
                      </a:lnTo>
                      <a:lnTo>
                        <a:pt x="125" y="436"/>
                      </a:lnTo>
                      <a:lnTo>
                        <a:pt x="125" y="431"/>
                      </a:lnTo>
                      <a:lnTo>
                        <a:pt x="131" y="425"/>
                      </a:lnTo>
                      <a:lnTo>
                        <a:pt x="131" y="415"/>
                      </a:lnTo>
                      <a:lnTo>
                        <a:pt x="136" y="409"/>
                      </a:lnTo>
                      <a:lnTo>
                        <a:pt x="136" y="404"/>
                      </a:lnTo>
                      <a:lnTo>
                        <a:pt x="142" y="399"/>
                      </a:lnTo>
                      <a:lnTo>
                        <a:pt x="142" y="393"/>
                      </a:lnTo>
                      <a:lnTo>
                        <a:pt x="148" y="388"/>
                      </a:lnTo>
                      <a:lnTo>
                        <a:pt x="153" y="383"/>
                      </a:lnTo>
                      <a:lnTo>
                        <a:pt x="153" y="372"/>
                      </a:lnTo>
                      <a:lnTo>
                        <a:pt x="159" y="367"/>
                      </a:lnTo>
                      <a:lnTo>
                        <a:pt x="159" y="361"/>
                      </a:lnTo>
                      <a:lnTo>
                        <a:pt x="165" y="356"/>
                      </a:lnTo>
                      <a:lnTo>
                        <a:pt x="170" y="351"/>
                      </a:lnTo>
                      <a:lnTo>
                        <a:pt x="170" y="340"/>
                      </a:lnTo>
                      <a:lnTo>
                        <a:pt x="182" y="330"/>
                      </a:lnTo>
                      <a:lnTo>
                        <a:pt x="182" y="324"/>
                      </a:lnTo>
                      <a:lnTo>
                        <a:pt x="187" y="319"/>
                      </a:lnTo>
                      <a:lnTo>
                        <a:pt x="187" y="308"/>
                      </a:lnTo>
                      <a:lnTo>
                        <a:pt x="193" y="303"/>
                      </a:lnTo>
                      <a:lnTo>
                        <a:pt x="199" y="298"/>
                      </a:lnTo>
                      <a:lnTo>
                        <a:pt x="199" y="292"/>
                      </a:lnTo>
                      <a:lnTo>
                        <a:pt x="210" y="282"/>
                      </a:lnTo>
                      <a:lnTo>
                        <a:pt x="210" y="271"/>
                      </a:lnTo>
                      <a:lnTo>
                        <a:pt x="216" y="266"/>
                      </a:lnTo>
                      <a:lnTo>
                        <a:pt x="221" y="260"/>
                      </a:lnTo>
                      <a:lnTo>
                        <a:pt x="221" y="255"/>
                      </a:lnTo>
                      <a:lnTo>
                        <a:pt x="227" y="250"/>
                      </a:lnTo>
                      <a:lnTo>
                        <a:pt x="227" y="245"/>
                      </a:lnTo>
                      <a:lnTo>
                        <a:pt x="238" y="234"/>
                      </a:lnTo>
                      <a:lnTo>
                        <a:pt x="238" y="229"/>
                      </a:lnTo>
                      <a:lnTo>
                        <a:pt x="244" y="223"/>
                      </a:lnTo>
                      <a:lnTo>
                        <a:pt x="244" y="218"/>
                      </a:lnTo>
                      <a:lnTo>
                        <a:pt x="255" y="207"/>
                      </a:lnTo>
                      <a:lnTo>
                        <a:pt x="255" y="202"/>
                      </a:lnTo>
                      <a:lnTo>
                        <a:pt x="261" y="197"/>
                      </a:lnTo>
                      <a:lnTo>
                        <a:pt x="261" y="191"/>
                      </a:lnTo>
                      <a:lnTo>
                        <a:pt x="267" y="186"/>
                      </a:lnTo>
                      <a:lnTo>
                        <a:pt x="278" y="175"/>
                      </a:lnTo>
                      <a:lnTo>
                        <a:pt x="278" y="170"/>
                      </a:lnTo>
                      <a:lnTo>
                        <a:pt x="289" y="159"/>
                      </a:lnTo>
                      <a:lnTo>
                        <a:pt x="289" y="154"/>
                      </a:lnTo>
                      <a:lnTo>
                        <a:pt x="295" y="149"/>
                      </a:lnTo>
                      <a:lnTo>
                        <a:pt x="306" y="138"/>
                      </a:lnTo>
                      <a:lnTo>
                        <a:pt x="306" y="133"/>
                      </a:lnTo>
                      <a:lnTo>
                        <a:pt x="312" y="128"/>
                      </a:lnTo>
                      <a:lnTo>
                        <a:pt x="323" y="117"/>
                      </a:lnTo>
                      <a:lnTo>
                        <a:pt x="323" y="112"/>
                      </a:lnTo>
                      <a:lnTo>
                        <a:pt x="329" y="106"/>
                      </a:lnTo>
                      <a:lnTo>
                        <a:pt x="335" y="101"/>
                      </a:lnTo>
                      <a:lnTo>
                        <a:pt x="340" y="96"/>
                      </a:lnTo>
                      <a:lnTo>
                        <a:pt x="346" y="90"/>
                      </a:lnTo>
                      <a:lnTo>
                        <a:pt x="352" y="85"/>
                      </a:lnTo>
                      <a:lnTo>
                        <a:pt x="363" y="74"/>
                      </a:lnTo>
                      <a:lnTo>
                        <a:pt x="357" y="74"/>
                      </a:lnTo>
                      <a:lnTo>
                        <a:pt x="363" y="74"/>
                      </a:lnTo>
                      <a:lnTo>
                        <a:pt x="369" y="69"/>
                      </a:lnTo>
                      <a:lnTo>
                        <a:pt x="374" y="64"/>
                      </a:lnTo>
                      <a:lnTo>
                        <a:pt x="380" y="59"/>
                      </a:lnTo>
                      <a:lnTo>
                        <a:pt x="386" y="53"/>
                      </a:lnTo>
                      <a:lnTo>
                        <a:pt x="391" y="48"/>
                      </a:lnTo>
                      <a:lnTo>
                        <a:pt x="397" y="43"/>
                      </a:lnTo>
                      <a:lnTo>
                        <a:pt x="403" y="43"/>
                      </a:lnTo>
                      <a:lnTo>
                        <a:pt x="408" y="37"/>
                      </a:lnTo>
                      <a:lnTo>
                        <a:pt x="414" y="32"/>
                      </a:lnTo>
                      <a:lnTo>
                        <a:pt x="420" y="27"/>
                      </a:lnTo>
                      <a:lnTo>
                        <a:pt x="425" y="27"/>
                      </a:lnTo>
                      <a:lnTo>
                        <a:pt x="431" y="21"/>
                      </a:lnTo>
                      <a:lnTo>
                        <a:pt x="437" y="21"/>
                      </a:lnTo>
                      <a:lnTo>
                        <a:pt x="442" y="16"/>
                      </a:lnTo>
                      <a:lnTo>
                        <a:pt x="448" y="16"/>
                      </a:lnTo>
                      <a:lnTo>
                        <a:pt x="454" y="11"/>
                      </a:lnTo>
                      <a:lnTo>
                        <a:pt x="459" y="11"/>
                      </a:lnTo>
                      <a:lnTo>
                        <a:pt x="465" y="5"/>
                      </a:lnTo>
                      <a:lnTo>
                        <a:pt x="471" y="5"/>
                      </a:lnTo>
                      <a:lnTo>
                        <a:pt x="476" y="5"/>
                      </a:lnTo>
                      <a:lnTo>
                        <a:pt x="482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9" y="0"/>
                      </a:lnTo>
                      <a:lnTo>
                        <a:pt x="505" y="0"/>
                      </a:lnTo>
                      <a:lnTo>
                        <a:pt x="511" y="0"/>
                      </a:lnTo>
                      <a:lnTo>
                        <a:pt x="516" y="0"/>
                      </a:lnTo>
                      <a:lnTo>
                        <a:pt x="5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1013"/>
                </a:p>
              </p:txBody>
            </p:sp>
          </p:grpSp>
        </p:grpSp>
        <p:grpSp>
          <p:nvGrpSpPr>
            <p:cNvPr id="102267" name="Group 891">
              <a:extLst>
                <a:ext uri="{FF2B5EF4-FFF2-40B4-BE49-F238E27FC236}">
                  <a16:creationId xmlns:a16="http://schemas.microsoft.com/office/drawing/2014/main" id="{66FD82D7-2768-8805-F51A-D639638349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9" y="2217"/>
              <a:ext cx="2307" cy="737"/>
              <a:chOff x="529" y="1178"/>
              <a:chExt cx="2455" cy="1812"/>
            </a:xfrm>
          </p:grpSpPr>
          <p:sp>
            <p:nvSpPr>
              <p:cNvPr id="102268" name="Freeform 892">
                <a:extLst>
                  <a:ext uri="{FF2B5EF4-FFF2-40B4-BE49-F238E27FC236}">
                    <a16:creationId xmlns:a16="http://schemas.microsoft.com/office/drawing/2014/main" id="{5677CD81-F448-3F2A-DFC7-1563F7B89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" y="1178"/>
                <a:ext cx="521" cy="702"/>
              </a:xfrm>
              <a:custGeom>
                <a:avLst/>
                <a:gdLst>
                  <a:gd name="T0" fmla="*/ 11 w 521"/>
                  <a:gd name="T1" fmla="*/ 0 h 702"/>
                  <a:gd name="T2" fmla="*/ 28 w 521"/>
                  <a:gd name="T3" fmla="*/ 0 h 702"/>
                  <a:gd name="T4" fmla="*/ 45 w 521"/>
                  <a:gd name="T5" fmla="*/ 5 h 702"/>
                  <a:gd name="T6" fmla="*/ 62 w 521"/>
                  <a:gd name="T7" fmla="*/ 11 h 702"/>
                  <a:gd name="T8" fmla="*/ 79 w 521"/>
                  <a:gd name="T9" fmla="*/ 16 h 702"/>
                  <a:gd name="T10" fmla="*/ 96 w 521"/>
                  <a:gd name="T11" fmla="*/ 27 h 702"/>
                  <a:gd name="T12" fmla="*/ 113 w 521"/>
                  <a:gd name="T13" fmla="*/ 37 h 702"/>
                  <a:gd name="T14" fmla="*/ 130 w 521"/>
                  <a:gd name="T15" fmla="*/ 53 h 702"/>
                  <a:gd name="T16" fmla="*/ 147 w 521"/>
                  <a:gd name="T17" fmla="*/ 64 h 702"/>
                  <a:gd name="T18" fmla="*/ 164 w 521"/>
                  <a:gd name="T19" fmla="*/ 80 h 702"/>
                  <a:gd name="T20" fmla="*/ 187 w 521"/>
                  <a:gd name="T21" fmla="*/ 101 h 702"/>
                  <a:gd name="T22" fmla="*/ 198 w 521"/>
                  <a:gd name="T23" fmla="*/ 117 h 702"/>
                  <a:gd name="T24" fmla="*/ 221 w 521"/>
                  <a:gd name="T25" fmla="*/ 138 h 702"/>
                  <a:gd name="T26" fmla="*/ 238 w 521"/>
                  <a:gd name="T27" fmla="*/ 159 h 702"/>
                  <a:gd name="T28" fmla="*/ 249 w 521"/>
                  <a:gd name="T29" fmla="*/ 181 h 702"/>
                  <a:gd name="T30" fmla="*/ 261 w 521"/>
                  <a:gd name="T31" fmla="*/ 197 h 702"/>
                  <a:gd name="T32" fmla="*/ 278 w 521"/>
                  <a:gd name="T33" fmla="*/ 218 h 702"/>
                  <a:gd name="T34" fmla="*/ 289 w 521"/>
                  <a:gd name="T35" fmla="*/ 239 h 702"/>
                  <a:gd name="T36" fmla="*/ 300 w 521"/>
                  <a:gd name="T37" fmla="*/ 255 h 702"/>
                  <a:gd name="T38" fmla="*/ 312 w 521"/>
                  <a:gd name="T39" fmla="*/ 271 h 702"/>
                  <a:gd name="T40" fmla="*/ 323 w 521"/>
                  <a:gd name="T41" fmla="*/ 292 h 702"/>
                  <a:gd name="T42" fmla="*/ 334 w 521"/>
                  <a:gd name="T43" fmla="*/ 308 h 702"/>
                  <a:gd name="T44" fmla="*/ 346 w 521"/>
                  <a:gd name="T45" fmla="*/ 335 h 702"/>
                  <a:gd name="T46" fmla="*/ 357 w 521"/>
                  <a:gd name="T47" fmla="*/ 356 h 702"/>
                  <a:gd name="T48" fmla="*/ 368 w 521"/>
                  <a:gd name="T49" fmla="*/ 372 h 702"/>
                  <a:gd name="T50" fmla="*/ 380 w 521"/>
                  <a:gd name="T51" fmla="*/ 393 h 702"/>
                  <a:gd name="T52" fmla="*/ 385 w 521"/>
                  <a:gd name="T53" fmla="*/ 409 h 702"/>
                  <a:gd name="T54" fmla="*/ 397 w 521"/>
                  <a:gd name="T55" fmla="*/ 431 h 702"/>
                  <a:gd name="T56" fmla="*/ 408 w 521"/>
                  <a:gd name="T57" fmla="*/ 446 h 702"/>
                  <a:gd name="T58" fmla="*/ 414 w 521"/>
                  <a:gd name="T59" fmla="*/ 468 h 702"/>
                  <a:gd name="T60" fmla="*/ 425 w 521"/>
                  <a:gd name="T61" fmla="*/ 484 h 702"/>
                  <a:gd name="T62" fmla="*/ 431 w 521"/>
                  <a:gd name="T63" fmla="*/ 505 h 702"/>
                  <a:gd name="T64" fmla="*/ 442 w 521"/>
                  <a:gd name="T65" fmla="*/ 521 h 702"/>
                  <a:gd name="T66" fmla="*/ 448 w 521"/>
                  <a:gd name="T67" fmla="*/ 542 h 702"/>
                  <a:gd name="T68" fmla="*/ 459 w 521"/>
                  <a:gd name="T69" fmla="*/ 558 h 702"/>
                  <a:gd name="T70" fmla="*/ 465 w 521"/>
                  <a:gd name="T71" fmla="*/ 579 h 702"/>
                  <a:gd name="T72" fmla="*/ 476 w 521"/>
                  <a:gd name="T73" fmla="*/ 595 h 702"/>
                  <a:gd name="T74" fmla="*/ 482 w 521"/>
                  <a:gd name="T75" fmla="*/ 617 h 702"/>
                  <a:gd name="T76" fmla="*/ 493 w 521"/>
                  <a:gd name="T77" fmla="*/ 632 h 702"/>
                  <a:gd name="T78" fmla="*/ 499 w 521"/>
                  <a:gd name="T79" fmla="*/ 654 h 702"/>
                  <a:gd name="T80" fmla="*/ 510 w 521"/>
                  <a:gd name="T81" fmla="*/ 670 h 702"/>
                  <a:gd name="T82" fmla="*/ 516 w 521"/>
                  <a:gd name="T83" fmla="*/ 686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21" h="702">
                    <a:moveTo>
                      <a:pt x="0" y="0"/>
                    </a:moveTo>
                    <a:lnTo>
                      <a:pt x="6" y="0"/>
                    </a:lnTo>
                    <a:lnTo>
                      <a:pt x="11" y="0"/>
                    </a:lnTo>
                    <a:lnTo>
                      <a:pt x="17" y="0"/>
                    </a:lnTo>
                    <a:lnTo>
                      <a:pt x="23" y="0"/>
                    </a:lnTo>
                    <a:lnTo>
                      <a:pt x="28" y="0"/>
                    </a:lnTo>
                    <a:lnTo>
                      <a:pt x="34" y="0"/>
                    </a:lnTo>
                    <a:lnTo>
                      <a:pt x="40" y="5"/>
                    </a:lnTo>
                    <a:lnTo>
                      <a:pt x="45" y="5"/>
                    </a:lnTo>
                    <a:lnTo>
                      <a:pt x="51" y="5"/>
                    </a:lnTo>
                    <a:lnTo>
                      <a:pt x="57" y="11"/>
                    </a:lnTo>
                    <a:lnTo>
                      <a:pt x="62" y="11"/>
                    </a:lnTo>
                    <a:lnTo>
                      <a:pt x="68" y="11"/>
                    </a:lnTo>
                    <a:lnTo>
                      <a:pt x="74" y="16"/>
                    </a:lnTo>
                    <a:lnTo>
                      <a:pt x="79" y="16"/>
                    </a:lnTo>
                    <a:lnTo>
                      <a:pt x="85" y="21"/>
                    </a:lnTo>
                    <a:lnTo>
                      <a:pt x="91" y="27"/>
                    </a:lnTo>
                    <a:lnTo>
                      <a:pt x="96" y="27"/>
                    </a:lnTo>
                    <a:lnTo>
                      <a:pt x="102" y="32"/>
                    </a:lnTo>
                    <a:lnTo>
                      <a:pt x="108" y="37"/>
                    </a:lnTo>
                    <a:lnTo>
                      <a:pt x="113" y="37"/>
                    </a:lnTo>
                    <a:lnTo>
                      <a:pt x="119" y="43"/>
                    </a:lnTo>
                    <a:lnTo>
                      <a:pt x="125" y="48"/>
                    </a:lnTo>
                    <a:lnTo>
                      <a:pt x="130" y="53"/>
                    </a:lnTo>
                    <a:lnTo>
                      <a:pt x="136" y="53"/>
                    </a:lnTo>
                    <a:lnTo>
                      <a:pt x="142" y="59"/>
                    </a:lnTo>
                    <a:lnTo>
                      <a:pt x="147" y="64"/>
                    </a:lnTo>
                    <a:lnTo>
                      <a:pt x="153" y="69"/>
                    </a:lnTo>
                    <a:lnTo>
                      <a:pt x="159" y="74"/>
                    </a:lnTo>
                    <a:lnTo>
                      <a:pt x="164" y="80"/>
                    </a:lnTo>
                    <a:lnTo>
                      <a:pt x="170" y="85"/>
                    </a:lnTo>
                    <a:lnTo>
                      <a:pt x="176" y="90"/>
                    </a:lnTo>
                    <a:lnTo>
                      <a:pt x="187" y="101"/>
                    </a:lnTo>
                    <a:lnTo>
                      <a:pt x="187" y="106"/>
                    </a:lnTo>
                    <a:lnTo>
                      <a:pt x="193" y="112"/>
                    </a:lnTo>
                    <a:lnTo>
                      <a:pt x="198" y="117"/>
                    </a:lnTo>
                    <a:lnTo>
                      <a:pt x="204" y="122"/>
                    </a:lnTo>
                    <a:lnTo>
                      <a:pt x="210" y="128"/>
                    </a:lnTo>
                    <a:lnTo>
                      <a:pt x="221" y="138"/>
                    </a:lnTo>
                    <a:lnTo>
                      <a:pt x="221" y="144"/>
                    </a:lnTo>
                    <a:lnTo>
                      <a:pt x="227" y="149"/>
                    </a:lnTo>
                    <a:lnTo>
                      <a:pt x="238" y="159"/>
                    </a:lnTo>
                    <a:lnTo>
                      <a:pt x="238" y="170"/>
                    </a:lnTo>
                    <a:lnTo>
                      <a:pt x="244" y="175"/>
                    </a:lnTo>
                    <a:lnTo>
                      <a:pt x="249" y="181"/>
                    </a:lnTo>
                    <a:lnTo>
                      <a:pt x="255" y="186"/>
                    </a:lnTo>
                    <a:lnTo>
                      <a:pt x="261" y="191"/>
                    </a:lnTo>
                    <a:lnTo>
                      <a:pt x="261" y="197"/>
                    </a:lnTo>
                    <a:lnTo>
                      <a:pt x="272" y="207"/>
                    </a:lnTo>
                    <a:lnTo>
                      <a:pt x="272" y="213"/>
                    </a:lnTo>
                    <a:lnTo>
                      <a:pt x="278" y="218"/>
                    </a:lnTo>
                    <a:lnTo>
                      <a:pt x="278" y="223"/>
                    </a:lnTo>
                    <a:lnTo>
                      <a:pt x="289" y="234"/>
                    </a:lnTo>
                    <a:lnTo>
                      <a:pt x="289" y="239"/>
                    </a:lnTo>
                    <a:lnTo>
                      <a:pt x="295" y="245"/>
                    </a:lnTo>
                    <a:lnTo>
                      <a:pt x="295" y="250"/>
                    </a:lnTo>
                    <a:lnTo>
                      <a:pt x="300" y="255"/>
                    </a:lnTo>
                    <a:lnTo>
                      <a:pt x="300" y="260"/>
                    </a:lnTo>
                    <a:lnTo>
                      <a:pt x="306" y="266"/>
                    </a:lnTo>
                    <a:lnTo>
                      <a:pt x="312" y="271"/>
                    </a:lnTo>
                    <a:lnTo>
                      <a:pt x="312" y="282"/>
                    </a:lnTo>
                    <a:lnTo>
                      <a:pt x="317" y="287"/>
                    </a:lnTo>
                    <a:lnTo>
                      <a:pt x="323" y="292"/>
                    </a:lnTo>
                    <a:lnTo>
                      <a:pt x="323" y="298"/>
                    </a:lnTo>
                    <a:lnTo>
                      <a:pt x="329" y="303"/>
                    </a:lnTo>
                    <a:lnTo>
                      <a:pt x="334" y="308"/>
                    </a:lnTo>
                    <a:lnTo>
                      <a:pt x="334" y="319"/>
                    </a:lnTo>
                    <a:lnTo>
                      <a:pt x="346" y="330"/>
                    </a:lnTo>
                    <a:lnTo>
                      <a:pt x="346" y="335"/>
                    </a:lnTo>
                    <a:lnTo>
                      <a:pt x="351" y="340"/>
                    </a:lnTo>
                    <a:lnTo>
                      <a:pt x="351" y="351"/>
                    </a:lnTo>
                    <a:lnTo>
                      <a:pt x="357" y="356"/>
                    </a:lnTo>
                    <a:lnTo>
                      <a:pt x="363" y="361"/>
                    </a:lnTo>
                    <a:lnTo>
                      <a:pt x="363" y="367"/>
                    </a:lnTo>
                    <a:lnTo>
                      <a:pt x="368" y="372"/>
                    </a:lnTo>
                    <a:lnTo>
                      <a:pt x="368" y="383"/>
                    </a:lnTo>
                    <a:lnTo>
                      <a:pt x="374" y="388"/>
                    </a:lnTo>
                    <a:lnTo>
                      <a:pt x="380" y="393"/>
                    </a:lnTo>
                    <a:lnTo>
                      <a:pt x="380" y="399"/>
                    </a:lnTo>
                    <a:lnTo>
                      <a:pt x="385" y="404"/>
                    </a:lnTo>
                    <a:lnTo>
                      <a:pt x="385" y="409"/>
                    </a:lnTo>
                    <a:lnTo>
                      <a:pt x="391" y="415"/>
                    </a:lnTo>
                    <a:lnTo>
                      <a:pt x="391" y="425"/>
                    </a:lnTo>
                    <a:lnTo>
                      <a:pt x="397" y="431"/>
                    </a:lnTo>
                    <a:lnTo>
                      <a:pt x="397" y="436"/>
                    </a:lnTo>
                    <a:lnTo>
                      <a:pt x="402" y="441"/>
                    </a:lnTo>
                    <a:lnTo>
                      <a:pt x="408" y="446"/>
                    </a:lnTo>
                    <a:lnTo>
                      <a:pt x="408" y="457"/>
                    </a:lnTo>
                    <a:lnTo>
                      <a:pt x="414" y="462"/>
                    </a:lnTo>
                    <a:lnTo>
                      <a:pt x="414" y="468"/>
                    </a:lnTo>
                    <a:lnTo>
                      <a:pt x="419" y="473"/>
                    </a:lnTo>
                    <a:lnTo>
                      <a:pt x="419" y="478"/>
                    </a:lnTo>
                    <a:lnTo>
                      <a:pt x="425" y="484"/>
                    </a:lnTo>
                    <a:lnTo>
                      <a:pt x="425" y="494"/>
                    </a:lnTo>
                    <a:lnTo>
                      <a:pt x="431" y="500"/>
                    </a:lnTo>
                    <a:lnTo>
                      <a:pt x="431" y="505"/>
                    </a:lnTo>
                    <a:lnTo>
                      <a:pt x="436" y="510"/>
                    </a:lnTo>
                    <a:lnTo>
                      <a:pt x="436" y="516"/>
                    </a:lnTo>
                    <a:lnTo>
                      <a:pt x="442" y="521"/>
                    </a:lnTo>
                    <a:lnTo>
                      <a:pt x="442" y="531"/>
                    </a:lnTo>
                    <a:lnTo>
                      <a:pt x="448" y="537"/>
                    </a:lnTo>
                    <a:lnTo>
                      <a:pt x="448" y="542"/>
                    </a:lnTo>
                    <a:lnTo>
                      <a:pt x="453" y="547"/>
                    </a:lnTo>
                    <a:lnTo>
                      <a:pt x="453" y="553"/>
                    </a:lnTo>
                    <a:lnTo>
                      <a:pt x="459" y="558"/>
                    </a:lnTo>
                    <a:lnTo>
                      <a:pt x="459" y="563"/>
                    </a:lnTo>
                    <a:lnTo>
                      <a:pt x="465" y="569"/>
                    </a:lnTo>
                    <a:lnTo>
                      <a:pt x="465" y="579"/>
                    </a:lnTo>
                    <a:lnTo>
                      <a:pt x="470" y="585"/>
                    </a:lnTo>
                    <a:lnTo>
                      <a:pt x="470" y="590"/>
                    </a:lnTo>
                    <a:lnTo>
                      <a:pt x="476" y="595"/>
                    </a:lnTo>
                    <a:lnTo>
                      <a:pt x="476" y="601"/>
                    </a:lnTo>
                    <a:lnTo>
                      <a:pt x="482" y="606"/>
                    </a:lnTo>
                    <a:lnTo>
                      <a:pt x="482" y="617"/>
                    </a:lnTo>
                    <a:lnTo>
                      <a:pt x="487" y="622"/>
                    </a:lnTo>
                    <a:lnTo>
                      <a:pt x="487" y="627"/>
                    </a:lnTo>
                    <a:lnTo>
                      <a:pt x="493" y="632"/>
                    </a:lnTo>
                    <a:lnTo>
                      <a:pt x="493" y="638"/>
                    </a:lnTo>
                    <a:lnTo>
                      <a:pt x="499" y="643"/>
                    </a:lnTo>
                    <a:lnTo>
                      <a:pt x="499" y="654"/>
                    </a:lnTo>
                    <a:lnTo>
                      <a:pt x="504" y="659"/>
                    </a:lnTo>
                    <a:lnTo>
                      <a:pt x="504" y="664"/>
                    </a:lnTo>
                    <a:lnTo>
                      <a:pt x="510" y="670"/>
                    </a:lnTo>
                    <a:lnTo>
                      <a:pt x="510" y="675"/>
                    </a:lnTo>
                    <a:lnTo>
                      <a:pt x="516" y="680"/>
                    </a:lnTo>
                    <a:lnTo>
                      <a:pt x="516" y="686"/>
                    </a:lnTo>
                    <a:lnTo>
                      <a:pt x="521" y="691"/>
                    </a:lnTo>
                    <a:lnTo>
                      <a:pt x="521" y="70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02269" name="Freeform 893">
                <a:extLst>
                  <a:ext uri="{FF2B5EF4-FFF2-40B4-BE49-F238E27FC236}">
                    <a16:creationId xmlns:a16="http://schemas.microsoft.com/office/drawing/2014/main" id="{EFA0A5BF-EF60-30A5-7A01-C304136F5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1880"/>
                <a:ext cx="380" cy="813"/>
              </a:xfrm>
              <a:custGeom>
                <a:avLst/>
                <a:gdLst>
                  <a:gd name="T0" fmla="*/ 6 w 380"/>
                  <a:gd name="T1" fmla="*/ 10 h 813"/>
                  <a:gd name="T2" fmla="*/ 18 w 380"/>
                  <a:gd name="T3" fmla="*/ 26 h 813"/>
                  <a:gd name="T4" fmla="*/ 23 w 380"/>
                  <a:gd name="T5" fmla="*/ 53 h 813"/>
                  <a:gd name="T6" fmla="*/ 35 w 380"/>
                  <a:gd name="T7" fmla="*/ 69 h 813"/>
                  <a:gd name="T8" fmla="*/ 40 w 380"/>
                  <a:gd name="T9" fmla="*/ 90 h 813"/>
                  <a:gd name="T10" fmla="*/ 52 w 380"/>
                  <a:gd name="T11" fmla="*/ 106 h 813"/>
                  <a:gd name="T12" fmla="*/ 57 w 380"/>
                  <a:gd name="T13" fmla="*/ 132 h 813"/>
                  <a:gd name="T14" fmla="*/ 69 w 380"/>
                  <a:gd name="T15" fmla="*/ 148 h 813"/>
                  <a:gd name="T16" fmla="*/ 74 w 380"/>
                  <a:gd name="T17" fmla="*/ 170 h 813"/>
                  <a:gd name="T18" fmla="*/ 86 w 380"/>
                  <a:gd name="T19" fmla="*/ 186 h 813"/>
                  <a:gd name="T20" fmla="*/ 91 w 380"/>
                  <a:gd name="T21" fmla="*/ 212 h 813"/>
                  <a:gd name="T22" fmla="*/ 103 w 380"/>
                  <a:gd name="T23" fmla="*/ 228 h 813"/>
                  <a:gd name="T24" fmla="*/ 108 w 380"/>
                  <a:gd name="T25" fmla="*/ 249 h 813"/>
                  <a:gd name="T26" fmla="*/ 120 w 380"/>
                  <a:gd name="T27" fmla="*/ 265 h 813"/>
                  <a:gd name="T28" fmla="*/ 125 w 380"/>
                  <a:gd name="T29" fmla="*/ 287 h 813"/>
                  <a:gd name="T30" fmla="*/ 137 w 380"/>
                  <a:gd name="T31" fmla="*/ 308 h 813"/>
                  <a:gd name="T32" fmla="*/ 142 w 380"/>
                  <a:gd name="T33" fmla="*/ 324 h 813"/>
                  <a:gd name="T34" fmla="*/ 154 w 380"/>
                  <a:gd name="T35" fmla="*/ 345 h 813"/>
                  <a:gd name="T36" fmla="*/ 159 w 380"/>
                  <a:gd name="T37" fmla="*/ 361 h 813"/>
                  <a:gd name="T38" fmla="*/ 171 w 380"/>
                  <a:gd name="T39" fmla="*/ 387 h 813"/>
                  <a:gd name="T40" fmla="*/ 176 w 380"/>
                  <a:gd name="T41" fmla="*/ 403 h 813"/>
                  <a:gd name="T42" fmla="*/ 188 w 380"/>
                  <a:gd name="T43" fmla="*/ 425 h 813"/>
                  <a:gd name="T44" fmla="*/ 193 w 380"/>
                  <a:gd name="T45" fmla="*/ 441 h 813"/>
                  <a:gd name="T46" fmla="*/ 205 w 380"/>
                  <a:gd name="T47" fmla="*/ 457 h 813"/>
                  <a:gd name="T48" fmla="*/ 210 w 380"/>
                  <a:gd name="T49" fmla="*/ 478 h 813"/>
                  <a:gd name="T50" fmla="*/ 222 w 380"/>
                  <a:gd name="T51" fmla="*/ 494 h 813"/>
                  <a:gd name="T52" fmla="*/ 227 w 380"/>
                  <a:gd name="T53" fmla="*/ 515 h 813"/>
                  <a:gd name="T54" fmla="*/ 239 w 380"/>
                  <a:gd name="T55" fmla="*/ 531 h 813"/>
                  <a:gd name="T56" fmla="*/ 244 w 380"/>
                  <a:gd name="T57" fmla="*/ 552 h 813"/>
                  <a:gd name="T58" fmla="*/ 256 w 380"/>
                  <a:gd name="T59" fmla="*/ 568 h 813"/>
                  <a:gd name="T60" fmla="*/ 261 w 380"/>
                  <a:gd name="T61" fmla="*/ 589 h 813"/>
                  <a:gd name="T62" fmla="*/ 273 w 380"/>
                  <a:gd name="T63" fmla="*/ 605 h 813"/>
                  <a:gd name="T64" fmla="*/ 278 w 380"/>
                  <a:gd name="T65" fmla="*/ 627 h 813"/>
                  <a:gd name="T66" fmla="*/ 290 w 380"/>
                  <a:gd name="T67" fmla="*/ 643 h 813"/>
                  <a:gd name="T68" fmla="*/ 295 w 380"/>
                  <a:gd name="T69" fmla="*/ 664 h 813"/>
                  <a:gd name="T70" fmla="*/ 307 w 380"/>
                  <a:gd name="T71" fmla="*/ 680 h 813"/>
                  <a:gd name="T72" fmla="*/ 318 w 380"/>
                  <a:gd name="T73" fmla="*/ 701 h 813"/>
                  <a:gd name="T74" fmla="*/ 324 w 380"/>
                  <a:gd name="T75" fmla="*/ 717 h 813"/>
                  <a:gd name="T76" fmla="*/ 335 w 380"/>
                  <a:gd name="T77" fmla="*/ 738 h 813"/>
                  <a:gd name="T78" fmla="*/ 346 w 380"/>
                  <a:gd name="T79" fmla="*/ 754 h 813"/>
                  <a:gd name="T80" fmla="*/ 363 w 380"/>
                  <a:gd name="T81" fmla="*/ 781 h 813"/>
                  <a:gd name="T82" fmla="*/ 369 w 380"/>
                  <a:gd name="T83" fmla="*/ 802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380" h="813">
                    <a:moveTo>
                      <a:pt x="0" y="0"/>
                    </a:moveTo>
                    <a:lnTo>
                      <a:pt x="6" y="5"/>
                    </a:lnTo>
                    <a:lnTo>
                      <a:pt x="6" y="10"/>
                    </a:lnTo>
                    <a:lnTo>
                      <a:pt x="12" y="15"/>
                    </a:lnTo>
                    <a:lnTo>
                      <a:pt x="12" y="21"/>
                    </a:lnTo>
                    <a:lnTo>
                      <a:pt x="18" y="26"/>
                    </a:lnTo>
                    <a:lnTo>
                      <a:pt x="18" y="42"/>
                    </a:lnTo>
                    <a:lnTo>
                      <a:pt x="23" y="47"/>
                    </a:lnTo>
                    <a:lnTo>
                      <a:pt x="23" y="53"/>
                    </a:lnTo>
                    <a:lnTo>
                      <a:pt x="29" y="58"/>
                    </a:lnTo>
                    <a:lnTo>
                      <a:pt x="29" y="63"/>
                    </a:lnTo>
                    <a:lnTo>
                      <a:pt x="35" y="69"/>
                    </a:lnTo>
                    <a:lnTo>
                      <a:pt x="35" y="79"/>
                    </a:lnTo>
                    <a:lnTo>
                      <a:pt x="40" y="85"/>
                    </a:lnTo>
                    <a:lnTo>
                      <a:pt x="40" y="90"/>
                    </a:lnTo>
                    <a:lnTo>
                      <a:pt x="46" y="95"/>
                    </a:lnTo>
                    <a:lnTo>
                      <a:pt x="46" y="101"/>
                    </a:lnTo>
                    <a:lnTo>
                      <a:pt x="52" y="106"/>
                    </a:lnTo>
                    <a:lnTo>
                      <a:pt x="52" y="116"/>
                    </a:lnTo>
                    <a:lnTo>
                      <a:pt x="57" y="122"/>
                    </a:lnTo>
                    <a:lnTo>
                      <a:pt x="57" y="132"/>
                    </a:lnTo>
                    <a:lnTo>
                      <a:pt x="63" y="138"/>
                    </a:lnTo>
                    <a:lnTo>
                      <a:pt x="63" y="143"/>
                    </a:lnTo>
                    <a:lnTo>
                      <a:pt x="69" y="148"/>
                    </a:lnTo>
                    <a:lnTo>
                      <a:pt x="69" y="154"/>
                    </a:lnTo>
                    <a:lnTo>
                      <a:pt x="74" y="159"/>
                    </a:lnTo>
                    <a:lnTo>
                      <a:pt x="74" y="170"/>
                    </a:lnTo>
                    <a:lnTo>
                      <a:pt x="80" y="175"/>
                    </a:lnTo>
                    <a:lnTo>
                      <a:pt x="80" y="180"/>
                    </a:lnTo>
                    <a:lnTo>
                      <a:pt x="86" y="186"/>
                    </a:lnTo>
                    <a:lnTo>
                      <a:pt x="86" y="191"/>
                    </a:lnTo>
                    <a:lnTo>
                      <a:pt x="91" y="196"/>
                    </a:lnTo>
                    <a:lnTo>
                      <a:pt x="91" y="212"/>
                    </a:lnTo>
                    <a:lnTo>
                      <a:pt x="97" y="217"/>
                    </a:lnTo>
                    <a:lnTo>
                      <a:pt x="97" y="223"/>
                    </a:lnTo>
                    <a:lnTo>
                      <a:pt x="103" y="228"/>
                    </a:lnTo>
                    <a:lnTo>
                      <a:pt x="103" y="233"/>
                    </a:lnTo>
                    <a:lnTo>
                      <a:pt x="108" y="239"/>
                    </a:lnTo>
                    <a:lnTo>
                      <a:pt x="108" y="249"/>
                    </a:lnTo>
                    <a:lnTo>
                      <a:pt x="114" y="255"/>
                    </a:lnTo>
                    <a:lnTo>
                      <a:pt x="114" y="260"/>
                    </a:lnTo>
                    <a:lnTo>
                      <a:pt x="120" y="265"/>
                    </a:lnTo>
                    <a:lnTo>
                      <a:pt x="120" y="271"/>
                    </a:lnTo>
                    <a:lnTo>
                      <a:pt x="125" y="276"/>
                    </a:lnTo>
                    <a:lnTo>
                      <a:pt x="125" y="287"/>
                    </a:lnTo>
                    <a:lnTo>
                      <a:pt x="131" y="292"/>
                    </a:lnTo>
                    <a:lnTo>
                      <a:pt x="131" y="302"/>
                    </a:lnTo>
                    <a:lnTo>
                      <a:pt x="137" y="308"/>
                    </a:lnTo>
                    <a:lnTo>
                      <a:pt x="137" y="313"/>
                    </a:lnTo>
                    <a:lnTo>
                      <a:pt x="142" y="318"/>
                    </a:lnTo>
                    <a:lnTo>
                      <a:pt x="142" y="324"/>
                    </a:lnTo>
                    <a:lnTo>
                      <a:pt x="148" y="329"/>
                    </a:lnTo>
                    <a:lnTo>
                      <a:pt x="148" y="340"/>
                    </a:lnTo>
                    <a:lnTo>
                      <a:pt x="154" y="345"/>
                    </a:lnTo>
                    <a:lnTo>
                      <a:pt x="154" y="350"/>
                    </a:lnTo>
                    <a:lnTo>
                      <a:pt x="159" y="356"/>
                    </a:lnTo>
                    <a:lnTo>
                      <a:pt x="159" y="361"/>
                    </a:lnTo>
                    <a:lnTo>
                      <a:pt x="165" y="366"/>
                    </a:lnTo>
                    <a:lnTo>
                      <a:pt x="165" y="382"/>
                    </a:lnTo>
                    <a:lnTo>
                      <a:pt x="171" y="387"/>
                    </a:lnTo>
                    <a:lnTo>
                      <a:pt x="171" y="393"/>
                    </a:lnTo>
                    <a:lnTo>
                      <a:pt x="176" y="398"/>
                    </a:lnTo>
                    <a:lnTo>
                      <a:pt x="176" y="403"/>
                    </a:lnTo>
                    <a:lnTo>
                      <a:pt x="182" y="409"/>
                    </a:lnTo>
                    <a:lnTo>
                      <a:pt x="182" y="419"/>
                    </a:lnTo>
                    <a:lnTo>
                      <a:pt x="188" y="425"/>
                    </a:lnTo>
                    <a:lnTo>
                      <a:pt x="188" y="430"/>
                    </a:lnTo>
                    <a:lnTo>
                      <a:pt x="193" y="435"/>
                    </a:lnTo>
                    <a:lnTo>
                      <a:pt x="193" y="441"/>
                    </a:lnTo>
                    <a:lnTo>
                      <a:pt x="199" y="446"/>
                    </a:lnTo>
                    <a:lnTo>
                      <a:pt x="199" y="451"/>
                    </a:lnTo>
                    <a:lnTo>
                      <a:pt x="205" y="457"/>
                    </a:lnTo>
                    <a:lnTo>
                      <a:pt x="205" y="467"/>
                    </a:lnTo>
                    <a:lnTo>
                      <a:pt x="210" y="473"/>
                    </a:lnTo>
                    <a:lnTo>
                      <a:pt x="210" y="478"/>
                    </a:lnTo>
                    <a:lnTo>
                      <a:pt x="216" y="483"/>
                    </a:lnTo>
                    <a:lnTo>
                      <a:pt x="216" y="488"/>
                    </a:lnTo>
                    <a:lnTo>
                      <a:pt x="222" y="494"/>
                    </a:lnTo>
                    <a:lnTo>
                      <a:pt x="222" y="504"/>
                    </a:lnTo>
                    <a:lnTo>
                      <a:pt x="227" y="510"/>
                    </a:lnTo>
                    <a:lnTo>
                      <a:pt x="227" y="515"/>
                    </a:lnTo>
                    <a:lnTo>
                      <a:pt x="233" y="520"/>
                    </a:lnTo>
                    <a:lnTo>
                      <a:pt x="233" y="526"/>
                    </a:lnTo>
                    <a:lnTo>
                      <a:pt x="239" y="531"/>
                    </a:lnTo>
                    <a:lnTo>
                      <a:pt x="239" y="542"/>
                    </a:lnTo>
                    <a:lnTo>
                      <a:pt x="244" y="547"/>
                    </a:lnTo>
                    <a:lnTo>
                      <a:pt x="244" y="552"/>
                    </a:lnTo>
                    <a:lnTo>
                      <a:pt x="250" y="558"/>
                    </a:lnTo>
                    <a:lnTo>
                      <a:pt x="250" y="563"/>
                    </a:lnTo>
                    <a:lnTo>
                      <a:pt x="256" y="568"/>
                    </a:lnTo>
                    <a:lnTo>
                      <a:pt x="256" y="573"/>
                    </a:lnTo>
                    <a:lnTo>
                      <a:pt x="261" y="579"/>
                    </a:lnTo>
                    <a:lnTo>
                      <a:pt x="261" y="589"/>
                    </a:lnTo>
                    <a:lnTo>
                      <a:pt x="267" y="595"/>
                    </a:lnTo>
                    <a:lnTo>
                      <a:pt x="267" y="600"/>
                    </a:lnTo>
                    <a:lnTo>
                      <a:pt x="273" y="605"/>
                    </a:lnTo>
                    <a:lnTo>
                      <a:pt x="273" y="611"/>
                    </a:lnTo>
                    <a:lnTo>
                      <a:pt x="278" y="616"/>
                    </a:lnTo>
                    <a:lnTo>
                      <a:pt x="278" y="627"/>
                    </a:lnTo>
                    <a:lnTo>
                      <a:pt x="284" y="632"/>
                    </a:lnTo>
                    <a:lnTo>
                      <a:pt x="284" y="637"/>
                    </a:lnTo>
                    <a:lnTo>
                      <a:pt x="290" y="643"/>
                    </a:lnTo>
                    <a:lnTo>
                      <a:pt x="290" y="648"/>
                    </a:lnTo>
                    <a:lnTo>
                      <a:pt x="295" y="653"/>
                    </a:lnTo>
                    <a:lnTo>
                      <a:pt x="295" y="664"/>
                    </a:lnTo>
                    <a:lnTo>
                      <a:pt x="301" y="669"/>
                    </a:lnTo>
                    <a:lnTo>
                      <a:pt x="307" y="674"/>
                    </a:lnTo>
                    <a:lnTo>
                      <a:pt x="307" y="680"/>
                    </a:lnTo>
                    <a:lnTo>
                      <a:pt x="312" y="685"/>
                    </a:lnTo>
                    <a:lnTo>
                      <a:pt x="312" y="696"/>
                    </a:lnTo>
                    <a:lnTo>
                      <a:pt x="318" y="701"/>
                    </a:lnTo>
                    <a:lnTo>
                      <a:pt x="318" y="706"/>
                    </a:lnTo>
                    <a:lnTo>
                      <a:pt x="324" y="712"/>
                    </a:lnTo>
                    <a:lnTo>
                      <a:pt x="324" y="717"/>
                    </a:lnTo>
                    <a:lnTo>
                      <a:pt x="329" y="722"/>
                    </a:lnTo>
                    <a:lnTo>
                      <a:pt x="335" y="728"/>
                    </a:lnTo>
                    <a:lnTo>
                      <a:pt x="335" y="738"/>
                    </a:lnTo>
                    <a:lnTo>
                      <a:pt x="341" y="744"/>
                    </a:lnTo>
                    <a:lnTo>
                      <a:pt x="341" y="749"/>
                    </a:lnTo>
                    <a:lnTo>
                      <a:pt x="346" y="754"/>
                    </a:lnTo>
                    <a:lnTo>
                      <a:pt x="352" y="759"/>
                    </a:lnTo>
                    <a:lnTo>
                      <a:pt x="352" y="770"/>
                    </a:lnTo>
                    <a:lnTo>
                      <a:pt x="363" y="781"/>
                    </a:lnTo>
                    <a:lnTo>
                      <a:pt x="363" y="786"/>
                    </a:lnTo>
                    <a:lnTo>
                      <a:pt x="369" y="791"/>
                    </a:lnTo>
                    <a:lnTo>
                      <a:pt x="369" y="802"/>
                    </a:lnTo>
                    <a:lnTo>
                      <a:pt x="375" y="807"/>
                    </a:lnTo>
                    <a:lnTo>
                      <a:pt x="380" y="8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02270" name="Freeform 894">
                <a:extLst>
                  <a:ext uri="{FF2B5EF4-FFF2-40B4-BE49-F238E27FC236}">
                    <a16:creationId xmlns:a16="http://schemas.microsoft.com/office/drawing/2014/main" id="{83CE7983-AD83-A26D-CAC0-F0D017B5B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0" y="2693"/>
                <a:ext cx="652" cy="297"/>
              </a:xfrm>
              <a:custGeom>
                <a:avLst/>
                <a:gdLst>
                  <a:gd name="T0" fmla="*/ 12 w 652"/>
                  <a:gd name="T1" fmla="*/ 16 h 297"/>
                  <a:gd name="T2" fmla="*/ 23 w 652"/>
                  <a:gd name="T3" fmla="*/ 37 h 297"/>
                  <a:gd name="T4" fmla="*/ 29 w 652"/>
                  <a:gd name="T5" fmla="*/ 53 h 297"/>
                  <a:gd name="T6" fmla="*/ 46 w 652"/>
                  <a:gd name="T7" fmla="*/ 74 h 297"/>
                  <a:gd name="T8" fmla="*/ 57 w 652"/>
                  <a:gd name="T9" fmla="*/ 95 h 297"/>
                  <a:gd name="T10" fmla="*/ 68 w 652"/>
                  <a:gd name="T11" fmla="*/ 111 h 297"/>
                  <a:gd name="T12" fmla="*/ 91 w 652"/>
                  <a:gd name="T13" fmla="*/ 138 h 297"/>
                  <a:gd name="T14" fmla="*/ 108 w 652"/>
                  <a:gd name="T15" fmla="*/ 159 h 297"/>
                  <a:gd name="T16" fmla="*/ 125 w 652"/>
                  <a:gd name="T17" fmla="*/ 180 h 297"/>
                  <a:gd name="T18" fmla="*/ 136 w 652"/>
                  <a:gd name="T19" fmla="*/ 196 h 297"/>
                  <a:gd name="T20" fmla="*/ 153 w 652"/>
                  <a:gd name="T21" fmla="*/ 212 h 297"/>
                  <a:gd name="T22" fmla="*/ 165 w 652"/>
                  <a:gd name="T23" fmla="*/ 223 h 297"/>
                  <a:gd name="T24" fmla="*/ 182 w 652"/>
                  <a:gd name="T25" fmla="*/ 239 h 297"/>
                  <a:gd name="T26" fmla="*/ 199 w 652"/>
                  <a:gd name="T27" fmla="*/ 255 h 297"/>
                  <a:gd name="T28" fmla="*/ 216 w 652"/>
                  <a:gd name="T29" fmla="*/ 265 h 297"/>
                  <a:gd name="T30" fmla="*/ 233 w 652"/>
                  <a:gd name="T31" fmla="*/ 276 h 297"/>
                  <a:gd name="T32" fmla="*/ 250 w 652"/>
                  <a:gd name="T33" fmla="*/ 281 h 297"/>
                  <a:gd name="T34" fmla="*/ 267 w 652"/>
                  <a:gd name="T35" fmla="*/ 292 h 297"/>
                  <a:gd name="T36" fmla="*/ 284 w 652"/>
                  <a:gd name="T37" fmla="*/ 297 h 297"/>
                  <a:gd name="T38" fmla="*/ 301 w 652"/>
                  <a:gd name="T39" fmla="*/ 297 h 297"/>
                  <a:gd name="T40" fmla="*/ 318 w 652"/>
                  <a:gd name="T41" fmla="*/ 297 h 297"/>
                  <a:gd name="T42" fmla="*/ 335 w 652"/>
                  <a:gd name="T43" fmla="*/ 297 h 297"/>
                  <a:gd name="T44" fmla="*/ 352 w 652"/>
                  <a:gd name="T45" fmla="*/ 297 h 297"/>
                  <a:gd name="T46" fmla="*/ 369 w 652"/>
                  <a:gd name="T47" fmla="*/ 292 h 297"/>
                  <a:gd name="T48" fmla="*/ 386 w 652"/>
                  <a:gd name="T49" fmla="*/ 287 h 297"/>
                  <a:gd name="T50" fmla="*/ 403 w 652"/>
                  <a:gd name="T51" fmla="*/ 281 h 297"/>
                  <a:gd name="T52" fmla="*/ 420 w 652"/>
                  <a:gd name="T53" fmla="*/ 271 h 297"/>
                  <a:gd name="T54" fmla="*/ 437 w 652"/>
                  <a:gd name="T55" fmla="*/ 260 h 297"/>
                  <a:gd name="T56" fmla="*/ 454 w 652"/>
                  <a:gd name="T57" fmla="*/ 249 h 297"/>
                  <a:gd name="T58" fmla="*/ 471 w 652"/>
                  <a:gd name="T59" fmla="*/ 239 h 297"/>
                  <a:gd name="T60" fmla="*/ 488 w 652"/>
                  <a:gd name="T61" fmla="*/ 223 h 297"/>
                  <a:gd name="T62" fmla="*/ 505 w 652"/>
                  <a:gd name="T63" fmla="*/ 207 h 297"/>
                  <a:gd name="T64" fmla="*/ 522 w 652"/>
                  <a:gd name="T65" fmla="*/ 186 h 297"/>
                  <a:gd name="T66" fmla="*/ 539 w 652"/>
                  <a:gd name="T67" fmla="*/ 170 h 297"/>
                  <a:gd name="T68" fmla="*/ 556 w 652"/>
                  <a:gd name="T69" fmla="*/ 148 h 297"/>
                  <a:gd name="T70" fmla="*/ 573 w 652"/>
                  <a:gd name="T71" fmla="*/ 122 h 297"/>
                  <a:gd name="T72" fmla="*/ 590 w 652"/>
                  <a:gd name="T73" fmla="*/ 106 h 297"/>
                  <a:gd name="T74" fmla="*/ 601 w 652"/>
                  <a:gd name="T75" fmla="*/ 85 h 297"/>
                  <a:gd name="T76" fmla="*/ 618 w 652"/>
                  <a:gd name="T77" fmla="*/ 63 h 297"/>
                  <a:gd name="T78" fmla="*/ 624 w 652"/>
                  <a:gd name="T79" fmla="*/ 47 h 297"/>
                  <a:gd name="T80" fmla="*/ 635 w 652"/>
                  <a:gd name="T81" fmla="*/ 32 h 297"/>
                  <a:gd name="T82" fmla="*/ 647 w 652"/>
                  <a:gd name="T83" fmla="*/ 10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52" h="297">
                    <a:moveTo>
                      <a:pt x="0" y="0"/>
                    </a:moveTo>
                    <a:lnTo>
                      <a:pt x="0" y="5"/>
                    </a:lnTo>
                    <a:lnTo>
                      <a:pt x="12" y="16"/>
                    </a:lnTo>
                    <a:lnTo>
                      <a:pt x="12" y="26"/>
                    </a:lnTo>
                    <a:lnTo>
                      <a:pt x="17" y="32"/>
                    </a:lnTo>
                    <a:lnTo>
                      <a:pt x="23" y="37"/>
                    </a:lnTo>
                    <a:lnTo>
                      <a:pt x="23" y="42"/>
                    </a:lnTo>
                    <a:lnTo>
                      <a:pt x="29" y="47"/>
                    </a:lnTo>
                    <a:lnTo>
                      <a:pt x="29" y="53"/>
                    </a:lnTo>
                    <a:lnTo>
                      <a:pt x="40" y="63"/>
                    </a:lnTo>
                    <a:lnTo>
                      <a:pt x="40" y="69"/>
                    </a:lnTo>
                    <a:lnTo>
                      <a:pt x="46" y="74"/>
                    </a:lnTo>
                    <a:lnTo>
                      <a:pt x="46" y="79"/>
                    </a:lnTo>
                    <a:lnTo>
                      <a:pt x="57" y="90"/>
                    </a:lnTo>
                    <a:lnTo>
                      <a:pt x="57" y="95"/>
                    </a:lnTo>
                    <a:lnTo>
                      <a:pt x="63" y="101"/>
                    </a:lnTo>
                    <a:lnTo>
                      <a:pt x="63" y="106"/>
                    </a:lnTo>
                    <a:lnTo>
                      <a:pt x="68" y="111"/>
                    </a:lnTo>
                    <a:lnTo>
                      <a:pt x="80" y="122"/>
                    </a:lnTo>
                    <a:lnTo>
                      <a:pt x="80" y="127"/>
                    </a:lnTo>
                    <a:lnTo>
                      <a:pt x="91" y="138"/>
                    </a:lnTo>
                    <a:lnTo>
                      <a:pt x="91" y="143"/>
                    </a:lnTo>
                    <a:lnTo>
                      <a:pt x="97" y="148"/>
                    </a:lnTo>
                    <a:lnTo>
                      <a:pt x="108" y="159"/>
                    </a:lnTo>
                    <a:lnTo>
                      <a:pt x="108" y="164"/>
                    </a:lnTo>
                    <a:lnTo>
                      <a:pt x="114" y="170"/>
                    </a:lnTo>
                    <a:lnTo>
                      <a:pt x="125" y="180"/>
                    </a:lnTo>
                    <a:lnTo>
                      <a:pt x="125" y="186"/>
                    </a:lnTo>
                    <a:lnTo>
                      <a:pt x="131" y="191"/>
                    </a:lnTo>
                    <a:lnTo>
                      <a:pt x="136" y="196"/>
                    </a:lnTo>
                    <a:lnTo>
                      <a:pt x="142" y="202"/>
                    </a:lnTo>
                    <a:lnTo>
                      <a:pt x="148" y="207"/>
                    </a:lnTo>
                    <a:lnTo>
                      <a:pt x="153" y="212"/>
                    </a:lnTo>
                    <a:lnTo>
                      <a:pt x="165" y="223"/>
                    </a:lnTo>
                    <a:lnTo>
                      <a:pt x="159" y="223"/>
                    </a:lnTo>
                    <a:lnTo>
                      <a:pt x="165" y="223"/>
                    </a:lnTo>
                    <a:lnTo>
                      <a:pt x="170" y="228"/>
                    </a:lnTo>
                    <a:lnTo>
                      <a:pt x="176" y="233"/>
                    </a:lnTo>
                    <a:lnTo>
                      <a:pt x="182" y="239"/>
                    </a:lnTo>
                    <a:lnTo>
                      <a:pt x="187" y="244"/>
                    </a:lnTo>
                    <a:lnTo>
                      <a:pt x="193" y="249"/>
                    </a:lnTo>
                    <a:lnTo>
                      <a:pt x="199" y="255"/>
                    </a:lnTo>
                    <a:lnTo>
                      <a:pt x="204" y="255"/>
                    </a:lnTo>
                    <a:lnTo>
                      <a:pt x="210" y="260"/>
                    </a:lnTo>
                    <a:lnTo>
                      <a:pt x="216" y="265"/>
                    </a:lnTo>
                    <a:lnTo>
                      <a:pt x="221" y="271"/>
                    </a:lnTo>
                    <a:lnTo>
                      <a:pt x="227" y="271"/>
                    </a:lnTo>
                    <a:lnTo>
                      <a:pt x="233" y="276"/>
                    </a:lnTo>
                    <a:lnTo>
                      <a:pt x="238" y="276"/>
                    </a:lnTo>
                    <a:lnTo>
                      <a:pt x="244" y="281"/>
                    </a:lnTo>
                    <a:lnTo>
                      <a:pt x="250" y="281"/>
                    </a:lnTo>
                    <a:lnTo>
                      <a:pt x="255" y="287"/>
                    </a:lnTo>
                    <a:lnTo>
                      <a:pt x="261" y="287"/>
                    </a:lnTo>
                    <a:lnTo>
                      <a:pt x="267" y="292"/>
                    </a:lnTo>
                    <a:lnTo>
                      <a:pt x="273" y="292"/>
                    </a:lnTo>
                    <a:lnTo>
                      <a:pt x="278" y="292"/>
                    </a:lnTo>
                    <a:lnTo>
                      <a:pt x="284" y="297"/>
                    </a:lnTo>
                    <a:lnTo>
                      <a:pt x="290" y="297"/>
                    </a:lnTo>
                    <a:lnTo>
                      <a:pt x="295" y="297"/>
                    </a:lnTo>
                    <a:lnTo>
                      <a:pt x="301" y="297"/>
                    </a:lnTo>
                    <a:lnTo>
                      <a:pt x="307" y="297"/>
                    </a:lnTo>
                    <a:lnTo>
                      <a:pt x="312" y="297"/>
                    </a:lnTo>
                    <a:lnTo>
                      <a:pt x="318" y="297"/>
                    </a:lnTo>
                    <a:lnTo>
                      <a:pt x="324" y="297"/>
                    </a:lnTo>
                    <a:lnTo>
                      <a:pt x="329" y="297"/>
                    </a:lnTo>
                    <a:lnTo>
                      <a:pt x="335" y="297"/>
                    </a:lnTo>
                    <a:lnTo>
                      <a:pt x="341" y="297"/>
                    </a:lnTo>
                    <a:lnTo>
                      <a:pt x="346" y="297"/>
                    </a:lnTo>
                    <a:lnTo>
                      <a:pt x="352" y="297"/>
                    </a:lnTo>
                    <a:lnTo>
                      <a:pt x="358" y="297"/>
                    </a:lnTo>
                    <a:lnTo>
                      <a:pt x="363" y="297"/>
                    </a:lnTo>
                    <a:lnTo>
                      <a:pt x="369" y="292"/>
                    </a:lnTo>
                    <a:lnTo>
                      <a:pt x="375" y="292"/>
                    </a:lnTo>
                    <a:lnTo>
                      <a:pt x="380" y="292"/>
                    </a:lnTo>
                    <a:lnTo>
                      <a:pt x="386" y="287"/>
                    </a:lnTo>
                    <a:lnTo>
                      <a:pt x="392" y="287"/>
                    </a:lnTo>
                    <a:lnTo>
                      <a:pt x="397" y="287"/>
                    </a:lnTo>
                    <a:lnTo>
                      <a:pt x="403" y="281"/>
                    </a:lnTo>
                    <a:lnTo>
                      <a:pt x="409" y="281"/>
                    </a:lnTo>
                    <a:lnTo>
                      <a:pt x="414" y="276"/>
                    </a:lnTo>
                    <a:lnTo>
                      <a:pt x="420" y="271"/>
                    </a:lnTo>
                    <a:lnTo>
                      <a:pt x="426" y="271"/>
                    </a:lnTo>
                    <a:lnTo>
                      <a:pt x="431" y="265"/>
                    </a:lnTo>
                    <a:lnTo>
                      <a:pt x="437" y="260"/>
                    </a:lnTo>
                    <a:lnTo>
                      <a:pt x="443" y="260"/>
                    </a:lnTo>
                    <a:lnTo>
                      <a:pt x="448" y="255"/>
                    </a:lnTo>
                    <a:lnTo>
                      <a:pt x="454" y="249"/>
                    </a:lnTo>
                    <a:lnTo>
                      <a:pt x="460" y="244"/>
                    </a:lnTo>
                    <a:lnTo>
                      <a:pt x="465" y="244"/>
                    </a:lnTo>
                    <a:lnTo>
                      <a:pt x="471" y="239"/>
                    </a:lnTo>
                    <a:lnTo>
                      <a:pt x="477" y="233"/>
                    </a:lnTo>
                    <a:lnTo>
                      <a:pt x="482" y="228"/>
                    </a:lnTo>
                    <a:lnTo>
                      <a:pt x="488" y="223"/>
                    </a:lnTo>
                    <a:lnTo>
                      <a:pt x="494" y="218"/>
                    </a:lnTo>
                    <a:lnTo>
                      <a:pt x="499" y="212"/>
                    </a:lnTo>
                    <a:lnTo>
                      <a:pt x="505" y="207"/>
                    </a:lnTo>
                    <a:lnTo>
                      <a:pt x="516" y="196"/>
                    </a:lnTo>
                    <a:lnTo>
                      <a:pt x="516" y="191"/>
                    </a:lnTo>
                    <a:lnTo>
                      <a:pt x="522" y="186"/>
                    </a:lnTo>
                    <a:lnTo>
                      <a:pt x="528" y="180"/>
                    </a:lnTo>
                    <a:lnTo>
                      <a:pt x="533" y="175"/>
                    </a:lnTo>
                    <a:lnTo>
                      <a:pt x="539" y="170"/>
                    </a:lnTo>
                    <a:lnTo>
                      <a:pt x="550" y="159"/>
                    </a:lnTo>
                    <a:lnTo>
                      <a:pt x="550" y="154"/>
                    </a:lnTo>
                    <a:lnTo>
                      <a:pt x="556" y="148"/>
                    </a:lnTo>
                    <a:lnTo>
                      <a:pt x="567" y="138"/>
                    </a:lnTo>
                    <a:lnTo>
                      <a:pt x="567" y="127"/>
                    </a:lnTo>
                    <a:lnTo>
                      <a:pt x="573" y="122"/>
                    </a:lnTo>
                    <a:lnTo>
                      <a:pt x="579" y="117"/>
                    </a:lnTo>
                    <a:lnTo>
                      <a:pt x="584" y="111"/>
                    </a:lnTo>
                    <a:lnTo>
                      <a:pt x="590" y="106"/>
                    </a:lnTo>
                    <a:lnTo>
                      <a:pt x="590" y="101"/>
                    </a:lnTo>
                    <a:lnTo>
                      <a:pt x="601" y="90"/>
                    </a:lnTo>
                    <a:lnTo>
                      <a:pt x="601" y="85"/>
                    </a:lnTo>
                    <a:lnTo>
                      <a:pt x="607" y="79"/>
                    </a:lnTo>
                    <a:lnTo>
                      <a:pt x="607" y="74"/>
                    </a:lnTo>
                    <a:lnTo>
                      <a:pt x="618" y="63"/>
                    </a:lnTo>
                    <a:lnTo>
                      <a:pt x="618" y="58"/>
                    </a:lnTo>
                    <a:lnTo>
                      <a:pt x="624" y="53"/>
                    </a:lnTo>
                    <a:lnTo>
                      <a:pt x="624" y="47"/>
                    </a:lnTo>
                    <a:lnTo>
                      <a:pt x="630" y="42"/>
                    </a:lnTo>
                    <a:lnTo>
                      <a:pt x="630" y="37"/>
                    </a:lnTo>
                    <a:lnTo>
                      <a:pt x="635" y="32"/>
                    </a:lnTo>
                    <a:lnTo>
                      <a:pt x="641" y="26"/>
                    </a:lnTo>
                    <a:lnTo>
                      <a:pt x="641" y="16"/>
                    </a:lnTo>
                    <a:lnTo>
                      <a:pt x="647" y="10"/>
                    </a:lnTo>
                    <a:lnTo>
                      <a:pt x="652" y="5"/>
                    </a:lnTo>
                    <a:lnTo>
                      <a:pt x="65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02271" name="Freeform 895">
                <a:extLst>
                  <a:ext uri="{FF2B5EF4-FFF2-40B4-BE49-F238E27FC236}">
                    <a16:creationId xmlns:a16="http://schemas.microsoft.com/office/drawing/2014/main" id="{5BE16D5B-7A10-6C70-8FF8-72007B97E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880"/>
                <a:ext cx="380" cy="813"/>
              </a:xfrm>
              <a:custGeom>
                <a:avLst/>
                <a:gdLst>
                  <a:gd name="T0" fmla="*/ 12 w 380"/>
                  <a:gd name="T1" fmla="*/ 802 h 813"/>
                  <a:gd name="T2" fmla="*/ 23 w 380"/>
                  <a:gd name="T3" fmla="*/ 775 h 813"/>
                  <a:gd name="T4" fmla="*/ 34 w 380"/>
                  <a:gd name="T5" fmla="*/ 754 h 813"/>
                  <a:gd name="T6" fmla="*/ 46 w 380"/>
                  <a:gd name="T7" fmla="*/ 738 h 813"/>
                  <a:gd name="T8" fmla="*/ 57 w 380"/>
                  <a:gd name="T9" fmla="*/ 717 h 813"/>
                  <a:gd name="T10" fmla="*/ 63 w 380"/>
                  <a:gd name="T11" fmla="*/ 701 h 813"/>
                  <a:gd name="T12" fmla="*/ 74 w 380"/>
                  <a:gd name="T13" fmla="*/ 680 h 813"/>
                  <a:gd name="T14" fmla="*/ 85 w 380"/>
                  <a:gd name="T15" fmla="*/ 664 h 813"/>
                  <a:gd name="T16" fmla="*/ 91 w 380"/>
                  <a:gd name="T17" fmla="*/ 643 h 813"/>
                  <a:gd name="T18" fmla="*/ 102 w 380"/>
                  <a:gd name="T19" fmla="*/ 627 h 813"/>
                  <a:gd name="T20" fmla="*/ 108 w 380"/>
                  <a:gd name="T21" fmla="*/ 605 h 813"/>
                  <a:gd name="T22" fmla="*/ 119 w 380"/>
                  <a:gd name="T23" fmla="*/ 589 h 813"/>
                  <a:gd name="T24" fmla="*/ 125 w 380"/>
                  <a:gd name="T25" fmla="*/ 568 h 813"/>
                  <a:gd name="T26" fmla="*/ 136 w 380"/>
                  <a:gd name="T27" fmla="*/ 552 h 813"/>
                  <a:gd name="T28" fmla="*/ 142 w 380"/>
                  <a:gd name="T29" fmla="*/ 531 h 813"/>
                  <a:gd name="T30" fmla="*/ 153 w 380"/>
                  <a:gd name="T31" fmla="*/ 515 h 813"/>
                  <a:gd name="T32" fmla="*/ 159 w 380"/>
                  <a:gd name="T33" fmla="*/ 494 h 813"/>
                  <a:gd name="T34" fmla="*/ 170 w 380"/>
                  <a:gd name="T35" fmla="*/ 478 h 813"/>
                  <a:gd name="T36" fmla="*/ 176 w 380"/>
                  <a:gd name="T37" fmla="*/ 457 h 813"/>
                  <a:gd name="T38" fmla="*/ 187 w 380"/>
                  <a:gd name="T39" fmla="*/ 441 h 813"/>
                  <a:gd name="T40" fmla="*/ 193 w 380"/>
                  <a:gd name="T41" fmla="*/ 425 h 813"/>
                  <a:gd name="T42" fmla="*/ 204 w 380"/>
                  <a:gd name="T43" fmla="*/ 403 h 813"/>
                  <a:gd name="T44" fmla="*/ 210 w 380"/>
                  <a:gd name="T45" fmla="*/ 387 h 813"/>
                  <a:gd name="T46" fmla="*/ 221 w 380"/>
                  <a:gd name="T47" fmla="*/ 361 h 813"/>
                  <a:gd name="T48" fmla="*/ 227 w 380"/>
                  <a:gd name="T49" fmla="*/ 345 h 813"/>
                  <a:gd name="T50" fmla="*/ 238 w 380"/>
                  <a:gd name="T51" fmla="*/ 324 h 813"/>
                  <a:gd name="T52" fmla="*/ 244 w 380"/>
                  <a:gd name="T53" fmla="*/ 308 h 813"/>
                  <a:gd name="T54" fmla="*/ 256 w 380"/>
                  <a:gd name="T55" fmla="*/ 287 h 813"/>
                  <a:gd name="T56" fmla="*/ 261 w 380"/>
                  <a:gd name="T57" fmla="*/ 265 h 813"/>
                  <a:gd name="T58" fmla="*/ 273 w 380"/>
                  <a:gd name="T59" fmla="*/ 249 h 813"/>
                  <a:gd name="T60" fmla="*/ 278 w 380"/>
                  <a:gd name="T61" fmla="*/ 228 h 813"/>
                  <a:gd name="T62" fmla="*/ 290 w 380"/>
                  <a:gd name="T63" fmla="*/ 212 h 813"/>
                  <a:gd name="T64" fmla="*/ 295 w 380"/>
                  <a:gd name="T65" fmla="*/ 186 h 813"/>
                  <a:gd name="T66" fmla="*/ 307 w 380"/>
                  <a:gd name="T67" fmla="*/ 170 h 813"/>
                  <a:gd name="T68" fmla="*/ 312 w 380"/>
                  <a:gd name="T69" fmla="*/ 148 h 813"/>
                  <a:gd name="T70" fmla="*/ 324 w 380"/>
                  <a:gd name="T71" fmla="*/ 132 h 813"/>
                  <a:gd name="T72" fmla="*/ 329 w 380"/>
                  <a:gd name="T73" fmla="*/ 106 h 813"/>
                  <a:gd name="T74" fmla="*/ 341 w 380"/>
                  <a:gd name="T75" fmla="*/ 90 h 813"/>
                  <a:gd name="T76" fmla="*/ 346 w 380"/>
                  <a:gd name="T77" fmla="*/ 69 h 813"/>
                  <a:gd name="T78" fmla="*/ 358 w 380"/>
                  <a:gd name="T79" fmla="*/ 53 h 813"/>
                  <a:gd name="T80" fmla="*/ 363 w 380"/>
                  <a:gd name="T81" fmla="*/ 26 h 813"/>
                  <a:gd name="T82" fmla="*/ 375 w 380"/>
                  <a:gd name="T83" fmla="*/ 10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380" h="813">
                    <a:moveTo>
                      <a:pt x="0" y="813"/>
                    </a:moveTo>
                    <a:lnTo>
                      <a:pt x="6" y="807"/>
                    </a:lnTo>
                    <a:lnTo>
                      <a:pt x="12" y="802"/>
                    </a:lnTo>
                    <a:lnTo>
                      <a:pt x="12" y="791"/>
                    </a:lnTo>
                    <a:lnTo>
                      <a:pt x="23" y="781"/>
                    </a:lnTo>
                    <a:lnTo>
                      <a:pt x="23" y="775"/>
                    </a:lnTo>
                    <a:lnTo>
                      <a:pt x="29" y="770"/>
                    </a:lnTo>
                    <a:lnTo>
                      <a:pt x="29" y="759"/>
                    </a:lnTo>
                    <a:lnTo>
                      <a:pt x="34" y="754"/>
                    </a:lnTo>
                    <a:lnTo>
                      <a:pt x="40" y="749"/>
                    </a:lnTo>
                    <a:lnTo>
                      <a:pt x="40" y="744"/>
                    </a:lnTo>
                    <a:lnTo>
                      <a:pt x="46" y="738"/>
                    </a:lnTo>
                    <a:lnTo>
                      <a:pt x="46" y="728"/>
                    </a:lnTo>
                    <a:lnTo>
                      <a:pt x="51" y="722"/>
                    </a:lnTo>
                    <a:lnTo>
                      <a:pt x="57" y="717"/>
                    </a:lnTo>
                    <a:lnTo>
                      <a:pt x="57" y="712"/>
                    </a:lnTo>
                    <a:lnTo>
                      <a:pt x="63" y="706"/>
                    </a:lnTo>
                    <a:lnTo>
                      <a:pt x="63" y="701"/>
                    </a:lnTo>
                    <a:lnTo>
                      <a:pt x="68" y="696"/>
                    </a:lnTo>
                    <a:lnTo>
                      <a:pt x="68" y="685"/>
                    </a:lnTo>
                    <a:lnTo>
                      <a:pt x="74" y="680"/>
                    </a:lnTo>
                    <a:lnTo>
                      <a:pt x="74" y="674"/>
                    </a:lnTo>
                    <a:lnTo>
                      <a:pt x="80" y="669"/>
                    </a:lnTo>
                    <a:lnTo>
                      <a:pt x="85" y="664"/>
                    </a:lnTo>
                    <a:lnTo>
                      <a:pt x="85" y="653"/>
                    </a:lnTo>
                    <a:lnTo>
                      <a:pt x="91" y="648"/>
                    </a:lnTo>
                    <a:lnTo>
                      <a:pt x="91" y="643"/>
                    </a:lnTo>
                    <a:lnTo>
                      <a:pt x="97" y="637"/>
                    </a:lnTo>
                    <a:lnTo>
                      <a:pt x="97" y="632"/>
                    </a:lnTo>
                    <a:lnTo>
                      <a:pt x="102" y="627"/>
                    </a:lnTo>
                    <a:lnTo>
                      <a:pt x="102" y="616"/>
                    </a:lnTo>
                    <a:lnTo>
                      <a:pt x="108" y="611"/>
                    </a:lnTo>
                    <a:lnTo>
                      <a:pt x="108" y="605"/>
                    </a:lnTo>
                    <a:lnTo>
                      <a:pt x="114" y="600"/>
                    </a:lnTo>
                    <a:lnTo>
                      <a:pt x="114" y="595"/>
                    </a:lnTo>
                    <a:lnTo>
                      <a:pt x="119" y="589"/>
                    </a:lnTo>
                    <a:lnTo>
                      <a:pt x="119" y="579"/>
                    </a:lnTo>
                    <a:lnTo>
                      <a:pt x="125" y="573"/>
                    </a:lnTo>
                    <a:lnTo>
                      <a:pt x="125" y="568"/>
                    </a:lnTo>
                    <a:lnTo>
                      <a:pt x="131" y="563"/>
                    </a:lnTo>
                    <a:lnTo>
                      <a:pt x="131" y="558"/>
                    </a:lnTo>
                    <a:lnTo>
                      <a:pt x="136" y="552"/>
                    </a:lnTo>
                    <a:lnTo>
                      <a:pt x="136" y="547"/>
                    </a:lnTo>
                    <a:lnTo>
                      <a:pt x="142" y="542"/>
                    </a:lnTo>
                    <a:lnTo>
                      <a:pt x="142" y="531"/>
                    </a:lnTo>
                    <a:lnTo>
                      <a:pt x="148" y="526"/>
                    </a:lnTo>
                    <a:lnTo>
                      <a:pt x="148" y="520"/>
                    </a:lnTo>
                    <a:lnTo>
                      <a:pt x="153" y="515"/>
                    </a:lnTo>
                    <a:lnTo>
                      <a:pt x="153" y="510"/>
                    </a:lnTo>
                    <a:lnTo>
                      <a:pt x="159" y="504"/>
                    </a:lnTo>
                    <a:lnTo>
                      <a:pt x="159" y="494"/>
                    </a:lnTo>
                    <a:lnTo>
                      <a:pt x="165" y="488"/>
                    </a:lnTo>
                    <a:lnTo>
                      <a:pt x="165" y="483"/>
                    </a:lnTo>
                    <a:lnTo>
                      <a:pt x="170" y="478"/>
                    </a:lnTo>
                    <a:lnTo>
                      <a:pt x="170" y="473"/>
                    </a:lnTo>
                    <a:lnTo>
                      <a:pt x="176" y="467"/>
                    </a:lnTo>
                    <a:lnTo>
                      <a:pt x="176" y="457"/>
                    </a:lnTo>
                    <a:lnTo>
                      <a:pt x="182" y="451"/>
                    </a:lnTo>
                    <a:lnTo>
                      <a:pt x="182" y="446"/>
                    </a:lnTo>
                    <a:lnTo>
                      <a:pt x="187" y="441"/>
                    </a:lnTo>
                    <a:lnTo>
                      <a:pt x="187" y="435"/>
                    </a:lnTo>
                    <a:lnTo>
                      <a:pt x="193" y="430"/>
                    </a:lnTo>
                    <a:lnTo>
                      <a:pt x="193" y="425"/>
                    </a:lnTo>
                    <a:lnTo>
                      <a:pt x="199" y="419"/>
                    </a:lnTo>
                    <a:lnTo>
                      <a:pt x="199" y="409"/>
                    </a:lnTo>
                    <a:lnTo>
                      <a:pt x="204" y="403"/>
                    </a:lnTo>
                    <a:lnTo>
                      <a:pt x="204" y="398"/>
                    </a:lnTo>
                    <a:lnTo>
                      <a:pt x="210" y="393"/>
                    </a:lnTo>
                    <a:lnTo>
                      <a:pt x="210" y="387"/>
                    </a:lnTo>
                    <a:lnTo>
                      <a:pt x="216" y="382"/>
                    </a:lnTo>
                    <a:lnTo>
                      <a:pt x="216" y="366"/>
                    </a:lnTo>
                    <a:lnTo>
                      <a:pt x="221" y="361"/>
                    </a:lnTo>
                    <a:lnTo>
                      <a:pt x="221" y="356"/>
                    </a:lnTo>
                    <a:lnTo>
                      <a:pt x="227" y="350"/>
                    </a:lnTo>
                    <a:lnTo>
                      <a:pt x="227" y="345"/>
                    </a:lnTo>
                    <a:lnTo>
                      <a:pt x="233" y="340"/>
                    </a:lnTo>
                    <a:lnTo>
                      <a:pt x="233" y="329"/>
                    </a:lnTo>
                    <a:lnTo>
                      <a:pt x="238" y="324"/>
                    </a:lnTo>
                    <a:lnTo>
                      <a:pt x="238" y="318"/>
                    </a:lnTo>
                    <a:lnTo>
                      <a:pt x="244" y="313"/>
                    </a:lnTo>
                    <a:lnTo>
                      <a:pt x="244" y="308"/>
                    </a:lnTo>
                    <a:lnTo>
                      <a:pt x="250" y="302"/>
                    </a:lnTo>
                    <a:lnTo>
                      <a:pt x="250" y="292"/>
                    </a:lnTo>
                    <a:lnTo>
                      <a:pt x="256" y="287"/>
                    </a:lnTo>
                    <a:lnTo>
                      <a:pt x="256" y="276"/>
                    </a:lnTo>
                    <a:lnTo>
                      <a:pt x="261" y="271"/>
                    </a:lnTo>
                    <a:lnTo>
                      <a:pt x="261" y="265"/>
                    </a:lnTo>
                    <a:lnTo>
                      <a:pt x="267" y="260"/>
                    </a:lnTo>
                    <a:lnTo>
                      <a:pt x="267" y="255"/>
                    </a:lnTo>
                    <a:lnTo>
                      <a:pt x="273" y="249"/>
                    </a:lnTo>
                    <a:lnTo>
                      <a:pt x="273" y="239"/>
                    </a:lnTo>
                    <a:lnTo>
                      <a:pt x="278" y="233"/>
                    </a:lnTo>
                    <a:lnTo>
                      <a:pt x="278" y="228"/>
                    </a:lnTo>
                    <a:lnTo>
                      <a:pt x="284" y="223"/>
                    </a:lnTo>
                    <a:lnTo>
                      <a:pt x="284" y="217"/>
                    </a:lnTo>
                    <a:lnTo>
                      <a:pt x="290" y="212"/>
                    </a:lnTo>
                    <a:lnTo>
                      <a:pt x="290" y="196"/>
                    </a:lnTo>
                    <a:lnTo>
                      <a:pt x="295" y="191"/>
                    </a:lnTo>
                    <a:lnTo>
                      <a:pt x="295" y="186"/>
                    </a:lnTo>
                    <a:lnTo>
                      <a:pt x="301" y="180"/>
                    </a:lnTo>
                    <a:lnTo>
                      <a:pt x="301" y="175"/>
                    </a:lnTo>
                    <a:lnTo>
                      <a:pt x="307" y="170"/>
                    </a:lnTo>
                    <a:lnTo>
                      <a:pt x="307" y="159"/>
                    </a:lnTo>
                    <a:lnTo>
                      <a:pt x="312" y="154"/>
                    </a:lnTo>
                    <a:lnTo>
                      <a:pt x="312" y="148"/>
                    </a:lnTo>
                    <a:lnTo>
                      <a:pt x="318" y="143"/>
                    </a:lnTo>
                    <a:lnTo>
                      <a:pt x="318" y="138"/>
                    </a:lnTo>
                    <a:lnTo>
                      <a:pt x="324" y="132"/>
                    </a:lnTo>
                    <a:lnTo>
                      <a:pt x="324" y="122"/>
                    </a:lnTo>
                    <a:lnTo>
                      <a:pt x="329" y="116"/>
                    </a:lnTo>
                    <a:lnTo>
                      <a:pt x="329" y="106"/>
                    </a:lnTo>
                    <a:lnTo>
                      <a:pt x="335" y="101"/>
                    </a:lnTo>
                    <a:lnTo>
                      <a:pt x="335" y="95"/>
                    </a:lnTo>
                    <a:lnTo>
                      <a:pt x="341" y="90"/>
                    </a:lnTo>
                    <a:lnTo>
                      <a:pt x="341" y="85"/>
                    </a:lnTo>
                    <a:lnTo>
                      <a:pt x="346" y="79"/>
                    </a:lnTo>
                    <a:lnTo>
                      <a:pt x="346" y="69"/>
                    </a:lnTo>
                    <a:lnTo>
                      <a:pt x="352" y="63"/>
                    </a:lnTo>
                    <a:lnTo>
                      <a:pt x="352" y="58"/>
                    </a:lnTo>
                    <a:lnTo>
                      <a:pt x="358" y="53"/>
                    </a:lnTo>
                    <a:lnTo>
                      <a:pt x="358" y="47"/>
                    </a:lnTo>
                    <a:lnTo>
                      <a:pt x="363" y="42"/>
                    </a:lnTo>
                    <a:lnTo>
                      <a:pt x="363" y="26"/>
                    </a:lnTo>
                    <a:lnTo>
                      <a:pt x="369" y="21"/>
                    </a:lnTo>
                    <a:lnTo>
                      <a:pt x="369" y="15"/>
                    </a:lnTo>
                    <a:lnTo>
                      <a:pt x="375" y="10"/>
                    </a:lnTo>
                    <a:lnTo>
                      <a:pt x="375" y="5"/>
                    </a:lnTo>
                    <a:lnTo>
                      <a:pt x="3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02272" name="Freeform 896">
                <a:extLst>
                  <a:ext uri="{FF2B5EF4-FFF2-40B4-BE49-F238E27FC236}">
                    <a16:creationId xmlns:a16="http://schemas.microsoft.com/office/drawing/2014/main" id="{0C8462FA-8DF1-39E4-98BB-A1002D7D2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2" y="1178"/>
                <a:ext cx="522" cy="702"/>
              </a:xfrm>
              <a:custGeom>
                <a:avLst/>
                <a:gdLst>
                  <a:gd name="T0" fmla="*/ 6 w 522"/>
                  <a:gd name="T1" fmla="*/ 686 h 702"/>
                  <a:gd name="T2" fmla="*/ 12 w 522"/>
                  <a:gd name="T3" fmla="*/ 670 h 702"/>
                  <a:gd name="T4" fmla="*/ 23 w 522"/>
                  <a:gd name="T5" fmla="*/ 654 h 702"/>
                  <a:gd name="T6" fmla="*/ 29 w 522"/>
                  <a:gd name="T7" fmla="*/ 632 h 702"/>
                  <a:gd name="T8" fmla="*/ 40 w 522"/>
                  <a:gd name="T9" fmla="*/ 617 h 702"/>
                  <a:gd name="T10" fmla="*/ 46 w 522"/>
                  <a:gd name="T11" fmla="*/ 595 h 702"/>
                  <a:gd name="T12" fmla="*/ 57 w 522"/>
                  <a:gd name="T13" fmla="*/ 579 h 702"/>
                  <a:gd name="T14" fmla="*/ 63 w 522"/>
                  <a:gd name="T15" fmla="*/ 558 h 702"/>
                  <a:gd name="T16" fmla="*/ 74 w 522"/>
                  <a:gd name="T17" fmla="*/ 542 h 702"/>
                  <a:gd name="T18" fmla="*/ 80 w 522"/>
                  <a:gd name="T19" fmla="*/ 521 h 702"/>
                  <a:gd name="T20" fmla="*/ 91 w 522"/>
                  <a:gd name="T21" fmla="*/ 505 h 702"/>
                  <a:gd name="T22" fmla="*/ 97 w 522"/>
                  <a:gd name="T23" fmla="*/ 484 h 702"/>
                  <a:gd name="T24" fmla="*/ 108 w 522"/>
                  <a:gd name="T25" fmla="*/ 468 h 702"/>
                  <a:gd name="T26" fmla="*/ 114 w 522"/>
                  <a:gd name="T27" fmla="*/ 446 h 702"/>
                  <a:gd name="T28" fmla="*/ 125 w 522"/>
                  <a:gd name="T29" fmla="*/ 431 h 702"/>
                  <a:gd name="T30" fmla="*/ 136 w 522"/>
                  <a:gd name="T31" fmla="*/ 409 h 702"/>
                  <a:gd name="T32" fmla="*/ 142 w 522"/>
                  <a:gd name="T33" fmla="*/ 393 h 702"/>
                  <a:gd name="T34" fmla="*/ 153 w 522"/>
                  <a:gd name="T35" fmla="*/ 372 h 702"/>
                  <a:gd name="T36" fmla="*/ 165 w 522"/>
                  <a:gd name="T37" fmla="*/ 356 h 702"/>
                  <a:gd name="T38" fmla="*/ 182 w 522"/>
                  <a:gd name="T39" fmla="*/ 330 h 702"/>
                  <a:gd name="T40" fmla="*/ 187 w 522"/>
                  <a:gd name="T41" fmla="*/ 308 h 702"/>
                  <a:gd name="T42" fmla="*/ 199 w 522"/>
                  <a:gd name="T43" fmla="*/ 292 h 702"/>
                  <a:gd name="T44" fmla="*/ 216 w 522"/>
                  <a:gd name="T45" fmla="*/ 266 h 702"/>
                  <a:gd name="T46" fmla="*/ 227 w 522"/>
                  <a:gd name="T47" fmla="*/ 250 h 702"/>
                  <a:gd name="T48" fmla="*/ 238 w 522"/>
                  <a:gd name="T49" fmla="*/ 229 h 702"/>
                  <a:gd name="T50" fmla="*/ 255 w 522"/>
                  <a:gd name="T51" fmla="*/ 207 h 702"/>
                  <a:gd name="T52" fmla="*/ 261 w 522"/>
                  <a:gd name="T53" fmla="*/ 191 h 702"/>
                  <a:gd name="T54" fmla="*/ 278 w 522"/>
                  <a:gd name="T55" fmla="*/ 170 h 702"/>
                  <a:gd name="T56" fmla="*/ 295 w 522"/>
                  <a:gd name="T57" fmla="*/ 149 h 702"/>
                  <a:gd name="T58" fmla="*/ 312 w 522"/>
                  <a:gd name="T59" fmla="*/ 128 h 702"/>
                  <a:gd name="T60" fmla="*/ 329 w 522"/>
                  <a:gd name="T61" fmla="*/ 106 h 702"/>
                  <a:gd name="T62" fmla="*/ 346 w 522"/>
                  <a:gd name="T63" fmla="*/ 90 h 702"/>
                  <a:gd name="T64" fmla="*/ 357 w 522"/>
                  <a:gd name="T65" fmla="*/ 74 h 702"/>
                  <a:gd name="T66" fmla="*/ 374 w 522"/>
                  <a:gd name="T67" fmla="*/ 64 h 702"/>
                  <a:gd name="T68" fmla="*/ 391 w 522"/>
                  <a:gd name="T69" fmla="*/ 48 h 702"/>
                  <a:gd name="T70" fmla="*/ 408 w 522"/>
                  <a:gd name="T71" fmla="*/ 37 h 702"/>
                  <a:gd name="T72" fmla="*/ 425 w 522"/>
                  <a:gd name="T73" fmla="*/ 27 h 702"/>
                  <a:gd name="T74" fmla="*/ 442 w 522"/>
                  <a:gd name="T75" fmla="*/ 16 h 702"/>
                  <a:gd name="T76" fmla="*/ 459 w 522"/>
                  <a:gd name="T77" fmla="*/ 11 h 702"/>
                  <a:gd name="T78" fmla="*/ 476 w 522"/>
                  <a:gd name="T79" fmla="*/ 5 h 702"/>
                  <a:gd name="T80" fmla="*/ 493 w 522"/>
                  <a:gd name="T81" fmla="*/ 0 h 702"/>
                  <a:gd name="T82" fmla="*/ 511 w 522"/>
                  <a:gd name="T83" fmla="*/ 0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22" h="702">
                    <a:moveTo>
                      <a:pt x="0" y="702"/>
                    </a:moveTo>
                    <a:lnTo>
                      <a:pt x="0" y="691"/>
                    </a:lnTo>
                    <a:lnTo>
                      <a:pt x="6" y="686"/>
                    </a:lnTo>
                    <a:lnTo>
                      <a:pt x="6" y="680"/>
                    </a:lnTo>
                    <a:lnTo>
                      <a:pt x="12" y="675"/>
                    </a:lnTo>
                    <a:lnTo>
                      <a:pt x="12" y="670"/>
                    </a:lnTo>
                    <a:lnTo>
                      <a:pt x="17" y="664"/>
                    </a:lnTo>
                    <a:lnTo>
                      <a:pt x="17" y="659"/>
                    </a:lnTo>
                    <a:lnTo>
                      <a:pt x="23" y="654"/>
                    </a:lnTo>
                    <a:lnTo>
                      <a:pt x="23" y="643"/>
                    </a:lnTo>
                    <a:lnTo>
                      <a:pt x="29" y="638"/>
                    </a:lnTo>
                    <a:lnTo>
                      <a:pt x="29" y="632"/>
                    </a:lnTo>
                    <a:lnTo>
                      <a:pt x="34" y="627"/>
                    </a:lnTo>
                    <a:lnTo>
                      <a:pt x="34" y="622"/>
                    </a:lnTo>
                    <a:lnTo>
                      <a:pt x="40" y="617"/>
                    </a:lnTo>
                    <a:lnTo>
                      <a:pt x="40" y="606"/>
                    </a:lnTo>
                    <a:lnTo>
                      <a:pt x="46" y="601"/>
                    </a:lnTo>
                    <a:lnTo>
                      <a:pt x="46" y="595"/>
                    </a:lnTo>
                    <a:lnTo>
                      <a:pt x="51" y="590"/>
                    </a:lnTo>
                    <a:lnTo>
                      <a:pt x="51" y="585"/>
                    </a:lnTo>
                    <a:lnTo>
                      <a:pt x="57" y="579"/>
                    </a:lnTo>
                    <a:lnTo>
                      <a:pt x="57" y="569"/>
                    </a:lnTo>
                    <a:lnTo>
                      <a:pt x="63" y="563"/>
                    </a:lnTo>
                    <a:lnTo>
                      <a:pt x="63" y="558"/>
                    </a:lnTo>
                    <a:lnTo>
                      <a:pt x="68" y="553"/>
                    </a:lnTo>
                    <a:lnTo>
                      <a:pt x="68" y="547"/>
                    </a:lnTo>
                    <a:lnTo>
                      <a:pt x="74" y="542"/>
                    </a:lnTo>
                    <a:lnTo>
                      <a:pt x="74" y="537"/>
                    </a:lnTo>
                    <a:lnTo>
                      <a:pt x="80" y="531"/>
                    </a:lnTo>
                    <a:lnTo>
                      <a:pt x="80" y="521"/>
                    </a:lnTo>
                    <a:lnTo>
                      <a:pt x="85" y="516"/>
                    </a:lnTo>
                    <a:lnTo>
                      <a:pt x="85" y="510"/>
                    </a:lnTo>
                    <a:lnTo>
                      <a:pt x="91" y="505"/>
                    </a:lnTo>
                    <a:lnTo>
                      <a:pt x="91" y="500"/>
                    </a:lnTo>
                    <a:lnTo>
                      <a:pt x="97" y="494"/>
                    </a:lnTo>
                    <a:lnTo>
                      <a:pt x="97" y="484"/>
                    </a:lnTo>
                    <a:lnTo>
                      <a:pt x="102" y="478"/>
                    </a:lnTo>
                    <a:lnTo>
                      <a:pt x="102" y="473"/>
                    </a:lnTo>
                    <a:lnTo>
                      <a:pt x="108" y="468"/>
                    </a:lnTo>
                    <a:lnTo>
                      <a:pt x="108" y="462"/>
                    </a:lnTo>
                    <a:lnTo>
                      <a:pt x="114" y="457"/>
                    </a:lnTo>
                    <a:lnTo>
                      <a:pt x="114" y="446"/>
                    </a:lnTo>
                    <a:lnTo>
                      <a:pt x="119" y="441"/>
                    </a:lnTo>
                    <a:lnTo>
                      <a:pt x="125" y="436"/>
                    </a:lnTo>
                    <a:lnTo>
                      <a:pt x="125" y="431"/>
                    </a:lnTo>
                    <a:lnTo>
                      <a:pt x="131" y="425"/>
                    </a:lnTo>
                    <a:lnTo>
                      <a:pt x="131" y="415"/>
                    </a:lnTo>
                    <a:lnTo>
                      <a:pt x="136" y="409"/>
                    </a:lnTo>
                    <a:lnTo>
                      <a:pt x="136" y="404"/>
                    </a:lnTo>
                    <a:lnTo>
                      <a:pt x="142" y="399"/>
                    </a:lnTo>
                    <a:lnTo>
                      <a:pt x="142" y="393"/>
                    </a:lnTo>
                    <a:lnTo>
                      <a:pt x="148" y="388"/>
                    </a:lnTo>
                    <a:lnTo>
                      <a:pt x="153" y="383"/>
                    </a:lnTo>
                    <a:lnTo>
                      <a:pt x="153" y="372"/>
                    </a:lnTo>
                    <a:lnTo>
                      <a:pt x="159" y="367"/>
                    </a:lnTo>
                    <a:lnTo>
                      <a:pt x="159" y="361"/>
                    </a:lnTo>
                    <a:lnTo>
                      <a:pt x="165" y="356"/>
                    </a:lnTo>
                    <a:lnTo>
                      <a:pt x="170" y="351"/>
                    </a:lnTo>
                    <a:lnTo>
                      <a:pt x="170" y="340"/>
                    </a:lnTo>
                    <a:lnTo>
                      <a:pt x="182" y="330"/>
                    </a:lnTo>
                    <a:lnTo>
                      <a:pt x="182" y="324"/>
                    </a:lnTo>
                    <a:lnTo>
                      <a:pt x="187" y="319"/>
                    </a:lnTo>
                    <a:lnTo>
                      <a:pt x="187" y="308"/>
                    </a:lnTo>
                    <a:lnTo>
                      <a:pt x="193" y="303"/>
                    </a:lnTo>
                    <a:lnTo>
                      <a:pt x="199" y="298"/>
                    </a:lnTo>
                    <a:lnTo>
                      <a:pt x="199" y="292"/>
                    </a:lnTo>
                    <a:lnTo>
                      <a:pt x="210" y="282"/>
                    </a:lnTo>
                    <a:lnTo>
                      <a:pt x="210" y="271"/>
                    </a:lnTo>
                    <a:lnTo>
                      <a:pt x="216" y="266"/>
                    </a:lnTo>
                    <a:lnTo>
                      <a:pt x="221" y="260"/>
                    </a:lnTo>
                    <a:lnTo>
                      <a:pt x="221" y="255"/>
                    </a:lnTo>
                    <a:lnTo>
                      <a:pt x="227" y="250"/>
                    </a:lnTo>
                    <a:lnTo>
                      <a:pt x="227" y="245"/>
                    </a:lnTo>
                    <a:lnTo>
                      <a:pt x="238" y="234"/>
                    </a:lnTo>
                    <a:lnTo>
                      <a:pt x="238" y="229"/>
                    </a:lnTo>
                    <a:lnTo>
                      <a:pt x="244" y="223"/>
                    </a:lnTo>
                    <a:lnTo>
                      <a:pt x="244" y="218"/>
                    </a:lnTo>
                    <a:lnTo>
                      <a:pt x="255" y="207"/>
                    </a:lnTo>
                    <a:lnTo>
                      <a:pt x="255" y="202"/>
                    </a:lnTo>
                    <a:lnTo>
                      <a:pt x="261" y="197"/>
                    </a:lnTo>
                    <a:lnTo>
                      <a:pt x="261" y="191"/>
                    </a:lnTo>
                    <a:lnTo>
                      <a:pt x="267" y="186"/>
                    </a:lnTo>
                    <a:lnTo>
                      <a:pt x="278" y="175"/>
                    </a:lnTo>
                    <a:lnTo>
                      <a:pt x="278" y="170"/>
                    </a:lnTo>
                    <a:lnTo>
                      <a:pt x="289" y="159"/>
                    </a:lnTo>
                    <a:lnTo>
                      <a:pt x="289" y="154"/>
                    </a:lnTo>
                    <a:lnTo>
                      <a:pt x="295" y="149"/>
                    </a:lnTo>
                    <a:lnTo>
                      <a:pt x="306" y="138"/>
                    </a:lnTo>
                    <a:lnTo>
                      <a:pt x="306" y="133"/>
                    </a:lnTo>
                    <a:lnTo>
                      <a:pt x="312" y="128"/>
                    </a:lnTo>
                    <a:lnTo>
                      <a:pt x="323" y="117"/>
                    </a:lnTo>
                    <a:lnTo>
                      <a:pt x="323" y="112"/>
                    </a:lnTo>
                    <a:lnTo>
                      <a:pt x="329" y="106"/>
                    </a:lnTo>
                    <a:lnTo>
                      <a:pt x="335" y="101"/>
                    </a:lnTo>
                    <a:lnTo>
                      <a:pt x="340" y="96"/>
                    </a:lnTo>
                    <a:lnTo>
                      <a:pt x="346" y="90"/>
                    </a:lnTo>
                    <a:lnTo>
                      <a:pt x="352" y="85"/>
                    </a:lnTo>
                    <a:lnTo>
                      <a:pt x="363" y="74"/>
                    </a:lnTo>
                    <a:lnTo>
                      <a:pt x="357" y="74"/>
                    </a:lnTo>
                    <a:lnTo>
                      <a:pt x="363" y="74"/>
                    </a:lnTo>
                    <a:lnTo>
                      <a:pt x="369" y="69"/>
                    </a:lnTo>
                    <a:lnTo>
                      <a:pt x="374" y="64"/>
                    </a:lnTo>
                    <a:lnTo>
                      <a:pt x="380" y="59"/>
                    </a:lnTo>
                    <a:lnTo>
                      <a:pt x="386" y="53"/>
                    </a:lnTo>
                    <a:lnTo>
                      <a:pt x="391" y="48"/>
                    </a:lnTo>
                    <a:lnTo>
                      <a:pt x="397" y="43"/>
                    </a:lnTo>
                    <a:lnTo>
                      <a:pt x="403" y="43"/>
                    </a:lnTo>
                    <a:lnTo>
                      <a:pt x="408" y="37"/>
                    </a:lnTo>
                    <a:lnTo>
                      <a:pt x="414" y="32"/>
                    </a:lnTo>
                    <a:lnTo>
                      <a:pt x="420" y="27"/>
                    </a:lnTo>
                    <a:lnTo>
                      <a:pt x="425" y="27"/>
                    </a:lnTo>
                    <a:lnTo>
                      <a:pt x="431" y="21"/>
                    </a:lnTo>
                    <a:lnTo>
                      <a:pt x="437" y="21"/>
                    </a:lnTo>
                    <a:lnTo>
                      <a:pt x="442" y="16"/>
                    </a:lnTo>
                    <a:lnTo>
                      <a:pt x="448" y="16"/>
                    </a:lnTo>
                    <a:lnTo>
                      <a:pt x="454" y="11"/>
                    </a:lnTo>
                    <a:lnTo>
                      <a:pt x="459" y="11"/>
                    </a:lnTo>
                    <a:lnTo>
                      <a:pt x="465" y="5"/>
                    </a:lnTo>
                    <a:lnTo>
                      <a:pt x="471" y="5"/>
                    </a:lnTo>
                    <a:lnTo>
                      <a:pt x="476" y="5"/>
                    </a:lnTo>
                    <a:lnTo>
                      <a:pt x="482" y="0"/>
                    </a:lnTo>
                    <a:lnTo>
                      <a:pt x="488" y="0"/>
                    </a:lnTo>
                    <a:lnTo>
                      <a:pt x="493" y="0"/>
                    </a:lnTo>
                    <a:lnTo>
                      <a:pt x="499" y="0"/>
                    </a:lnTo>
                    <a:lnTo>
                      <a:pt x="505" y="0"/>
                    </a:lnTo>
                    <a:lnTo>
                      <a:pt x="511" y="0"/>
                    </a:lnTo>
                    <a:lnTo>
                      <a:pt x="516" y="0"/>
                    </a:lnTo>
                    <a:lnTo>
                      <a:pt x="52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281" name="Rectangle 905">
                <a:extLst>
                  <a:ext uri="{FF2B5EF4-FFF2-40B4-BE49-F238E27FC236}">
                    <a16:creationId xmlns:a16="http://schemas.microsoft.com/office/drawing/2014/main" id="{646735AC-A4F5-299C-4F19-9D0A93CF0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359" y="777479"/>
                <a:ext cx="6123384" cy="5738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rgbClr val="0033CC"/>
                  </a:buClr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 2" panose="05020102010507070707" pitchFamily="18" charset="2"/>
                  <a:buChar char="¡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3399FF"/>
                  </a:buClr>
                  <a:buFont typeface="Wingdings 2" panose="05020102010507070707" pitchFamily="18" charset="2"/>
                  <a:buChar char="¡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ko-KR" sz="1350" dirty="0">
                    <a:ea typeface="굴림" panose="020B0600000101010101" pitchFamily="34" charset="-127"/>
                  </a:rPr>
                  <a:t>In this research,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350" dirty="0">
                    <a:ea typeface="굴림" panose="020B0600000101010101" pitchFamily="34" charset="-127"/>
                  </a:rPr>
                  <a:t> is obtained experimentally to optimize the polarization conversion </a:t>
                </a:r>
                <a:endParaRPr lang="ko-KR" altLang="en-US" sz="1350" dirty="0"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02281" name="Rectangle 905">
                <a:extLst>
                  <a:ext uri="{FF2B5EF4-FFF2-40B4-BE49-F238E27FC236}">
                    <a16:creationId xmlns:a16="http://schemas.microsoft.com/office/drawing/2014/main" id="{646735AC-A4F5-299C-4F19-9D0A93CF0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359" y="777479"/>
                <a:ext cx="6123384" cy="573881"/>
              </a:xfrm>
              <a:prstGeom prst="rect">
                <a:avLst/>
              </a:prstGeom>
              <a:blipFill>
                <a:blip r:embed="rId16"/>
                <a:stretch>
                  <a:fillRect t="-21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7F9A322D-E7D1-C7C9-93F0-CB8899296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The Ratio of V</a:t>
            </a:r>
            <a:r>
              <a:rPr lang="en-US" altLang="ko-KR" baseline="-25000">
                <a:ea typeface="굴림" panose="020B0600000101010101" pitchFamily="34" charset="-127"/>
              </a:rPr>
              <a:t>jp</a:t>
            </a:r>
            <a:r>
              <a:rPr lang="en-US" altLang="ko-KR">
                <a:ea typeface="굴림" panose="020B0600000101010101" pitchFamily="34" charset="-127"/>
              </a:rPr>
              <a:t> to V</a:t>
            </a:r>
            <a:r>
              <a:rPr lang="en-US" altLang="ko-KR" baseline="-25000">
                <a:ea typeface="굴림" panose="020B0600000101010101" pitchFamily="34" charset="-127"/>
              </a:rPr>
              <a:t>0 </a:t>
            </a:r>
            <a:r>
              <a:rPr lang="en-US" altLang="ko-KR">
                <a:ea typeface="굴림" panose="020B0600000101010101" pitchFamily="34" charset="-127"/>
              </a:rPr>
              <a:t>– Two Sidebands</a:t>
            </a:r>
          </a:p>
        </p:txBody>
      </p:sp>
      <p:graphicFrame>
        <p:nvGraphicFramePr>
          <p:cNvPr id="199683" name="Object 3">
            <a:extLst>
              <a:ext uri="{FF2B5EF4-FFF2-40B4-BE49-F238E27FC236}">
                <a16:creationId xmlns:a16="http://schemas.microsoft.com/office/drawing/2014/main" id="{E2A597A5-5987-E66B-A887-12CE0413F567}"/>
              </a:ext>
            </a:extLst>
          </p:cNvPr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42529670"/>
              </p:ext>
            </p:extLst>
          </p:nvPr>
        </p:nvGraphicFramePr>
        <p:xfrm>
          <a:off x="766267" y="2297113"/>
          <a:ext cx="501015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010150" imgH="1609750" progId="Excel.Sheet.8">
                  <p:embed/>
                </p:oleObj>
              </mc:Choice>
              <mc:Fallback>
                <p:oleObj name="Worksheet" r:id="rId3" imgW="5010150" imgH="1609750" progId="Excel.Sheet.8">
                  <p:embed/>
                  <p:pic>
                    <p:nvPicPr>
                      <p:cNvPr id="199683" name="Object 3">
                        <a:extLst>
                          <a:ext uri="{FF2B5EF4-FFF2-40B4-BE49-F238E27FC236}">
                            <a16:creationId xmlns:a16="http://schemas.microsoft.com/office/drawing/2014/main" id="{E2A597A5-5987-E66B-A887-12CE0413F5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267" y="2297113"/>
                        <a:ext cx="5010150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9685" name="Object 5">
                <a:extLst>
                  <a:ext uri="{FF2B5EF4-FFF2-40B4-BE49-F238E27FC236}">
                    <a16:creationId xmlns:a16="http://schemas.microsoft.com/office/drawing/2014/main" id="{53F3DE8C-0981-E137-0A52-F2477B5CE956}"/>
                  </a:ext>
                </a:extLst>
              </p:cNvPr>
              <p:cNvSpPr txBox="1">
                <a:spLocks noGrp="1"/>
              </p:cNvSpPr>
              <p:nvPr>
                <p:ph sz="half" idx="4294967295"/>
              </p:nvPr>
            </p:nvSpPr>
            <p:spPr bwMode="auto">
              <a:xfrm>
                <a:off x="1217117" y="1371846"/>
                <a:ext cx="3484562" cy="525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)(1+0.5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−0.5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9685" name="Object 5">
                <a:extLst>
                  <a:ext uri="{FF2B5EF4-FFF2-40B4-BE49-F238E27FC236}">
                    <a16:creationId xmlns:a16="http://schemas.microsoft.com/office/drawing/2014/main" id="{53F3DE8C-0981-E137-0A52-F2477B5CE95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4294967295"/>
              </p:nvPr>
            </p:nvSpPr>
            <p:spPr bwMode="auto">
              <a:xfrm>
                <a:off x="1217117" y="1371846"/>
                <a:ext cx="3484562" cy="525463"/>
              </a:xfrm>
              <a:prstGeom prst="rect">
                <a:avLst/>
              </a:prstGeom>
              <a:blipFill>
                <a:blip r:embed="rId5"/>
                <a:stretch>
                  <a:fillRect l="-10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9684" name="Rectangle 4">
            <a:extLst>
              <a:ext uri="{FF2B5EF4-FFF2-40B4-BE49-F238E27FC236}">
                <a16:creationId xmlns:a16="http://schemas.microsoft.com/office/drawing/2014/main" id="{F3304462-F171-4247-738B-7BC060B6C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984251"/>
            <a:ext cx="6123384" cy="573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 2" panose="05020102010507070707" pitchFamily="18" charset="2"/>
              <a:buChar char="¡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99FF"/>
              </a:buClr>
              <a:buFont typeface="Wingdings 2" panose="05020102010507070707" pitchFamily="18" charset="2"/>
              <a:buChar char="¡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350" dirty="0">
                <a:ea typeface="굴림" panose="020B0600000101010101" pitchFamily="34" charset="-127"/>
              </a:rPr>
              <a:t>The voltages for the raised cosine apodization are obtained by using equation</a:t>
            </a:r>
            <a:endParaRPr lang="ko-KR" altLang="en-US" sz="1350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>
            <a:extLst>
              <a:ext uri="{FF2B5EF4-FFF2-40B4-BE49-F238E27FC236}">
                <a16:creationId xmlns:a16="http://schemas.microsoft.com/office/drawing/2014/main" id="{632EAA5A-0AE9-9464-5BC7-B6F527F1F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III. Design of Electrooptic Matched Filter</a:t>
            </a:r>
          </a:p>
        </p:txBody>
      </p:sp>
      <p:sp>
        <p:nvSpPr>
          <p:cNvPr id="129153" name="Rectangle 129">
            <a:extLst>
              <a:ext uri="{FF2B5EF4-FFF2-40B4-BE49-F238E27FC236}">
                <a16:creationId xmlns:a16="http://schemas.microsoft.com/office/drawing/2014/main" id="{6D08F15C-415E-C013-BB8D-980AB1E2BB0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869282" y="3698080"/>
            <a:ext cx="5200351" cy="698789"/>
          </a:xfrm>
          <a:noFill/>
          <a:ln/>
        </p:spPr>
        <p:txBody>
          <a:bodyPr>
            <a:normAutofit fontScale="77500" lnSpcReduction="20000"/>
          </a:bodyPr>
          <a:lstStyle/>
          <a:p>
            <a:pPr marL="0">
              <a:spcBef>
                <a:spcPts val="3600"/>
              </a:spcBef>
              <a:buFont typeface="Wingdings 2" panose="05020102010507070707" pitchFamily="18" charset="2"/>
              <a:buNone/>
            </a:pPr>
            <a:r>
              <a:rPr lang="en-US" altLang="ko-KR" dirty="0">
                <a:ea typeface="굴림" panose="020B0600000101010101" pitchFamily="34" charset="-127"/>
              </a:rPr>
              <a:t>: spatial period of interdigital electrodes</a:t>
            </a:r>
          </a:p>
          <a:p>
            <a:pPr marL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ko-KR" dirty="0">
                <a:ea typeface="굴림" panose="020B0600000101010101" pitchFamily="34" charset="-127"/>
              </a:rPr>
              <a:t>                  ,</a:t>
            </a:r>
          </a:p>
          <a:p>
            <a:pPr marL="0"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ko-KR" dirty="0">
                <a:ea typeface="굴림" panose="020B0600000101010101" pitchFamily="34" charset="-127"/>
              </a:rPr>
              <a:t>: length of single mode conversion region 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129028" name="Text Box 4">
            <a:extLst>
              <a:ext uri="{FF2B5EF4-FFF2-40B4-BE49-F238E27FC236}">
                <a16:creationId xmlns:a16="http://schemas.microsoft.com/office/drawing/2014/main" id="{4E6F616B-8682-65E3-6E13-79A3B2E30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71" y="715962"/>
            <a:ext cx="61769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1" dirty="0">
                <a:ea typeface="굴림" panose="020B0600000101010101" pitchFamily="34" charset="-127"/>
              </a:rPr>
              <a:t>C. </a:t>
            </a:r>
            <a:r>
              <a:rPr lang="en-US" altLang="en-US" sz="1400" b="1" noProof="1"/>
              <a:t>The EMF Structure for Single Sideband</a:t>
            </a:r>
            <a:endParaRPr lang="en-US" altLang="ko-KR" sz="1400" b="1" dirty="0">
              <a:ea typeface="굴림" panose="020B0600000101010101" pitchFamily="34" charset="-127"/>
            </a:endParaRPr>
          </a:p>
        </p:txBody>
      </p:sp>
      <p:grpSp>
        <p:nvGrpSpPr>
          <p:cNvPr id="129031" name="Group 7">
            <a:extLst>
              <a:ext uri="{FF2B5EF4-FFF2-40B4-BE49-F238E27FC236}">
                <a16:creationId xmlns:a16="http://schemas.microsoft.com/office/drawing/2014/main" id="{7E04A059-7771-2A1A-8F69-FB5D3198B97B}"/>
              </a:ext>
            </a:extLst>
          </p:cNvPr>
          <p:cNvGrpSpPr>
            <a:grpSpLocks/>
          </p:cNvGrpSpPr>
          <p:nvPr/>
        </p:nvGrpSpPr>
        <p:grpSpPr bwMode="auto">
          <a:xfrm>
            <a:off x="420295" y="1363267"/>
            <a:ext cx="4891091" cy="2221705"/>
            <a:chOff x="924" y="1338"/>
            <a:chExt cx="4108" cy="1866"/>
          </a:xfrm>
        </p:grpSpPr>
        <p:sp>
          <p:nvSpPr>
            <p:cNvPr id="129032" name="Rectangle 8">
              <a:extLst>
                <a:ext uri="{FF2B5EF4-FFF2-40B4-BE49-F238E27FC236}">
                  <a16:creationId xmlns:a16="http://schemas.microsoft.com/office/drawing/2014/main" id="{7CCA6FE4-7761-82AC-9394-C7EDA13E0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93"/>
              <a:ext cx="2891" cy="12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33" name="Freeform 9">
              <a:extLst>
                <a:ext uri="{FF2B5EF4-FFF2-40B4-BE49-F238E27FC236}">
                  <a16:creationId xmlns:a16="http://schemas.microsoft.com/office/drawing/2014/main" id="{057CF6CA-00ED-1546-0174-7EDDC0B9B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2868"/>
              <a:ext cx="2982" cy="88"/>
            </a:xfrm>
            <a:custGeom>
              <a:avLst/>
              <a:gdLst>
                <a:gd name="T0" fmla="*/ 0 w 2982"/>
                <a:gd name="T1" fmla="*/ 0 h 88"/>
                <a:gd name="T2" fmla="*/ 78 w 2982"/>
                <a:gd name="T3" fmla="*/ 88 h 88"/>
                <a:gd name="T4" fmla="*/ 2982 w 2982"/>
                <a:gd name="T5" fmla="*/ 87 h 88"/>
                <a:gd name="T6" fmla="*/ 2892 w 2982"/>
                <a:gd name="T7" fmla="*/ 1 h 88"/>
                <a:gd name="T8" fmla="*/ 0 w 2982"/>
                <a:gd name="T9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82" h="88">
                  <a:moveTo>
                    <a:pt x="0" y="0"/>
                  </a:moveTo>
                  <a:lnTo>
                    <a:pt x="78" y="88"/>
                  </a:lnTo>
                  <a:lnTo>
                    <a:pt x="2982" y="87"/>
                  </a:lnTo>
                  <a:lnTo>
                    <a:pt x="2892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34" name="Freeform 10">
              <a:extLst>
                <a:ext uri="{FF2B5EF4-FFF2-40B4-BE49-F238E27FC236}">
                  <a16:creationId xmlns:a16="http://schemas.microsoft.com/office/drawing/2014/main" id="{8D96076A-30E6-2B23-6417-892C86809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1592"/>
              <a:ext cx="86" cy="1362"/>
            </a:xfrm>
            <a:custGeom>
              <a:avLst/>
              <a:gdLst>
                <a:gd name="T0" fmla="*/ 86 w 86"/>
                <a:gd name="T1" fmla="*/ 1362 h 1362"/>
                <a:gd name="T2" fmla="*/ 84 w 86"/>
                <a:gd name="T3" fmla="*/ 64 h 1362"/>
                <a:gd name="T4" fmla="*/ 0 w 86"/>
                <a:gd name="T5" fmla="*/ 0 h 1362"/>
                <a:gd name="T6" fmla="*/ 1 w 86"/>
                <a:gd name="T7" fmla="*/ 1277 h 1362"/>
                <a:gd name="T8" fmla="*/ 86 w 86"/>
                <a:gd name="T9" fmla="*/ 1362 h 1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1362">
                  <a:moveTo>
                    <a:pt x="86" y="1362"/>
                  </a:moveTo>
                  <a:lnTo>
                    <a:pt x="84" y="64"/>
                  </a:lnTo>
                  <a:lnTo>
                    <a:pt x="0" y="0"/>
                  </a:lnTo>
                  <a:lnTo>
                    <a:pt x="1" y="1277"/>
                  </a:lnTo>
                  <a:lnTo>
                    <a:pt x="86" y="13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35" name="Rectangle 11">
              <a:extLst>
                <a:ext uri="{FF2B5EF4-FFF2-40B4-BE49-F238E27FC236}">
                  <a16:creationId xmlns:a16="http://schemas.microsoft.com/office/drawing/2014/main" id="{42FBB213-8EBC-30AE-2294-880AA53BC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217"/>
              <a:ext cx="2889" cy="59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36" name="Rectangle 12">
              <a:extLst>
                <a:ext uri="{FF2B5EF4-FFF2-40B4-BE49-F238E27FC236}">
                  <a16:creationId xmlns:a16="http://schemas.microsoft.com/office/drawing/2014/main" id="{F09AEEF8-2FF8-2105-1EC6-DA0AD502D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1" y="1941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37" name="Line 13">
              <a:extLst>
                <a:ext uri="{FF2B5EF4-FFF2-40B4-BE49-F238E27FC236}">
                  <a16:creationId xmlns:a16="http://schemas.microsoft.com/office/drawing/2014/main" id="{FBF9631F-1199-6115-6C96-4DA0D4F19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4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38" name="Line 14">
              <a:extLst>
                <a:ext uri="{FF2B5EF4-FFF2-40B4-BE49-F238E27FC236}">
                  <a16:creationId xmlns:a16="http://schemas.microsoft.com/office/drawing/2014/main" id="{58874682-2E28-C8E7-2432-314561E19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0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39" name="Line 15">
              <a:extLst>
                <a:ext uri="{FF2B5EF4-FFF2-40B4-BE49-F238E27FC236}">
                  <a16:creationId xmlns:a16="http://schemas.microsoft.com/office/drawing/2014/main" id="{6277AE9F-9671-3BB1-FB53-DDA1A1359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6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40" name="Line 16">
              <a:extLst>
                <a:ext uri="{FF2B5EF4-FFF2-40B4-BE49-F238E27FC236}">
                  <a16:creationId xmlns:a16="http://schemas.microsoft.com/office/drawing/2014/main" id="{732642DE-F528-46D5-D988-AF0F4173D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3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41" name="Line 17">
              <a:extLst>
                <a:ext uri="{FF2B5EF4-FFF2-40B4-BE49-F238E27FC236}">
                  <a16:creationId xmlns:a16="http://schemas.microsoft.com/office/drawing/2014/main" id="{C3BA9D08-A21F-FCDE-B57A-13A665674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9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42" name="Line 18">
              <a:extLst>
                <a:ext uri="{FF2B5EF4-FFF2-40B4-BE49-F238E27FC236}">
                  <a16:creationId xmlns:a16="http://schemas.microsoft.com/office/drawing/2014/main" id="{439D59A2-CA33-8C0E-802B-AE2853499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43" name="Rectangle 19">
              <a:extLst>
                <a:ext uri="{FF2B5EF4-FFF2-40B4-BE49-F238E27FC236}">
                  <a16:creationId xmlns:a16="http://schemas.microsoft.com/office/drawing/2014/main" id="{93200FC2-D57D-42F1-80D2-0EA2E696E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9" y="2506"/>
              <a:ext cx="252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44" name="Rectangle 20">
              <a:extLst>
                <a:ext uri="{FF2B5EF4-FFF2-40B4-BE49-F238E27FC236}">
                  <a16:creationId xmlns:a16="http://schemas.microsoft.com/office/drawing/2014/main" id="{92793731-1FCD-D5E8-9844-E30392546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6" y="1936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45" name="Line 21">
              <a:extLst>
                <a:ext uri="{FF2B5EF4-FFF2-40B4-BE49-F238E27FC236}">
                  <a16:creationId xmlns:a16="http://schemas.microsoft.com/office/drawing/2014/main" id="{729F72A7-4FFD-0B31-0C77-F9C5187A3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46" name="Line 22">
              <a:extLst>
                <a:ext uri="{FF2B5EF4-FFF2-40B4-BE49-F238E27FC236}">
                  <a16:creationId xmlns:a16="http://schemas.microsoft.com/office/drawing/2014/main" id="{27F73BED-17CF-B59B-6BCE-523340840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47" name="Line 23">
              <a:extLst>
                <a:ext uri="{FF2B5EF4-FFF2-40B4-BE49-F238E27FC236}">
                  <a16:creationId xmlns:a16="http://schemas.microsoft.com/office/drawing/2014/main" id="{29B17D6B-EB33-BAD8-D247-8BEDC94C3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1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48" name="Line 24">
              <a:extLst>
                <a:ext uri="{FF2B5EF4-FFF2-40B4-BE49-F238E27FC236}">
                  <a16:creationId xmlns:a16="http://schemas.microsoft.com/office/drawing/2014/main" id="{0C0616BD-CE15-406C-76C3-9ADD2AC6C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8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49" name="Line 25">
              <a:extLst>
                <a:ext uri="{FF2B5EF4-FFF2-40B4-BE49-F238E27FC236}">
                  <a16:creationId xmlns:a16="http://schemas.microsoft.com/office/drawing/2014/main" id="{B75FDDDA-06F7-5B44-57D8-826663D1A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4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50" name="Line 26">
              <a:extLst>
                <a:ext uri="{FF2B5EF4-FFF2-40B4-BE49-F238E27FC236}">
                  <a16:creationId xmlns:a16="http://schemas.microsoft.com/office/drawing/2014/main" id="{4DDDC8CC-A7C7-030F-22DC-C7C2C6F67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8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51" name="Rectangle 27">
              <a:extLst>
                <a:ext uri="{FF2B5EF4-FFF2-40B4-BE49-F238E27FC236}">
                  <a16:creationId xmlns:a16="http://schemas.microsoft.com/office/drawing/2014/main" id="{0D29155D-42B8-8466-01A5-6A4237C90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" y="1941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52" name="Line 28">
              <a:extLst>
                <a:ext uri="{FF2B5EF4-FFF2-40B4-BE49-F238E27FC236}">
                  <a16:creationId xmlns:a16="http://schemas.microsoft.com/office/drawing/2014/main" id="{3550E59B-9A7A-9809-BF4F-73FAC0CFC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4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53" name="Line 29">
              <a:extLst>
                <a:ext uri="{FF2B5EF4-FFF2-40B4-BE49-F238E27FC236}">
                  <a16:creationId xmlns:a16="http://schemas.microsoft.com/office/drawing/2014/main" id="{5E045A77-0DB7-67DB-AE45-7B6C8EFA4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0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54" name="Line 30">
              <a:extLst>
                <a:ext uri="{FF2B5EF4-FFF2-40B4-BE49-F238E27FC236}">
                  <a16:creationId xmlns:a16="http://schemas.microsoft.com/office/drawing/2014/main" id="{EE3AC068-5926-242C-A934-3F315FFCD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6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55" name="Line 31">
              <a:extLst>
                <a:ext uri="{FF2B5EF4-FFF2-40B4-BE49-F238E27FC236}">
                  <a16:creationId xmlns:a16="http://schemas.microsoft.com/office/drawing/2014/main" id="{0A989B50-4E26-DD79-0552-591A1D82D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56" name="Line 32">
              <a:extLst>
                <a:ext uri="{FF2B5EF4-FFF2-40B4-BE49-F238E27FC236}">
                  <a16:creationId xmlns:a16="http://schemas.microsoft.com/office/drawing/2014/main" id="{D708932D-DDB9-8921-D0DE-4253B8333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9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57" name="Line 33">
              <a:extLst>
                <a:ext uri="{FF2B5EF4-FFF2-40B4-BE49-F238E27FC236}">
                  <a16:creationId xmlns:a16="http://schemas.microsoft.com/office/drawing/2014/main" id="{E7EC804C-CD82-9022-52F4-E59213BFB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3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58" name="Rectangle 34">
              <a:extLst>
                <a:ext uri="{FF2B5EF4-FFF2-40B4-BE49-F238E27FC236}">
                  <a16:creationId xmlns:a16="http://schemas.microsoft.com/office/drawing/2014/main" id="{149B1F84-A57C-1175-FCCD-15465DECC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36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59" name="Line 35">
              <a:extLst>
                <a:ext uri="{FF2B5EF4-FFF2-40B4-BE49-F238E27FC236}">
                  <a16:creationId xmlns:a16="http://schemas.microsoft.com/office/drawing/2014/main" id="{67AD25B7-D518-A9B6-F05E-5C814B2B3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60" name="Line 36">
              <a:extLst>
                <a:ext uri="{FF2B5EF4-FFF2-40B4-BE49-F238E27FC236}">
                  <a16:creationId xmlns:a16="http://schemas.microsoft.com/office/drawing/2014/main" id="{84D1656E-392E-D23A-FFB1-03F4E4AA0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5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61" name="Line 37">
              <a:extLst>
                <a:ext uri="{FF2B5EF4-FFF2-40B4-BE49-F238E27FC236}">
                  <a16:creationId xmlns:a16="http://schemas.microsoft.com/office/drawing/2014/main" id="{757D3143-7DC0-823B-CDF9-A832C6188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1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62" name="Line 38">
              <a:extLst>
                <a:ext uri="{FF2B5EF4-FFF2-40B4-BE49-F238E27FC236}">
                  <a16:creationId xmlns:a16="http://schemas.microsoft.com/office/drawing/2014/main" id="{EBC6811F-B2FF-198C-9B6A-51960D4AD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8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63" name="Line 39">
              <a:extLst>
                <a:ext uri="{FF2B5EF4-FFF2-40B4-BE49-F238E27FC236}">
                  <a16:creationId xmlns:a16="http://schemas.microsoft.com/office/drawing/2014/main" id="{8EC3E24B-CED1-B548-7737-21F0ABAF8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64" name="Line 40">
              <a:extLst>
                <a:ext uri="{FF2B5EF4-FFF2-40B4-BE49-F238E27FC236}">
                  <a16:creationId xmlns:a16="http://schemas.microsoft.com/office/drawing/2014/main" id="{F5FF2F34-B9E1-A33F-0237-D17834E1E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65" name="Rectangle 41">
              <a:extLst>
                <a:ext uri="{FF2B5EF4-FFF2-40B4-BE49-F238E27FC236}">
                  <a16:creationId xmlns:a16="http://schemas.microsoft.com/office/drawing/2014/main" id="{2D8FC17A-BDAE-2224-C112-58B5B9876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0" y="1941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66" name="Line 42">
              <a:extLst>
                <a:ext uri="{FF2B5EF4-FFF2-40B4-BE49-F238E27FC236}">
                  <a16:creationId xmlns:a16="http://schemas.microsoft.com/office/drawing/2014/main" id="{A7D55DCE-825D-1F0C-C681-ED41671E3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3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67" name="Line 43">
              <a:extLst>
                <a:ext uri="{FF2B5EF4-FFF2-40B4-BE49-F238E27FC236}">
                  <a16:creationId xmlns:a16="http://schemas.microsoft.com/office/drawing/2014/main" id="{68D717C4-61E7-0FD0-AF4B-DCAB7B860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9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68" name="Line 44">
              <a:extLst>
                <a:ext uri="{FF2B5EF4-FFF2-40B4-BE49-F238E27FC236}">
                  <a16:creationId xmlns:a16="http://schemas.microsoft.com/office/drawing/2014/main" id="{C7554C53-4CEC-7F2C-DF41-C45F2EB41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69" name="Line 45">
              <a:extLst>
                <a:ext uri="{FF2B5EF4-FFF2-40B4-BE49-F238E27FC236}">
                  <a16:creationId xmlns:a16="http://schemas.microsoft.com/office/drawing/2014/main" id="{3D02714D-851E-6A97-1872-F03959BB6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2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70" name="Line 46">
              <a:extLst>
                <a:ext uri="{FF2B5EF4-FFF2-40B4-BE49-F238E27FC236}">
                  <a16:creationId xmlns:a16="http://schemas.microsoft.com/office/drawing/2014/main" id="{B71115D0-C543-E596-2CE7-5FE57D291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71" name="Line 47">
              <a:extLst>
                <a:ext uri="{FF2B5EF4-FFF2-40B4-BE49-F238E27FC236}">
                  <a16:creationId xmlns:a16="http://schemas.microsoft.com/office/drawing/2014/main" id="{71E981A2-B758-920D-CAAF-49A5AF483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72" name="Rectangle 48">
              <a:extLst>
                <a:ext uri="{FF2B5EF4-FFF2-40B4-BE49-F238E27FC236}">
                  <a16:creationId xmlns:a16="http://schemas.microsoft.com/office/drawing/2014/main" id="{DDBA4598-E67E-F9D8-D47D-289C215EF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1936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73" name="Line 49">
              <a:extLst>
                <a:ext uri="{FF2B5EF4-FFF2-40B4-BE49-F238E27FC236}">
                  <a16:creationId xmlns:a16="http://schemas.microsoft.com/office/drawing/2014/main" id="{DD8CB5AE-16CC-C435-8DDE-9F017E640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4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74" name="Line 50">
              <a:extLst>
                <a:ext uri="{FF2B5EF4-FFF2-40B4-BE49-F238E27FC236}">
                  <a16:creationId xmlns:a16="http://schemas.microsoft.com/office/drawing/2014/main" id="{019D2E8F-A143-C349-6965-C3674BB85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75" name="Line 51">
              <a:extLst>
                <a:ext uri="{FF2B5EF4-FFF2-40B4-BE49-F238E27FC236}">
                  <a16:creationId xmlns:a16="http://schemas.microsoft.com/office/drawing/2014/main" id="{CD5AECAF-7C75-9CF4-9739-51D67A1C6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76" name="Line 52">
              <a:extLst>
                <a:ext uri="{FF2B5EF4-FFF2-40B4-BE49-F238E27FC236}">
                  <a16:creationId xmlns:a16="http://schemas.microsoft.com/office/drawing/2014/main" id="{D4901EED-5DCD-C582-D8DD-2CC3E5F79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77" name="Line 53">
              <a:extLst>
                <a:ext uri="{FF2B5EF4-FFF2-40B4-BE49-F238E27FC236}">
                  <a16:creationId xmlns:a16="http://schemas.microsoft.com/office/drawing/2014/main" id="{5CD490DA-709C-09C2-53A4-1DB0D886FF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78" name="Line 54">
              <a:extLst>
                <a:ext uri="{FF2B5EF4-FFF2-40B4-BE49-F238E27FC236}">
                  <a16:creationId xmlns:a16="http://schemas.microsoft.com/office/drawing/2014/main" id="{33F098B8-B3D6-86AA-1075-6000E1FA0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79" name="Rectangle 55">
              <a:extLst>
                <a:ext uri="{FF2B5EF4-FFF2-40B4-BE49-F238E27FC236}">
                  <a16:creationId xmlns:a16="http://schemas.microsoft.com/office/drawing/2014/main" id="{920A1DAC-1C21-3CEB-CFBE-A1FD0D5BF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941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80" name="Line 56">
              <a:extLst>
                <a:ext uri="{FF2B5EF4-FFF2-40B4-BE49-F238E27FC236}">
                  <a16:creationId xmlns:a16="http://schemas.microsoft.com/office/drawing/2014/main" id="{07CDCAB4-4038-449B-FC6E-4654DB0B2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81" name="Line 57">
              <a:extLst>
                <a:ext uri="{FF2B5EF4-FFF2-40B4-BE49-F238E27FC236}">
                  <a16:creationId xmlns:a16="http://schemas.microsoft.com/office/drawing/2014/main" id="{E9B3CC78-8490-2238-EE33-B3CAEC326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5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82" name="Line 58">
              <a:extLst>
                <a:ext uri="{FF2B5EF4-FFF2-40B4-BE49-F238E27FC236}">
                  <a16:creationId xmlns:a16="http://schemas.microsoft.com/office/drawing/2014/main" id="{EAF450F1-1CD4-58A4-5569-E43578792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" y="19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83" name="Line 59">
              <a:extLst>
                <a:ext uri="{FF2B5EF4-FFF2-40B4-BE49-F238E27FC236}">
                  <a16:creationId xmlns:a16="http://schemas.microsoft.com/office/drawing/2014/main" id="{A0734199-58AD-BF3B-743B-722A215DE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8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84" name="Line 60">
              <a:extLst>
                <a:ext uri="{FF2B5EF4-FFF2-40B4-BE49-F238E27FC236}">
                  <a16:creationId xmlns:a16="http://schemas.microsoft.com/office/drawing/2014/main" id="{C25C1D44-38C2-8581-F1D7-584BB516E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4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85" name="Line 61">
              <a:extLst>
                <a:ext uri="{FF2B5EF4-FFF2-40B4-BE49-F238E27FC236}">
                  <a16:creationId xmlns:a16="http://schemas.microsoft.com/office/drawing/2014/main" id="{266C8DD2-037E-5F6C-B7AB-908FC3CC0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08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86" name="Rectangle 62">
              <a:extLst>
                <a:ext uri="{FF2B5EF4-FFF2-40B4-BE49-F238E27FC236}">
                  <a16:creationId xmlns:a16="http://schemas.microsoft.com/office/drawing/2014/main" id="{BF1F537D-C2FE-38D8-D028-4AFF6AE74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1" y="1936"/>
              <a:ext cx="158" cy="2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087" name="Line 63">
              <a:extLst>
                <a:ext uri="{FF2B5EF4-FFF2-40B4-BE49-F238E27FC236}">
                  <a16:creationId xmlns:a16="http://schemas.microsoft.com/office/drawing/2014/main" id="{83C1DAEF-3B9D-4F0F-2FD9-290BAE8067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4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88" name="Line 64">
              <a:extLst>
                <a:ext uri="{FF2B5EF4-FFF2-40B4-BE49-F238E27FC236}">
                  <a16:creationId xmlns:a16="http://schemas.microsoft.com/office/drawing/2014/main" id="{E517A06E-F049-92A8-8D5D-2DACBB1DA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0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89" name="Line 65">
              <a:extLst>
                <a:ext uri="{FF2B5EF4-FFF2-40B4-BE49-F238E27FC236}">
                  <a16:creationId xmlns:a16="http://schemas.microsoft.com/office/drawing/2014/main" id="{70BDBA5A-F4BE-CCF1-C15F-4EA4549A8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196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0" name="Line 66">
              <a:extLst>
                <a:ext uri="{FF2B5EF4-FFF2-40B4-BE49-F238E27FC236}">
                  <a16:creationId xmlns:a16="http://schemas.microsoft.com/office/drawing/2014/main" id="{0D777047-5BDA-5039-F62C-B733CBE93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1" name="Line 67">
              <a:extLst>
                <a:ext uri="{FF2B5EF4-FFF2-40B4-BE49-F238E27FC236}">
                  <a16:creationId xmlns:a16="http://schemas.microsoft.com/office/drawing/2014/main" id="{9CF0A70C-31A0-644C-19D2-2914424CF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2" name="Line 68">
              <a:extLst>
                <a:ext uri="{FF2B5EF4-FFF2-40B4-BE49-F238E27FC236}">
                  <a16:creationId xmlns:a16="http://schemas.microsoft.com/office/drawing/2014/main" id="{F018DAFC-B661-70F2-EE94-7187E5621F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2077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3" name="Freeform 69">
              <a:extLst>
                <a:ext uri="{FF2B5EF4-FFF2-40B4-BE49-F238E27FC236}">
                  <a16:creationId xmlns:a16="http://schemas.microsoft.com/office/drawing/2014/main" id="{F2330CD6-35C1-4E74-0796-658073FBC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2217"/>
              <a:ext cx="18" cy="78"/>
            </a:xfrm>
            <a:custGeom>
              <a:avLst/>
              <a:gdLst>
                <a:gd name="T0" fmla="*/ 0 w 18"/>
                <a:gd name="T1" fmla="*/ 0 h 78"/>
                <a:gd name="T2" fmla="*/ 18 w 18"/>
                <a:gd name="T3" fmla="*/ 21 h 78"/>
                <a:gd name="T4" fmla="*/ 18 w 18"/>
                <a:gd name="T5" fmla="*/ 78 h 78"/>
                <a:gd name="T6" fmla="*/ 1 w 18"/>
                <a:gd name="T7" fmla="*/ 59 h 78"/>
                <a:gd name="T8" fmla="*/ 0 w 18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8">
                  <a:moveTo>
                    <a:pt x="0" y="0"/>
                  </a:moveTo>
                  <a:lnTo>
                    <a:pt x="18" y="21"/>
                  </a:lnTo>
                  <a:lnTo>
                    <a:pt x="18" y="78"/>
                  </a:lnTo>
                  <a:lnTo>
                    <a:pt x="1" y="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4" name="Line 70">
              <a:extLst>
                <a:ext uri="{FF2B5EF4-FFF2-40B4-BE49-F238E27FC236}">
                  <a16:creationId xmlns:a16="http://schemas.microsoft.com/office/drawing/2014/main" id="{DC3BFB6E-3ECA-43C8-6DE3-6E6F33509D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7" y="1508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5" name="Line 71">
              <a:extLst>
                <a:ext uri="{FF2B5EF4-FFF2-40B4-BE49-F238E27FC236}">
                  <a16:creationId xmlns:a16="http://schemas.microsoft.com/office/drawing/2014/main" id="{D53A8436-94FA-9D91-C829-0B42FEB106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1" y="1508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6" name="Line 72">
              <a:extLst>
                <a:ext uri="{FF2B5EF4-FFF2-40B4-BE49-F238E27FC236}">
                  <a16:creationId xmlns:a16="http://schemas.microsoft.com/office/drawing/2014/main" id="{290F5715-5E2C-1F94-DDAC-2FDA39B154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9" y="1512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7" name="Line 73">
              <a:extLst>
                <a:ext uri="{FF2B5EF4-FFF2-40B4-BE49-F238E27FC236}">
                  <a16:creationId xmlns:a16="http://schemas.microsoft.com/office/drawing/2014/main" id="{1A164650-D2DF-2D00-1D62-E368C80D5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1512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8" name="Line 74">
              <a:extLst>
                <a:ext uri="{FF2B5EF4-FFF2-40B4-BE49-F238E27FC236}">
                  <a16:creationId xmlns:a16="http://schemas.microsoft.com/office/drawing/2014/main" id="{F7B52800-4F6F-F022-1EC6-AC601C4F80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6" y="1508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099" name="Line 75">
              <a:extLst>
                <a:ext uri="{FF2B5EF4-FFF2-40B4-BE49-F238E27FC236}">
                  <a16:creationId xmlns:a16="http://schemas.microsoft.com/office/drawing/2014/main" id="{B67B298A-BC71-E980-D180-91909631D7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6" y="1508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00" name="Line 76">
              <a:extLst>
                <a:ext uri="{FF2B5EF4-FFF2-40B4-BE49-F238E27FC236}">
                  <a16:creationId xmlns:a16="http://schemas.microsoft.com/office/drawing/2014/main" id="{F13468D9-C016-410D-2AC9-DECA46870C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4" y="1512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01" name="Line 77">
              <a:extLst>
                <a:ext uri="{FF2B5EF4-FFF2-40B4-BE49-F238E27FC236}">
                  <a16:creationId xmlns:a16="http://schemas.microsoft.com/office/drawing/2014/main" id="{216FC3B5-7F9A-6C3B-F350-4C3C4C201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8" y="1512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02" name="Text Box 78">
              <a:extLst>
                <a:ext uri="{FF2B5EF4-FFF2-40B4-BE49-F238E27FC236}">
                  <a16:creationId xmlns:a16="http://schemas.microsoft.com/office/drawing/2014/main" id="{44387B53-35B4-26FE-DE30-7F59A83C8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5" y="1338"/>
              <a:ext cx="2730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1          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2           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3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       V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4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        V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5          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6           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7           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8</a:t>
              </a:r>
              <a:endParaRPr lang="en-US" altLang="ko-KR" sz="11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29103" name="Line 79">
              <a:extLst>
                <a:ext uri="{FF2B5EF4-FFF2-40B4-BE49-F238E27FC236}">
                  <a16:creationId xmlns:a16="http://schemas.microsoft.com/office/drawing/2014/main" id="{3EB32E39-1799-4C49-564E-C228EC7A4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5" y="2529"/>
              <a:ext cx="0" cy="5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grpSp>
          <p:nvGrpSpPr>
            <p:cNvPr id="129104" name="Group 80">
              <a:extLst>
                <a:ext uri="{FF2B5EF4-FFF2-40B4-BE49-F238E27FC236}">
                  <a16:creationId xmlns:a16="http://schemas.microsoft.com/office/drawing/2014/main" id="{A1EBB55C-E65D-E87E-E3C5-776F9EEA39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3068"/>
              <a:ext cx="170" cy="70"/>
              <a:chOff x="2937" y="2529"/>
              <a:chExt cx="170" cy="70"/>
            </a:xfrm>
          </p:grpSpPr>
          <p:sp>
            <p:nvSpPr>
              <p:cNvPr id="129105" name="Line 81">
                <a:extLst>
                  <a:ext uri="{FF2B5EF4-FFF2-40B4-BE49-F238E27FC236}">
                    <a16:creationId xmlns:a16="http://schemas.microsoft.com/office/drawing/2014/main" id="{D400C678-FA77-5B1C-A6FF-18FEBC6679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7" y="2529"/>
                <a:ext cx="1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29106" name="Line 82">
                <a:extLst>
                  <a:ext uri="{FF2B5EF4-FFF2-40B4-BE49-F238E27FC236}">
                    <a16:creationId xmlns:a16="http://schemas.microsoft.com/office/drawing/2014/main" id="{E9462206-1D00-0906-087C-FAA4E4568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2" y="2563"/>
                <a:ext cx="11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29107" name="Line 83">
                <a:extLst>
                  <a:ext uri="{FF2B5EF4-FFF2-40B4-BE49-F238E27FC236}">
                    <a16:creationId xmlns:a16="http://schemas.microsoft.com/office/drawing/2014/main" id="{9067606D-55DB-F704-2D04-A48EC5242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2" y="2599"/>
                <a:ext cx="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</p:grpSp>
        <p:sp>
          <p:nvSpPr>
            <p:cNvPr id="129108" name="Line 84">
              <a:extLst>
                <a:ext uri="{FF2B5EF4-FFF2-40B4-BE49-F238E27FC236}">
                  <a16:creationId xmlns:a16="http://schemas.microsoft.com/office/drawing/2014/main" id="{05ECE6F9-FBFB-24D0-13F6-FE4E78827B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4" y="167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09" name="Line 85">
              <a:extLst>
                <a:ext uri="{FF2B5EF4-FFF2-40B4-BE49-F238E27FC236}">
                  <a16:creationId xmlns:a16="http://schemas.microsoft.com/office/drawing/2014/main" id="{07F6BF1C-B070-960D-FD7B-A43D0206F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8" y="1678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10" name="Line 86">
              <a:extLst>
                <a:ext uri="{FF2B5EF4-FFF2-40B4-BE49-F238E27FC236}">
                  <a16:creationId xmlns:a16="http://schemas.microsoft.com/office/drawing/2014/main" id="{8A8FC356-A1F4-CDD4-9F07-C19927AF7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4" y="1678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11" name="Line 87">
              <a:extLst>
                <a:ext uri="{FF2B5EF4-FFF2-40B4-BE49-F238E27FC236}">
                  <a16:creationId xmlns:a16="http://schemas.microsoft.com/office/drawing/2014/main" id="{B9EB73A1-4D2B-62A7-D19D-24C96ACDE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8" y="1686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12" name="Line 88">
              <a:extLst>
                <a:ext uri="{FF2B5EF4-FFF2-40B4-BE49-F238E27FC236}">
                  <a16:creationId xmlns:a16="http://schemas.microsoft.com/office/drawing/2014/main" id="{6F31A326-FD76-6557-77E9-03AB6C99FD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4" y="1791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13" name="Line 89">
              <a:extLst>
                <a:ext uri="{FF2B5EF4-FFF2-40B4-BE49-F238E27FC236}">
                  <a16:creationId xmlns:a16="http://schemas.microsoft.com/office/drawing/2014/main" id="{E4482BA5-F406-A1BB-7046-2BDFCCC276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4" y="1791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14" name="Line 90">
              <a:extLst>
                <a:ext uri="{FF2B5EF4-FFF2-40B4-BE49-F238E27FC236}">
                  <a16:creationId xmlns:a16="http://schemas.microsoft.com/office/drawing/2014/main" id="{DA79B8D9-1F86-5086-258D-DB5C18CD56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4" y="1791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15" name="Text Box 91">
              <a:extLst>
                <a:ext uri="{FF2B5EF4-FFF2-40B4-BE49-F238E27FC236}">
                  <a16:creationId xmlns:a16="http://schemas.microsoft.com/office/drawing/2014/main" id="{D70EFE5B-7152-D92D-2413-7FFD1C242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1579"/>
              <a:ext cx="1652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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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      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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      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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       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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        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29116" name="Line 92">
              <a:extLst>
                <a:ext uri="{FF2B5EF4-FFF2-40B4-BE49-F238E27FC236}">
                  <a16:creationId xmlns:a16="http://schemas.microsoft.com/office/drawing/2014/main" id="{9ABA442C-A2E3-517C-F840-8F56028F1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069"/>
              <a:ext cx="0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17" name="Text Box 93">
              <a:extLst>
                <a:ext uri="{FF2B5EF4-FFF2-40B4-BE49-F238E27FC236}">
                  <a16:creationId xmlns:a16="http://schemas.microsoft.com/office/drawing/2014/main" id="{A2D8E51D-0C04-0520-60A8-5681117EA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" y="2406"/>
              <a:ext cx="283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TE/TM</a:t>
              </a:r>
            </a:p>
          </p:txBody>
        </p:sp>
        <p:sp>
          <p:nvSpPr>
            <p:cNvPr id="129118" name="Text Box 94">
              <a:extLst>
                <a:ext uri="{FF2B5EF4-FFF2-40B4-BE49-F238E27FC236}">
                  <a16:creationId xmlns:a16="http://schemas.microsoft.com/office/drawing/2014/main" id="{770EA15D-1EA4-7D32-11BD-6A0F77BD3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" y="2129"/>
              <a:ext cx="284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P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i</a:t>
              </a:r>
              <a:endParaRPr lang="en-US" altLang="ko-KR" sz="11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29119" name="Text Box 95">
              <a:extLst>
                <a:ext uri="{FF2B5EF4-FFF2-40B4-BE49-F238E27FC236}">
                  <a16:creationId xmlns:a16="http://schemas.microsoft.com/office/drawing/2014/main" id="{F03FF605-95E8-2DA3-FB03-BC73C5698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1" y="2157"/>
              <a:ext cx="281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P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o</a:t>
              </a:r>
              <a:endParaRPr lang="en-US" altLang="ko-KR" sz="11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29120" name="Line 96">
              <a:extLst>
                <a:ext uri="{FF2B5EF4-FFF2-40B4-BE49-F238E27FC236}">
                  <a16:creationId xmlns:a16="http://schemas.microsoft.com/office/drawing/2014/main" id="{F650357A-6F90-AA48-9F1F-82B43DA78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9" y="2144"/>
              <a:ext cx="198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21" name="AutoShape 97">
              <a:extLst>
                <a:ext uri="{FF2B5EF4-FFF2-40B4-BE49-F238E27FC236}">
                  <a16:creationId xmlns:a16="http://schemas.microsoft.com/office/drawing/2014/main" id="{E9BCFF40-E49A-A6B2-602D-938EE765C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" y="2217"/>
              <a:ext cx="353" cy="67"/>
            </a:xfrm>
            <a:prstGeom prst="rightArrow">
              <a:avLst>
                <a:gd name="adj1" fmla="val 50000"/>
                <a:gd name="adj2" fmla="val 13171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122" name="Text Box 98">
              <a:extLst>
                <a:ext uri="{FF2B5EF4-FFF2-40B4-BE49-F238E27FC236}">
                  <a16:creationId xmlns:a16="http://schemas.microsoft.com/office/drawing/2014/main" id="{7C1425D7-0269-B807-824B-01CF1A3DE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6" y="2365"/>
              <a:ext cx="31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TM/TE</a:t>
              </a:r>
            </a:p>
          </p:txBody>
        </p:sp>
        <p:sp>
          <p:nvSpPr>
            <p:cNvPr id="129123" name="Line 99">
              <a:extLst>
                <a:ext uri="{FF2B5EF4-FFF2-40B4-BE49-F238E27FC236}">
                  <a16:creationId xmlns:a16="http://schemas.microsoft.com/office/drawing/2014/main" id="{2EF9D35B-17E1-29E7-F0B1-85115E5C3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3035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24" name="Line 100">
              <a:extLst>
                <a:ext uri="{FF2B5EF4-FFF2-40B4-BE49-F238E27FC236}">
                  <a16:creationId xmlns:a16="http://schemas.microsoft.com/office/drawing/2014/main" id="{21FA4000-6B94-7BF6-8840-CBC8B3269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3" y="2877"/>
              <a:ext cx="121" cy="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25" name="Line 101">
              <a:extLst>
                <a:ext uri="{FF2B5EF4-FFF2-40B4-BE49-F238E27FC236}">
                  <a16:creationId xmlns:a16="http://schemas.microsoft.com/office/drawing/2014/main" id="{56FC58BD-ECCD-3425-7A8F-C95D96131A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65" y="2754"/>
              <a:ext cx="2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26" name="Text Box 102">
              <a:extLst>
                <a:ext uri="{FF2B5EF4-FFF2-40B4-BE49-F238E27FC236}">
                  <a16:creationId xmlns:a16="http://schemas.microsoft.com/office/drawing/2014/main" id="{734539F0-838D-63F5-DE60-79A47EAE1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" y="3008"/>
              <a:ext cx="1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y</a:t>
              </a:r>
            </a:p>
          </p:txBody>
        </p:sp>
        <p:sp>
          <p:nvSpPr>
            <p:cNvPr id="129127" name="Text Box 103">
              <a:extLst>
                <a:ext uri="{FF2B5EF4-FFF2-40B4-BE49-F238E27FC236}">
                  <a16:creationId xmlns:a16="http://schemas.microsoft.com/office/drawing/2014/main" id="{BE3CEF4E-8852-365A-E489-316EF7B07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2834"/>
              <a:ext cx="17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x</a:t>
              </a:r>
            </a:p>
          </p:txBody>
        </p:sp>
        <p:sp>
          <p:nvSpPr>
            <p:cNvPr id="129128" name="Text Box 104">
              <a:extLst>
                <a:ext uri="{FF2B5EF4-FFF2-40B4-BE49-F238E27FC236}">
                  <a16:creationId xmlns:a16="http://schemas.microsoft.com/office/drawing/2014/main" id="{947997BA-1B93-516D-4B0B-65B7DDBBA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3" y="2699"/>
              <a:ext cx="14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</a:p>
          </p:txBody>
        </p:sp>
        <p:sp>
          <p:nvSpPr>
            <p:cNvPr id="129129" name="AutoShape 105">
              <a:extLst>
                <a:ext uri="{FF2B5EF4-FFF2-40B4-BE49-F238E27FC236}">
                  <a16:creationId xmlns:a16="http://schemas.microsoft.com/office/drawing/2014/main" id="{5EB794EA-2F58-6D5B-303C-37824F4D5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2223"/>
              <a:ext cx="353" cy="67"/>
            </a:xfrm>
            <a:prstGeom prst="rightArrow">
              <a:avLst>
                <a:gd name="adj1" fmla="val 50000"/>
                <a:gd name="adj2" fmla="val 13171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29130" name="Line 106">
              <a:extLst>
                <a:ext uri="{FF2B5EF4-FFF2-40B4-BE49-F238E27FC236}">
                  <a16:creationId xmlns:a16="http://schemas.microsoft.com/office/drawing/2014/main" id="{69368F88-15EA-C17A-5D7B-6A6A4CF40D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6" y="1678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31" name="Line 107">
              <a:extLst>
                <a:ext uri="{FF2B5EF4-FFF2-40B4-BE49-F238E27FC236}">
                  <a16:creationId xmlns:a16="http://schemas.microsoft.com/office/drawing/2014/main" id="{0228C953-D8DD-4EF4-2A90-3BADD3BA2D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9" y="1678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32" name="Line 108">
              <a:extLst>
                <a:ext uri="{FF2B5EF4-FFF2-40B4-BE49-F238E27FC236}">
                  <a16:creationId xmlns:a16="http://schemas.microsoft.com/office/drawing/2014/main" id="{F204158C-2B21-F9BA-4557-F5D1C0FA3D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69" y="1791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33" name="Line 109">
              <a:extLst>
                <a:ext uri="{FF2B5EF4-FFF2-40B4-BE49-F238E27FC236}">
                  <a16:creationId xmlns:a16="http://schemas.microsoft.com/office/drawing/2014/main" id="{8B9994D0-4939-586C-E21B-52A478D34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9" y="1791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34" name="Line 110">
              <a:extLst>
                <a:ext uri="{FF2B5EF4-FFF2-40B4-BE49-F238E27FC236}">
                  <a16:creationId xmlns:a16="http://schemas.microsoft.com/office/drawing/2014/main" id="{EA3527ED-E483-6D25-A031-166C15D98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" y="2557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35" name="Line 111">
              <a:extLst>
                <a:ext uri="{FF2B5EF4-FFF2-40B4-BE49-F238E27FC236}">
                  <a16:creationId xmlns:a16="http://schemas.microsoft.com/office/drawing/2014/main" id="{BF6DC843-6AD1-45B3-7DD3-DCF5F3723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7" y="2557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36" name="Line 112">
              <a:extLst>
                <a:ext uri="{FF2B5EF4-FFF2-40B4-BE49-F238E27FC236}">
                  <a16:creationId xmlns:a16="http://schemas.microsoft.com/office/drawing/2014/main" id="{386A2F76-B6AB-6369-4ED5-CCEF2A157D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7" y="2670"/>
              <a:ext cx="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37" name="Text Box 113">
              <a:extLst>
                <a:ext uri="{FF2B5EF4-FFF2-40B4-BE49-F238E27FC236}">
                  <a16:creationId xmlns:a16="http://schemas.microsoft.com/office/drawing/2014/main" id="{03D8AA67-6148-8D99-6775-41161F410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" y="2690"/>
              <a:ext cx="142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ko-KR" altLang="en-US" sz="1100" dirty="0">
                  <a:ea typeface="굴림" panose="020B0600000101010101" pitchFamily="34" charset="-127"/>
                  <a:sym typeface="Symbol" panose="05050102010706020507" pitchFamily="18" charset="2"/>
                </a:rPr>
                <a:t></a:t>
              </a:r>
            </a:p>
          </p:txBody>
        </p:sp>
        <p:sp>
          <p:nvSpPr>
            <p:cNvPr id="129138" name="Line 114">
              <a:extLst>
                <a:ext uri="{FF2B5EF4-FFF2-40B4-BE49-F238E27FC236}">
                  <a16:creationId xmlns:a16="http://schemas.microsoft.com/office/drawing/2014/main" id="{48CEC25F-595B-632A-257A-E31B6A5602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2" y="2670"/>
              <a:ext cx="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39" name="Text Box 115">
              <a:extLst>
                <a:ext uri="{FF2B5EF4-FFF2-40B4-BE49-F238E27FC236}">
                  <a16:creationId xmlns:a16="http://schemas.microsoft.com/office/drawing/2014/main" id="{FE3A2B8C-D817-C910-77DB-69113B695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8" y="3010"/>
              <a:ext cx="48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LiNbO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3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29140" name="Line 116">
              <a:extLst>
                <a:ext uri="{FF2B5EF4-FFF2-40B4-BE49-F238E27FC236}">
                  <a16:creationId xmlns:a16="http://schemas.microsoft.com/office/drawing/2014/main" id="{CA4218A7-16E0-1BF1-96CE-F571197B5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" y="2907"/>
              <a:ext cx="114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41" name="Line 117">
              <a:extLst>
                <a:ext uri="{FF2B5EF4-FFF2-40B4-BE49-F238E27FC236}">
                  <a16:creationId xmlns:a16="http://schemas.microsoft.com/office/drawing/2014/main" id="{AD9F55C8-75EC-F0CA-E41C-139EE4E33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5" y="1536"/>
              <a:ext cx="148" cy="6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42" name="Text Box 118">
              <a:extLst>
                <a:ext uri="{FF2B5EF4-FFF2-40B4-BE49-F238E27FC236}">
                  <a16:creationId xmlns:a16="http://schemas.microsoft.com/office/drawing/2014/main" id="{E6A4D1C0-A428-9AA6-B779-52A1E4780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6" y="1366"/>
              <a:ext cx="53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Ti:LiNbO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3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29143" name="Line 119">
              <a:extLst>
                <a:ext uri="{FF2B5EF4-FFF2-40B4-BE49-F238E27FC236}">
                  <a16:creationId xmlns:a16="http://schemas.microsoft.com/office/drawing/2014/main" id="{04E6FA39-8844-8F2C-2A1E-BBC214EF9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2564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44" name="Line 120">
              <a:extLst>
                <a:ext uri="{FF2B5EF4-FFF2-40B4-BE49-F238E27FC236}">
                  <a16:creationId xmlns:a16="http://schemas.microsoft.com/office/drawing/2014/main" id="{C0D00FD2-8772-D119-0FE9-93767A81F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" y="2564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45" name="Text Box 121">
              <a:extLst>
                <a:ext uri="{FF2B5EF4-FFF2-40B4-BE49-F238E27FC236}">
                  <a16:creationId xmlns:a16="http://schemas.microsoft.com/office/drawing/2014/main" id="{B55EF454-079C-B01F-AE5F-80653F060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1" y="2659"/>
              <a:ext cx="957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l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c     </a:t>
              </a:r>
              <a:r>
                <a:rPr lang="en-US" altLang="ko-KR" sz="1100" dirty="0" err="1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l</a:t>
              </a:r>
              <a:r>
                <a:rPr lang="en-US" altLang="ko-KR" sz="1100" baseline="-25000" dirty="0" err="1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p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    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l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c</a:t>
              </a:r>
              <a:r>
                <a:rPr lang="en-US" altLang="ko-KR" sz="11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    </a:t>
              </a:r>
              <a:r>
                <a:rPr lang="en-US" altLang="ko-KR" sz="1100" dirty="0" err="1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l</a:t>
              </a:r>
              <a:r>
                <a:rPr lang="en-US" altLang="ko-KR" sz="1100" baseline="-25000" dirty="0" err="1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p</a:t>
              </a:r>
              <a:r>
                <a:rPr lang="en-US" altLang="ko-KR" sz="1100" baseline="-250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</a:t>
              </a:r>
              <a:endParaRPr lang="en-US" altLang="en-US" sz="1100" baseline="-25000" dirty="0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endParaRPr>
            </a:p>
          </p:txBody>
        </p:sp>
        <p:sp>
          <p:nvSpPr>
            <p:cNvPr id="129146" name="Line 122">
              <a:extLst>
                <a:ext uri="{FF2B5EF4-FFF2-40B4-BE49-F238E27FC236}">
                  <a16:creationId xmlns:a16="http://schemas.microsoft.com/office/drawing/2014/main" id="{208331FA-F535-8298-A12F-1379F4BED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2" y="2670"/>
              <a:ext cx="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47" name="Line 123">
              <a:extLst>
                <a:ext uri="{FF2B5EF4-FFF2-40B4-BE49-F238E27FC236}">
                  <a16:creationId xmlns:a16="http://schemas.microsoft.com/office/drawing/2014/main" id="{C942085A-CE07-0C92-7C75-678723FB9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" y="2671"/>
              <a:ext cx="15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48" name="Line 124">
              <a:extLst>
                <a:ext uri="{FF2B5EF4-FFF2-40B4-BE49-F238E27FC236}">
                  <a16:creationId xmlns:a16="http://schemas.microsoft.com/office/drawing/2014/main" id="{717BA959-E106-B821-6D95-88F5AD77F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5" y="2567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49" name="Line 125">
              <a:extLst>
                <a:ext uri="{FF2B5EF4-FFF2-40B4-BE49-F238E27FC236}">
                  <a16:creationId xmlns:a16="http://schemas.microsoft.com/office/drawing/2014/main" id="{5B093326-FD0A-D31F-E839-E0E2BA5F8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3" y="2567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50" name="Line 126">
              <a:extLst>
                <a:ext uri="{FF2B5EF4-FFF2-40B4-BE49-F238E27FC236}">
                  <a16:creationId xmlns:a16="http://schemas.microsoft.com/office/drawing/2014/main" id="{866CD43D-F6D0-8D76-22CA-22F00CB4E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1" y="2673"/>
              <a:ext cx="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51" name="Line 127">
              <a:extLst>
                <a:ext uri="{FF2B5EF4-FFF2-40B4-BE49-F238E27FC236}">
                  <a16:creationId xmlns:a16="http://schemas.microsoft.com/office/drawing/2014/main" id="{BDE4E82F-A921-3956-064C-BCD775256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3" y="2674"/>
              <a:ext cx="15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29152" name="Line 128">
              <a:extLst>
                <a:ext uri="{FF2B5EF4-FFF2-40B4-BE49-F238E27FC236}">
                  <a16:creationId xmlns:a16="http://schemas.microsoft.com/office/drawing/2014/main" id="{B23EB351-77F6-4CB1-9734-C9A332DE0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570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154" name="Object 130">
                <a:extLst>
                  <a:ext uri="{FF2B5EF4-FFF2-40B4-BE49-F238E27FC236}">
                    <a16:creationId xmlns:a16="http://schemas.microsoft.com/office/drawing/2014/main" id="{6DFF92D3-6AF6-4D67-56D6-9EE39D933FF3}"/>
                  </a:ext>
                </a:extLst>
              </p:cNvPr>
              <p:cNvSpPr txBox="1"/>
              <p:nvPr/>
            </p:nvSpPr>
            <p:spPr bwMode="auto">
              <a:xfrm>
                <a:off x="928292" y="3619501"/>
                <a:ext cx="966787" cy="23098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=21 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9154" name="Object 130">
                <a:extLst>
                  <a:ext uri="{FF2B5EF4-FFF2-40B4-BE49-F238E27FC236}">
                    <a16:creationId xmlns:a16="http://schemas.microsoft.com/office/drawing/2014/main" id="{6DFF92D3-6AF6-4D67-56D6-9EE39D933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8292" y="3619501"/>
                <a:ext cx="966787" cy="230981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156" name="Object 132">
                <a:extLst>
                  <a:ext uri="{FF2B5EF4-FFF2-40B4-BE49-F238E27FC236}">
                    <a16:creationId xmlns:a16="http://schemas.microsoft.com/office/drawing/2014/main" id="{170380C4-3E4F-7E53-E189-12F32ADD9E5C}"/>
                  </a:ext>
                </a:extLst>
              </p:cNvPr>
              <p:cNvSpPr txBox="1"/>
              <p:nvPr/>
            </p:nvSpPr>
            <p:spPr bwMode="auto">
              <a:xfrm>
                <a:off x="339725" y="4162029"/>
                <a:ext cx="1504555" cy="26550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=(179+3/4)⋅</m:t>
                      </m:r>
                      <m:r>
                        <m:rPr>
                          <m:sty m:val="p"/>
                        </m:rP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29156" name="Object 132">
                <a:extLst>
                  <a:ext uri="{FF2B5EF4-FFF2-40B4-BE49-F238E27FC236}">
                    <a16:creationId xmlns:a16="http://schemas.microsoft.com/office/drawing/2014/main" id="{170380C4-3E4F-7E53-E189-12F32ADD9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725" y="4162029"/>
                <a:ext cx="1504555" cy="265509"/>
              </a:xfrm>
              <a:prstGeom prst="rect">
                <a:avLst/>
              </a:prstGeom>
              <a:blipFill>
                <a:blip r:embed="rId4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157" name="Object 133">
                <a:extLst>
                  <a:ext uri="{FF2B5EF4-FFF2-40B4-BE49-F238E27FC236}">
                    <a16:creationId xmlns:a16="http://schemas.microsoft.com/office/drawing/2014/main" id="{A4E70480-963B-78D8-B75A-EEAD8A1323A4}"/>
                  </a:ext>
                </a:extLst>
              </p:cNvPr>
              <p:cNvSpPr txBox="1"/>
              <p:nvPr/>
            </p:nvSpPr>
            <p:spPr bwMode="auto">
              <a:xfrm>
                <a:off x="1244601" y="3908823"/>
                <a:ext cx="1504554" cy="25836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=(200−1/4)</m:t>
                      </m:r>
                      <m:r>
                        <m:rPr>
                          <m:sty m:val="p"/>
                        </m:rP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29157" name="Object 133">
                <a:extLst>
                  <a:ext uri="{FF2B5EF4-FFF2-40B4-BE49-F238E27FC236}">
                    <a16:creationId xmlns:a16="http://schemas.microsoft.com/office/drawing/2014/main" id="{A4E70480-963B-78D8-B75A-EEAD8A132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4601" y="3908823"/>
                <a:ext cx="1504554" cy="258365"/>
              </a:xfrm>
              <a:prstGeom prst="rect">
                <a:avLst/>
              </a:prstGeom>
              <a:blipFill>
                <a:blip r:embed="rId5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159" name="Object 135">
                <a:extLst>
                  <a:ext uri="{FF2B5EF4-FFF2-40B4-BE49-F238E27FC236}">
                    <a16:creationId xmlns:a16="http://schemas.microsoft.com/office/drawing/2014/main" id="{087663B1-17D6-9100-B69F-9A19B13C1F56}"/>
                  </a:ext>
                </a:extLst>
              </p:cNvPr>
              <p:cNvSpPr txBox="1"/>
              <p:nvPr/>
            </p:nvSpPr>
            <p:spPr bwMode="auto">
              <a:xfrm>
                <a:off x="2951560" y="3897711"/>
                <a:ext cx="1553766" cy="2667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=(200+1/4)</m:t>
                      </m:r>
                      <m:r>
                        <m:rPr>
                          <m:sty m:val="p"/>
                        </m:rP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9159" name="Object 135">
                <a:extLst>
                  <a:ext uri="{FF2B5EF4-FFF2-40B4-BE49-F238E27FC236}">
                    <a16:creationId xmlns:a16="http://schemas.microsoft.com/office/drawing/2014/main" id="{087663B1-17D6-9100-B69F-9A19B13C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1560" y="3897711"/>
                <a:ext cx="1553766" cy="26670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07A40B42-3088-0BA3-EC35-003DAEADA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Coupling Strength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651" name="Rectangle 3">
                <a:extLst>
                  <a:ext uri="{FF2B5EF4-FFF2-40B4-BE49-F238E27FC236}">
                    <a16:creationId xmlns:a16="http://schemas.microsoft.com/office/drawing/2014/main" id="{28C427D2-1D0C-A99A-A469-041F155ABA45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250825" y="951310"/>
                <a:ext cx="8641655" cy="867967"/>
              </a:xfrm>
            </p:spPr>
            <p:txBody>
              <a:bodyPr/>
              <a:lstStyle/>
              <a:p>
                <a:r>
                  <a:rPr lang="en-US" altLang="ko-KR" dirty="0">
                    <a:ea typeface="굴림" panose="020B0600000101010101" pitchFamily="34" charset="-127"/>
                  </a:rPr>
                  <a:t>The regions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  cause in-phase and quadrature coupling, respectively. The coupling coefficient is complex and is written by</a:t>
                </a:r>
                <a:endParaRPr lang="ko-KR" altLang="en-US" dirty="0"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55651" name="Rectangle 3">
                <a:extLst>
                  <a:ext uri="{FF2B5EF4-FFF2-40B4-BE49-F238E27FC236}">
                    <a16:creationId xmlns:a16="http://schemas.microsoft.com/office/drawing/2014/main" id="{28C427D2-1D0C-A99A-A469-041F155ABA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0825" y="951310"/>
                <a:ext cx="8641655" cy="867967"/>
              </a:xfrm>
              <a:blipFill>
                <a:blip r:embed="rId3"/>
                <a:stretch>
                  <a:fillRect l="-1481" t="-9155" r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56" name="Rectangle 8">
                <a:extLst>
                  <a:ext uri="{FF2B5EF4-FFF2-40B4-BE49-F238E27FC236}">
                    <a16:creationId xmlns:a16="http://schemas.microsoft.com/office/drawing/2014/main" id="{E9C52591-CE0E-C349-A473-7A23F3C71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25" y="2099073"/>
                <a:ext cx="7340600" cy="1170385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For the in-phase and quadrature coupling, the coupling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is written by</a:t>
                </a:r>
                <a:endParaRPr lang="ko-KR" altLang="en-US" sz="1800" dirty="0">
                  <a:latin typeface="Arial" panose="020B0604020202020204" pitchFamily="34" charset="0"/>
                  <a:ea typeface="굴림" panose="020B0600000101010101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5656" name="Rectangle 8">
                <a:extLst>
                  <a:ext uri="{FF2B5EF4-FFF2-40B4-BE49-F238E27FC236}">
                    <a16:creationId xmlns:a16="http://schemas.microsoft.com/office/drawing/2014/main" id="{E9C52591-CE0E-C349-A473-7A23F3C71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2099073"/>
                <a:ext cx="7340600" cy="1170385"/>
              </a:xfrm>
              <a:prstGeom prst="rect">
                <a:avLst/>
              </a:prstGeom>
              <a:blipFill>
                <a:blip r:embed="rId4"/>
                <a:stretch>
                  <a:fillRect l="-1744" t="-6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63" name="Object 15">
                <a:extLst>
                  <a:ext uri="{FF2B5EF4-FFF2-40B4-BE49-F238E27FC236}">
                    <a16:creationId xmlns:a16="http://schemas.microsoft.com/office/drawing/2014/main" id="{9BF467E7-8258-4F94-CE7F-14BAC0743B8F}"/>
                  </a:ext>
                </a:extLst>
              </p:cNvPr>
              <p:cNvSpPr txBox="1"/>
              <p:nvPr/>
            </p:nvSpPr>
            <p:spPr bwMode="auto">
              <a:xfrm>
                <a:off x="2327672" y="1559719"/>
                <a:ext cx="1484709" cy="36790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55663" name="Object 15">
                <a:extLst>
                  <a:ext uri="{FF2B5EF4-FFF2-40B4-BE49-F238E27FC236}">
                    <a16:creationId xmlns:a16="http://schemas.microsoft.com/office/drawing/2014/main" id="{9BF467E7-8258-4F94-CE7F-14BAC0743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7672" y="1559719"/>
                <a:ext cx="1484709" cy="3679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67" name="Object 19">
                <a:extLst>
                  <a:ext uri="{FF2B5EF4-FFF2-40B4-BE49-F238E27FC236}">
                    <a16:creationId xmlns:a16="http://schemas.microsoft.com/office/drawing/2014/main" id="{CC5296BA-8467-2E15-336B-8CE391282FA2}"/>
                  </a:ext>
                </a:extLst>
              </p:cNvPr>
              <p:cNvSpPr txBox="1"/>
              <p:nvPr/>
            </p:nvSpPr>
            <p:spPr bwMode="auto">
              <a:xfrm>
                <a:off x="1854993" y="2571750"/>
                <a:ext cx="3044031" cy="56435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), 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=±(2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𝑖𝑆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), 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=±2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5667" name="Object 19">
                <a:extLst>
                  <a:ext uri="{FF2B5EF4-FFF2-40B4-BE49-F238E27FC236}">
                    <a16:creationId xmlns:a16="http://schemas.microsoft.com/office/drawing/2014/main" id="{CC5296BA-8467-2E15-336B-8CE391282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4993" y="2571750"/>
                <a:ext cx="3044031" cy="564356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69" name="Rectangle 21">
                <a:extLst>
                  <a:ext uri="{FF2B5EF4-FFF2-40B4-BE49-F238E27FC236}">
                    <a16:creationId xmlns:a16="http://schemas.microsoft.com/office/drawing/2014/main" id="{609C03A7-140D-F35C-662A-D76E92883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500" y="3426619"/>
                <a:ext cx="7340600" cy="1243013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 fontScale="92500" lnSpcReduction="10000"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selected voltages for </a:t>
                </a:r>
                <a:r>
                  <a:rPr lang="en-US" altLang="ko-KR" sz="1800" dirty="0" err="1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j’th</a:t>
                </a: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frequency channel satisfy the relation </a:t>
                </a: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with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  if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 otherwise </a:t>
                </a:r>
                <a:endParaRPr lang="ko-KR" altLang="en-US" sz="1800" dirty="0">
                  <a:latin typeface="Arial" panose="020B0604020202020204" pitchFamily="34" charset="0"/>
                  <a:ea typeface="굴림" panose="020B0600000101010101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5669" name="Rectangle 21">
                <a:extLst>
                  <a:ext uri="{FF2B5EF4-FFF2-40B4-BE49-F238E27FC236}">
                    <a16:creationId xmlns:a16="http://schemas.microsoft.com/office/drawing/2014/main" id="{609C03A7-140D-F35C-662A-D76E92883F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500" y="3426619"/>
                <a:ext cx="7340600" cy="1243013"/>
              </a:xfrm>
              <a:prstGeom prst="rect">
                <a:avLst/>
              </a:prstGeom>
              <a:blipFill>
                <a:blip r:embed="rId7"/>
                <a:stretch>
                  <a:fillRect l="-1661" t="-7353"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70" name="Object 22">
                <a:extLst>
                  <a:ext uri="{FF2B5EF4-FFF2-40B4-BE49-F238E27FC236}">
                    <a16:creationId xmlns:a16="http://schemas.microsoft.com/office/drawing/2014/main" id="{C9057D86-3CD5-A645-D410-FE6CC3E2E7B0}"/>
                  </a:ext>
                </a:extLst>
              </p:cNvPr>
              <p:cNvSpPr txBox="1"/>
              <p:nvPr/>
            </p:nvSpPr>
            <p:spPr bwMode="auto">
              <a:xfrm>
                <a:off x="2259806" y="3718321"/>
                <a:ext cx="2093119" cy="47386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p>
                        <m:sSup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5670" name="Object 22">
                <a:extLst>
                  <a:ext uri="{FF2B5EF4-FFF2-40B4-BE49-F238E27FC236}">
                    <a16:creationId xmlns:a16="http://schemas.microsoft.com/office/drawing/2014/main" id="{C9057D86-3CD5-A645-D410-FE6CC3E2E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806" y="3718321"/>
                <a:ext cx="2093119" cy="473869"/>
              </a:xfrm>
              <a:prstGeom prst="rect">
                <a:avLst/>
              </a:prstGeom>
              <a:blipFill>
                <a:blip r:embed="rId8"/>
                <a:stretch>
                  <a:fillRect l="-27405" t="-151282" b="-2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D8C96038-B24D-65A7-45EC-399FBA0E7E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Applied Voltages to Eight Sets of Electrodes</a:t>
            </a:r>
          </a:p>
        </p:txBody>
      </p:sp>
      <p:grpSp>
        <p:nvGrpSpPr>
          <p:cNvPr id="110992" name="Group 400">
            <a:extLst>
              <a:ext uri="{FF2B5EF4-FFF2-40B4-BE49-F238E27FC236}">
                <a16:creationId xmlns:a16="http://schemas.microsoft.com/office/drawing/2014/main" id="{3B7EBD62-7E31-FE65-8B16-2CBC710B9FE1}"/>
              </a:ext>
            </a:extLst>
          </p:cNvPr>
          <p:cNvGrpSpPr>
            <a:grpSpLocks/>
          </p:cNvGrpSpPr>
          <p:nvPr/>
        </p:nvGrpSpPr>
        <p:grpSpPr bwMode="auto">
          <a:xfrm>
            <a:off x="1608535" y="1239441"/>
            <a:ext cx="3595687" cy="3612356"/>
            <a:chOff x="1484" y="1252"/>
            <a:chExt cx="3020" cy="3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889" name="Object 297">
                  <a:extLst>
                    <a:ext uri="{FF2B5EF4-FFF2-40B4-BE49-F238E27FC236}">
                      <a16:creationId xmlns:a16="http://schemas.microsoft.com/office/drawing/2014/main" id="{E6A7611F-C20C-6C7C-25E9-F76352A4D516}"/>
                    </a:ext>
                  </a:extLst>
                </p:cNvPr>
                <p:cNvSpPr txBox="1"/>
                <p:nvPr/>
              </p:nvSpPr>
              <p:spPr bwMode="auto">
                <a:xfrm>
                  <a:off x="1484" y="2273"/>
                  <a:ext cx="353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889" name="Object 297">
                  <a:extLst>
                    <a:ext uri="{FF2B5EF4-FFF2-40B4-BE49-F238E27FC236}">
                      <a16:creationId xmlns:a16="http://schemas.microsoft.com/office/drawing/2014/main" id="{E6A7611F-C20C-6C7C-25E9-F76352A4D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84" y="2273"/>
                  <a:ext cx="353" cy="144"/>
                </a:xfrm>
                <a:prstGeom prst="rect">
                  <a:avLst/>
                </a:prstGeom>
                <a:blipFill>
                  <a:blip r:embed="rId3"/>
                  <a:stretch>
                    <a:fillRect b="-285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890" name="Object 298">
                  <a:extLst>
                    <a:ext uri="{FF2B5EF4-FFF2-40B4-BE49-F238E27FC236}">
                      <a16:creationId xmlns:a16="http://schemas.microsoft.com/office/drawing/2014/main" id="{20474606-FD24-DA45-F233-600BD28DCA47}"/>
                    </a:ext>
                  </a:extLst>
                </p:cNvPr>
                <p:cNvSpPr txBox="1"/>
                <p:nvPr/>
              </p:nvSpPr>
              <p:spPr bwMode="auto">
                <a:xfrm>
                  <a:off x="1895" y="1273"/>
                  <a:ext cx="128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890" name="Object 298">
                  <a:extLst>
                    <a:ext uri="{FF2B5EF4-FFF2-40B4-BE49-F238E27FC236}">
                      <a16:creationId xmlns:a16="http://schemas.microsoft.com/office/drawing/2014/main" id="{20474606-FD24-DA45-F233-600BD28DCA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95" y="1273"/>
                  <a:ext cx="128" cy="152"/>
                </a:xfrm>
                <a:prstGeom prst="rect">
                  <a:avLst/>
                </a:prstGeom>
                <a:blipFill>
                  <a:blip r:embed="rId4"/>
                  <a:stretch>
                    <a:fillRect r="-52000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891" name="Object 299">
                  <a:extLst>
                    <a:ext uri="{FF2B5EF4-FFF2-40B4-BE49-F238E27FC236}">
                      <a16:creationId xmlns:a16="http://schemas.microsoft.com/office/drawing/2014/main" id="{FFBA1AB7-AB4C-7FDF-94BE-784A6F746FB4}"/>
                    </a:ext>
                  </a:extLst>
                </p:cNvPr>
                <p:cNvSpPr txBox="1"/>
                <p:nvPr/>
              </p:nvSpPr>
              <p:spPr bwMode="auto">
                <a:xfrm>
                  <a:off x="4207" y="2868"/>
                  <a:ext cx="297" cy="1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891" name="Object 299">
                  <a:extLst>
                    <a:ext uri="{FF2B5EF4-FFF2-40B4-BE49-F238E27FC236}">
                      <a16:creationId xmlns:a16="http://schemas.microsoft.com/office/drawing/2014/main" id="{FFBA1AB7-AB4C-7FDF-94BE-784A6F746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7" y="2868"/>
                  <a:ext cx="297" cy="124"/>
                </a:xfrm>
                <a:prstGeom prst="rect">
                  <a:avLst/>
                </a:prstGeom>
                <a:blipFill>
                  <a:blip r:embed="rId5"/>
                  <a:stretch>
                    <a:fillRect b="-5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892" name="Line 300">
              <a:extLst>
                <a:ext uri="{FF2B5EF4-FFF2-40B4-BE49-F238E27FC236}">
                  <a16:creationId xmlns:a16="http://schemas.microsoft.com/office/drawing/2014/main" id="{187B3718-E9B9-E608-FB18-6845FAF964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0" y="2329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893" name="Line 301">
              <a:extLst>
                <a:ext uri="{FF2B5EF4-FFF2-40B4-BE49-F238E27FC236}">
                  <a16:creationId xmlns:a16="http://schemas.microsoft.com/office/drawing/2014/main" id="{3710C887-9476-7894-A424-CF0DB4A0B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2840"/>
              <a:ext cx="2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894" name="Object 302">
                  <a:extLst>
                    <a:ext uri="{FF2B5EF4-FFF2-40B4-BE49-F238E27FC236}">
                      <a16:creationId xmlns:a16="http://schemas.microsoft.com/office/drawing/2014/main" id="{CC33C2BC-5876-FE34-C953-D25A59929172}"/>
                    </a:ext>
                  </a:extLst>
                </p:cNvPr>
                <p:cNvSpPr txBox="1"/>
                <p:nvPr/>
              </p:nvSpPr>
              <p:spPr bwMode="auto">
                <a:xfrm>
                  <a:off x="1499" y="3294"/>
                  <a:ext cx="338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894" name="Object 302">
                  <a:extLst>
                    <a:ext uri="{FF2B5EF4-FFF2-40B4-BE49-F238E27FC236}">
                      <a16:creationId xmlns:a16="http://schemas.microsoft.com/office/drawing/2014/main" id="{CC33C2BC-5876-FE34-C953-D25A599291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99" y="3294"/>
                  <a:ext cx="338" cy="144"/>
                </a:xfrm>
                <a:prstGeom prst="rect">
                  <a:avLst/>
                </a:prstGeom>
                <a:blipFill>
                  <a:blip r:embed="rId6"/>
                  <a:stretch>
                    <a:fillRect b="-285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895" name="Line 303">
              <a:extLst>
                <a:ext uri="{FF2B5EF4-FFF2-40B4-BE49-F238E27FC236}">
                  <a16:creationId xmlns:a16="http://schemas.microsoft.com/office/drawing/2014/main" id="{ED38C0DD-4C1E-BFA5-9EE7-8BF2079C9B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0" y="3350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896" name="Line 304">
              <a:extLst>
                <a:ext uri="{FF2B5EF4-FFF2-40B4-BE49-F238E27FC236}">
                  <a16:creationId xmlns:a16="http://schemas.microsoft.com/office/drawing/2014/main" id="{59F61BCD-50C3-3392-3A5F-B0420AF8E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3861"/>
              <a:ext cx="2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897" name="Object 305">
                  <a:extLst>
                    <a:ext uri="{FF2B5EF4-FFF2-40B4-BE49-F238E27FC236}">
                      <a16:creationId xmlns:a16="http://schemas.microsoft.com/office/drawing/2014/main" id="{2FE03164-1A88-B1BB-0844-55221AE45F3F}"/>
                    </a:ext>
                  </a:extLst>
                </p:cNvPr>
                <p:cNvSpPr txBox="1"/>
                <p:nvPr/>
              </p:nvSpPr>
              <p:spPr bwMode="auto">
                <a:xfrm>
                  <a:off x="4211" y="3889"/>
                  <a:ext cx="293" cy="1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897" name="Object 305">
                  <a:extLst>
                    <a:ext uri="{FF2B5EF4-FFF2-40B4-BE49-F238E27FC236}">
                      <a16:creationId xmlns:a16="http://schemas.microsoft.com/office/drawing/2014/main" id="{2FE03164-1A88-B1BB-0844-55221AE45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1" y="3889"/>
                  <a:ext cx="293" cy="167"/>
                </a:xfrm>
                <a:prstGeom prst="rect">
                  <a:avLst/>
                </a:prstGeom>
                <a:blipFill>
                  <a:blip r:embed="rId7"/>
                  <a:stretch>
                    <a:fillRect b="-909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898" name="Object 306">
                  <a:extLst>
                    <a:ext uri="{FF2B5EF4-FFF2-40B4-BE49-F238E27FC236}">
                      <a16:creationId xmlns:a16="http://schemas.microsoft.com/office/drawing/2014/main" id="{F6CE9C47-AD93-1F3B-18FA-DC57B963E21B}"/>
                    </a:ext>
                  </a:extLst>
                </p:cNvPr>
                <p:cNvSpPr txBox="1"/>
                <p:nvPr/>
              </p:nvSpPr>
              <p:spPr bwMode="auto">
                <a:xfrm>
                  <a:off x="1499" y="1252"/>
                  <a:ext cx="338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898" name="Object 306">
                  <a:extLst>
                    <a:ext uri="{FF2B5EF4-FFF2-40B4-BE49-F238E27FC236}">
                      <a16:creationId xmlns:a16="http://schemas.microsoft.com/office/drawing/2014/main" id="{F6CE9C47-AD93-1F3B-18FA-DC57B963E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99" y="1252"/>
                  <a:ext cx="338" cy="144"/>
                </a:xfrm>
                <a:prstGeom prst="rect">
                  <a:avLst/>
                </a:prstGeom>
                <a:blipFill>
                  <a:blip r:embed="rId6"/>
                  <a:stretch>
                    <a:fillRect b="-285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899" name="Line 307">
              <a:extLst>
                <a:ext uri="{FF2B5EF4-FFF2-40B4-BE49-F238E27FC236}">
                  <a16:creationId xmlns:a16="http://schemas.microsoft.com/office/drawing/2014/main" id="{0CDEE022-AD1F-286C-5D8E-9FE598A81B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0" y="1309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00" name="Line 308">
              <a:extLst>
                <a:ext uri="{FF2B5EF4-FFF2-40B4-BE49-F238E27FC236}">
                  <a16:creationId xmlns:a16="http://schemas.microsoft.com/office/drawing/2014/main" id="{90B25B79-619C-94EC-2643-91C59EF5C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1820"/>
              <a:ext cx="2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901" name="Object 309">
                  <a:extLst>
                    <a:ext uri="{FF2B5EF4-FFF2-40B4-BE49-F238E27FC236}">
                      <a16:creationId xmlns:a16="http://schemas.microsoft.com/office/drawing/2014/main" id="{EADDE75A-5C97-7FFB-0239-60ACBE4DDDCF}"/>
                    </a:ext>
                  </a:extLst>
                </p:cNvPr>
                <p:cNvSpPr txBox="1"/>
                <p:nvPr/>
              </p:nvSpPr>
              <p:spPr bwMode="auto">
                <a:xfrm>
                  <a:off x="4211" y="1848"/>
                  <a:ext cx="293" cy="1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901" name="Object 309">
                  <a:extLst>
                    <a:ext uri="{FF2B5EF4-FFF2-40B4-BE49-F238E27FC236}">
                      <a16:creationId xmlns:a16="http://schemas.microsoft.com/office/drawing/2014/main" id="{EADDE75A-5C97-7FFB-0239-60ACBE4DDD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1" y="1848"/>
                  <a:ext cx="293" cy="155"/>
                </a:xfrm>
                <a:prstGeom prst="rect">
                  <a:avLst/>
                </a:prstGeom>
                <a:blipFill>
                  <a:blip r:embed="rId8"/>
                  <a:stretch>
                    <a:fillRect b="-2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902" name="Line 310">
              <a:extLst>
                <a:ext uri="{FF2B5EF4-FFF2-40B4-BE49-F238E27FC236}">
                  <a16:creationId xmlns:a16="http://schemas.microsoft.com/office/drawing/2014/main" id="{7F500903-A7B6-5A56-8D99-7690521EB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1451"/>
              <a:ext cx="2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03" name="Line 311">
              <a:extLst>
                <a:ext uri="{FF2B5EF4-FFF2-40B4-BE49-F238E27FC236}">
                  <a16:creationId xmlns:a16="http://schemas.microsoft.com/office/drawing/2014/main" id="{7E79DA34-1634-BAE2-0399-C8E614832D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0" y="1333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04" name="Line 312">
              <a:extLst>
                <a:ext uri="{FF2B5EF4-FFF2-40B4-BE49-F238E27FC236}">
                  <a16:creationId xmlns:a16="http://schemas.microsoft.com/office/drawing/2014/main" id="{4B989B54-23BA-CF70-41CB-DA2CA8D29A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1" y="1337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05" name="Line 313">
              <a:extLst>
                <a:ext uri="{FF2B5EF4-FFF2-40B4-BE49-F238E27FC236}">
                  <a16:creationId xmlns:a16="http://schemas.microsoft.com/office/drawing/2014/main" id="{141D6A76-7CA9-D665-1A1A-369357F26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7" y="1337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06" name="Line 314">
              <a:extLst>
                <a:ext uri="{FF2B5EF4-FFF2-40B4-BE49-F238E27FC236}">
                  <a16:creationId xmlns:a16="http://schemas.microsoft.com/office/drawing/2014/main" id="{60787F48-D375-2ACC-B99C-5141FCA794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4" y="1337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07" name="Line 315">
              <a:extLst>
                <a:ext uri="{FF2B5EF4-FFF2-40B4-BE49-F238E27FC236}">
                  <a16:creationId xmlns:a16="http://schemas.microsoft.com/office/drawing/2014/main" id="{47F6E5DA-F225-2228-1DB6-80C408F4A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1" y="1337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08" name="Line 316">
              <a:extLst>
                <a:ext uri="{FF2B5EF4-FFF2-40B4-BE49-F238E27FC236}">
                  <a16:creationId xmlns:a16="http://schemas.microsoft.com/office/drawing/2014/main" id="{4C4C35F7-5765-D836-0F51-473A8B1508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6" y="1337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09" name="Line 317">
              <a:extLst>
                <a:ext uri="{FF2B5EF4-FFF2-40B4-BE49-F238E27FC236}">
                  <a16:creationId xmlns:a16="http://schemas.microsoft.com/office/drawing/2014/main" id="{6436004A-E444-CEFD-4D9C-8CBCCC2BE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5" y="1337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10" name="Line 318">
              <a:extLst>
                <a:ext uri="{FF2B5EF4-FFF2-40B4-BE49-F238E27FC236}">
                  <a16:creationId xmlns:a16="http://schemas.microsoft.com/office/drawing/2014/main" id="{EE33E923-0685-E747-5BAC-9E7D57EFCF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5" y="1337"/>
              <a:ext cx="0" cy="29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11" name="Line 319">
              <a:extLst>
                <a:ext uri="{FF2B5EF4-FFF2-40B4-BE49-F238E27FC236}">
                  <a16:creationId xmlns:a16="http://schemas.microsoft.com/office/drawing/2014/main" id="{82F7D611-6BB0-B27D-A2FA-65A79CAD7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2" y="2501"/>
              <a:ext cx="0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12" name="Line 320">
              <a:extLst>
                <a:ext uri="{FF2B5EF4-FFF2-40B4-BE49-F238E27FC236}">
                  <a16:creationId xmlns:a16="http://schemas.microsoft.com/office/drawing/2014/main" id="{9FC32804-1A86-D89D-E931-E9F0C42831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1" y="2499"/>
              <a:ext cx="0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13" name="Line 321">
              <a:extLst>
                <a:ext uri="{FF2B5EF4-FFF2-40B4-BE49-F238E27FC236}">
                  <a16:creationId xmlns:a16="http://schemas.microsoft.com/office/drawing/2014/main" id="{FC189539-1B05-3826-95BE-46548727F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9" y="2840"/>
              <a:ext cx="0" cy="1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14" name="Line 322">
              <a:extLst>
                <a:ext uri="{FF2B5EF4-FFF2-40B4-BE49-F238E27FC236}">
                  <a16:creationId xmlns:a16="http://schemas.microsoft.com/office/drawing/2014/main" id="{D6A9822A-E918-0210-75BE-9C4E432857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64" y="2697"/>
              <a:ext cx="0" cy="1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15" name="Line 323">
              <a:extLst>
                <a:ext uri="{FF2B5EF4-FFF2-40B4-BE49-F238E27FC236}">
                  <a16:creationId xmlns:a16="http://schemas.microsoft.com/office/drawing/2014/main" id="{0B2EBF69-0D2F-0016-5C61-A697F4CED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2840"/>
              <a:ext cx="0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16" name="Line 324">
              <a:extLst>
                <a:ext uri="{FF2B5EF4-FFF2-40B4-BE49-F238E27FC236}">
                  <a16:creationId xmlns:a16="http://schemas.microsoft.com/office/drawing/2014/main" id="{AAE5ACE6-1564-1C37-6E1E-CEE7CE644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" y="2840"/>
              <a:ext cx="0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17" name="Line 325">
              <a:extLst>
                <a:ext uri="{FF2B5EF4-FFF2-40B4-BE49-F238E27FC236}">
                  <a16:creationId xmlns:a16="http://schemas.microsoft.com/office/drawing/2014/main" id="{31FD5B19-6F6C-6666-87BE-1D38FCDE60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2" y="2699"/>
              <a:ext cx="0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18" name="Line 326">
              <a:extLst>
                <a:ext uri="{FF2B5EF4-FFF2-40B4-BE49-F238E27FC236}">
                  <a16:creationId xmlns:a16="http://schemas.microsoft.com/office/drawing/2014/main" id="{09CA6BD5-AAB5-A304-3336-153CB9D03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840"/>
              <a:ext cx="0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919" name="Object 327">
                  <a:extLst>
                    <a:ext uri="{FF2B5EF4-FFF2-40B4-BE49-F238E27FC236}">
                      <a16:creationId xmlns:a16="http://schemas.microsoft.com/office/drawing/2014/main" id="{E8E361C1-D655-5528-E03E-724CB2C8B6BA}"/>
                    </a:ext>
                  </a:extLst>
                </p:cNvPr>
                <p:cNvSpPr txBox="1"/>
                <p:nvPr/>
              </p:nvSpPr>
              <p:spPr bwMode="auto">
                <a:xfrm>
                  <a:off x="2184" y="1287"/>
                  <a:ext cx="128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10919" name="Object 327">
                  <a:extLst>
                    <a:ext uri="{FF2B5EF4-FFF2-40B4-BE49-F238E27FC236}">
                      <a16:creationId xmlns:a16="http://schemas.microsoft.com/office/drawing/2014/main" id="{E8E361C1-D655-5528-E03E-724CB2C8B6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84" y="1287"/>
                  <a:ext cx="128" cy="143"/>
                </a:xfrm>
                <a:prstGeom prst="rect">
                  <a:avLst/>
                </a:prstGeom>
                <a:blipFill>
                  <a:blip r:embed="rId9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920" name="Object 328">
                  <a:extLst>
                    <a:ext uri="{FF2B5EF4-FFF2-40B4-BE49-F238E27FC236}">
                      <a16:creationId xmlns:a16="http://schemas.microsoft.com/office/drawing/2014/main" id="{6F8C4675-E6CA-654A-6A85-EF63696F7A0D}"/>
                    </a:ext>
                  </a:extLst>
                </p:cNvPr>
                <p:cNvSpPr txBox="1"/>
                <p:nvPr/>
              </p:nvSpPr>
              <p:spPr bwMode="auto">
                <a:xfrm>
                  <a:off x="2467" y="1281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920" name="Object 328">
                  <a:extLst>
                    <a:ext uri="{FF2B5EF4-FFF2-40B4-BE49-F238E27FC236}">
                      <a16:creationId xmlns:a16="http://schemas.microsoft.com/office/drawing/2014/main" id="{6F8C4675-E6CA-654A-6A85-EF63696F7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7" y="1281"/>
                  <a:ext cx="129" cy="144"/>
                </a:xfrm>
                <a:prstGeom prst="rect">
                  <a:avLst/>
                </a:prstGeom>
                <a:blipFill>
                  <a:blip r:embed="rId10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921" name="Object 329">
                  <a:extLst>
                    <a:ext uri="{FF2B5EF4-FFF2-40B4-BE49-F238E27FC236}">
                      <a16:creationId xmlns:a16="http://schemas.microsoft.com/office/drawing/2014/main" id="{2A6DAD72-61DB-E904-48CB-C878A363D7B9}"/>
                    </a:ext>
                  </a:extLst>
                </p:cNvPr>
                <p:cNvSpPr txBox="1"/>
                <p:nvPr/>
              </p:nvSpPr>
              <p:spPr bwMode="auto">
                <a:xfrm>
                  <a:off x="2751" y="1281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10921" name="Object 329">
                  <a:extLst>
                    <a:ext uri="{FF2B5EF4-FFF2-40B4-BE49-F238E27FC236}">
                      <a16:creationId xmlns:a16="http://schemas.microsoft.com/office/drawing/2014/main" id="{2A6DAD72-61DB-E904-48CB-C878A363D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51" y="1281"/>
                  <a:ext cx="129" cy="144"/>
                </a:xfrm>
                <a:prstGeom prst="rect">
                  <a:avLst/>
                </a:prstGeom>
                <a:blipFill>
                  <a:blip r:embed="rId11"/>
                  <a:stretch>
                    <a:fillRect r="-46154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922" name="Object 330">
                  <a:extLst>
                    <a:ext uri="{FF2B5EF4-FFF2-40B4-BE49-F238E27FC236}">
                      <a16:creationId xmlns:a16="http://schemas.microsoft.com/office/drawing/2014/main" id="{4CB75B32-DB39-7503-6D0D-C1E90E1340C5}"/>
                    </a:ext>
                  </a:extLst>
                </p:cNvPr>
                <p:cNvSpPr txBox="1"/>
                <p:nvPr/>
              </p:nvSpPr>
              <p:spPr bwMode="auto">
                <a:xfrm>
                  <a:off x="3055" y="1281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922" name="Object 330">
                  <a:extLst>
                    <a:ext uri="{FF2B5EF4-FFF2-40B4-BE49-F238E27FC236}">
                      <a16:creationId xmlns:a16="http://schemas.microsoft.com/office/drawing/2014/main" id="{4CB75B32-DB39-7503-6D0D-C1E90E1340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55" y="1281"/>
                  <a:ext cx="129" cy="144"/>
                </a:xfrm>
                <a:prstGeom prst="rect">
                  <a:avLst/>
                </a:prstGeom>
                <a:blipFill>
                  <a:blip r:embed="rId12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923" name="Object 331">
                  <a:extLst>
                    <a:ext uri="{FF2B5EF4-FFF2-40B4-BE49-F238E27FC236}">
                      <a16:creationId xmlns:a16="http://schemas.microsoft.com/office/drawing/2014/main" id="{CCFA8D2A-4C4A-B13A-0C5E-FCE629041D72}"/>
                    </a:ext>
                  </a:extLst>
                </p:cNvPr>
                <p:cNvSpPr txBox="1"/>
                <p:nvPr/>
              </p:nvSpPr>
              <p:spPr bwMode="auto">
                <a:xfrm>
                  <a:off x="3333" y="1273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923" name="Object 331">
                  <a:extLst>
                    <a:ext uri="{FF2B5EF4-FFF2-40B4-BE49-F238E27FC236}">
                      <a16:creationId xmlns:a16="http://schemas.microsoft.com/office/drawing/2014/main" id="{CCFA8D2A-4C4A-B13A-0C5E-FCE629041D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33" y="1273"/>
                  <a:ext cx="129" cy="144"/>
                </a:xfrm>
                <a:prstGeom prst="rect">
                  <a:avLst/>
                </a:prstGeom>
                <a:blipFill>
                  <a:blip r:embed="rId13"/>
                  <a:stretch>
                    <a:fillRect r="-52000" b="-2069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924" name="Object 332">
                  <a:extLst>
                    <a:ext uri="{FF2B5EF4-FFF2-40B4-BE49-F238E27FC236}">
                      <a16:creationId xmlns:a16="http://schemas.microsoft.com/office/drawing/2014/main" id="{EC4335E1-3DFE-2A99-44C0-17EF31CD9096}"/>
                    </a:ext>
                  </a:extLst>
                </p:cNvPr>
                <p:cNvSpPr txBox="1"/>
                <p:nvPr/>
              </p:nvSpPr>
              <p:spPr bwMode="auto">
                <a:xfrm>
                  <a:off x="3622" y="1281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800" dirty="0"/>
                </a:p>
              </p:txBody>
            </p:sp>
          </mc:Choice>
          <mc:Fallback xmlns="">
            <p:sp>
              <p:nvSpPr>
                <p:cNvPr id="110924" name="Object 332">
                  <a:extLst>
                    <a:ext uri="{FF2B5EF4-FFF2-40B4-BE49-F238E27FC236}">
                      <a16:creationId xmlns:a16="http://schemas.microsoft.com/office/drawing/2014/main" id="{EC4335E1-3DFE-2A99-44C0-17EF31CD9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22" y="1281"/>
                  <a:ext cx="129" cy="144"/>
                </a:xfrm>
                <a:prstGeom prst="rect">
                  <a:avLst/>
                </a:prstGeom>
                <a:blipFill>
                  <a:blip r:embed="rId14"/>
                  <a:stretch>
                    <a:fillRect r="-50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925" name="Object 333">
                  <a:extLst>
                    <a:ext uri="{FF2B5EF4-FFF2-40B4-BE49-F238E27FC236}">
                      <a16:creationId xmlns:a16="http://schemas.microsoft.com/office/drawing/2014/main" id="{CA53A71F-3F1C-DD27-16FE-53AB29AF43C7}"/>
                    </a:ext>
                  </a:extLst>
                </p:cNvPr>
                <p:cNvSpPr txBox="1"/>
                <p:nvPr/>
              </p:nvSpPr>
              <p:spPr bwMode="auto">
                <a:xfrm>
                  <a:off x="3912" y="1281"/>
                  <a:ext cx="129" cy="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800"/>
                </a:p>
              </p:txBody>
            </p:sp>
          </mc:Choice>
          <mc:Fallback xmlns="">
            <p:sp>
              <p:nvSpPr>
                <p:cNvPr id="110925" name="Object 333">
                  <a:extLst>
                    <a:ext uri="{FF2B5EF4-FFF2-40B4-BE49-F238E27FC236}">
                      <a16:creationId xmlns:a16="http://schemas.microsoft.com/office/drawing/2014/main" id="{CA53A71F-3F1C-DD27-16FE-53AB29AF43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12" y="1281"/>
                  <a:ext cx="129" cy="144"/>
                </a:xfrm>
                <a:prstGeom prst="rect">
                  <a:avLst/>
                </a:prstGeom>
                <a:blipFill>
                  <a:blip r:embed="rId15"/>
                  <a:stretch>
                    <a:fillRect r="-52000" b="-2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926" name="Text Box 334">
              <a:extLst>
                <a:ext uri="{FF2B5EF4-FFF2-40B4-BE49-F238E27FC236}">
                  <a16:creationId xmlns:a16="http://schemas.microsoft.com/office/drawing/2014/main" id="{B2DACB03-2F29-12BF-E730-350A2566E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1" y="1731"/>
              <a:ext cx="26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(a)</a:t>
              </a:r>
              <a:endParaRPr lang="ko-KR" altLang="en-US" sz="9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10927" name="Text Box 335">
              <a:extLst>
                <a:ext uri="{FF2B5EF4-FFF2-40B4-BE49-F238E27FC236}">
                  <a16:creationId xmlns:a16="http://schemas.microsoft.com/office/drawing/2014/main" id="{78A0B5A8-87D6-47EE-B899-279F40C83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1" y="2752"/>
              <a:ext cx="28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(b)</a:t>
              </a:r>
              <a:endParaRPr lang="ko-KR" altLang="en-US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10928" name="Text Box 336">
              <a:extLst>
                <a:ext uri="{FF2B5EF4-FFF2-40B4-BE49-F238E27FC236}">
                  <a16:creationId xmlns:a16="http://schemas.microsoft.com/office/drawing/2014/main" id="{43EFA662-68A3-31B4-2F76-049AA1847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1" y="3773"/>
              <a:ext cx="29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(c)</a:t>
              </a:r>
              <a:endParaRPr lang="ko-KR" altLang="en-US" sz="900" dirty="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10929" name="Line 337">
              <a:extLst>
                <a:ext uri="{FF2B5EF4-FFF2-40B4-BE49-F238E27FC236}">
                  <a16:creationId xmlns:a16="http://schemas.microsoft.com/office/drawing/2014/main" id="{EBDB411D-7E0B-D080-FD1D-C6453160D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1" y="1450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30" name="Line 338">
              <a:extLst>
                <a:ext uri="{FF2B5EF4-FFF2-40B4-BE49-F238E27FC236}">
                  <a16:creationId xmlns:a16="http://schemas.microsoft.com/office/drawing/2014/main" id="{62C506B6-3AC7-86C4-227B-454D01071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2471"/>
              <a:ext cx="2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31" name="Text Box 339">
              <a:extLst>
                <a:ext uri="{FF2B5EF4-FFF2-40B4-BE49-F238E27FC236}">
                  <a16:creationId xmlns:a16="http://schemas.microsoft.com/office/drawing/2014/main" id="{06C8D66F-4C80-243F-6153-BD44A60D1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1360"/>
              <a:ext cx="22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1</a:t>
              </a:r>
              <a:endParaRPr lang="ko-KR" altLang="en-US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10932" name="Text Box 340">
              <a:extLst>
                <a:ext uri="{FF2B5EF4-FFF2-40B4-BE49-F238E27FC236}">
                  <a16:creationId xmlns:a16="http://schemas.microsoft.com/office/drawing/2014/main" id="{4DD8CF42-EA3D-96C4-A953-628384399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" y="2386"/>
              <a:ext cx="22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1</a:t>
              </a:r>
              <a:endParaRPr lang="ko-KR" altLang="en-US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10933" name="Text Box 341">
              <a:extLst>
                <a:ext uri="{FF2B5EF4-FFF2-40B4-BE49-F238E27FC236}">
                  <a16:creationId xmlns:a16="http://schemas.microsoft.com/office/drawing/2014/main" id="{746BA135-80FF-BDF4-9C65-261646CC5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" y="3407"/>
              <a:ext cx="22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1</a:t>
              </a:r>
              <a:endParaRPr lang="ko-KR" altLang="en-US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grpSp>
          <p:nvGrpSpPr>
            <p:cNvPr id="110934" name="Group 342">
              <a:extLst>
                <a:ext uri="{FF2B5EF4-FFF2-40B4-BE49-F238E27FC236}">
                  <a16:creationId xmlns:a16="http://schemas.microsoft.com/office/drawing/2014/main" id="{7B780B90-F5E3-F7FD-7826-2E3CAB5BBD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9" y="2471"/>
              <a:ext cx="2307" cy="737"/>
              <a:chOff x="529" y="1178"/>
              <a:chExt cx="2455" cy="1812"/>
            </a:xfrm>
          </p:grpSpPr>
          <p:sp>
            <p:nvSpPr>
              <p:cNvPr id="110935" name="Freeform 343">
                <a:extLst>
                  <a:ext uri="{FF2B5EF4-FFF2-40B4-BE49-F238E27FC236}">
                    <a16:creationId xmlns:a16="http://schemas.microsoft.com/office/drawing/2014/main" id="{C41DC6A2-0156-EA77-21A5-C7D6B7B62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" y="1178"/>
                <a:ext cx="521" cy="702"/>
              </a:xfrm>
              <a:custGeom>
                <a:avLst/>
                <a:gdLst>
                  <a:gd name="T0" fmla="*/ 11 w 521"/>
                  <a:gd name="T1" fmla="*/ 0 h 702"/>
                  <a:gd name="T2" fmla="*/ 28 w 521"/>
                  <a:gd name="T3" fmla="*/ 0 h 702"/>
                  <a:gd name="T4" fmla="*/ 45 w 521"/>
                  <a:gd name="T5" fmla="*/ 5 h 702"/>
                  <a:gd name="T6" fmla="*/ 62 w 521"/>
                  <a:gd name="T7" fmla="*/ 11 h 702"/>
                  <a:gd name="T8" fmla="*/ 79 w 521"/>
                  <a:gd name="T9" fmla="*/ 16 h 702"/>
                  <a:gd name="T10" fmla="*/ 96 w 521"/>
                  <a:gd name="T11" fmla="*/ 27 h 702"/>
                  <a:gd name="T12" fmla="*/ 113 w 521"/>
                  <a:gd name="T13" fmla="*/ 37 h 702"/>
                  <a:gd name="T14" fmla="*/ 130 w 521"/>
                  <a:gd name="T15" fmla="*/ 53 h 702"/>
                  <a:gd name="T16" fmla="*/ 147 w 521"/>
                  <a:gd name="T17" fmla="*/ 64 h 702"/>
                  <a:gd name="T18" fmla="*/ 164 w 521"/>
                  <a:gd name="T19" fmla="*/ 80 h 702"/>
                  <a:gd name="T20" fmla="*/ 187 w 521"/>
                  <a:gd name="T21" fmla="*/ 101 h 702"/>
                  <a:gd name="T22" fmla="*/ 198 w 521"/>
                  <a:gd name="T23" fmla="*/ 117 h 702"/>
                  <a:gd name="T24" fmla="*/ 221 w 521"/>
                  <a:gd name="T25" fmla="*/ 138 h 702"/>
                  <a:gd name="T26" fmla="*/ 238 w 521"/>
                  <a:gd name="T27" fmla="*/ 159 h 702"/>
                  <a:gd name="T28" fmla="*/ 249 w 521"/>
                  <a:gd name="T29" fmla="*/ 181 h 702"/>
                  <a:gd name="T30" fmla="*/ 261 w 521"/>
                  <a:gd name="T31" fmla="*/ 197 h 702"/>
                  <a:gd name="T32" fmla="*/ 278 w 521"/>
                  <a:gd name="T33" fmla="*/ 218 h 702"/>
                  <a:gd name="T34" fmla="*/ 289 w 521"/>
                  <a:gd name="T35" fmla="*/ 239 h 702"/>
                  <a:gd name="T36" fmla="*/ 300 w 521"/>
                  <a:gd name="T37" fmla="*/ 255 h 702"/>
                  <a:gd name="T38" fmla="*/ 312 w 521"/>
                  <a:gd name="T39" fmla="*/ 271 h 702"/>
                  <a:gd name="T40" fmla="*/ 323 w 521"/>
                  <a:gd name="T41" fmla="*/ 292 h 702"/>
                  <a:gd name="T42" fmla="*/ 334 w 521"/>
                  <a:gd name="T43" fmla="*/ 308 h 702"/>
                  <a:gd name="T44" fmla="*/ 346 w 521"/>
                  <a:gd name="T45" fmla="*/ 335 h 702"/>
                  <a:gd name="T46" fmla="*/ 357 w 521"/>
                  <a:gd name="T47" fmla="*/ 356 h 702"/>
                  <a:gd name="T48" fmla="*/ 368 w 521"/>
                  <a:gd name="T49" fmla="*/ 372 h 702"/>
                  <a:gd name="T50" fmla="*/ 380 w 521"/>
                  <a:gd name="T51" fmla="*/ 393 h 702"/>
                  <a:gd name="T52" fmla="*/ 385 w 521"/>
                  <a:gd name="T53" fmla="*/ 409 h 702"/>
                  <a:gd name="T54" fmla="*/ 397 w 521"/>
                  <a:gd name="T55" fmla="*/ 431 h 702"/>
                  <a:gd name="T56" fmla="*/ 408 w 521"/>
                  <a:gd name="T57" fmla="*/ 446 h 702"/>
                  <a:gd name="T58" fmla="*/ 414 w 521"/>
                  <a:gd name="T59" fmla="*/ 468 h 702"/>
                  <a:gd name="T60" fmla="*/ 425 w 521"/>
                  <a:gd name="T61" fmla="*/ 484 h 702"/>
                  <a:gd name="T62" fmla="*/ 431 w 521"/>
                  <a:gd name="T63" fmla="*/ 505 h 702"/>
                  <a:gd name="T64" fmla="*/ 442 w 521"/>
                  <a:gd name="T65" fmla="*/ 521 h 702"/>
                  <a:gd name="T66" fmla="*/ 448 w 521"/>
                  <a:gd name="T67" fmla="*/ 542 h 702"/>
                  <a:gd name="T68" fmla="*/ 459 w 521"/>
                  <a:gd name="T69" fmla="*/ 558 h 702"/>
                  <a:gd name="T70" fmla="*/ 465 w 521"/>
                  <a:gd name="T71" fmla="*/ 579 h 702"/>
                  <a:gd name="T72" fmla="*/ 476 w 521"/>
                  <a:gd name="T73" fmla="*/ 595 h 702"/>
                  <a:gd name="T74" fmla="*/ 482 w 521"/>
                  <a:gd name="T75" fmla="*/ 617 h 702"/>
                  <a:gd name="T76" fmla="*/ 493 w 521"/>
                  <a:gd name="T77" fmla="*/ 632 h 702"/>
                  <a:gd name="T78" fmla="*/ 499 w 521"/>
                  <a:gd name="T79" fmla="*/ 654 h 702"/>
                  <a:gd name="T80" fmla="*/ 510 w 521"/>
                  <a:gd name="T81" fmla="*/ 670 h 702"/>
                  <a:gd name="T82" fmla="*/ 516 w 521"/>
                  <a:gd name="T83" fmla="*/ 686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21" h="702">
                    <a:moveTo>
                      <a:pt x="0" y="0"/>
                    </a:moveTo>
                    <a:lnTo>
                      <a:pt x="6" y="0"/>
                    </a:lnTo>
                    <a:lnTo>
                      <a:pt x="11" y="0"/>
                    </a:lnTo>
                    <a:lnTo>
                      <a:pt x="17" y="0"/>
                    </a:lnTo>
                    <a:lnTo>
                      <a:pt x="23" y="0"/>
                    </a:lnTo>
                    <a:lnTo>
                      <a:pt x="28" y="0"/>
                    </a:lnTo>
                    <a:lnTo>
                      <a:pt x="34" y="0"/>
                    </a:lnTo>
                    <a:lnTo>
                      <a:pt x="40" y="5"/>
                    </a:lnTo>
                    <a:lnTo>
                      <a:pt x="45" y="5"/>
                    </a:lnTo>
                    <a:lnTo>
                      <a:pt x="51" y="5"/>
                    </a:lnTo>
                    <a:lnTo>
                      <a:pt x="57" y="11"/>
                    </a:lnTo>
                    <a:lnTo>
                      <a:pt x="62" y="11"/>
                    </a:lnTo>
                    <a:lnTo>
                      <a:pt x="68" y="11"/>
                    </a:lnTo>
                    <a:lnTo>
                      <a:pt x="74" y="16"/>
                    </a:lnTo>
                    <a:lnTo>
                      <a:pt x="79" y="16"/>
                    </a:lnTo>
                    <a:lnTo>
                      <a:pt x="85" y="21"/>
                    </a:lnTo>
                    <a:lnTo>
                      <a:pt x="91" y="27"/>
                    </a:lnTo>
                    <a:lnTo>
                      <a:pt x="96" y="27"/>
                    </a:lnTo>
                    <a:lnTo>
                      <a:pt x="102" y="32"/>
                    </a:lnTo>
                    <a:lnTo>
                      <a:pt x="108" y="37"/>
                    </a:lnTo>
                    <a:lnTo>
                      <a:pt x="113" y="37"/>
                    </a:lnTo>
                    <a:lnTo>
                      <a:pt x="119" y="43"/>
                    </a:lnTo>
                    <a:lnTo>
                      <a:pt x="125" y="48"/>
                    </a:lnTo>
                    <a:lnTo>
                      <a:pt x="130" y="53"/>
                    </a:lnTo>
                    <a:lnTo>
                      <a:pt x="136" y="53"/>
                    </a:lnTo>
                    <a:lnTo>
                      <a:pt x="142" y="59"/>
                    </a:lnTo>
                    <a:lnTo>
                      <a:pt x="147" y="64"/>
                    </a:lnTo>
                    <a:lnTo>
                      <a:pt x="153" y="69"/>
                    </a:lnTo>
                    <a:lnTo>
                      <a:pt x="159" y="74"/>
                    </a:lnTo>
                    <a:lnTo>
                      <a:pt x="164" y="80"/>
                    </a:lnTo>
                    <a:lnTo>
                      <a:pt x="170" y="85"/>
                    </a:lnTo>
                    <a:lnTo>
                      <a:pt x="176" y="90"/>
                    </a:lnTo>
                    <a:lnTo>
                      <a:pt x="187" y="101"/>
                    </a:lnTo>
                    <a:lnTo>
                      <a:pt x="187" y="106"/>
                    </a:lnTo>
                    <a:lnTo>
                      <a:pt x="193" y="112"/>
                    </a:lnTo>
                    <a:lnTo>
                      <a:pt x="198" y="117"/>
                    </a:lnTo>
                    <a:lnTo>
                      <a:pt x="204" y="122"/>
                    </a:lnTo>
                    <a:lnTo>
                      <a:pt x="210" y="128"/>
                    </a:lnTo>
                    <a:lnTo>
                      <a:pt x="221" y="138"/>
                    </a:lnTo>
                    <a:lnTo>
                      <a:pt x="221" y="144"/>
                    </a:lnTo>
                    <a:lnTo>
                      <a:pt x="227" y="149"/>
                    </a:lnTo>
                    <a:lnTo>
                      <a:pt x="238" y="159"/>
                    </a:lnTo>
                    <a:lnTo>
                      <a:pt x="238" y="170"/>
                    </a:lnTo>
                    <a:lnTo>
                      <a:pt x="244" y="175"/>
                    </a:lnTo>
                    <a:lnTo>
                      <a:pt x="249" y="181"/>
                    </a:lnTo>
                    <a:lnTo>
                      <a:pt x="255" y="186"/>
                    </a:lnTo>
                    <a:lnTo>
                      <a:pt x="261" y="191"/>
                    </a:lnTo>
                    <a:lnTo>
                      <a:pt x="261" y="197"/>
                    </a:lnTo>
                    <a:lnTo>
                      <a:pt x="272" y="207"/>
                    </a:lnTo>
                    <a:lnTo>
                      <a:pt x="272" y="213"/>
                    </a:lnTo>
                    <a:lnTo>
                      <a:pt x="278" y="218"/>
                    </a:lnTo>
                    <a:lnTo>
                      <a:pt x="278" y="223"/>
                    </a:lnTo>
                    <a:lnTo>
                      <a:pt x="289" y="234"/>
                    </a:lnTo>
                    <a:lnTo>
                      <a:pt x="289" y="239"/>
                    </a:lnTo>
                    <a:lnTo>
                      <a:pt x="295" y="245"/>
                    </a:lnTo>
                    <a:lnTo>
                      <a:pt x="295" y="250"/>
                    </a:lnTo>
                    <a:lnTo>
                      <a:pt x="300" y="255"/>
                    </a:lnTo>
                    <a:lnTo>
                      <a:pt x="300" y="260"/>
                    </a:lnTo>
                    <a:lnTo>
                      <a:pt x="306" y="266"/>
                    </a:lnTo>
                    <a:lnTo>
                      <a:pt x="312" y="271"/>
                    </a:lnTo>
                    <a:lnTo>
                      <a:pt x="312" y="282"/>
                    </a:lnTo>
                    <a:lnTo>
                      <a:pt x="317" y="287"/>
                    </a:lnTo>
                    <a:lnTo>
                      <a:pt x="323" y="292"/>
                    </a:lnTo>
                    <a:lnTo>
                      <a:pt x="323" y="298"/>
                    </a:lnTo>
                    <a:lnTo>
                      <a:pt x="329" y="303"/>
                    </a:lnTo>
                    <a:lnTo>
                      <a:pt x="334" y="308"/>
                    </a:lnTo>
                    <a:lnTo>
                      <a:pt x="334" y="319"/>
                    </a:lnTo>
                    <a:lnTo>
                      <a:pt x="346" y="330"/>
                    </a:lnTo>
                    <a:lnTo>
                      <a:pt x="346" y="335"/>
                    </a:lnTo>
                    <a:lnTo>
                      <a:pt x="351" y="340"/>
                    </a:lnTo>
                    <a:lnTo>
                      <a:pt x="351" y="351"/>
                    </a:lnTo>
                    <a:lnTo>
                      <a:pt x="357" y="356"/>
                    </a:lnTo>
                    <a:lnTo>
                      <a:pt x="363" y="361"/>
                    </a:lnTo>
                    <a:lnTo>
                      <a:pt x="363" y="367"/>
                    </a:lnTo>
                    <a:lnTo>
                      <a:pt x="368" y="372"/>
                    </a:lnTo>
                    <a:lnTo>
                      <a:pt x="368" y="383"/>
                    </a:lnTo>
                    <a:lnTo>
                      <a:pt x="374" y="388"/>
                    </a:lnTo>
                    <a:lnTo>
                      <a:pt x="380" y="393"/>
                    </a:lnTo>
                    <a:lnTo>
                      <a:pt x="380" y="399"/>
                    </a:lnTo>
                    <a:lnTo>
                      <a:pt x="385" y="404"/>
                    </a:lnTo>
                    <a:lnTo>
                      <a:pt x="385" y="409"/>
                    </a:lnTo>
                    <a:lnTo>
                      <a:pt x="391" y="415"/>
                    </a:lnTo>
                    <a:lnTo>
                      <a:pt x="391" y="425"/>
                    </a:lnTo>
                    <a:lnTo>
                      <a:pt x="397" y="431"/>
                    </a:lnTo>
                    <a:lnTo>
                      <a:pt x="397" y="436"/>
                    </a:lnTo>
                    <a:lnTo>
                      <a:pt x="402" y="441"/>
                    </a:lnTo>
                    <a:lnTo>
                      <a:pt x="408" y="446"/>
                    </a:lnTo>
                    <a:lnTo>
                      <a:pt x="408" y="457"/>
                    </a:lnTo>
                    <a:lnTo>
                      <a:pt x="414" y="462"/>
                    </a:lnTo>
                    <a:lnTo>
                      <a:pt x="414" y="468"/>
                    </a:lnTo>
                    <a:lnTo>
                      <a:pt x="419" y="473"/>
                    </a:lnTo>
                    <a:lnTo>
                      <a:pt x="419" y="478"/>
                    </a:lnTo>
                    <a:lnTo>
                      <a:pt x="425" y="484"/>
                    </a:lnTo>
                    <a:lnTo>
                      <a:pt x="425" y="494"/>
                    </a:lnTo>
                    <a:lnTo>
                      <a:pt x="431" y="500"/>
                    </a:lnTo>
                    <a:lnTo>
                      <a:pt x="431" y="505"/>
                    </a:lnTo>
                    <a:lnTo>
                      <a:pt x="436" y="510"/>
                    </a:lnTo>
                    <a:lnTo>
                      <a:pt x="436" y="516"/>
                    </a:lnTo>
                    <a:lnTo>
                      <a:pt x="442" y="521"/>
                    </a:lnTo>
                    <a:lnTo>
                      <a:pt x="442" y="531"/>
                    </a:lnTo>
                    <a:lnTo>
                      <a:pt x="448" y="537"/>
                    </a:lnTo>
                    <a:lnTo>
                      <a:pt x="448" y="542"/>
                    </a:lnTo>
                    <a:lnTo>
                      <a:pt x="453" y="547"/>
                    </a:lnTo>
                    <a:lnTo>
                      <a:pt x="453" y="553"/>
                    </a:lnTo>
                    <a:lnTo>
                      <a:pt x="459" y="558"/>
                    </a:lnTo>
                    <a:lnTo>
                      <a:pt x="459" y="563"/>
                    </a:lnTo>
                    <a:lnTo>
                      <a:pt x="465" y="569"/>
                    </a:lnTo>
                    <a:lnTo>
                      <a:pt x="465" y="579"/>
                    </a:lnTo>
                    <a:lnTo>
                      <a:pt x="470" y="585"/>
                    </a:lnTo>
                    <a:lnTo>
                      <a:pt x="470" y="590"/>
                    </a:lnTo>
                    <a:lnTo>
                      <a:pt x="476" y="595"/>
                    </a:lnTo>
                    <a:lnTo>
                      <a:pt x="476" y="601"/>
                    </a:lnTo>
                    <a:lnTo>
                      <a:pt x="482" y="606"/>
                    </a:lnTo>
                    <a:lnTo>
                      <a:pt x="482" y="617"/>
                    </a:lnTo>
                    <a:lnTo>
                      <a:pt x="487" y="622"/>
                    </a:lnTo>
                    <a:lnTo>
                      <a:pt x="487" y="627"/>
                    </a:lnTo>
                    <a:lnTo>
                      <a:pt x="493" y="632"/>
                    </a:lnTo>
                    <a:lnTo>
                      <a:pt x="493" y="638"/>
                    </a:lnTo>
                    <a:lnTo>
                      <a:pt x="499" y="643"/>
                    </a:lnTo>
                    <a:lnTo>
                      <a:pt x="499" y="654"/>
                    </a:lnTo>
                    <a:lnTo>
                      <a:pt x="504" y="659"/>
                    </a:lnTo>
                    <a:lnTo>
                      <a:pt x="504" y="664"/>
                    </a:lnTo>
                    <a:lnTo>
                      <a:pt x="510" y="670"/>
                    </a:lnTo>
                    <a:lnTo>
                      <a:pt x="510" y="675"/>
                    </a:lnTo>
                    <a:lnTo>
                      <a:pt x="516" y="680"/>
                    </a:lnTo>
                    <a:lnTo>
                      <a:pt x="516" y="686"/>
                    </a:lnTo>
                    <a:lnTo>
                      <a:pt x="521" y="691"/>
                    </a:lnTo>
                    <a:lnTo>
                      <a:pt x="521" y="70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36" name="Freeform 344">
                <a:extLst>
                  <a:ext uri="{FF2B5EF4-FFF2-40B4-BE49-F238E27FC236}">
                    <a16:creationId xmlns:a16="http://schemas.microsoft.com/office/drawing/2014/main" id="{AFD3A21E-8DA1-8076-C729-E91AD0739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1880"/>
                <a:ext cx="380" cy="813"/>
              </a:xfrm>
              <a:custGeom>
                <a:avLst/>
                <a:gdLst>
                  <a:gd name="T0" fmla="*/ 6 w 380"/>
                  <a:gd name="T1" fmla="*/ 10 h 813"/>
                  <a:gd name="T2" fmla="*/ 18 w 380"/>
                  <a:gd name="T3" fmla="*/ 26 h 813"/>
                  <a:gd name="T4" fmla="*/ 23 w 380"/>
                  <a:gd name="T5" fmla="*/ 53 h 813"/>
                  <a:gd name="T6" fmla="*/ 35 w 380"/>
                  <a:gd name="T7" fmla="*/ 69 h 813"/>
                  <a:gd name="T8" fmla="*/ 40 w 380"/>
                  <a:gd name="T9" fmla="*/ 90 h 813"/>
                  <a:gd name="T10" fmla="*/ 52 w 380"/>
                  <a:gd name="T11" fmla="*/ 106 h 813"/>
                  <a:gd name="T12" fmla="*/ 57 w 380"/>
                  <a:gd name="T13" fmla="*/ 132 h 813"/>
                  <a:gd name="T14" fmla="*/ 69 w 380"/>
                  <a:gd name="T15" fmla="*/ 148 h 813"/>
                  <a:gd name="T16" fmla="*/ 74 w 380"/>
                  <a:gd name="T17" fmla="*/ 170 h 813"/>
                  <a:gd name="T18" fmla="*/ 86 w 380"/>
                  <a:gd name="T19" fmla="*/ 186 h 813"/>
                  <a:gd name="T20" fmla="*/ 91 w 380"/>
                  <a:gd name="T21" fmla="*/ 212 h 813"/>
                  <a:gd name="T22" fmla="*/ 103 w 380"/>
                  <a:gd name="T23" fmla="*/ 228 h 813"/>
                  <a:gd name="T24" fmla="*/ 108 w 380"/>
                  <a:gd name="T25" fmla="*/ 249 h 813"/>
                  <a:gd name="T26" fmla="*/ 120 w 380"/>
                  <a:gd name="T27" fmla="*/ 265 h 813"/>
                  <a:gd name="T28" fmla="*/ 125 w 380"/>
                  <a:gd name="T29" fmla="*/ 287 h 813"/>
                  <a:gd name="T30" fmla="*/ 137 w 380"/>
                  <a:gd name="T31" fmla="*/ 308 h 813"/>
                  <a:gd name="T32" fmla="*/ 142 w 380"/>
                  <a:gd name="T33" fmla="*/ 324 h 813"/>
                  <a:gd name="T34" fmla="*/ 154 w 380"/>
                  <a:gd name="T35" fmla="*/ 345 h 813"/>
                  <a:gd name="T36" fmla="*/ 159 w 380"/>
                  <a:gd name="T37" fmla="*/ 361 h 813"/>
                  <a:gd name="T38" fmla="*/ 171 w 380"/>
                  <a:gd name="T39" fmla="*/ 387 h 813"/>
                  <a:gd name="T40" fmla="*/ 176 w 380"/>
                  <a:gd name="T41" fmla="*/ 403 h 813"/>
                  <a:gd name="T42" fmla="*/ 188 w 380"/>
                  <a:gd name="T43" fmla="*/ 425 h 813"/>
                  <a:gd name="T44" fmla="*/ 193 w 380"/>
                  <a:gd name="T45" fmla="*/ 441 h 813"/>
                  <a:gd name="T46" fmla="*/ 205 w 380"/>
                  <a:gd name="T47" fmla="*/ 457 h 813"/>
                  <a:gd name="T48" fmla="*/ 210 w 380"/>
                  <a:gd name="T49" fmla="*/ 478 h 813"/>
                  <a:gd name="T50" fmla="*/ 222 w 380"/>
                  <a:gd name="T51" fmla="*/ 494 h 813"/>
                  <a:gd name="T52" fmla="*/ 227 w 380"/>
                  <a:gd name="T53" fmla="*/ 515 h 813"/>
                  <a:gd name="T54" fmla="*/ 239 w 380"/>
                  <a:gd name="T55" fmla="*/ 531 h 813"/>
                  <a:gd name="T56" fmla="*/ 244 w 380"/>
                  <a:gd name="T57" fmla="*/ 552 h 813"/>
                  <a:gd name="T58" fmla="*/ 256 w 380"/>
                  <a:gd name="T59" fmla="*/ 568 h 813"/>
                  <a:gd name="T60" fmla="*/ 261 w 380"/>
                  <a:gd name="T61" fmla="*/ 589 h 813"/>
                  <a:gd name="T62" fmla="*/ 273 w 380"/>
                  <a:gd name="T63" fmla="*/ 605 h 813"/>
                  <a:gd name="T64" fmla="*/ 278 w 380"/>
                  <a:gd name="T65" fmla="*/ 627 h 813"/>
                  <a:gd name="T66" fmla="*/ 290 w 380"/>
                  <a:gd name="T67" fmla="*/ 643 h 813"/>
                  <a:gd name="T68" fmla="*/ 295 w 380"/>
                  <a:gd name="T69" fmla="*/ 664 h 813"/>
                  <a:gd name="T70" fmla="*/ 307 w 380"/>
                  <a:gd name="T71" fmla="*/ 680 h 813"/>
                  <a:gd name="T72" fmla="*/ 318 w 380"/>
                  <a:gd name="T73" fmla="*/ 701 h 813"/>
                  <a:gd name="T74" fmla="*/ 324 w 380"/>
                  <a:gd name="T75" fmla="*/ 717 h 813"/>
                  <a:gd name="T76" fmla="*/ 335 w 380"/>
                  <a:gd name="T77" fmla="*/ 738 h 813"/>
                  <a:gd name="T78" fmla="*/ 346 w 380"/>
                  <a:gd name="T79" fmla="*/ 754 h 813"/>
                  <a:gd name="T80" fmla="*/ 363 w 380"/>
                  <a:gd name="T81" fmla="*/ 781 h 813"/>
                  <a:gd name="T82" fmla="*/ 369 w 380"/>
                  <a:gd name="T83" fmla="*/ 802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380" h="813">
                    <a:moveTo>
                      <a:pt x="0" y="0"/>
                    </a:moveTo>
                    <a:lnTo>
                      <a:pt x="6" y="5"/>
                    </a:lnTo>
                    <a:lnTo>
                      <a:pt x="6" y="10"/>
                    </a:lnTo>
                    <a:lnTo>
                      <a:pt x="12" y="15"/>
                    </a:lnTo>
                    <a:lnTo>
                      <a:pt x="12" y="21"/>
                    </a:lnTo>
                    <a:lnTo>
                      <a:pt x="18" y="26"/>
                    </a:lnTo>
                    <a:lnTo>
                      <a:pt x="18" y="42"/>
                    </a:lnTo>
                    <a:lnTo>
                      <a:pt x="23" y="47"/>
                    </a:lnTo>
                    <a:lnTo>
                      <a:pt x="23" y="53"/>
                    </a:lnTo>
                    <a:lnTo>
                      <a:pt x="29" y="58"/>
                    </a:lnTo>
                    <a:lnTo>
                      <a:pt x="29" y="63"/>
                    </a:lnTo>
                    <a:lnTo>
                      <a:pt x="35" y="69"/>
                    </a:lnTo>
                    <a:lnTo>
                      <a:pt x="35" y="79"/>
                    </a:lnTo>
                    <a:lnTo>
                      <a:pt x="40" y="85"/>
                    </a:lnTo>
                    <a:lnTo>
                      <a:pt x="40" y="90"/>
                    </a:lnTo>
                    <a:lnTo>
                      <a:pt x="46" y="95"/>
                    </a:lnTo>
                    <a:lnTo>
                      <a:pt x="46" y="101"/>
                    </a:lnTo>
                    <a:lnTo>
                      <a:pt x="52" y="106"/>
                    </a:lnTo>
                    <a:lnTo>
                      <a:pt x="52" y="116"/>
                    </a:lnTo>
                    <a:lnTo>
                      <a:pt x="57" y="122"/>
                    </a:lnTo>
                    <a:lnTo>
                      <a:pt x="57" y="132"/>
                    </a:lnTo>
                    <a:lnTo>
                      <a:pt x="63" y="138"/>
                    </a:lnTo>
                    <a:lnTo>
                      <a:pt x="63" y="143"/>
                    </a:lnTo>
                    <a:lnTo>
                      <a:pt x="69" y="148"/>
                    </a:lnTo>
                    <a:lnTo>
                      <a:pt x="69" y="154"/>
                    </a:lnTo>
                    <a:lnTo>
                      <a:pt x="74" y="159"/>
                    </a:lnTo>
                    <a:lnTo>
                      <a:pt x="74" y="170"/>
                    </a:lnTo>
                    <a:lnTo>
                      <a:pt x="80" y="175"/>
                    </a:lnTo>
                    <a:lnTo>
                      <a:pt x="80" y="180"/>
                    </a:lnTo>
                    <a:lnTo>
                      <a:pt x="86" y="186"/>
                    </a:lnTo>
                    <a:lnTo>
                      <a:pt x="86" y="191"/>
                    </a:lnTo>
                    <a:lnTo>
                      <a:pt x="91" y="196"/>
                    </a:lnTo>
                    <a:lnTo>
                      <a:pt x="91" y="212"/>
                    </a:lnTo>
                    <a:lnTo>
                      <a:pt x="97" y="217"/>
                    </a:lnTo>
                    <a:lnTo>
                      <a:pt x="97" y="223"/>
                    </a:lnTo>
                    <a:lnTo>
                      <a:pt x="103" y="228"/>
                    </a:lnTo>
                    <a:lnTo>
                      <a:pt x="103" y="233"/>
                    </a:lnTo>
                    <a:lnTo>
                      <a:pt x="108" y="239"/>
                    </a:lnTo>
                    <a:lnTo>
                      <a:pt x="108" y="249"/>
                    </a:lnTo>
                    <a:lnTo>
                      <a:pt x="114" y="255"/>
                    </a:lnTo>
                    <a:lnTo>
                      <a:pt x="114" y="260"/>
                    </a:lnTo>
                    <a:lnTo>
                      <a:pt x="120" y="265"/>
                    </a:lnTo>
                    <a:lnTo>
                      <a:pt x="120" y="271"/>
                    </a:lnTo>
                    <a:lnTo>
                      <a:pt x="125" y="276"/>
                    </a:lnTo>
                    <a:lnTo>
                      <a:pt x="125" y="287"/>
                    </a:lnTo>
                    <a:lnTo>
                      <a:pt x="131" y="292"/>
                    </a:lnTo>
                    <a:lnTo>
                      <a:pt x="131" y="302"/>
                    </a:lnTo>
                    <a:lnTo>
                      <a:pt x="137" y="308"/>
                    </a:lnTo>
                    <a:lnTo>
                      <a:pt x="137" y="313"/>
                    </a:lnTo>
                    <a:lnTo>
                      <a:pt x="142" y="318"/>
                    </a:lnTo>
                    <a:lnTo>
                      <a:pt x="142" y="324"/>
                    </a:lnTo>
                    <a:lnTo>
                      <a:pt x="148" y="329"/>
                    </a:lnTo>
                    <a:lnTo>
                      <a:pt x="148" y="340"/>
                    </a:lnTo>
                    <a:lnTo>
                      <a:pt x="154" y="345"/>
                    </a:lnTo>
                    <a:lnTo>
                      <a:pt x="154" y="350"/>
                    </a:lnTo>
                    <a:lnTo>
                      <a:pt x="159" y="356"/>
                    </a:lnTo>
                    <a:lnTo>
                      <a:pt x="159" y="361"/>
                    </a:lnTo>
                    <a:lnTo>
                      <a:pt x="165" y="366"/>
                    </a:lnTo>
                    <a:lnTo>
                      <a:pt x="165" y="382"/>
                    </a:lnTo>
                    <a:lnTo>
                      <a:pt x="171" y="387"/>
                    </a:lnTo>
                    <a:lnTo>
                      <a:pt x="171" y="393"/>
                    </a:lnTo>
                    <a:lnTo>
                      <a:pt x="176" y="398"/>
                    </a:lnTo>
                    <a:lnTo>
                      <a:pt x="176" y="403"/>
                    </a:lnTo>
                    <a:lnTo>
                      <a:pt x="182" y="409"/>
                    </a:lnTo>
                    <a:lnTo>
                      <a:pt x="182" y="419"/>
                    </a:lnTo>
                    <a:lnTo>
                      <a:pt x="188" y="425"/>
                    </a:lnTo>
                    <a:lnTo>
                      <a:pt x="188" y="430"/>
                    </a:lnTo>
                    <a:lnTo>
                      <a:pt x="193" y="435"/>
                    </a:lnTo>
                    <a:lnTo>
                      <a:pt x="193" y="441"/>
                    </a:lnTo>
                    <a:lnTo>
                      <a:pt x="199" y="446"/>
                    </a:lnTo>
                    <a:lnTo>
                      <a:pt x="199" y="451"/>
                    </a:lnTo>
                    <a:lnTo>
                      <a:pt x="205" y="457"/>
                    </a:lnTo>
                    <a:lnTo>
                      <a:pt x="205" y="467"/>
                    </a:lnTo>
                    <a:lnTo>
                      <a:pt x="210" y="473"/>
                    </a:lnTo>
                    <a:lnTo>
                      <a:pt x="210" y="478"/>
                    </a:lnTo>
                    <a:lnTo>
                      <a:pt x="216" y="483"/>
                    </a:lnTo>
                    <a:lnTo>
                      <a:pt x="216" y="488"/>
                    </a:lnTo>
                    <a:lnTo>
                      <a:pt x="222" y="494"/>
                    </a:lnTo>
                    <a:lnTo>
                      <a:pt x="222" y="504"/>
                    </a:lnTo>
                    <a:lnTo>
                      <a:pt x="227" y="510"/>
                    </a:lnTo>
                    <a:lnTo>
                      <a:pt x="227" y="515"/>
                    </a:lnTo>
                    <a:lnTo>
                      <a:pt x="233" y="520"/>
                    </a:lnTo>
                    <a:lnTo>
                      <a:pt x="233" y="526"/>
                    </a:lnTo>
                    <a:lnTo>
                      <a:pt x="239" y="531"/>
                    </a:lnTo>
                    <a:lnTo>
                      <a:pt x="239" y="542"/>
                    </a:lnTo>
                    <a:lnTo>
                      <a:pt x="244" y="547"/>
                    </a:lnTo>
                    <a:lnTo>
                      <a:pt x="244" y="552"/>
                    </a:lnTo>
                    <a:lnTo>
                      <a:pt x="250" y="558"/>
                    </a:lnTo>
                    <a:lnTo>
                      <a:pt x="250" y="563"/>
                    </a:lnTo>
                    <a:lnTo>
                      <a:pt x="256" y="568"/>
                    </a:lnTo>
                    <a:lnTo>
                      <a:pt x="256" y="573"/>
                    </a:lnTo>
                    <a:lnTo>
                      <a:pt x="261" y="579"/>
                    </a:lnTo>
                    <a:lnTo>
                      <a:pt x="261" y="589"/>
                    </a:lnTo>
                    <a:lnTo>
                      <a:pt x="267" y="595"/>
                    </a:lnTo>
                    <a:lnTo>
                      <a:pt x="267" y="600"/>
                    </a:lnTo>
                    <a:lnTo>
                      <a:pt x="273" y="605"/>
                    </a:lnTo>
                    <a:lnTo>
                      <a:pt x="273" y="611"/>
                    </a:lnTo>
                    <a:lnTo>
                      <a:pt x="278" y="616"/>
                    </a:lnTo>
                    <a:lnTo>
                      <a:pt x="278" y="627"/>
                    </a:lnTo>
                    <a:lnTo>
                      <a:pt x="284" y="632"/>
                    </a:lnTo>
                    <a:lnTo>
                      <a:pt x="284" y="637"/>
                    </a:lnTo>
                    <a:lnTo>
                      <a:pt x="290" y="643"/>
                    </a:lnTo>
                    <a:lnTo>
                      <a:pt x="290" y="648"/>
                    </a:lnTo>
                    <a:lnTo>
                      <a:pt x="295" y="653"/>
                    </a:lnTo>
                    <a:lnTo>
                      <a:pt x="295" y="664"/>
                    </a:lnTo>
                    <a:lnTo>
                      <a:pt x="301" y="669"/>
                    </a:lnTo>
                    <a:lnTo>
                      <a:pt x="307" y="674"/>
                    </a:lnTo>
                    <a:lnTo>
                      <a:pt x="307" y="680"/>
                    </a:lnTo>
                    <a:lnTo>
                      <a:pt x="312" y="685"/>
                    </a:lnTo>
                    <a:lnTo>
                      <a:pt x="312" y="696"/>
                    </a:lnTo>
                    <a:lnTo>
                      <a:pt x="318" y="701"/>
                    </a:lnTo>
                    <a:lnTo>
                      <a:pt x="318" y="706"/>
                    </a:lnTo>
                    <a:lnTo>
                      <a:pt x="324" y="712"/>
                    </a:lnTo>
                    <a:lnTo>
                      <a:pt x="324" y="717"/>
                    </a:lnTo>
                    <a:lnTo>
                      <a:pt x="329" y="722"/>
                    </a:lnTo>
                    <a:lnTo>
                      <a:pt x="335" y="728"/>
                    </a:lnTo>
                    <a:lnTo>
                      <a:pt x="335" y="738"/>
                    </a:lnTo>
                    <a:lnTo>
                      <a:pt x="341" y="744"/>
                    </a:lnTo>
                    <a:lnTo>
                      <a:pt x="341" y="749"/>
                    </a:lnTo>
                    <a:lnTo>
                      <a:pt x="346" y="754"/>
                    </a:lnTo>
                    <a:lnTo>
                      <a:pt x="352" y="759"/>
                    </a:lnTo>
                    <a:lnTo>
                      <a:pt x="352" y="770"/>
                    </a:lnTo>
                    <a:lnTo>
                      <a:pt x="363" y="781"/>
                    </a:lnTo>
                    <a:lnTo>
                      <a:pt x="363" y="786"/>
                    </a:lnTo>
                    <a:lnTo>
                      <a:pt x="369" y="791"/>
                    </a:lnTo>
                    <a:lnTo>
                      <a:pt x="369" y="802"/>
                    </a:lnTo>
                    <a:lnTo>
                      <a:pt x="375" y="807"/>
                    </a:lnTo>
                    <a:lnTo>
                      <a:pt x="380" y="8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37" name="Freeform 345">
                <a:extLst>
                  <a:ext uri="{FF2B5EF4-FFF2-40B4-BE49-F238E27FC236}">
                    <a16:creationId xmlns:a16="http://schemas.microsoft.com/office/drawing/2014/main" id="{73CD7A6C-5868-B6F7-62C4-A60FB329F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0" y="2693"/>
                <a:ext cx="652" cy="297"/>
              </a:xfrm>
              <a:custGeom>
                <a:avLst/>
                <a:gdLst>
                  <a:gd name="T0" fmla="*/ 12 w 652"/>
                  <a:gd name="T1" fmla="*/ 16 h 297"/>
                  <a:gd name="T2" fmla="*/ 23 w 652"/>
                  <a:gd name="T3" fmla="*/ 37 h 297"/>
                  <a:gd name="T4" fmla="*/ 29 w 652"/>
                  <a:gd name="T5" fmla="*/ 53 h 297"/>
                  <a:gd name="T6" fmla="*/ 46 w 652"/>
                  <a:gd name="T7" fmla="*/ 74 h 297"/>
                  <a:gd name="T8" fmla="*/ 57 w 652"/>
                  <a:gd name="T9" fmla="*/ 95 h 297"/>
                  <a:gd name="T10" fmla="*/ 68 w 652"/>
                  <a:gd name="T11" fmla="*/ 111 h 297"/>
                  <a:gd name="T12" fmla="*/ 91 w 652"/>
                  <a:gd name="T13" fmla="*/ 138 h 297"/>
                  <a:gd name="T14" fmla="*/ 108 w 652"/>
                  <a:gd name="T15" fmla="*/ 159 h 297"/>
                  <a:gd name="T16" fmla="*/ 125 w 652"/>
                  <a:gd name="T17" fmla="*/ 180 h 297"/>
                  <a:gd name="T18" fmla="*/ 136 w 652"/>
                  <a:gd name="T19" fmla="*/ 196 h 297"/>
                  <a:gd name="T20" fmla="*/ 153 w 652"/>
                  <a:gd name="T21" fmla="*/ 212 h 297"/>
                  <a:gd name="T22" fmla="*/ 165 w 652"/>
                  <a:gd name="T23" fmla="*/ 223 h 297"/>
                  <a:gd name="T24" fmla="*/ 182 w 652"/>
                  <a:gd name="T25" fmla="*/ 239 h 297"/>
                  <a:gd name="T26" fmla="*/ 199 w 652"/>
                  <a:gd name="T27" fmla="*/ 255 h 297"/>
                  <a:gd name="T28" fmla="*/ 216 w 652"/>
                  <a:gd name="T29" fmla="*/ 265 h 297"/>
                  <a:gd name="T30" fmla="*/ 233 w 652"/>
                  <a:gd name="T31" fmla="*/ 276 h 297"/>
                  <a:gd name="T32" fmla="*/ 250 w 652"/>
                  <a:gd name="T33" fmla="*/ 281 h 297"/>
                  <a:gd name="T34" fmla="*/ 267 w 652"/>
                  <a:gd name="T35" fmla="*/ 292 h 297"/>
                  <a:gd name="T36" fmla="*/ 284 w 652"/>
                  <a:gd name="T37" fmla="*/ 297 h 297"/>
                  <a:gd name="T38" fmla="*/ 301 w 652"/>
                  <a:gd name="T39" fmla="*/ 297 h 297"/>
                  <a:gd name="T40" fmla="*/ 318 w 652"/>
                  <a:gd name="T41" fmla="*/ 297 h 297"/>
                  <a:gd name="T42" fmla="*/ 335 w 652"/>
                  <a:gd name="T43" fmla="*/ 297 h 297"/>
                  <a:gd name="T44" fmla="*/ 352 w 652"/>
                  <a:gd name="T45" fmla="*/ 297 h 297"/>
                  <a:gd name="T46" fmla="*/ 369 w 652"/>
                  <a:gd name="T47" fmla="*/ 292 h 297"/>
                  <a:gd name="T48" fmla="*/ 386 w 652"/>
                  <a:gd name="T49" fmla="*/ 287 h 297"/>
                  <a:gd name="T50" fmla="*/ 403 w 652"/>
                  <a:gd name="T51" fmla="*/ 281 h 297"/>
                  <a:gd name="T52" fmla="*/ 420 w 652"/>
                  <a:gd name="T53" fmla="*/ 271 h 297"/>
                  <a:gd name="T54" fmla="*/ 437 w 652"/>
                  <a:gd name="T55" fmla="*/ 260 h 297"/>
                  <a:gd name="T56" fmla="*/ 454 w 652"/>
                  <a:gd name="T57" fmla="*/ 249 h 297"/>
                  <a:gd name="T58" fmla="*/ 471 w 652"/>
                  <a:gd name="T59" fmla="*/ 239 h 297"/>
                  <a:gd name="T60" fmla="*/ 488 w 652"/>
                  <a:gd name="T61" fmla="*/ 223 h 297"/>
                  <a:gd name="T62" fmla="*/ 505 w 652"/>
                  <a:gd name="T63" fmla="*/ 207 h 297"/>
                  <a:gd name="T64" fmla="*/ 522 w 652"/>
                  <a:gd name="T65" fmla="*/ 186 h 297"/>
                  <a:gd name="T66" fmla="*/ 539 w 652"/>
                  <a:gd name="T67" fmla="*/ 170 h 297"/>
                  <a:gd name="T68" fmla="*/ 556 w 652"/>
                  <a:gd name="T69" fmla="*/ 148 h 297"/>
                  <a:gd name="T70" fmla="*/ 573 w 652"/>
                  <a:gd name="T71" fmla="*/ 122 h 297"/>
                  <a:gd name="T72" fmla="*/ 590 w 652"/>
                  <a:gd name="T73" fmla="*/ 106 h 297"/>
                  <a:gd name="T74" fmla="*/ 601 w 652"/>
                  <a:gd name="T75" fmla="*/ 85 h 297"/>
                  <a:gd name="T76" fmla="*/ 618 w 652"/>
                  <a:gd name="T77" fmla="*/ 63 h 297"/>
                  <a:gd name="T78" fmla="*/ 624 w 652"/>
                  <a:gd name="T79" fmla="*/ 47 h 297"/>
                  <a:gd name="T80" fmla="*/ 635 w 652"/>
                  <a:gd name="T81" fmla="*/ 32 h 297"/>
                  <a:gd name="T82" fmla="*/ 647 w 652"/>
                  <a:gd name="T83" fmla="*/ 10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52" h="297">
                    <a:moveTo>
                      <a:pt x="0" y="0"/>
                    </a:moveTo>
                    <a:lnTo>
                      <a:pt x="0" y="5"/>
                    </a:lnTo>
                    <a:lnTo>
                      <a:pt x="12" y="16"/>
                    </a:lnTo>
                    <a:lnTo>
                      <a:pt x="12" y="26"/>
                    </a:lnTo>
                    <a:lnTo>
                      <a:pt x="17" y="32"/>
                    </a:lnTo>
                    <a:lnTo>
                      <a:pt x="23" y="37"/>
                    </a:lnTo>
                    <a:lnTo>
                      <a:pt x="23" y="42"/>
                    </a:lnTo>
                    <a:lnTo>
                      <a:pt x="29" y="47"/>
                    </a:lnTo>
                    <a:lnTo>
                      <a:pt x="29" y="53"/>
                    </a:lnTo>
                    <a:lnTo>
                      <a:pt x="40" y="63"/>
                    </a:lnTo>
                    <a:lnTo>
                      <a:pt x="40" y="69"/>
                    </a:lnTo>
                    <a:lnTo>
                      <a:pt x="46" y="74"/>
                    </a:lnTo>
                    <a:lnTo>
                      <a:pt x="46" y="79"/>
                    </a:lnTo>
                    <a:lnTo>
                      <a:pt x="57" y="90"/>
                    </a:lnTo>
                    <a:lnTo>
                      <a:pt x="57" y="95"/>
                    </a:lnTo>
                    <a:lnTo>
                      <a:pt x="63" y="101"/>
                    </a:lnTo>
                    <a:lnTo>
                      <a:pt x="63" y="106"/>
                    </a:lnTo>
                    <a:lnTo>
                      <a:pt x="68" y="111"/>
                    </a:lnTo>
                    <a:lnTo>
                      <a:pt x="80" y="122"/>
                    </a:lnTo>
                    <a:lnTo>
                      <a:pt x="80" y="127"/>
                    </a:lnTo>
                    <a:lnTo>
                      <a:pt x="91" y="138"/>
                    </a:lnTo>
                    <a:lnTo>
                      <a:pt x="91" y="143"/>
                    </a:lnTo>
                    <a:lnTo>
                      <a:pt x="97" y="148"/>
                    </a:lnTo>
                    <a:lnTo>
                      <a:pt x="108" y="159"/>
                    </a:lnTo>
                    <a:lnTo>
                      <a:pt x="108" y="164"/>
                    </a:lnTo>
                    <a:lnTo>
                      <a:pt x="114" y="170"/>
                    </a:lnTo>
                    <a:lnTo>
                      <a:pt x="125" y="180"/>
                    </a:lnTo>
                    <a:lnTo>
                      <a:pt x="125" y="186"/>
                    </a:lnTo>
                    <a:lnTo>
                      <a:pt x="131" y="191"/>
                    </a:lnTo>
                    <a:lnTo>
                      <a:pt x="136" y="196"/>
                    </a:lnTo>
                    <a:lnTo>
                      <a:pt x="142" y="202"/>
                    </a:lnTo>
                    <a:lnTo>
                      <a:pt x="148" y="207"/>
                    </a:lnTo>
                    <a:lnTo>
                      <a:pt x="153" y="212"/>
                    </a:lnTo>
                    <a:lnTo>
                      <a:pt x="165" y="223"/>
                    </a:lnTo>
                    <a:lnTo>
                      <a:pt x="159" y="223"/>
                    </a:lnTo>
                    <a:lnTo>
                      <a:pt x="165" y="223"/>
                    </a:lnTo>
                    <a:lnTo>
                      <a:pt x="170" y="228"/>
                    </a:lnTo>
                    <a:lnTo>
                      <a:pt x="176" y="233"/>
                    </a:lnTo>
                    <a:lnTo>
                      <a:pt x="182" y="239"/>
                    </a:lnTo>
                    <a:lnTo>
                      <a:pt x="187" y="244"/>
                    </a:lnTo>
                    <a:lnTo>
                      <a:pt x="193" y="249"/>
                    </a:lnTo>
                    <a:lnTo>
                      <a:pt x="199" y="255"/>
                    </a:lnTo>
                    <a:lnTo>
                      <a:pt x="204" y="255"/>
                    </a:lnTo>
                    <a:lnTo>
                      <a:pt x="210" y="260"/>
                    </a:lnTo>
                    <a:lnTo>
                      <a:pt x="216" y="265"/>
                    </a:lnTo>
                    <a:lnTo>
                      <a:pt x="221" y="271"/>
                    </a:lnTo>
                    <a:lnTo>
                      <a:pt x="227" y="271"/>
                    </a:lnTo>
                    <a:lnTo>
                      <a:pt x="233" y="276"/>
                    </a:lnTo>
                    <a:lnTo>
                      <a:pt x="238" y="276"/>
                    </a:lnTo>
                    <a:lnTo>
                      <a:pt x="244" y="281"/>
                    </a:lnTo>
                    <a:lnTo>
                      <a:pt x="250" y="281"/>
                    </a:lnTo>
                    <a:lnTo>
                      <a:pt x="255" y="287"/>
                    </a:lnTo>
                    <a:lnTo>
                      <a:pt x="261" y="287"/>
                    </a:lnTo>
                    <a:lnTo>
                      <a:pt x="267" y="292"/>
                    </a:lnTo>
                    <a:lnTo>
                      <a:pt x="273" y="292"/>
                    </a:lnTo>
                    <a:lnTo>
                      <a:pt x="278" y="292"/>
                    </a:lnTo>
                    <a:lnTo>
                      <a:pt x="284" y="297"/>
                    </a:lnTo>
                    <a:lnTo>
                      <a:pt x="290" y="297"/>
                    </a:lnTo>
                    <a:lnTo>
                      <a:pt x="295" y="297"/>
                    </a:lnTo>
                    <a:lnTo>
                      <a:pt x="301" y="297"/>
                    </a:lnTo>
                    <a:lnTo>
                      <a:pt x="307" y="297"/>
                    </a:lnTo>
                    <a:lnTo>
                      <a:pt x="312" y="297"/>
                    </a:lnTo>
                    <a:lnTo>
                      <a:pt x="318" y="297"/>
                    </a:lnTo>
                    <a:lnTo>
                      <a:pt x="324" y="297"/>
                    </a:lnTo>
                    <a:lnTo>
                      <a:pt x="329" y="297"/>
                    </a:lnTo>
                    <a:lnTo>
                      <a:pt x="335" y="297"/>
                    </a:lnTo>
                    <a:lnTo>
                      <a:pt x="341" y="297"/>
                    </a:lnTo>
                    <a:lnTo>
                      <a:pt x="346" y="297"/>
                    </a:lnTo>
                    <a:lnTo>
                      <a:pt x="352" y="297"/>
                    </a:lnTo>
                    <a:lnTo>
                      <a:pt x="358" y="297"/>
                    </a:lnTo>
                    <a:lnTo>
                      <a:pt x="363" y="297"/>
                    </a:lnTo>
                    <a:lnTo>
                      <a:pt x="369" y="292"/>
                    </a:lnTo>
                    <a:lnTo>
                      <a:pt x="375" y="292"/>
                    </a:lnTo>
                    <a:lnTo>
                      <a:pt x="380" y="292"/>
                    </a:lnTo>
                    <a:lnTo>
                      <a:pt x="386" y="287"/>
                    </a:lnTo>
                    <a:lnTo>
                      <a:pt x="392" y="287"/>
                    </a:lnTo>
                    <a:lnTo>
                      <a:pt x="397" y="287"/>
                    </a:lnTo>
                    <a:lnTo>
                      <a:pt x="403" y="281"/>
                    </a:lnTo>
                    <a:lnTo>
                      <a:pt x="409" y="281"/>
                    </a:lnTo>
                    <a:lnTo>
                      <a:pt x="414" y="276"/>
                    </a:lnTo>
                    <a:lnTo>
                      <a:pt x="420" y="271"/>
                    </a:lnTo>
                    <a:lnTo>
                      <a:pt x="426" y="271"/>
                    </a:lnTo>
                    <a:lnTo>
                      <a:pt x="431" y="265"/>
                    </a:lnTo>
                    <a:lnTo>
                      <a:pt x="437" y="260"/>
                    </a:lnTo>
                    <a:lnTo>
                      <a:pt x="443" y="260"/>
                    </a:lnTo>
                    <a:lnTo>
                      <a:pt x="448" y="255"/>
                    </a:lnTo>
                    <a:lnTo>
                      <a:pt x="454" y="249"/>
                    </a:lnTo>
                    <a:lnTo>
                      <a:pt x="460" y="244"/>
                    </a:lnTo>
                    <a:lnTo>
                      <a:pt x="465" y="244"/>
                    </a:lnTo>
                    <a:lnTo>
                      <a:pt x="471" y="239"/>
                    </a:lnTo>
                    <a:lnTo>
                      <a:pt x="477" y="233"/>
                    </a:lnTo>
                    <a:lnTo>
                      <a:pt x="482" y="228"/>
                    </a:lnTo>
                    <a:lnTo>
                      <a:pt x="488" y="223"/>
                    </a:lnTo>
                    <a:lnTo>
                      <a:pt x="494" y="218"/>
                    </a:lnTo>
                    <a:lnTo>
                      <a:pt x="499" y="212"/>
                    </a:lnTo>
                    <a:lnTo>
                      <a:pt x="505" y="207"/>
                    </a:lnTo>
                    <a:lnTo>
                      <a:pt x="516" y="196"/>
                    </a:lnTo>
                    <a:lnTo>
                      <a:pt x="516" y="191"/>
                    </a:lnTo>
                    <a:lnTo>
                      <a:pt x="522" y="186"/>
                    </a:lnTo>
                    <a:lnTo>
                      <a:pt x="528" y="180"/>
                    </a:lnTo>
                    <a:lnTo>
                      <a:pt x="533" y="175"/>
                    </a:lnTo>
                    <a:lnTo>
                      <a:pt x="539" y="170"/>
                    </a:lnTo>
                    <a:lnTo>
                      <a:pt x="550" y="159"/>
                    </a:lnTo>
                    <a:lnTo>
                      <a:pt x="550" y="154"/>
                    </a:lnTo>
                    <a:lnTo>
                      <a:pt x="556" y="148"/>
                    </a:lnTo>
                    <a:lnTo>
                      <a:pt x="567" y="138"/>
                    </a:lnTo>
                    <a:lnTo>
                      <a:pt x="567" y="127"/>
                    </a:lnTo>
                    <a:lnTo>
                      <a:pt x="573" y="122"/>
                    </a:lnTo>
                    <a:lnTo>
                      <a:pt x="579" y="117"/>
                    </a:lnTo>
                    <a:lnTo>
                      <a:pt x="584" y="111"/>
                    </a:lnTo>
                    <a:lnTo>
                      <a:pt x="590" y="106"/>
                    </a:lnTo>
                    <a:lnTo>
                      <a:pt x="590" y="101"/>
                    </a:lnTo>
                    <a:lnTo>
                      <a:pt x="601" y="90"/>
                    </a:lnTo>
                    <a:lnTo>
                      <a:pt x="601" y="85"/>
                    </a:lnTo>
                    <a:lnTo>
                      <a:pt x="607" y="79"/>
                    </a:lnTo>
                    <a:lnTo>
                      <a:pt x="607" y="74"/>
                    </a:lnTo>
                    <a:lnTo>
                      <a:pt x="618" y="63"/>
                    </a:lnTo>
                    <a:lnTo>
                      <a:pt x="618" y="58"/>
                    </a:lnTo>
                    <a:lnTo>
                      <a:pt x="624" y="53"/>
                    </a:lnTo>
                    <a:lnTo>
                      <a:pt x="624" y="47"/>
                    </a:lnTo>
                    <a:lnTo>
                      <a:pt x="630" y="42"/>
                    </a:lnTo>
                    <a:lnTo>
                      <a:pt x="630" y="37"/>
                    </a:lnTo>
                    <a:lnTo>
                      <a:pt x="635" y="32"/>
                    </a:lnTo>
                    <a:lnTo>
                      <a:pt x="641" y="26"/>
                    </a:lnTo>
                    <a:lnTo>
                      <a:pt x="641" y="16"/>
                    </a:lnTo>
                    <a:lnTo>
                      <a:pt x="647" y="10"/>
                    </a:lnTo>
                    <a:lnTo>
                      <a:pt x="652" y="5"/>
                    </a:lnTo>
                    <a:lnTo>
                      <a:pt x="65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38" name="Freeform 346">
                <a:extLst>
                  <a:ext uri="{FF2B5EF4-FFF2-40B4-BE49-F238E27FC236}">
                    <a16:creationId xmlns:a16="http://schemas.microsoft.com/office/drawing/2014/main" id="{41C1A710-7F68-E789-FB47-7E8777E11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880"/>
                <a:ext cx="380" cy="813"/>
              </a:xfrm>
              <a:custGeom>
                <a:avLst/>
                <a:gdLst>
                  <a:gd name="T0" fmla="*/ 12 w 380"/>
                  <a:gd name="T1" fmla="*/ 802 h 813"/>
                  <a:gd name="T2" fmla="*/ 23 w 380"/>
                  <a:gd name="T3" fmla="*/ 775 h 813"/>
                  <a:gd name="T4" fmla="*/ 34 w 380"/>
                  <a:gd name="T5" fmla="*/ 754 h 813"/>
                  <a:gd name="T6" fmla="*/ 46 w 380"/>
                  <a:gd name="T7" fmla="*/ 738 h 813"/>
                  <a:gd name="T8" fmla="*/ 57 w 380"/>
                  <a:gd name="T9" fmla="*/ 717 h 813"/>
                  <a:gd name="T10" fmla="*/ 63 w 380"/>
                  <a:gd name="T11" fmla="*/ 701 h 813"/>
                  <a:gd name="T12" fmla="*/ 74 w 380"/>
                  <a:gd name="T13" fmla="*/ 680 h 813"/>
                  <a:gd name="T14" fmla="*/ 85 w 380"/>
                  <a:gd name="T15" fmla="*/ 664 h 813"/>
                  <a:gd name="T16" fmla="*/ 91 w 380"/>
                  <a:gd name="T17" fmla="*/ 643 h 813"/>
                  <a:gd name="T18" fmla="*/ 102 w 380"/>
                  <a:gd name="T19" fmla="*/ 627 h 813"/>
                  <a:gd name="T20" fmla="*/ 108 w 380"/>
                  <a:gd name="T21" fmla="*/ 605 h 813"/>
                  <a:gd name="T22" fmla="*/ 119 w 380"/>
                  <a:gd name="T23" fmla="*/ 589 h 813"/>
                  <a:gd name="T24" fmla="*/ 125 w 380"/>
                  <a:gd name="T25" fmla="*/ 568 h 813"/>
                  <a:gd name="T26" fmla="*/ 136 w 380"/>
                  <a:gd name="T27" fmla="*/ 552 h 813"/>
                  <a:gd name="T28" fmla="*/ 142 w 380"/>
                  <a:gd name="T29" fmla="*/ 531 h 813"/>
                  <a:gd name="T30" fmla="*/ 153 w 380"/>
                  <a:gd name="T31" fmla="*/ 515 h 813"/>
                  <a:gd name="T32" fmla="*/ 159 w 380"/>
                  <a:gd name="T33" fmla="*/ 494 h 813"/>
                  <a:gd name="T34" fmla="*/ 170 w 380"/>
                  <a:gd name="T35" fmla="*/ 478 h 813"/>
                  <a:gd name="T36" fmla="*/ 176 w 380"/>
                  <a:gd name="T37" fmla="*/ 457 h 813"/>
                  <a:gd name="T38" fmla="*/ 187 w 380"/>
                  <a:gd name="T39" fmla="*/ 441 h 813"/>
                  <a:gd name="T40" fmla="*/ 193 w 380"/>
                  <a:gd name="T41" fmla="*/ 425 h 813"/>
                  <a:gd name="T42" fmla="*/ 204 w 380"/>
                  <a:gd name="T43" fmla="*/ 403 h 813"/>
                  <a:gd name="T44" fmla="*/ 210 w 380"/>
                  <a:gd name="T45" fmla="*/ 387 h 813"/>
                  <a:gd name="T46" fmla="*/ 221 w 380"/>
                  <a:gd name="T47" fmla="*/ 361 h 813"/>
                  <a:gd name="T48" fmla="*/ 227 w 380"/>
                  <a:gd name="T49" fmla="*/ 345 h 813"/>
                  <a:gd name="T50" fmla="*/ 238 w 380"/>
                  <a:gd name="T51" fmla="*/ 324 h 813"/>
                  <a:gd name="T52" fmla="*/ 244 w 380"/>
                  <a:gd name="T53" fmla="*/ 308 h 813"/>
                  <a:gd name="T54" fmla="*/ 256 w 380"/>
                  <a:gd name="T55" fmla="*/ 287 h 813"/>
                  <a:gd name="T56" fmla="*/ 261 w 380"/>
                  <a:gd name="T57" fmla="*/ 265 h 813"/>
                  <a:gd name="T58" fmla="*/ 273 w 380"/>
                  <a:gd name="T59" fmla="*/ 249 h 813"/>
                  <a:gd name="T60" fmla="*/ 278 w 380"/>
                  <a:gd name="T61" fmla="*/ 228 h 813"/>
                  <a:gd name="T62" fmla="*/ 290 w 380"/>
                  <a:gd name="T63" fmla="*/ 212 h 813"/>
                  <a:gd name="T64" fmla="*/ 295 w 380"/>
                  <a:gd name="T65" fmla="*/ 186 h 813"/>
                  <a:gd name="T66" fmla="*/ 307 w 380"/>
                  <a:gd name="T67" fmla="*/ 170 h 813"/>
                  <a:gd name="T68" fmla="*/ 312 w 380"/>
                  <a:gd name="T69" fmla="*/ 148 h 813"/>
                  <a:gd name="T70" fmla="*/ 324 w 380"/>
                  <a:gd name="T71" fmla="*/ 132 h 813"/>
                  <a:gd name="T72" fmla="*/ 329 w 380"/>
                  <a:gd name="T73" fmla="*/ 106 h 813"/>
                  <a:gd name="T74" fmla="*/ 341 w 380"/>
                  <a:gd name="T75" fmla="*/ 90 h 813"/>
                  <a:gd name="T76" fmla="*/ 346 w 380"/>
                  <a:gd name="T77" fmla="*/ 69 h 813"/>
                  <a:gd name="T78" fmla="*/ 358 w 380"/>
                  <a:gd name="T79" fmla="*/ 53 h 813"/>
                  <a:gd name="T80" fmla="*/ 363 w 380"/>
                  <a:gd name="T81" fmla="*/ 26 h 813"/>
                  <a:gd name="T82" fmla="*/ 375 w 380"/>
                  <a:gd name="T83" fmla="*/ 10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380" h="813">
                    <a:moveTo>
                      <a:pt x="0" y="813"/>
                    </a:moveTo>
                    <a:lnTo>
                      <a:pt x="6" y="807"/>
                    </a:lnTo>
                    <a:lnTo>
                      <a:pt x="12" y="802"/>
                    </a:lnTo>
                    <a:lnTo>
                      <a:pt x="12" y="791"/>
                    </a:lnTo>
                    <a:lnTo>
                      <a:pt x="23" y="781"/>
                    </a:lnTo>
                    <a:lnTo>
                      <a:pt x="23" y="775"/>
                    </a:lnTo>
                    <a:lnTo>
                      <a:pt x="29" y="770"/>
                    </a:lnTo>
                    <a:lnTo>
                      <a:pt x="29" y="759"/>
                    </a:lnTo>
                    <a:lnTo>
                      <a:pt x="34" y="754"/>
                    </a:lnTo>
                    <a:lnTo>
                      <a:pt x="40" y="749"/>
                    </a:lnTo>
                    <a:lnTo>
                      <a:pt x="40" y="744"/>
                    </a:lnTo>
                    <a:lnTo>
                      <a:pt x="46" y="738"/>
                    </a:lnTo>
                    <a:lnTo>
                      <a:pt x="46" y="728"/>
                    </a:lnTo>
                    <a:lnTo>
                      <a:pt x="51" y="722"/>
                    </a:lnTo>
                    <a:lnTo>
                      <a:pt x="57" y="717"/>
                    </a:lnTo>
                    <a:lnTo>
                      <a:pt x="57" y="712"/>
                    </a:lnTo>
                    <a:lnTo>
                      <a:pt x="63" y="706"/>
                    </a:lnTo>
                    <a:lnTo>
                      <a:pt x="63" y="701"/>
                    </a:lnTo>
                    <a:lnTo>
                      <a:pt x="68" y="696"/>
                    </a:lnTo>
                    <a:lnTo>
                      <a:pt x="68" y="685"/>
                    </a:lnTo>
                    <a:lnTo>
                      <a:pt x="74" y="680"/>
                    </a:lnTo>
                    <a:lnTo>
                      <a:pt x="74" y="674"/>
                    </a:lnTo>
                    <a:lnTo>
                      <a:pt x="80" y="669"/>
                    </a:lnTo>
                    <a:lnTo>
                      <a:pt x="85" y="664"/>
                    </a:lnTo>
                    <a:lnTo>
                      <a:pt x="85" y="653"/>
                    </a:lnTo>
                    <a:lnTo>
                      <a:pt x="91" y="648"/>
                    </a:lnTo>
                    <a:lnTo>
                      <a:pt x="91" y="643"/>
                    </a:lnTo>
                    <a:lnTo>
                      <a:pt x="97" y="637"/>
                    </a:lnTo>
                    <a:lnTo>
                      <a:pt x="97" y="632"/>
                    </a:lnTo>
                    <a:lnTo>
                      <a:pt x="102" y="627"/>
                    </a:lnTo>
                    <a:lnTo>
                      <a:pt x="102" y="616"/>
                    </a:lnTo>
                    <a:lnTo>
                      <a:pt x="108" y="611"/>
                    </a:lnTo>
                    <a:lnTo>
                      <a:pt x="108" y="605"/>
                    </a:lnTo>
                    <a:lnTo>
                      <a:pt x="114" y="600"/>
                    </a:lnTo>
                    <a:lnTo>
                      <a:pt x="114" y="595"/>
                    </a:lnTo>
                    <a:lnTo>
                      <a:pt x="119" y="589"/>
                    </a:lnTo>
                    <a:lnTo>
                      <a:pt x="119" y="579"/>
                    </a:lnTo>
                    <a:lnTo>
                      <a:pt x="125" y="573"/>
                    </a:lnTo>
                    <a:lnTo>
                      <a:pt x="125" y="568"/>
                    </a:lnTo>
                    <a:lnTo>
                      <a:pt x="131" y="563"/>
                    </a:lnTo>
                    <a:lnTo>
                      <a:pt x="131" y="558"/>
                    </a:lnTo>
                    <a:lnTo>
                      <a:pt x="136" y="552"/>
                    </a:lnTo>
                    <a:lnTo>
                      <a:pt x="136" y="547"/>
                    </a:lnTo>
                    <a:lnTo>
                      <a:pt x="142" y="542"/>
                    </a:lnTo>
                    <a:lnTo>
                      <a:pt x="142" y="531"/>
                    </a:lnTo>
                    <a:lnTo>
                      <a:pt x="148" y="526"/>
                    </a:lnTo>
                    <a:lnTo>
                      <a:pt x="148" y="520"/>
                    </a:lnTo>
                    <a:lnTo>
                      <a:pt x="153" y="515"/>
                    </a:lnTo>
                    <a:lnTo>
                      <a:pt x="153" y="510"/>
                    </a:lnTo>
                    <a:lnTo>
                      <a:pt x="159" y="504"/>
                    </a:lnTo>
                    <a:lnTo>
                      <a:pt x="159" y="494"/>
                    </a:lnTo>
                    <a:lnTo>
                      <a:pt x="165" y="488"/>
                    </a:lnTo>
                    <a:lnTo>
                      <a:pt x="165" y="483"/>
                    </a:lnTo>
                    <a:lnTo>
                      <a:pt x="170" y="478"/>
                    </a:lnTo>
                    <a:lnTo>
                      <a:pt x="170" y="473"/>
                    </a:lnTo>
                    <a:lnTo>
                      <a:pt x="176" y="467"/>
                    </a:lnTo>
                    <a:lnTo>
                      <a:pt x="176" y="457"/>
                    </a:lnTo>
                    <a:lnTo>
                      <a:pt x="182" y="451"/>
                    </a:lnTo>
                    <a:lnTo>
                      <a:pt x="182" y="446"/>
                    </a:lnTo>
                    <a:lnTo>
                      <a:pt x="187" y="441"/>
                    </a:lnTo>
                    <a:lnTo>
                      <a:pt x="187" y="435"/>
                    </a:lnTo>
                    <a:lnTo>
                      <a:pt x="193" y="430"/>
                    </a:lnTo>
                    <a:lnTo>
                      <a:pt x="193" y="425"/>
                    </a:lnTo>
                    <a:lnTo>
                      <a:pt x="199" y="419"/>
                    </a:lnTo>
                    <a:lnTo>
                      <a:pt x="199" y="409"/>
                    </a:lnTo>
                    <a:lnTo>
                      <a:pt x="204" y="403"/>
                    </a:lnTo>
                    <a:lnTo>
                      <a:pt x="204" y="398"/>
                    </a:lnTo>
                    <a:lnTo>
                      <a:pt x="210" y="393"/>
                    </a:lnTo>
                    <a:lnTo>
                      <a:pt x="210" y="387"/>
                    </a:lnTo>
                    <a:lnTo>
                      <a:pt x="216" y="382"/>
                    </a:lnTo>
                    <a:lnTo>
                      <a:pt x="216" y="366"/>
                    </a:lnTo>
                    <a:lnTo>
                      <a:pt x="221" y="361"/>
                    </a:lnTo>
                    <a:lnTo>
                      <a:pt x="221" y="356"/>
                    </a:lnTo>
                    <a:lnTo>
                      <a:pt x="227" y="350"/>
                    </a:lnTo>
                    <a:lnTo>
                      <a:pt x="227" y="345"/>
                    </a:lnTo>
                    <a:lnTo>
                      <a:pt x="233" y="340"/>
                    </a:lnTo>
                    <a:lnTo>
                      <a:pt x="233" y="329"/>
                    </a:lnTo>
                    <a:lnTo>
                      <a:pt x="238" y="324"/>
                    </a:lnTo>
                    <a:lnTo>
                      <a:pt x="238" y="318"/>
                    </a:lnTo>
                    <a:lnTo>
                      <a:pt x="244" y="313"/>
                    </a:lnTo>
                    <a:lnTo>
                      <a:pt x="244" y="308"/>
                    </a:lnTo>
                    <a:lnTo>
                      <a:pt x="250" y="302"/>
                    </a:lnTo>
                    <a:lnTo>
                      <a:pt x="250" y="292"/>
                    </a:lnTo>
                    <a:lnTo>
                      <a:pt x="256" y="287"/>
                    </a:lnTo>
                    <a:lnTo>
                      <a:pt x="256" y="276"/>
                    </a:lnTo>
                    <a:lnTo>
                      <a:pt x="261" y="271"/>
                    </a:lnTo>
                    <a:lnTo>
                      <a:pt x="261" y="265"/>
                    </a:lnTo>
                    <a:lnTo>
                      <a:pt x="267" y="260"/>
                    </a:lnTo>
                    <a:lnTo>
                      <a:pt x="267" y="255"/>
                    </a:lnTo>
                    <a:lnTo>
                      <a:pt x="273" y="249"/>
                    </a:lnTo>
                    <a:lnTo>
                      <a:pt x="273" y="239"/>
                    </a:lnTo>
                    <a:lnTo>
                      <a:pt x="278" y="233"/>
                    </a:lnTo>
                    <a:lnTo>
                      <a:pt x="278" y="228"/>
                    </a:lnTo>
                    <a:lnTo>
                      <a:pt x="284" y="223"/>
                    </a:lnTo>
                    <a:lnTo>
                      <a:pt x="284" y="217"/>
                    </a:lnTo>
                    <a:lnTo>
                      <a:pt x="290" y="212"/>
                    </a:lnTo>
                    <a:lnTo>
                      <a:pt x="290" y="196"/>
                    </a:lnTo>
                    <a:lnTo>
                      <a:pt x="295" y="191"/>
                    </a:lnTo>
                    <a:lnTo>
                      <a:pt x="295" y="186"/>
                    </a:lnTo>
                    <a:lnTo>
                      <a:pt x="301" y="180"/>
                    </a:lnTo>
                    <a:lnTo>
                      <a:pt x="301" y="175"/>
                    </a:lnTo>
                    <a:lnTo>
                      <a:pt x="307" y="170"/>
                    </a:lnTo>
                    <a:lnTo>
                      <a:pt x="307" y="159"/>
                    </a:lnTo>
                    <a:lnTo>
                      <a:pt x="312" y="154"/>
                    </a:lnTo>
                    <a:lnTo>
                      <a:pt x="312" y="148"/>
                    </a:lnTo>
                    <a:lnTo>
                      <a:pt x="318" y="143"/>
                    </a:lnTo>
                    <a:lnTo>
                      <a:pt x="318" y="138"/>
                    </a:lnTo>
                    <a:lnTo>
                      <a:pt x="324" y="132"/>
                    </a:lnTo>
                    <a:lnTo>
                      <a:pt x="324" y="122"/>
                    </a:lnTo>
                    <a:lnTo>
                      <a:pt x="329" y="116"/>
                    </a:lnTo>
                    <a:lnTo>
                      <a:pt x="329" y="106"/>
                    </a:lnTo>
                    <a:lnTo>
                      <a:pt x="335" y="101"/>
                    </a:lnTo>
                    <a:lnTo>
                      <a:pt x="335" y="95"/>
                    </a:lnTo>
                    <a:lnTo>
                      <a:pt x="341" y="90"/>
                    </a:lnTo>
                    <a:lnTo>
                      <a:pt x="341" y="85"/>
                    </a:lnTo>
                    <a:lnTo>
                      <a:pt x="346" y="79"/>
                    </a:lnTo>
                    <a:lnTo>
                      <a:pt x="346" y="69"/>
                    </a:lnTo>
                    <a:lnTo>
                      <a:pt x="352" y="63"/>
                    </a:lnTo>
                    <a:lnTo>
                      <a:pt x="352" y="58"/>
                    </a:lnTo>
                    <a:lnTo>
                      <a:pt x="358" y="53"/>
                    </a:lnTo>
                    <a:lnTo>
                      <a:pt x="358" y="47"/>
                    </a:lnTo>
                    <a:lnTo>
                      <a:pt x="363" y="42"/>
                    </a:lnTo>
                    <a:lnTo>
                      <a:pt x="363" y="26"/>
                    </a:lnTo>
                    <a:lnTo>
                      <a:pt x="369" y="21"/>
                    </a:lnTo>
                    <a:lnTo>
                      <a:pt x="369" y="15"/>
                    </a:lnTo>
                    <a:lnTo>
                      <a:pt x="375" y="10"/>
                    </a:lnTo>
                    <a:lnTo>
                      <a:pt x="375" y="5"/>
                    </a:lnTo>
                    <a:lnTo>
                      <a:pt x="3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39" name="Freeform 347">
                <a:extLst>
                  <a:ext uri="{FF2B5EF4-FFF2-40B4-BE49-F238E27FC236}">
                    <a16:creationId xmlns:a16="http://schemas.microsoft.com/office/drawing/2014/main" id="{1B8EA90E-8663-84F8-2837-B095D84BB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2" y="1178"/>
                <a:ext cx="522" cy="702"/>
              </a:xfrm>
              <a:custGeom>
                <a:avLst/>
                <a:gdLst>
                  <a:gd name="T0" fmla="*/ 6 w 522"/>
                  <a:gd name="T1" fmla="*/ 686 h 702"/>
                  <a:gd name="T2" fmla="*/ 12 w 522"/>
                  <a:gd name="T3" fmla="*/ 670 h 702"/>
                  <a:gd name="T4" fmla="*/ 23 w 522"/>
                  <a:gd name="T5" fmla="*/ 654 h 702"/>
                  <a:gd name="T6" fmla="*/ 29 w 522"/>
                  <a:gd name="T7" fmla="*/ 632 h 702"/>
                  <a:gd name="T8" fmla="*/ 40 w 522"/>
                  <a:gd name="T9" fmla="*/ 617 h 702"/>
                  <a:gd name="T10" fmla="*/ 46 w 522"/>
                  <a:gd name="T11" fmla="*/ 595 h 702"/>
                  <a:gd name="T12" fmla="*/ 57 w 522"/>
                  <a:gd name="T13" fmla="*/ 579 h 702"/>
                  <a:gd name="T14" fmla="*/ 63 w 522"/>
                  <a:gd name="T15" fmla="*/ 558 h 702"/>
                  <a:gd name="T16" fmla="*/ 74 w 522"/>
                  <a:gd name="T17" fmla="*/ 542 h 702"/>
                  <a:gd name="T18" fmla="*/ 80 w 522"/>
                  <a:gd name="T19" fmla="*/ 521 h 702"/>
                  <a:gd name="T20" fmla="*/ 91 w 522"/>
                  <a:gd name="T21" fmla="*/ 505 h 702"/>
                  <a:gd name="T22" fmla="*/ 97 w 522"/>
                  <a:gd name="T23" fmla="*/ 484 h 702"/>
                  <a:gd name="T24" fmla="*/ 108 w 522"/>
                  <a:gd name="T25" fmla="*/ 468 h 702"/>
                  <a:gd name="T26" fmla="*/ 114 w 522"/>
                  <a:gd name="T27" fmla="*/ 446 h 702"/>
                  <a:gd name="T28" fmla="*/ 125 w 522"/>
                  <a:gd name="T29" fmla="*/ 431 h 702"/>
                  <a:gd name="T30" fmla="*/ 136 w 522"/>
                  <a:gd name="T31" fmla="*/ 409 h 702"/>
                  <a:gd name="T32" fmla="*/ 142 w 522"/>
                  <a:gd name="T33" fmla="*/ 393 h 702"/>
                  <a:gd name="T34" fmla="*/ 153 w 522"/>
                  <a:gd name="T35" fmla="*/ 372 h 702"/>
                  <a:gd name="T36" fmla="*/ 165 w 522"/>
                  <a:gd name="T37" fmla="*/ 356 h 702"/>
                  <a:gd name="T38" fmla="*/ 182 w 522"/>
                  <a:gd name="T39" fmla="*/ 330 h 702"/>
                  <a:gd name="T40" fmla="*/ 187 w 522"/>
                  <a:gd name="T41" fmla="*/ 308 h 702"/>
                  <a:gd name="T42" fmla="*/ 199 w 522"/>
                  <a:gd name="T43" fmla="*/ 292 h 702"/>
                  <a:gd name="T44" fmla="*/ 216 w 522"/>
                  <a:gd name="T45" fmla="*/ 266 h 702"/>
                  <a:gd name="T46" fmla="*/ 227 w 522"/>
                  <a:gd name="T47" fmla="*/ 250 h 702"/>
                  <a:gd name="T48" fmla="*/ 238 w 522"/>
                  <a:gd name="T49" fmla="*/ 229 h 702"/>
                  <a:gd name="T50" fmla="*/ 255 w 522"/>
                  <a:gd name="T51" fmla="*/ 207 h 702"/>
                  <a:gd name="T52" fmla="*/ 261 w 522"/>
                  <a:gd name="T53" fmla="*/ 191 h 702"/>
                  <a:gd name="T54" fmla="*/ 278 w 522"/>
                  <a:gd name="T55" fmla="*/ 170 h 702"/>
                  <a:gd name="T56" fmla="*/ 295 w 522"/>
                  <a:gd name="T57" fmla="*/ 149 h 702"/>
                  <a:gd name="T58" fmla="*/ 312 w 522"/>
                  <a:gd name="T59" fmla="*/ 128 h 702"/>
                  <a:gd name="T60" fmla="*/ 329 w 522"/>
                  <a:gd name="T61" fmla="*/ 106 h 702"/>
                  <a:gd name="T62" fmla="*/ 346 w 522"/>
                  <a:gd name="T63" fmla="*/ 90 h 702"/>
                  <a:gd name="T64" fmla="*/ 357 w 522"/>
                  <a:gd name="T65" fmla="*/ 74 h 702"/>
                  <a:gd name="T66" fmla="*/ 374 w 522"/>
                  <a:gd name="T67" fmla="*/ 64 h 702"/>
                  <a:gd name="T68" fmla="*/ 391 w 522"/>
                  <a:gd name="T69" fmla="*/ 48 h 702"/>
                  <a:gd name="T70" fmla="*/ 408 w 522"/>
                  <a:gd name="T71" fmla="*/ 37 h 702"/>
                  <a:gd name="T72" fmla="*/ 425 w 522"/>
                  <a:gd name="T73" fmla="*/ 27 h 702"/>
                  <a:gd name="T74" fmla="*/ 442 w 522"/>
                  <a:gd name="T75" fmla="*/ 16 h 702"/>
                  <a:gd name="T76" fmla="*/ 459 w 522"/>
                  <a:gd name="T77" fmla="*/ 11 h 702"/>
                  <a:gd name="T78" fmla="*/ 476 w 522"/>
                  <a:gd name="T79" fmla="*/ 5 h 702"/>
                  <a:gd name="T80" fmla="*/ 493 w 522"/>
                  <a:gd name="T81" fmla="*/ 0 h 702"/>
                  <a:gd name="T82" fmla="*/ 511 w 522"/>
                  <a:gd name="T83" fmla="*/ 0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22" h="702">
                    <a:moveTo>
                      <a:pt x="0" y="702"/>
                    </a:moveTo>
                    <a:lnTo>
                      <a:pt x="0" y="691"/>
                    </a:lnTo>
                    <a:lnTo>
                      <a:pt x="6" y="686"/>
                    </a:lnTo>
                    <a:lnTo>
                      <a:pt x="6" y="680"/>
                    </a:lnTo>
                    <a:lnTo>
                      <a:pt x="12" y="675"/>
                    </a:lnTo>
                    <a:lnTo>
                      <a:pt x="12" y="670"/>
                    </a:lnTo>
                    <a:lnTo>
                      <a:pt x="17" y="664"/>
                    </a:lnTo>
                    <a:lnTo>
                      <a:pt x="17" y="659"/>
                    </a:lnTo>
                    <a:lnTo>
                      <a:pt x="23" y="654"/>
                    </a:lnTo>
                    <a:lnTo>
                      <a:pt x="23" y="643"/>
                    </a:lnTo>
                    <a:lnTo>
                      <a:pt x="29" y="638"/>
                    </a:lnTo>
                    <a:lnTo>
                      <a:pt x="29" y="632"/>
                    </a:lnTo>
                    <a:lnTo>
                      <a:pt x="34" y="627"/>
                    </a:lnTo>
                    <a:lnTo>
                      <a:pt x="34" y="622"/>
                    </a:lnTo>
                    <a:lnTo>
                      <a:pt x="40" y="617"/>
                    </a:lnTo>
                    <a:lnTo>
                      <a:pt x="40" y="606"/>
                    </a:lnTo>
                    <a:lnTo>
                      <a:pt x="46" y="601"/>
                    </a:lnTo>
                    <a:lnTo>
                      <a:pt x="46" y="595"/>
                    </a:lnTo>
                    <a:lnTo>
                      <a:pt x="51" y="590"/>
                    </a:lnTo>
                    <a:lnTo>
                      <a:pt x="51" y="585"/>
                    </a:lnTo>
                    <a:lnTo>
                      <a:pt x="57" y="579"/>
                    </a:lnTo>
                    <a:lnTo>
                      <a:pt x="57" y="569"/>
                    </a:lnTo>
                    <a:lnTo>
                      <a:pt x="63" y="563"/>
                    </a:lnTo>
                    <a:lnTo>
                      <a:pt x="63" y="558"/>
                    </a:lnTo>
                    <a:lnTo>
                      <a:pt x="68" y="553"/>
                    </a:lnTo>
                    <a:lnTo>
                      <a:pt x="68" y="547"/>
                    </a:lnTo>
                    <a:lnTo>
                      <a:pt x="74" y="542"/>
                    </a:lnTo>
                    <a:lnTo>
                      <a:pt x="74" y="537"/>
                    </a:lnTo>
                    <a:lnTo>
                      <a:pt x="80" y="531"/>
                    </a:lnTo>
                    <a:lnTo>
                      <a:pt x="80" y="521"/>
                    </a:lnTo>
                    <a:lnTo>
                      <a:pt x="85" y="516"/>
                    </a:lnTo>
                    <a:lnTo>
                      <a:pt x="85" y="510"/>
                    </a:lnTo>
                    <a:lnTo>
                      <a:pt x="91" y="505"/>
                    </a:lnTo>
                    <a:lnTo>
                      <a:pt x="91" y="500"/>
                    </a:lnTo>
                    <a:lnTo>
                      <a:pt x="97" y="494"/>
                    </a:lnTo>
                    <a:lnTo>
                      <a:pt x="97" y="484"/>
                    </a:lnTo>
                    <a:lnTo>
                      <a:pt x="102" y="478"/>
                    </a:lnTo>
                    <a:lnTo>
                      <a:pt x="102" y="473"/>
                    </a:lnTo>
                    <a:lnTo>
                      <a:pt x="108" y="468"/>
                    </a:lnTo>
                    <a:lnTo>
                      <a:pt x="108" y="462"/>
                    </a:lnTo>
                    <a:lnTo>
                      <a:pt x="114" y="457"/>
                    </a:lnTo>
                    <a:lnTo>
                      <a:pt x="114" y="446"/>
                    </a:lnTo>
                    <a:lnTo>
                      <a:pt x="119" y="441"/>
                    </a:lnTo>
                    <a:lnTo>
                      <a:pt x="125" y="436"/>
                    </a:lnTo>
                    <a:lnTo>
                      <a:pt x="125" y="431"/>
                    </a:lnTo>
                    <a:lnTo>
                      <a:pt x="131" y="425"/>
                    </a:lnTo>
                    <a:lnTo>
                      <a:pt x="131" y="415"/>
                    </a:lnTo>
                    <a:lnTo>
                      <a:pt x="136" y="409"/>
                    </a:lnTo>
                    <a:lnTo>
                      <a:pt x="136" y="404"/>
                    </a:lnTo>
                    <a:lnTo>
                      <a:pt x="142" y="399"/>
                    </a:lnTo>
                    <a:lnTo>
                      <a:pt x="142" y="393"/>
                    </a:lnTo>
                    <a:lnTo>
                      <a:pt x="148" y="388"/>
                    </a:lnTo>
                    <a:lnTo>
                      <a:pt x="153" y="383"/>
                    </a:lnTo>
                    <a:lnTo>
                      <a:pt x="153" y="372"/>
                    </a:lnTo>
                    <a:lnTo>
                      <a:pt x="159" y="367"/>
                    </a:lnTo>
                    <a:lnTo>
                      <a:pt x="159" y="361"/>
                    </a:lnTo>
                    <a:lnTo>
                      <a:pt x="165" y="356"/>
                    </a:lnTo>
                    <a:lnTo>
                      <a:pt x="170" y="351"/>
                    </a:lnTo>
                    <a:lnTo>
                      <a:pt x="170" y="340"/>
                    </a:lnTo>
                    <a:lnTo>
                      <a:pt x="182" y="330"/>
                    </a:lnTo>
                    <a:lnTo>
                      <a:pt x="182" y="324"/>
                    </a:lnTo>
                    <a:lnTo>
                      <a:pt x="187" y="319"/>
                    </a:lnTo>
                    <a:lnTo>
                      <a:pt x="187" y="308"/>
                    </a:lnTo>
                    <a:lnTo>
                      <a:pt x="193" y="303"/>
                    </a:lnTo>
                    <a:lnTo>
                      <a:pt x="199" y="298"/>
                    </a:lnTo>
                    <a:lnTo>
                      <a:pt x="199" y="292"/>
                    </a:lnTo>
                    <a:lnTo>
                      <a:pt x="210" y="282"/>
                    </a:lnTo>
                    <a:lnTo>
                      <a:pt x="210" y="271"/>
                    </a:lnTo>
                    <a:lnTo>
                      <a:pt x="216" y="266"/>
                    </a:lnTo>
                    <a:lnTo>
                      <a:pt x="221" y="260"/>
                    </a:lnTo>
                    <a:lnTo>
                      <a:pt x="221" y="255"/>
                    </a:lnTo>
                    <a:lnTo>
                      <a:pt x="227" y="250"/>
                    </a:lnTo>
                    <a:lnTo>
                      <a:pt x="227" y="245"/>
                    </a:lnTo>
                    <a:lnTo>
                      <a:pt x="238" y="234"/>
                    </a:lnTo>
                    <a:lnTo>
                      <a:pt x="238" y="229"/>
                    </a:lnTo>
                    <a:lnTo>
                      <a:pt x="244" y="223"/>
                    </a:lnTo>
                    <a:lnTo>
                      <a:pt x="244" y="218"/>
                    </a:lnTo>
                    <a:lnTo>
                      <a:pt x="255" y="207"/>
                    </a:lnTo>
                    <a:lnTo>
                      <a:pt x="255" y="202"/>
                    </a:lnTo>
                    <a:lnTo>
                      <a:pt x="261" y="197"/>
                    </a:lnTo>
                    <a:lnTo>
                      <a:pt x="261" y="191"/>
                    </a:lnTo>
                    <a:lnTo>
                      <a:pt x="267" y="186"/>
                    </a:lnTo>
                    <a:lnTo>
                      <a:pt x="278" y="175"/>
                    </a:lnTo>
                    <a:lnTo>
                      <a:pt x="278" y="170"/>
                    </a:lnTo>
                    <a:lnTo>
                      <a:pt x="289" y="159"/>
                    </a:lnTo>
                    <a:lnTo>
                      <a:pt x="289" y="154"/>
                    </a:lnTo>
                    <a:lnTo>
                      <a:pt x="295" y="149"/>
                    </a:lnTo>
                    <a:lnTo>
                      <a:pt x="306" y="138"/>
                    </a:lnTo>
                    <a:lnTo>
                      <a:pt x="306" y="133"/>
                    </a:lnTo>
                    <a:lnTo>
                      <a:pt x="312" y="128"/>
                    </a:lnTo>
                    <a:lnTo>
                      <a:pt x="323" y="117"/>
                    </a:lnTo>
                    <a:lnTo>
                      <a:pt x="323" y="112"/>
                    </a:lnTo>
                    <a:lnTo>
                      <a:pt x="329" y="106"/>
                    </a:lnTo>
                    <a:lnTo>
                      <a:pt x="335" y="101"/>
                    </a:lnTo>
                    <a:lnTo>
                      <a:pt x="340" y="96"/>
                    </a:lnTo>
                    <a:lnTo>
                      <a:pt x="346" y="90"/>
                    </a:lnTo>
                    <a:lnTo>
                      <a:pt x="352" y="85"/>
                    </a:lnTo>
                    <a:lnTo>
                      <a:pt x="363" y="74"/>
                    </a:lnTo>
                    <a:lnTo>
                      <a:pt x="357" y="74"/>
                    </a:lnTo>
                    <a:lnTo>
                      <a:pt x="363" y="74"/>
                    </a:lnTo>
                    <a:lnTo>
                      <a:pt x="369" y="69"/>
                    </a:lnTo>
                    <a:lnTo>
                      <a:pt x="374" y="64"/>
                    </a:lnTo>
                    <a:lnTo>
                      <a:pt x="380" y="59"/>
                    </a:lnTo>
                    <a:lnTo>
                      <a:pt x="386" y="53"/>
                    </a:lnTo>
                    <a:lnTo>
                      <a:pt x="391" y="48"/>
                    </a:lnTo>
                    <a:lnTo>
                      <a:pt x="397" y="43"/>
                    </a:lnTo>
                    <a:lnTo>
                      <a:pt x="403" y="43"/>
                    </a:lnTo>
                    <a:lnTo>
                      <a:pt x="408" y="37"/>
                    </a:lnTo>
                    <a:lnTo>
                      <a:pt x="414" y="32"/>
                    </a:lnTo>
                    <a:lnTo>
                      <a:pt x="420" y="27"/>
                    </a:lnTo>
                    <a:lnTo>
                      <a:pt x="425" y="27"/>
                    </a:lnTo>
                    <a:lnTo>
                      <a:pt x="431" y="21"/>
                    </a:lnTo>
                    <a:lnTo>
                      <a:pt x="437" y="21"/>
                    </a:lnTo>
                    <a:lnTo>
                      <a:pt x="442" y="16"/>
                    </a:lnTo>
                    <a:lnTo>
                      <a:pt x="448" y="16"/>
                    </a:lnTo>
                    <a:lnTo>
                      <a:pt x="454" y="11"/>
                    </a:lnTo>
                    <a:lnTo>
                      <a:pt x="459" y="11"/>
                    </a:lnTo>
                    <a:lnTo>
                      <a:pt x="465" y="5"/>
                    </a:lnTo>
                    <a:lnTo>
                      <a:pt x="471" y="5"/>
                    </a:lnTo>
                    <a:lnTo>
                      <a:pt x="476" y="5"/>
                    </a:lnTo>
                    <a:lnTo>
                      <a:pt x="482" y="0"/>
                    </a:lnTo>
                    <a:lnTo>
                      <a:pt x="488" y="0"/>
                    </a:lnTo>
                    <a:lnTo>
                      <a:pt x="493" y="0"/>
                    </a:lnTo>
                    <a:lnTo>
                      <a:pt x="499" y="0"/>
                    </a:lnTo>
                    <a:lnTo>
                      <a:pt x="505" y="0"/>
                    </a:lnTo>
                    <a:lnTo>
                      <a:pt x="511" y="0"/>
                    </a:lnTo>
                    <a:lnTo>
                      <a:pt x="516" y="0"/>
                    </a:lnTo>
                    <a:lnTo>
                      <a:pt x="52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</p:grpSp>
        <p:grpSp>
          <p:nvGrpSpPr>
            <p:cNvPr id="110940" name="Group 348">
              <a:extLst>
                <a:ext uri="{FF2B5EF4-FFF2-40B4-BE49-F238E27FC236}">
                  <a16:creationId xmlns:a16="http://schemas.microsoft.com/office/drawing/2014/main" id="{82E35848-754A-BDFA-3108-C7118085AF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9" y="2477"/>
              <a:ext cx="2325" cy="735"/>
              <a:chOff x="2358" y="1423"/>
              <a:chExt cx="2461" cy="1812"/>
            </a:xfrm>
          </p:grpSpPr>
          <p:sp>
            <p:nvSpPr>
              <p:cNvPr id="110941" name="Freeform 349">
                <a:extLst>
                  <a:ext uri="{FF2B5EF4-FFF2-40B4-BE49-F238E27FC236}">
                    <a16:creationId xmlns:a16="http://schemas.microsoft.com/office/drawing/2014/main" id="{F67EFDB5-6AAB-EA89-C1C9-3CD2A6A95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503"/>
                <a:ext cx="442" cy="818"/>
              </a:xfrm>
              <a:custGeom>
                <a:avLst/>
                <a:gdLst>
                  <a:gd name="T0" fmla="*/ 6 w 442"/>
                  <a:gd name="T1" fmla="*/ 808 h 818"/>
                  <a:gd name="T2" fmla="*/ 11 w 442"/>
                  <a:gd name="T3" fmla="*/ 792 h 818"/>
                  <a:gd name="T4" fmla="*/ 23 w 442"/>
                  <a:gd name="T5" fmla="*/ 770 h 818"/>
                  <a:gd name="T6" fmla="*/ 28 w 442"/>
                  <a:gd name="T7" fmla="*/ 754 h 818"/>
                  <a:gd name="T8" fmla="*/ 40 w 442"/>
                  <a:gd name="T9" fmla="*/ 728 h 818"/>
                  <a:gd name="T10" fmla="*/ 45 w 442"/>
                  <a:gd name="T11" fmla="*/ 712 h 818"/>
                  <a:gd name="T12" fmla="*/ 57 w 442"/>
                  <a:gd name="T13" fmla="*/ 691 h 818"/>
                  <a:gd name="T14" fmla="*/ 62 w 442"/>
                  <a:gd name="T15" fmla="*/ 675 h 818"/>
                  <a:gd name="T16" fmla="*/ 74 w 442"/>
                  <a:gd name="T17" fmla="*/ 653 h 818"/>
                  <a:gd name="T18" fmla="*/ 79 w 442"/>
                  <a:gd name="T19" fmla="*/ 632 h 818"/>
                  <a:gd name="T20" fmla="*/ 91 w 442"/>
                  <a:gd name="T21" fmla="*/ 616 h 818"/>
                  <a:gd name="T22" fmla="*/ 96 w 442"/>
                  <a:gd name="T23" fmla="*/ 595 h 818"/>
                  <a:gd name="T24" fmla="*/ 108 w 442"/>
                  <a:gd name="T25" fmla="*/ 579 h 818"/>
                  <a:gd name="T26" fmla="*/ 113 w 442"/>
                  <a:gd name="T27" fmla="*/ 558 h 818"/>
                  <a:gd name="T28" fmla="*/ 125 w 442"/>
                  <a:gd name="T29" fmla="*/ 542 h 818"/>
                  <a:gd name="T30" fmla="*/ 130 w 442"/>
                  <a:gd name="T31" fmla="*/ 521 h 818"/>
                  <a:gd name="T32" fmla="*/ 142 w 442"/>
                  <a:gd name="T33" fmla="*/ 505 h 818"/>
                  <a:gd name="T34" fmla="*/ 147 w 442"/>
                  <a:gd name="T35" fmla="*/ 483 h 818"/>
                  <a:gd name="T36" fmla="*/ 159 w 442"/>
                  <a:gd name="T37" fmla="*/ 467 h 818"/>
                  <a:gd name="T38" fmla="*/ 164 w 442"/>
                  <a:gd name="T39" fmla="*/ 446 h 818"/>
                  <a:gd name="T40" fmla="*/ 176 w 442"/>
                  <a:gd name="T41" fmla="*/ 430 h 818"/>
                  <a:gd name="T42" fmla="*/ 181 w 442"/>
                  <a:gd name="T43" fmla="*/ 409 h 818"/>
                  <a:gd name="T44" fmla="*/ 193 w 442"/>
                  <a:gd name="T45" fmla="*/ 393 h 818"/>
                  <a:gd name="T46" fmla="*/ 198 w 442"/>
                  <a:gd name="T47" fmla="*/ 377 h 818"/>
                  <a:gd name="T48" fmla="*/ 210 w 442"/>
                  <a:gd name="T49" fmla="*/ 356 h 818"/>
                  <a:gd name="T50" fmla="*/ 221 w 442"/>
                  <a:gd name="T51" fmla="*/ 340 h 818"/>
                  <a:gd name="T52" fmla="*/ 227 w 442"/>
                  <a:gd name="T53" fmla="*/ 319 h 818"/>
                  <a:gd name="T54" fmla="*/ 244 w 442"/>
                  <a:gd name="T55" fmla="*/ 292 h 818"/>
                  <a:gd name="T56" fmla="*/ 255 w 442"/>
                  <a:gd name="T57" fmla="*/ 271 h 818"/>
                  <a:gd name="T58" fmla="*/ 266 w 442"/>
                  <a:gd name="T59" fmla="*/ 250 h 818"/>
                  <a:gd name="T60" fmla="*/ 278 w 442"/>
                  <a:gd name="T61" fmla="*/ 234 h 818"/>
                  <a:gd name="T62" fmla="*/ 289 w 442"/>
                  <a:gd name="T63" fmla="*/ 212 h 818"/>
                  <a:gd name="T64" fmla="*/ 295 w 442"/>
                  <a:gd name="T65" fmla="*/ 196 h 818"/>
                  <a:gd name="T66" fmla="*/ 312 w 442"/>
                  <a:gd name="T67" fmla="*/ 175 h 818"/>
                  <a:gd name="T68" fmla="*/ 317 w 442"/>
                  <a:gd name="T69" fmla="*/ 159 h 818"/>
                  <a:gd name="T70" fmla="*/ 334 w 442"/>
                  <a:gd name="T71" fmla="*/ 133 h 818"/>
                  <a:gd name="T72" fmla="*/ 351 w 442"/>
                  <a:gd name="T73" fmla="*/ 106 h 818"/>
                  <a:gd name="T74" fmla="*/ 368 w 442"/>
                  <a:gd name="T75" fmla="*/ 90 h 818"/>
                  <a:gd name="T76" fmla="*/ 385 w 442"/>
                  <a:gd name="T77" fmla="*/ 69 h 818"/>
                  <a:gd name="T78" fmla="*/ 402 w 442"/>
                  <a:gd name="T79" fmla="*/ 48 h 818"/>
                  <a:gd name="T80" fmla="*/ 414 w 442"/>
                  <a:gd name="T81" fmla="*/ 32 h 818"/>
                  <a:gd name="T82" fmla="*/ 431 w 442"/>
                  <a:gd name="T83" fmla="*/ 1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442" h="818">
                    <a:moveTo>
                      <a:pt x="0" y="818"/>
                    </a:moveTo>
                    <a:lnTo>
                      <a:pt x="0" y="813"/>
                    </a:lnTo>
                    <a:lnTo>
                      <a:pt x="6" y="808"/>
                    </a:lnTo>
                    <a:lnTo>
                      <a:pt x="6" y="802"/>
                    </a:lnTo>
                    <a:lnTo>
                      <a:pt x="11" y="797"/>
                    </a:lnTo>
                    <a:lnTo>
                      <a:pt x="11" y="792"/>
                    </a:lnTo>
                    <a:lnTo>
                      <a:pt x="17" y="786"/>
                    </a:lnTo>
                    <a:lnTo>
                      <a:pt x="17" y="776"/>
                    </a:lnTo>
                    <a:lnTo>
                      <a:pt x="23" y="770"/>
                    </a:lnTo>
                    <a:lnTo>
                      <a:pt x="23" y="765"/>
                    </a:lnTo>
                    <a:lnTo>
                      <a:pt x="28" y="760"/>
                    </a:lnTo>
                    <a:lnTo>
                      <a:pt x="28" y="754"/>
                    </a:lnTo>
                    <a:lnTo>
                      <a:pt x="34" y="744"/>
                    </a:lnTo>
                    <a:lnTo>
                      <a:pt x="34" y="733"/>
                    </a:lnTo>
                    <a:lnTo>
                      <a:pt x="40" y="728"/>
                    </a:lnTo>
                    <a:lnTo>
                      <a:pt x="40" y="723"/>
                    </a:lnTo>
                    <a:lnTo>
                      <a:pt x="45" y="717"/>
                    </a:lnTo>
                    <a:lnTo>
                      <a:pt x="45" y="712"/>
                    </a:lnTo>
                    <a:lnTo>
                      <a:pt x="51" y="707"/>
                    </a:lnTo>
                    <a:lnTo>
                      <a:pt x="51" y="696"/>
                    </a:lnTo>
                    <a:lnTo>
                      <a:pt x="57" y="691"/>
                    </a:lnTo>
                    <a:lnTo>
                      <a:pt x="57" y="685"/>
                    </a:lnTo>
                    <a:lnTo>
                      <a:pt x="62" y="680"/>
                    </a:lnTo>
                    <a:lnTo>
                      <a:pt x="62" y="675"/>
                    </a:lnTo>
                    <a:lnTo>
                      <a:pt x="68" y="669"/>
                    </a:lnTo>
                    <a:lnTo>
                      <a:pt x="68" y="664"/>
                    </a:lnTo>
                    <a:lnTo>
                      <a:pt x="74" y="653"/>
                    </a:lnTo>
                    <a:lnTo>
                      <a:pt x="74" y="643"/>
                    </a:lnTo>
                    <a:lnTo>
                      <a:pt x="79" y="637"/>
                    </a:lnTo>
                    <a:lnTo>
                      <a:pt x="79" y="632"/>
                    </a:lnTo>
                    <a:lnTo>
                      <a:pt x="85" y="627"/>
                    </a:lnTo>
                    <a:lnTo>
                      <a:pt x="85" y="622"/>
                    </a:lnTo>
                    <a:lnTo>
                      <a:pt x="91" y="616"/>
                    </a:lnTo>
                    <a:lnTo>
                      <a:pt x="91" y="606"/>
                    </a:lnTo>
                    <a:lnTo>
                      <a:pt x="96" y="600"/>
                    </a:lnTo>
                    <a:lnTo>
                      <a:pt x="96" y="595"/>
                    </a:lnTo>
                    <a:lnTo>
                      <a:pt x="102" y="590"/>
                    </a:lnTo>
                    <a:lnTo>
                      <a:pt x="102" y="584"/>
                    </a:lnTo>
                    <a:lnTo>
                      <a:pt x="108" y="579"/>
                    </a:lnTo>
                    <a:lnTo>
                      <a:pt x="108" y="568"/>
                    </a:lnTo>
                    <a:lnTo>
                      <a:pt x="113" y="563"/>
                    </a:lnTo>
                    <a:lnTo>
                      <a:pt x="113" y="558"/>
                    </a:lnTo>
                    <a:lnTo>
                      <a:pt x="119" y="552"/>
                    </a:lnTo>
                    <a:lnTo>
                      <a:pt x="119" y="547"/>
                    </a:lnTo>
                    <a:lnTo>
                      <a:pt x="125" y="542"/>
                    </a:lnTo>
                    <a:lnTo>
                      <a:pt x="125" y="537"/>
                    </a:lnTo>
                    <a:lnTo>
                      <a:pt x="130" y="531"/>
                    </a:lnTo>
                    <a:lnTo>
                      <a:pt x="130" y="521"/>
                    </a:lnTo>
                    <a:lnTo>
                      <a:pt x="136" y="515"/>
                    </a:lnTo>
                    <a:lnTo>
                      <a:pt x="136" y="510"/>
                    </a:lnTo>
                    <a:lnTo>
                      <a:pt x="142" y="505"/>
                    </a:lnTo>
                    <a:lnTo>
                      <a:pt x="142" y="499"/>
                    </a:lnTo>
                    <a:lnTo>
                      <a:pt x="147" y="494"/>
                    </a:lnTo>
                    <a:lnTo>
                      <a:pt x="147" y="483"/>
                    </a:lnTo>
                    <a:lnTo>
                      <a:pt x="153" y="478"/>
                    </a:lnTo>
                    <a:lnTo>
                      <a:pt x="153" y="473"/>
                    </a:lnTo>
                    <a:lnTo>
                      <a:pt x="159" y="467"/>
                    </a:lnTo>
                    <a:lnTo>
                      <a:pt x="159" y="462"/>
                    </a:lnTo>
                    <a:lnTo>
                      <a:pt x="164" y="457"/>
                    </a:lnTo>
                    <a:lnTo>
                      <a:pt x="164" y="446"/>
                    </a:lnTo>
                    <a:lnTo>
                      <a:pt x="170" y="441"/>
                    </a:lnTo>
                    <a:lnTo>
                      <a:pt x="170" y="436"/>
                    </a:lnTo>
                    <a:lnTo>
                      <a:pt x="176" y="430"/>
                    </a:lnTo>
                    <a:lnTo>
                      <a:pt x="176" y="425"/>
                    </a:lnTo>
                    <a:lnTo>
                      <a:pt x="181" y="420"/>
                    </a:lnTo>
                    <a:lnTo>
                      <a:pt x="181" y="409"/>
                    </a:lnTo>
                    <a:lnTo>
                      <a:pt x="187" y="404"/>
                    </a:lnTo>
                    <a:lnTo>
                      <a:pt x="187" y="398"/>
                    </a:lnTo>
                    <a:lnTo>
                      <a:pt x="193" y="393"/>
                    </a:lnTo>
                    <a:lnTo>
                      <a:pt x="193" y="388"/>
                    </a:lnTo>
                    <a:lnTo>
                      <a:pt x="198" y="382"/>
                    </a:lnTo>
                    <a:lnTo>
                      <a:pt x="198" y="377"/>
                    </a:lnTo>
                    <a:lnTo>
                      <a:pt x="204" y="372"/>
                    </a:lnTo>
                    <a:lnTo>
                      <a:pt x="204" y="361"/>
                    </a:lnTo>
                    <a:lnTo>
                      <a:pt x="210" y="356"/>
                    </a:lnTo>
                    <a:lnTo>
                      <a:pt x="215" y="351"/>
                    </a:lnTo>
                    <a:lnTo>
                      <a:pt x="215" y="345"/>
                    </a:lnTo>
                    <a:lnTo>
                      <a:pt x="221" y="340"/>
                    </a:lnTo>
                    <a:lnTo>
                      <a:pt x="221" y="329"/>
                    </a:lnTo>
                    <a:lnTo>
                      <a:pt x="227" y="324"/>
                    </a:lnTo>
                    <a:lnTo>
                      <a:pt x="227" y="319"/>
                    </a:lnTo>
                    <a:lnTo>
                      <a:pt x="238" y="308"/>
                    </a:lnTo>
                    <a:lnTo>
                      <a:pt x="238" y="297"/>
                    </a:lnTo>
                    <a:lnTo>
                      <a:pt x="244" y="292"/>
                    </a:lnTo>
                    <a:lnTo>
                      <a:pt x="244" y="287"/>
                    </a:lnTo>
                    <a:lnTo>
                      <a:pt x="255" y="276"/>
                    </a:lnTo>
                    <a:lnTo>
                      <a:pt x="255" y="271"/>
                    </a:lnTo>
                    <a:lnTo>
                      <a:pt x="261" y="265"/>
                    </a:lnTo>
                    <a:lnTo>
                      <a:pt x="261" y="255"/>
                    </a:lnTo>
                    <a:lnTo>
                      <a:pt x="266" y="250"/>
                    </a:lnTo>
                    <a:lnTo>
                      <a:pt x="272" y="244"/>
                    </a:lnTo>
                    <a:lnTo>
                      <a:pt x="272" y="239"/>
                    </a:lnTo>
                    <a:lnTo>
                      <a:pt x="278" y="234"/>
                    </a:lnTo>
                    <a:lnTo>
                      <a:pt x="278" y="223"/>
                    </a:lnTo>
                    <a:lnTo>
                      <a:pt x="283" y="218"/>
                    </a:lnTo>
                    <a:lnTo>
                      <a:pt x="289" y="212"/>
                    </a:lnTo>
                    <a:lnTo>
                      <a:pt x="289" y="207"/>
                    </a:lnTo>
                    <a:lnTo>
                      <a:pt x="295" y="202"/>
                    </a:lnTo>
                    <a:lnTo>
                      <a:pt x="295" y="196"/>
                    </a:lnTo>
                    <a:lnTo>
                      <a:pt x="306" y="186"/>
                    </a:lnTo>
                    <a:lnTo>
                      <a:pt x="306" y="180"/>
                    </a:lnTo>
                    <a:lnTo>
                      <a:pt x="312" y="175"/>
                    </a:lnTo>
                    <a:lnTo>
                      <a:pt x="312" y="170"/>
                    </a:lnTo>
                    <a:lnTo>
                      <a:pt x="317" y="165"/>
                    </a:lnTo>
                    <a:lnTo>
                      <a:pt x="317" y="159"/>
                    </a:lnTo>
                    <a:lnTo>
                      <a:pt x="323" y="154"/>
                    </a:lnTo>
                    <a:lnTo>
                      <a:pt x="334" y="143"/>
                    </a:lnTo>
                    <a:lnTo>
                      <a:pt x="334" y="133"/>
                    </a:lnTo>
                    <a:lnTo>
                      <a:pt x="340" y="127"/>
                    </a:lnTo>
                    <a:lnTo>
                      <a:pt x="351" y="117"/>
                    </a:lnTo>
                    <a:lnTo>
                      <a:pt x="351" y="106"/>
                    </a:lnTo>
                    <a:lnTo>
                      <a:pt x="357" y="101"/>
                    </a:lnTo>
                    <a:lnTo>
                      <a:pt x="363" y="95"/>
                    </a:lnTo>
                    <a:lnTo>
                      <a:pt x="368" y="90"/>
                    </a:lnTo>
                    <a:lnTo>
                      <a:pt x="368" y="85"/>
                    </a:lnTo>
                    <a:lnTo>
                      <a:pt x="374" y="79"/>
                    </a:lnTo>
                    <a:lnTo>
                      <a:pt x="385" y="69"/>
                    </a:lnTo>
                    <a:lnTo>
                      <a:pt x="385" y="64"/>
                    </a:lnTo>
                    <a:lnTo>
                      <a:pt x="391" y="58"/>
                    </a:lnTo>
                    <a:lnTo>
                      <a:pt x="402" y="48"/>
                    </a:lnTo>
                    <a:lnTo>
                      <a:pt x="402" y="42"/>
                    </a:lnTo>
                    <a:lnTo>
                      <a:pt x="408" y="37"/>
                    </a:lnTo>
                    <a:lnTo>
                      <a:pt x="414" y="32"/>
                    </a:lnTo>
                    <a:lnTo>
                      <a:pt x="419" y="26"/>
                    </a:lnTo>
                    <a:lnTo>
                      <a:pt x="431" y="16"/>
                    </a:lnTo>
                    <a:lnTo>
                      <a:pt x="431" y="10"/>
                    </a:lnTo>
                    <a:lnTo>
                      <a:pt x="436" y="5"/>
                    </a:lnTo>
                    <a:lnTo>
                      <a:pt x="442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42" name="Freeform 350">
                <a:extLst>
                  <a:ext uri="{FF2B5EF4-FFF2-40B4-BE49-F238E27FC236}">
                    <a16:creationId xmlns:a16="http://schemas.microsoft.com/office/drawing/2014/main" id="{EDAD26A2-2AD5-BD0A-DE46-204EAE90E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1423"/>
                <a:ext cx="612" cy="521"/>
              </a:xfrm>
              <a:custGeom>
                <a:avLst/>
                <a:gdLst>
                  <a:gd name="T0" fmla="*/ 11 w 612"/>
                  <a:gd name="T1" fmla="*/ 69 h 521"/>
                  <a:gd name="T2" fmla="*/ 28 w 612"/>
                  <a:gd name="T3" fmla="*/ 53 h 521"/>
                  <a:gd name="T4" fmla="*/ 45 w 612"/>
                  <a:gd name="T5" fmla="*/ 43 h 521"/>
                  <a:gd name="T6" fmla="*/ 62 w 612"/>
                  <a:gd name="T7" fmla="*/ 32 h 521"/>
                  <a:gd name="T8" fmla="*/ 79 w 612"/>
                  <a:gd name="T9" fmla="*/ 21 h 521"/>
                  <a:gd name="T10" fmla="*/ 97 w 612"/>
                  <a:gd name="T11" fmla="*/ 11 h 521"/>
                  <a:gd name="T12" fmla="*/ 114 w 612"/>
                  <a:gd name="T13" fmla="*/ 5 h 521"/>
                  <a:gd name="T14" fmla="*/ 131 w 612"/>
                  <a:gd name="T15" fmla="*/ 0 h 521"/>
                  <a:gd name="T16" fmla="*/ 148 w 612"/>
                  <a:gd name="T17" fmla="*/ 0 h 521"/>
                  <a:gd name="T18" fmla="*/ 165 w 612"/>
                  <a:gd name="T19" fmla="*/ 0 h 521"/>
                  <a:gd name="T20" fmla="*/ 182 w 612"/>
                  <a:gd name="T21" fmla="*/ 0 h 521"/>
                  <a:gd name="T22" fmla="*/ 199 w 612"/>
                  <a:gd name="T23" fmla="*/ 0 h 521"/>
                  <a:gd name="T24" fmla="*/ 216 w 612"/>
                  <a:gd name="T25" fmla="*/ 5 h 521"/>
                  <a:gd name="T26" fmla="*/ 233 w 612"/>
                  <a:gd name="T27" fmla="*/ 11 h 521"/>
                  <a:gd name="T28" fmla="*/ 250 w 612"/>
                  <a:gd name="T29" fmla="*/ 16 h 521"/>
                  <a:gd name="T30" fmla="*/ 267 w 612"/>
                  <a:gd name="T31" fmla="*/ 27 h 521"/>
                  <a:gd name="T32" fmla="*/ 284 w 612"/>
                  <a:gd name="T33" fmla="*/ 37 h 521"/>
                  <a:gd name="T34" fmla="*/ 301 w 612"/>
                  <a:gd name="T35" fmla="*/ 48 h 521"/>
                  <a:gd name="T36" fmla="*/ 318 w 612"/>
                  <a:gd name="T37" fmla="*/ 64 h 521"/>
                  <a:gd name="T38" fmla="*/ 335 w 612"/>
                  <a:gd name="T39" fmla="*/ 74 h 521"/>
                  <a:gd name="T40" fmla="*/ 352 w 612"/>
                  <a:gd name="T41" fmla="*/ 96 h 521"/>
                  <a:gd name="T42" fmla="*/ 369 w 612"/>
                  <a:gd name="T43" fmla="*/ 112 h 521"/>
                  <a:gd name="T44" fmla="*/ 386 w 612"/>
                  <a:gd name="T45" fmla="*/ 133 h 521"/>
                  <a:gd name="T46" fmla="*/ 403 w 612"/>
                  <a:gd name="T47" fmla="*/ 154 h 521"/>
                  <a:gd name="T48" fmla="*/ 414 w 612"/>
                  <a:gd name="T49" fmla="*/ 170 h 521"/>
                  <a:gd name="T50" fmla="*/ 431 w 612"/>
                  <a:gd name="T51" fmla="*/ 197 h 521"/>
                  <a:gd name="T52" fmla="*/ 448 w 612"/>
                  <a:gd name="T53" fmla="*/ 213 h 521"/>
                  <a:gd name="T54" fmla="*/ 459 w 612"/>
                  <a:gd name="T55" fmla="*/ 234 h 521"/>
                  <a:gd name="T56" fmla="*/ 471 w 612"/>
                  <a:gd name="T57" fmla="*/ 250 h 521"/>
                  <a:gd name="T58" fmla="*/ 482 w 612"/>
                  <a:gd name="T59" fmla="*/ 271 h 521"/>
                  <a:gd name="T60" fmla="*/ 493 w 612"/>
                  <a:gd name="T61" fmla="*/ 287 h 521"/>
                  <a:gd name="T62" fmla="*/ 505 w 612"/>
                  <a:gd name="T63" fmla="*/ 314 h 521"/>
                  <a:gd name="T64" fmla="*/ 516 w 612"/>
                  <a:gd name="T65" fmla="*/ 330 h 521"/>
                  <a:gd name="T66" fmla="*/ 533 w 612"/>
                  <a:gd name="T67" fmla="*/ 356 h 521"/>
                  <a:gd name="T68" fmla="*/ 539 w 612"/>
                  <a:gd name="T69" fmla="*/ 372 h 521"/>
                  <a:gd name="T70" fmla="*/ 550 w 612"/>
                  <a:gd name="T71" fmla="*/ 393 h 521"/>
                  <a:gd name="T72" fmla="*/ 561 w 612"/>
                  <a:gd name="T73" fmla="*/ 409 h 521"/>
                  <a:gd name="T74" fmla="*/ 567 w 612"/>
                  <a:gd name="T75" fmla="*/ 431 h 521"/>
                  <a:gd name="T76" fmla="*/ 584 w 612"/>
                  <a:gd name="T77" fmla="*/ 457 h 521"/>
                  <a:gd name="T78" fmla="*/ 590 w 612"/>
                  <a:gd name="T79" fmla="*/ 473 h 521"/>
                  <a:gd name="T80" fmla="*/ 601 w 612"/>
                  <a:gd name="T81" fmla="*/ 489 h 521"/>
                  <a:gd name="T82" fmla="*/ 607 w 612"/>
                  <a:gd name="T83" fmla="*/ 510 h 5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12" h="521">
                    <a:moveTo>
                      <a:pt x="0" y="80"/>
                    </a:moveTo>
                    <a:lnTo>
                      <a:pt x="6" y="74"/>
                    </a:lnTo>
                    <a:lnTo>
                      <a:pt x="11" y="69"/>
                    </a:lnTo>
                    <a:lnTo>
                      <a:pt x="17" y="64"/>
                    </a:lnTo>
                    <a:lnTo>
                      <a:pt x="23" y="59"/>
                    </a:lnTo>
                    <a:lnTo>
                      <a:pt x="28" y="53"/>
                    </a:lnTo>
                    <a:lnTo>
                      <a:pt x="34" y="53"/>
                    </a:lnTo>
                    <a:lnTo>
                      <a:pt x="40" y="48"/>
                    </a:lnTo>
                    <a:lnTo>
                      <a:pt x="45" y="43"/>
                    </a:lnTo>
                    <a:lnTo>
                      <a:pt x="51" y="37"/>
                    </a:lnTo>
                    <a:lnTo>
                      <a:pt x="57" y="32"/>
                    </a:lnTo>
                    <a:lnTo>
                      <a:pt x="62" y="32"/>
                    </a:lnTo>
                    <a:lnTo>
                      <a:pt x="68" y="27"/>
                    </a:lnTo>
                    <a:lnTo>
                      <a:pt x="74" y="27"/>
                    </a:lnTo>
                    <a:lnTo>
                      <a:pt x="79" y="21"/>
                    </a:lnTo>
                    <a:lnTo>
                      <a:pt x="85" y="16"/>
                    </a:lnTo>
                    <a:lnTo>
                      <a:pt x="91" y="16"/>
                    </a:lnTo>
                    <a:lnTo>
                      <a:pt x="97" y="11"/>
                    </a:lnTo>
                    <a:lnTo>
                      <a:pt x="102" y="11"/>
                    </a:lnTo>
                    <a:lnTo>
                      <a:pt x="108" y="11"/>
                    </a:lnTo>
                    <a:lnTo>
                      <a:pt x="114" y="5"/>
                    </a:lnTo>
                    <a:lnTo>
                      <a:pt x="119" y="5"/>
                    </a:lnTo>
                    <a:lnTo>
                      <a:pt x="125" y="5"/>
                    </a:lnTo>
                    <a:lnTo>
                      <a:pt x="131" y="0"/>
                    </a:lnTo>
                    <a:lnTo>
                      <a:pt x="136" y="0"/>
                    </a:lnTo>
                    <a:lnTo>
                      <a:pt x="142" y="0"/>
                    </a:lnTo>
                    <a:lnTo>
                      <a:pt x="148" y="0"/>
                    </a:lnTo>
                    <a:lnTo>
                      <a:pt x="153" y="0"/>
                    </a:lnTo>
                    <a:lnTo>
                      <a:pt x="159" y="0"/>
                    </a:lnTo>
                    <a:lnTo>
                      <a:pt x="165" y="0"/>
                    </a:lnTo>
                    <a:lnTo>
                      <a:pt x="170" y="0"/>
                    </a:lnTo>
                    <a:lnTo>
                      <a:pt x="176" y="0"/>
                    </a:lnTo>
                    <a:lnTo>
                      <a:pt x="182" y="0"/>
                    </a:lnTo>
                    <a:lnTo>
                      <a:pt x="187" y="0"/>
                    </a:lnTo>
                    <a:lnTo>
                      <a:pt x="193" y="0"/>
                    </a:lnTo>
                    <a:lnTo>
                      <a:pt x="199" y="0"/>
                    </a:lnTo>
                    <a:lnTo>
                      <a:pt x="204" y="0"/>
                    </a:lnTo>
                    <a:lnTo>
                      <a:pt x="210" y="0"/>
                    </a:lnTo>
                    <a:lnTo>
                      <a:pt x="216" y="5"/>
                    </a:lnTo>
                    <a:lnTo>
                      <a:pt x="221" y="5"/>
                    </a:lnTo>
                    <a:lnTo>
                      <a:pt x="227" y="5"/>
                    </a:lnTo>
                    <a:lnTo>
                      <a:pt x="233" y="11"/>
                    </a:lnTo>
                    <a:lnTo>
                      <a:pt x="238" y="11"/>
                    </a:lnTo>
                    <a:lnTo>
                      <a:pt x="244" y="16"/>
                    </a:lnTo>
                    <a:lnTo>
                      <a:pt x="250" y="16"/>
                    </a:lnTo>
                    <a:lnTo>
                      <a:pt x="255" y="21"/>
                    </a:lnTo>
                    <a:lnTo>
                      <a:pt x="261" y="21"/>
                    </a:lnTo>
                    <a:lnTo>
                      <a:pt x="267" y="27"/>
                    </a:lnTo>
                    <a:lnTo>
                      <a:pt x="272" y="27"/>
                    </a:lnTo>
                    <a:lnTo>
                      <a:pt x="278" y="32"/>
                    </a:lnTo>
                    <a:lnTo>
                      <a:pt x="284" y="37"/>
                    </a:lnTo>
                    <a:lnTo>
                      <a:pt x="289" y="43"/>
                    </a:lnTo>
                    <a:lnTo>
                      <a:pt x="295" y="43"/>
                    </a:lnTo>
                    <a:lnTo>
                      <a:pt x="301" y="48"/>
                    </a:lnTo>
                    <a:lnTo>
                      <a:pt x="306" y="53"/>
                    </a:lnTo>
                    <a:lnTo>
                      <a:pt x="312" y="59"/>
                    </a:lnTo>
                    <a:lnTo>
                      <a:pt x="318" y="64"/>
                    </a:lnTo>
                    <a:lnTo>
                      <a:pt x="323" y="69"/>
                    </a:lnTo>
                    <a:lnTo>
                      <a:pt x="329" y="74"/>
                    </a:lnTo>
                    <a:lnTo>
                      <a:pt x="335" y="74"/>
                    </a:lnTo>
                    <a:lnTo>
                      <a:pt x="340" y="85"/>
                    </a:lnTo>
                    <a:lnTo>
                      <a:pt x="346" y="90"/>
                    </a:lnTo>
                    <a:lnTo>
                      <a:pt x="352" y="96"/>
                    </a:lnTo>
                    <a:lnTo>
                      <a:pt x="357" y="101"/>
                    </a:lnTo>
                    <a:lnTo>
                      <a:pt x="363" y="106"/>
                    </a:lnTo>
                    <a:lnTo>
                      <a:pt x="369" y="112"/>
                    </a:lnTo>
                    <a:lnTo>
                      <a:pt x="380" y="122"/>
                    </a:lnTo>
                    <a:lnTo>
                      <a:pt x="380" y="128"/>
                    </a:lnTo>
                    <a:lnTo>
                      <a:pt x="386" y="133"/>
                    </a:lnTo>
                    <a:lnTo>
                      <a:pt x="397" y="144"/>
                    </a:lnTo>
                    <a:lnTo>
                      <a:pt x="397" y="149"/>
                    </a:lnTo>
                    <a:lnTo>
                      <a:pt x="403" y="154"/>
                    </a:lnTo>
                    <a:lnTo>
                      <a:pt x="408" y="159"/>
                    </a:lnTo>
                    <a:lnTo>
                      <a:pt x="414" y="165"/>
                    </a:lnTo>
                    <a:lnTo>
                      <a:pt x="414" y="170"/>
                    </a:lnTo>
                    <a:lnTo>
                      <a:pt x="420" y="175"/>
                    </a:lnTo>
                    <a:lnTo>
                      <a:pt x="431" y="186"/>
                    </a:lnTo>
                    <a:lnTo>
                      <a:pt x="431" y="197"/>
                    </a:lnTo>
                    <a:lnTo>
                      <a:pt x="437" y="202"/>
                    </a:lnTo>
                    <a:lnTo>
                      <a:pt x="442" y="207"/>
                    </a:lnTo>
                    <a:lnTo>
                      <a:pt x="448" y="213"/>
                    </a:lnTo>
                    <a:lnTo>
                      <a:pt x="448" y="223"/>
                    </a:lnTo>
                    <a:lnTo>
                      <a:pt x="454" y="229"/>
                    </a:lnTo>
                    <a:lnTo>
                      <a:pt x="459" y="234"/>
                    </a:lnTo>
                    <a:lnTo>
                      <a:pt x="465" y="239"/>
                    </a:lnTo>
                    <a:lnTo>
                      <a:pt x="465" y="245"/>
                    </a:lnTo>
                    <a:lnTo>
                      <a:pt x="471" y="250"/>
                    </a:lnTo>
                    <a:lnTo>
                      <a:pt x="471" y="255"/>
                    </a:lnTo>
                    <a:lnTo>
                      <a:pt x="482" y="266"/>
                    </a:lnTo>
                    <a:lnTo>
                      <a:pt x="482" y="271"/>
                    </a:lnTo>
                    <a:lnTo>
                      <a:pt x="488" y="276"/>
                    </a:lnTo>
                    <a:lnTo>
                      <a:pt x="488" y="282"/>
                    </a:lnTo>
                    <a:lnTo>
                      <a:pt x="493" y="287"/>
                    </a:lnTo>
                    <a:lnTo>
                      <a:pt x="493" y="292"/>
                    </a:lnTo>
                    <a:lnTo>
                      <a:pt x="505" y="303"/>
                    </a:lnTo>
                    <a:lnTo>
                      <a:pt x="505" y="314"/>
                    </a:lnTo>
                    <a:lnTo>
                      <a:pt x="510" y="319"/>
                    </a:lnTo>
                    <a:lnTo>
                      <a:pt x="510" y="324"/>
                    </a:lnTo>
                    <a:lnTo>
                      <a:pt x="516" y="330"/>
                    </a:lnTo>
                    <a:lnTo>
                      <a:pt x="522" y="335"/>
                    </a:lnTo>
                    <a:lnTo>
                      <a:pt x="522" y="345"/>
                    </a:lnTo>
                    <a:lnTo>
                      <a:pt x="533" y="356"/>
                    </a:lnTo>
                    <a:lnTo>
                      <a:pt x="533" y="361"/>
                    </a:lnTo>
                    <a:lnTo>
                      <a:pt x="539" y="367"/>
                    </a:lnTo>
                    <a:lnTo>
                      <a:pt x="539" y="372"/>
                    </a:lnTo>
                    <a:lnTo>
                      <a:pt x="544" y="377"/>
                    </a:lnTo>
                    <a:lnTo>
                      <a:pt x="544" y="388"/>
                    </a:lnTo>
                    <a:lnTo>
                      <a:pt x="550" y="393"/>
                    </a:lnTo>
                    <a:lnTo>
                      <a:pt x="556" y="399"/>
                    </a:lnTo>
                    <a:lnTo>
                      <a:pt x="556" y="404"/>
                    </a:lnTo>
                    <a:lnTo>
                      <a:pt x="561" y="409"/>
                    </a:lnTo>
                    <a:lnTo>
                      <a:pt x="561" y="420"/>
                    </a:lnTo>
                    <a:lnTo>
                      <a:pt x="567" y="425"/>
                    </a:lnTo>
                    <a:lnTo>
                      <a:pt x="567" y="431"/>
                    </a:lnTo>
                    <a:lnTo>
                      <a:pt x="578" y="441"/>
                    </a:lnTo>
                    <a:lnTo>
                      <a:pt x="578" y="452"/>
                    </a:lnTo>
                    <a:lnTo>
                      <a:pt x="584" y="457"/>
                    </a:lnTo>
                    <a:lnTo>
                      <a:pt x="584" y="462"/>
                    </a:lnTo>
                    <a:lnTo>
                      <a:pt x="590" y="468"/>
                    </a:lnTo>
                    <a:lnTo>
                      <a:pt x="590" y="473"/>
                    </a:lnTo>
                    <a:lnTo>
                      <a:pt x="595" y="478"/>
                    </a:lnTo>
                    <a:lnTo>
                      <a:pt x="595" y="484"/>
                    </a:lnTo>
                    <a:lnTo>
                      <a:pt x="601" y="489"/>
                    </a:lnTo>
                    <a:lnTo>
                      <a:pt x="601" y="500"/>
                    </a:lnTo>
                    <a:lnTo>
                      <a:pt x="607" y="505"/>
                    </a:lnTo>
                    <a:lnTo>
                      <a:pt x="607" y="510"/>
                    </a:lnTo>
                    <a:lnTo>
                      <a:pt x="612" y="516"/>
                    </a:lnTo>
                    <a:lnTo>
                      <a:pt x="612" y="521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43" name="Freeform 351">
                <a:extLst>
                  <a:ext uri="{FF2B5EF4-FFF2-40B4-BE49-F238E27FC236}">
                    <a16:creationId xmlns:a16="http://schemas.microsoft.com/office/drawing/2014/main" id="{621A2EF6-EFC7-D741-0006-2EAA1A5FA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2" y="1944"/>
                <a:ext cx="363" cy="808"/>
              </a:xfrm>
              <a:custGeom>
                <a:avLst/>
                <a:gdLst>
                  <a:gd name="T0" fmla="*/ 6 w 363"/>
                  <a:gd name="T1" fmla="*/ 16 h 808"/>
                  <a:gd name="T2" fmla="*/ 17 w 363"/>
                  <a:gd name="T3" fmla="*/ 32 h 808"/>
                  <a:gd name="T4" fmla="*/ 23 w 363"/>
                  <a:gd name="T5" fmla="*/ 53 h 808"/>
                  <a:gd name="T6" fmla="*/ 34 w 363"/>
                  <a:gd name="T7" fmla="*/ 69 h 808"/>
                  <a:gd name="T8" fmla="*/ 40 w 363"/>
                  <a:gd name="T9" fmla="*/ 90 h 808"/>
                  <a:gd name="T10" fmla="*/ 51 w 363"/>
                  <a:gd name="T11" fmla="*/ 106 h 808"/>
                  <a:gd name="T12" fmla="*/ 57 w 363"/>
                  <a:gd name="T13" fmla="*/ 122 h 808"/>
                  <a:gd name="T14" fmla="*/ 68 w 363"/>
                  <a:gd name="T15" fmla="*/ 143 h 808"/>
                  <a:gd name="T16" fmla="*/ 74 w 363"/>
                  <a:gd name="T17" fmla="*/ 159 h 808"/>
                  <a:gd name="T18" fmla="*/ 85 w 363"/>
                  <a:gd name="T19" fmla="*/ 181 h 808"/>
                  <a:gd name="T20" fmla="*/ 91 w 363"/>
                  <a:gd name="T21" fmla="*/ 196 h 808"/>
                  <a:gd name="T22" fmla="*/ 102 w 363"/>
                  <a:gd name="T23" fmla="*/ 223 h 808"/>
                  <a:gd name="T24" fmla="*/ 108 w 363"/>
                  <a:gd name="T25" fmla="*/ 239 h 808"/>
                  <a:gd name="T26" fmla="*/ 120 w 363"/>
                  <a:gd name="T27" fmla="*/ 255 h 808"/>
                  <a:gd name="T28" fmla="*/ 125 w 363"/>
                  <a:gd name="T29" fmla="*/ 276 h 808"/>
                  <a:gd name="T30" fmla="*/ 137 w 363"/>
                  <a:gd name="T31" fmla="*/ 292 h 808"/>
                  <a:gd name="T32" fmla="*/ 142 w 363"/>
                  <a:gd name="T33" fmla="*/ 319 h 808"/>
                  <a:gd name="T34" fmla="*/ 154 w 363"/>
                  <a:gd name="T35" fmla="*/ 335 h 808"/>
                  <a:gd name="T36" fmla="*/ 159 w 363"/>
                  <a:gd name="T37" fmla="*/ 356 h 808"/>
                  <a:gd name="T38" fmla="*/ 171 w 363"/>
                  <a:gd name="T39" fmla="*/ 372 h 808"/>
                  <a:gd name="T40" fmla="*/ 176 w 363"/>
                  <a:gd name="T41" fmla="*/ 398 h 808"/>
                  <a:gd name="T42" fmla="*/ 188 w 363"/>
                  <a:gd name="T43" fmla="*/ 414 h 808"/>
                  <a:gd name="T44" fmla="*/ 193 w 363"/>
                  <a:gd name="T45" fmla="*/ 436 h 808"/>
                  <a:gd name="T46" fmla="*/ 205 w 363"/>
                  <a:gd name="T47" fmla="*/ 452 h 808"/>
                  <a:gd name="T48" fmla="*/ 210 w 363"/>
                  <a:gd name="T49" fmla="*/ 478 h 808"/>
                  <a:gd name="T50" fmla="*/ 222 w 363"/>
                  <a:gd name="T51" fmla="*/ 494 h 808"/>
                  <a:gd name="T52" fmla="*/ 227 w 363"/>
                  <a:gd name="T53" fmla="*/ 515 h 808"/>
                  <a:gd name="T54" fmla="*/ 239 w 363"/>
                  <a:gd name="T55" fmla="*/ 531 h 808"/>
                  <a:gd name="T56" fmla="*/ 244 w 363"/>
                  <a:gd name="T57" fmla="*/ 547 h 808"/>
                  <a:gd name="T58" fmla="*/ 256 w 363"/>
                  <a:gd name="T59" fmla="*/ 574 h 808"/>
                  <a:gd name="T60" fmla="*/ 261 w 363"/>
                  <a:gd name="T61" fmla="*/ 590 h 808"/>
                  <a:gd name="T62" fmla="*/ 273 w 363"/>
                  <a:gd name="T63" fmla="*/ 611 h 808"/>
                  <a:gd name="T64" fmla="*/ 278 w 363"/>
                  <a:gd name="T65" fmla="*/ 627 h 808"/>
                  <a:gd name="T66" fmla="*/ 290 w 363"/>
                  <a:gd name="T67" fmla="*/ 648 h 808"/>
                  <a:gd name="T68" fmla="*/ 295 w 363"/>
                  <a:gd name="T69" fmla="*/ 664 h 808"/>
                  <a:gd name="T70" fmla="*/ 307 w 363"/>
                  <a:gd name="T71" fmla="*/ 680 h 808"/>
                  <a:gd name="T72" fmla="*/ 312 w 363"/>
                  <a:gd name="T73" fmla="*/ 701 h 808"/>
                  <a:gd name="T74" fmla="*/ 324 w 363"/>
                  <a:gd name="T75" fmla="*/ 717 h 808"/>
                  <a:gd name="T76" fmla="*/ 329 w 363"/>
                  <a:gd name="T77" fmla="*/ 739 h 808"/>
                  <a:gd name="T78" fmla="*/ 341 w 363"/>
                  <a:gd name="T79" fmla="*/ 754 h 808"/>
                  <a:gd name="T80" fmla="*/ 346 w 363"/>
                  <a:gd name="T81" fmla="*/ 776 h 808"/>
                  <a:gd name="T82" fmla="*/ 358 w 363"/>
                  <a:gd name="T83" fmla="*/ 792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363" h="808">
                    <a:moveTo>
                      <a:pt x="0" y="0"/>
                    </a:moveTo>
                    <a:lnTo>
                      <a:pt x="6" y="5"/>
                    </a:lnTo>
                    <a:lnTo>
                      <a:pt x="6" y="16"/>
                    </a:lnTo>
                    <a:lnTo>
                      <a:pt x="12" y="21"/>
                    </a:lnTo>
                    <a:lnTo>
                      <a:pt x="12" y="26"/>
                    </a:lnTo>
                    <a:lnTo>
                      <a:pt x="17" y="32"/>
                    </a:lnTo>
                    <a:lnTo>
                      <a:pt x="17" y="37"/>
                    </a:lnTo>
                    <a:lnTo>
                      <a:pt x="23" y="42"/>
                    </a:lnTo>
                    <a:lnTo>
                      <a:pt x="23" y="53"/>
                    </a:lnTo>
                    <a:lnTo>
                      <a:pt x="29" y="58"/>
                    </a:lnTo>
                    <a:lnTo>
                      <a:pt x="29" y="64"/>
                    </a:lnTo>
                    <a:lnTo>
                      <a:pt x="34" y="69"/>
                    </a:lnTo>
                    <a:lnTo>
                      <a:pt x="34" y="74"/>
                    </a:lnTo>
                    <a:lnTo>
                      <a:pt x="40" y="80"/>
                    </a:lnTo>
                    <a:lnTo>
                      <a:pt x="40" y="90"/>
                    </a:lnTo>
                    <a:lnTo>
                      <a:pt x="46" y="96"/>
                    </a:lnTo>
                    <a:lnTo>
                      <a:pt x="46" y="101"/>
                    </a:lnTo>
                    <a:lnTo>
                      <a:pt x="51" y="106"/>
                    </a:lnTo>
                    <a:lnTo>
                      <a:pt x="51" y="111"/>
                    </a:lnTo>
                    <a:lnTo>
                      <a:pt x="57" y="117"/>
                    </a:lnTo>
                    <a:lnTo>
                      <a:pt x="57" y="122"/>
                    </a:lnTo>
                    <a:lnTo>
                      <a:pt x="63" y="127"/>
                    </a:lnTo>
                    <a:lnTo>
                      <a:pt x="63" y="138"/>
                    </a:lnTo>
                    <a:lnTo>
                      <a:pt x="68" y="143"/>
                    </a:lnTo>
                    <a:lnTo>
                      <a:pt x="68" y="149"/>
                    </a:lnTo>
                    <a:lnTo>
                      <a:pt x="74" y="154"/>
                    </a:lnTo>
                    <a:lnTo>
                      <a:pt x="74" y="159"/>
                    </a:lnTo>
                    <a:lnTo>
                      <a:pt x="80" y="165"/>
                    </a:lnTo>
                    <a:lnTo>
                      <a:pt x="80" y="175"/>
                    </a:lnTo>
                    <a:lnTo>
                      <a:pt x="85" y="181"/>
                    </a:lnTo>
                    <a:lnTo>
                      <a:pt x="85" y="186"/>
                    </a:lnTo>
                    <a:lnTo>
                      <a:pt x="91" y="191"/>
                    </a:lnTo>
                    <a:lnTo>
                      <a:pt x="91" y="196"/>
                    </a:lnTo>
                    <a:lnTo>
                      <a:pt x="97" y="202"/>
                    </a:lnTo>
                    <a:lnTo>
                      <a:pt x="97" y="212"/>
                    </a:lnTo>
                    <a:lnTo>
                      <a:pt x="102" y="223"/>
                    </a:lnTo>
                    <a:lnTo>
                      <a:pt x="102" y="228"/>
                    </a:lnTo>
                    <a:lnTo>
                      <a:pt x="108" y="234"/>
                    </a:lnTo>
                    <a:lnTo>
                      <a:pt x="108" y="239"/>
                    </a:lnTo>
                    <a:lnTo>
                      <a:pt x="114" y="244"/>
                    </a:lnTo>
                    <a:lnTo>
                      <a:pt x="114" y="250"/>
                    </a:lnTo>
                    <a:lnTo>
                      <a:pt x="120" y="255"/>
                    </a:lnTo>
                    <a:lnTo>
                      <a:pt x="120" y="266"/>
                    </a:lnTo>
                    <a:lnTo>
                      <a:pt x="125" y="271"/>
                    </a:lnTo>
                    <a:lnTo>
                      <a:pt x="125" y="276"/>
                    </a:lnTo>
                    <a:lnTo>
                      <a:pt x="131" y="282"/>
                    </a:lnTo>
                    <a:lnTo>
                      <a:pt x="131" y="287"/>
                    </a:lnTo>
                    <a:lnTo>
                      <a:pt x="137" y="292"/>
                    </a:lnTo>
                    <a:lnTo>
                      <a:pt x="137" y="303"/>
                    </a:lnTo>
                    <a:lnTo>
                      <a:pt x="142" y="313"/>
                    </a:lnTo>
                    <a:lnTo>
                      <a:pt x="142" y="319"/>
                    </a:lnTo>
                    <a:lnTo>
                      <a:pt x="148" y="324"/>
                    </a:lnTo>
                    <a:lnTo>
                      <a:pt x="148" y="329"/>
                    </a:lnTo>
                    <a:lnTo>
                      <a:pt x="154" y="335"/>
                    </a:lnTo>
                    <a:lnTo>
                      <a:pt x="154" y="345"/>
                    </a:lnTo>
                    <a:lnTo>
                      <a:pt x="159" y="351"/>
                    </a:lnTo>
                    <a:lnTo>
                      <a:pt x="159" y="356"/>
                    </a:lnTo>
                    <a:lnTo>
                      <a:pt x="165" y="361"/>
                    </a:lnTo>
                    <a:lnTo>
                      <a:pt x="165" y="367"/>
                    </a:lnTo>
                    <a:lnTo>
                      <a:pt x="171" y="372"/>
                    </a:lnTo>
                    <a:lnTo>
                      <a:pt x="171" y="377"/>
                    </a:lnTo>
                    <a:lnTo>
                      <a:pt x="176" y="382"/>
                    </a:lnTo>
                    <a:lnTo>
                      <a:pt x="176" y="398"/>
                    </a:lnTo>
                    <a:lnTo>
                      <a:pt x="182" y="404"/>
                    </a:lnTo>
                    <a:lnTo>
                      <a:pt x="182" y="409"/>
                    </a:lnTo>
                    <a:lnTo>
                      <a:pt x="188" y="414"/>
                    </a:lnTo>
                    <a:lnTo>
                      <a:pt x="188" y="420"/>
                    </a:lnTo>
                    <a:lnTo>
                      <a:pt x="193" y="425"/>
                    </a:lnTo>
                    <a:lnTo>
                      <a:pt x="193" y="436"/>
                    </a:lnTo>
                    <a:lnTo>
                      <a:pt x="199" y="441"/>
                    </a:lnTo>
                    <a:lnTo>
                      <a:pt x="199" y="446"/>
                    </a:lnTo>
                    <a:lnTo>
                      <a:pt x="205" y="452"/>
                    </a:lnTo>
                    <a:lnTo>
                      <a:pt x="205" y="457"/>
                    </a:lnTo>
                    <a:lnTo>
                      <a:pt x="210" y="468"/>
                    </a:lnTo>
                    <a:lnTo>
                      <a:pt x="210" y="478"/>
                    </a:lnTo>
                    <a:lnTo>
                      <a:pt x="216" y="483"/>
                    </a:lnTo>
                    <a:lnTo>
                      <a:pt x="216" y="489"/>
                    </a:lnTo>
                    <a:lnTo>
                      <a:pt x="222" y="494"/>
                    </a:lnTo>
                    <a:lnTo>
                      <a:pt x="222" y="499"/>
                    </a:lnTo>
                    <a:lnTo>
                      <a:pt x="227" y="505"/>
                    </a:lnTo>
                    <a:lnTo>
                      <a:pt x="227" y="515"/>
                    </a:lnTo>
                    <a:lnTo>
                      <a:pt x="233" y="521"/>
                    </a:lnTo>
                    <a:lnTo>
                      <a:pt x="233" y="526"/>
                    </a:lnTo>
                    <a:lnTo>
                      <a:pt x="239" y="531"/>
                    </a:lnTo>
                    <a:lnTo>
                      <a:pt x="239" y="537"/>
                    </a:lnTo>
                    <a:lnTo>
                      <a:pt x="244" y="542"/>
                    </a:lnTo>
                    <a:lnTo>
                      <a:pt x="244" y="547"/>
                    </a:lnTo>
                    <a:lnTo>
                      <a:pt x="250" y="558"/>
                    </a:lnTo>
                    <a:lnTo>
                      <a:pt x="250" y="568"/>
                    </a:lnTo>
                    <a:lnTo>
                      <a:pt x="256" y="574"/>
                    </a:lnTo>
                    <a:lnTo>
                      <a:pt x="256" y="579"/>
                    </a:lnTo>
                    <a:lnTo>
                      <a:pt x="261" y="584"/>
                    </a:lnTo>
                    <a:lnTo>
                      <a:pt x="261" y="590"/>
                    </a:lnTo>
                    <a:lnTo>
                      <a:pt x="267" y="595"/>
                    </a:lnTo>
                    <a:lnTo>
                      <a:pt x="267" y="606"/>
                    </a:lnTo>
                    <a:lnTo>
                      <a:pt x="273" y="611"/>
                    </a:lnTo>
                    <a:lnTo>
                      <a:pt x="273" y="616"/>
                    </a:lnTo>
                    <a:lnTo>
                      <a:pt x="278" y="622"/>
                    </a:lnTo>
                    <a:lnTo>
                      <a:pt x="278" y="627"/>
                    </a:lnTo>
                    <a:lnTo>
                      <a:pt x="284" y="632"/>
                    </a:lnTo>
                    <a:lnTo>
                      <a:pt x="284" y="643"/>
                    </a:lnTo>
                    <a:lnTo>
                      <a:pt x="290" y="648"/>
                    </a:lnTo>
                    <a:lnTo>
                      <a:pt x="290" y="654"/>
                    </a:lnTo>
                    <a:lnTo>
                      <a:pt x="295" y="659"/>
                    </a:lnTo>
                    <a:lnTo>
                      <a:pt x="295" y="664"/>
                    </a:lnTo>
                    <a:lnTo>
                      <a:pt x="301" y="669"/>
                    </a:lnTo>
                    <a:lnTo>
                      <a:pt x="301" y="675"/>
                    </a:lnTo>
                    <a:lnTo>
                      <a:pt x="307" y="680"/>
                    </a:lnTo>
                    <a:lnTo>
                      <a:pt x="307" y="691"/>
                    </a:lnTo>
                    <a:lnTo>
                      <a:pt x="312" y="696"/>
                    </a:lnTo>
                    <a:lnTo>
                      <a:pt x="312" y="701"/>
                    </a:lnTo>
                    <a:lnTo>
                      <a:pt x="318" y="707"/>
                    </a:lnTo>
                    <a:lnTo>
                      <a:pt x="318" y="712"/>
                    </a:lnTo>
                    <a:lnTo>
                      <a:pt x="324" y="717"/>
                    </a:lnTo>
                    <a:lnTo>
                      <a:pt x="324" y="728"/>
                    </a:lnTo>
                    <a:lnTo>
                      <a:pt x="329" y="733"/>
                    </a:lnTo>
                    <a:lnTo>
                      <a:pt x="329" y="739"/>
                    </a:lnTo>
                    <a:lnTo>
                      <a:pt x="335" y="744"/>
                    </a:lnTo>
                    <a:lnTo>
                      <a:pt x="335" y="749"/>
                    </a:lnTo>
                    <a:lnTo>
                      <a:pt x="341" y="754"/>
                    </a:lnTo>
                    <a:lnTo>
                      <a:pt x="341" y="765"/>
                    </a:lnTo>
                    <a:lnTo>
                      <a:pt x="346" y="770"/>
                    </a:lnTo>
                    <a:lnTo>
                      <a:pt x="346" y="776"/>
                    </a:lnTo>
                    <a:lnTo>
                      <a:pt x="352" y="781"/>
                    </a:lnTo>
                    <a:lnTo>
                      <a:pt x="352" y="786"/>
                    </a:lnTo>
                    <a:lnTo>
                      <a:pt x="358" y="792"/>
                    </a:lnTo>
                    <a:lnTo>
                      <a:pt x="358" y="802"/>
                    </a:lnTo>
                    <a:lnTo>
                      <a:pt x="363" y="808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44" name="Freeform 352">
                <a:extLst>
                  <a:ext uri="{FF2B5EF4-FFF2-40B4-BE49-F238E27FC236}">
                    <a16:creationId xmlns:a16="http://schemas.microsoft.com/office/drawing/2014/main" id="{0615B2E4-2C30-4F55-383C-D771D5F66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2752"/>
                <a:ext cx="624" cy="483"/>
              </a:xfrm>
              <a:custGeom>
                <a:avLst/>
                <a:gdLst>
                  <a:gd name="T0" fmla="*/ 6 w 624"/>
                  <a:gd name="T1" fmla="*/ 10 h 483"/>
                  <a:gd name="T2" fmla="*/ 12 w 624"/>
                  <a:gd name="T3" fmla="*/ 26 h 483"/>
                  <a:gd name="T4" fmla="*/ 23 w 624"/>
                  <a:gd name="T5" fmla="*/ 47 h 483"/>
                  <a:gd name="T6" fmla="*/ 34 w 624"/>
                  <a:gd name="T7" fmla="*/ 63 h 483"/>
                  <a:gd name="T8" fmla="*/ 40 w 624"/>
                  <a:gd name="T9" fmla="*/ 85 h 483"/>
                  <a:gd name="T10" fmla="*/ 57 w 624"/>
                  <a:gd name="T11" fmla="*/ 111 h 483"/>
                  <a:gd name="T12" fmla="*/ 68 w 624"/>
                  <a:gd name="T13" fmla="*/ 132 h 483"/>
                  <a:gd name="T14" fmla="*/ 80 w 624"/>
                  <a:gd name="T15" fmla="*/ 154 h 483"/>
                  <a:gd name="T16" fmla="*/ 91 w 624"/>
                  <a:gd name="T17" fmla="*/ 170 h 483"/>
                  <a:gd name="T18" fmla="*/ 102 w 624"/>
                  <a:gd name="T19" fmla="*/ 191 h 483"/>
                  <a:gd name="T20" fmla="*/ 108 w 624"/>
                  <a:gd name="T21" fmla="*/ 207 h 483"/>
                  <a:gd name="T22" fmla="*/ 125 w 624"/>
                  <a:gd name="T23" fmla="*/ 228 h 483"/>
                  <a:gd name="T24" fmla="*/ 131 w 624"/>
                  <a:gd name="T25" fmla="*/ 244 h 483"/>
                  <a:gd name="T26" fmla="*/ 148 w 624"/>
                  <a:gd name="T27" fmla="*/ 271 h 483"/>
                  <a:gd name="T28" fmla="*/ 165 w 624"/>
                  <a:gd name="T29" fmla="*/ 297 h 483"/>
                  <a:gd name="T30" fmla="*/ 182 w 624"/>
                  <a:gd name="T31" fmla="*/ 313 h 483"/>
                  <a:gd name="T32" fmla="*/ 199 w 624"/>
                  <a:gd name="T33" fmla="*/ 334 h 483"/>
                  <a:gd name="T34" fmla="*/ 216 w 624"/>
                  <a:gd name="T35" fmla="*/ 356 h 483"/>
                  <a:gd name="T36" fmla="*/ 227 w 624"/>
                  <a:gd name="T37" fmla="*/ 372 h 483"/>
                  <a:gd name="T38" fmla="*/ 244 w 624"/>
                  <a:gd name="T39" fmla="*/ 393 h 483"/>
                  <a:gd name="T40" fmla="*/ 261 w 624"/>
                  <a:gd name="T41" fmla="*/ 409 h 483"/>
                  <a:gd name="T42" fmla="*/ 278 w 624"/>
                  <a:gd name="T43" fmla="*/ 425 h 483"/>
                  <a:gd name="T44" fmla="*/ 295 w 624"/>
                  <a:gd name="T45" fmla="*/ 435 h 483"/>
                  <a:gd name="T46" fmla="*/ 312 w 624"/>
                  <a:gd name="T47" fmla="*/ 451 h 483"/>
                  <a:gd name="T48" fmla="*/ 329 w 624"/>
                  <a:gd name="T49" fmla="*/ 457 h 483"/>
                  <a:gd name="T50" fmla="*/ 346 w 624"/>
                  <a:gd name="T51" fmla="*/ 467 h 483"/>
                  <a:gd name="T52" fmla="*/ 363 w 624"/>
                  <a:gd name="T53" fmla="*/ 473 h 483"/>
                  <a:gd name="T54" fmla="*/ 380 w 624"/>
                  <a:gd name="T55" fmla="*/ 478 h 483"/>
                  <a:gd name="T56" fmla="*/ 397 w 624"/>
                  <a:gd name="T57" fmla="*/ 483 h 483"/>
                  <a:gd name="T58" fmla="*/ 414 w 624"/>
                  <a:gd name="T59" fmla="*/ 483 h 483"/>
                  <a:gd name="T60" fmla="*/ 426 w 624"/>
                  <a:gd name="T61" fmla="*/ 483 h 483"/>
                  <a:gd name="T62" fmla="*/ 443 w 624"/>
                  <a:gd name="T63" fmla="*/ 483 h 483"/>
                  <a:gd name="T64" fmla="*/ 460 w 624"/>
                  <a:gd name="T65" fmla="*/ 483 h 483"/>
                  <a:gd name="T66" fmla="*/ 477 w 624"/>
                  <a:gd name="T67" fmla="*/ 478 h 483"/>
                  <a:gd name="T68" fmla="*/ 494 w 624"/>
                  <a:gd name="T69" fmla="*/ 473 h 483"/>
                  <a:gd name="T70" fmla="*/ 511 w 624"/>
                  <a:gd name="T71" fmla="*/ 462 h 483"/>
                  <a:gd name="T72" fmla="*/ 528 w 624"/>
                  <a:gd name="T73" fmla="*/ 457 h 483"/>
                  <a:gd name="T74" fmla="*/ 545 w 624"/>
                  <a:gd name="T75" fmla="*/ 441 h 483"/>
                  <a:gd name="T76" fmla="*/ 562 w 624"/>
                  <a:gd name="T77" fmla="*/ 430 h 483"/>
                  <a:gd name="T78" fmla="*/ 579 w 624"/>
                  <a:gd name="T79" fmla="*/ 414 h 483"/>
                  <a:gd name="T80" fmla="*/ 596 w 624"/>
                  <a:gd name="T81" fmla="*/ 398 h 483"/>
                  <a:gd name="T82" fmla="*/ 613 w 624"/>
                  <a:gd name="T83" fmla="*/ 382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24" h="483">
                    <a:moveTo>
                      <a:pt x="0" y="0"/>
                    </a:moveTo>
                    <a:lnTo>
                      <a:pt x="0" y="5"/>
                    </a:lnTo>
                    <a:lnTo>
                      <a:pt x="6" y="10"/>
                    </a:lnTo>
                    <a:lnTo>
                      <a:pt x="6" y="16"/>
                    </a:lnTo>
                    <a:lnTo>
                      <a:pt x="12" y="21"/>
                    </a:lnTo>
                    <a:lnTo>
                      <a:pt x="12" y="26"/>
                    </a:lnTo>
                    <a:lnTo>
                      <a:pt x="17" y="32"/>
                    </a:lnTo>
                    <a:lnTo>
                      <a:pt x="17" y="42"/>
                    </a:lnTo>
                    <a:lnTo>
                      <a:pt x="23" y="47"/>
                    </a:lnTo>
                    <a:lnTo>
                      <a:pt x="29" y="53"/>
                    </a:lnTo>
                    <a:lnTo>
                      <a:pt x="29" y="58"/>
                    </a:lnTo>
                    <a:lnTo>
                      <a:pt x="34" y="63"/>
                    </a:lnTo>
                    <a:lnTo>
                      <a:pt x="34" y="74"/>
                    </a:lnTo>
                    <a:lnTo>
                      <a:pt x="40" y="79"/>
                    </a:lnTo>
                    <a:lnTo>
                      <a:pt x="40" y="85"/>
                    </a:lnTo>
                    <a:lnTo>
                      <a:pt x="51" y="95"/>
                    </a:lnTo>
                    <a:lnTo>
                      <a:pt x="51" y="106"/>
                    </a:lnTo>
                    <a:lnTo>
                      <a:pt x="57" y="111"/>
                    </a:lnTo>
                    <a:lnTo>
                      <a:pt x="57" y="117"/>
                    </a:lnTo>
                    <a:lnTo>
                      <a:pt x="68" y="127"/>
                    </a:lnTo>
                    <a:lnTo>
                      <a:pt x="68" y="132"/>
                    </a:lnTo>
                    <a:lnTo>
                      <a:pt x="74" y="138"/>
                    </a:lnTo>
                    <a:lnTo>
                      <a:pt x="74" y="148"/>
                    </a:lnTo>
                    <a:lnTo>
                      <a:pt x="80" y="154"/>
                    </a:lnTo>
                    <a:lnTo>
                      <a:pt x="85" y="159"/>
                    </a:lnTo>
                    <a:lnTo>
                      <a:pt x="85" y="164"/>
                    </a:lnTo>
                    <a:lnTo>
                      <a:pt x="91" y="170"/>
                    </a:lnTo>
                    <a:lnTo>
                      <a:pt x="91" y="180"/>
                    </a:lnTo>
                    <a:lnTo>
                      <a:pt x="97" y="186"/>
                    </a:lnTo>
                    <a:lnTo>
                      <a:pt x="102" y="191"/>
                    </a:lnTo>
                    <a:lnTo>
                      <a:pt x="102" y="196"/>
                    </a:lnTo>
                    <a:lnTo>
                      <a:pt x="108" y="202"/>
                    </a:lnTo>
                    <a:lnTo>
                      <a:pt x="108" y="207"/>
                    </a:lnTo>
                    <a:lnTo>
                      <a:pt x="119" y="218"/>
                    </a:lnTo>
                    <a:lnTo>
                      <a:pt x="119" y="223"/>
                    </a:lnTo>
                    <a:lnTo>
                      <a:pt x="125" y="228"/>
                    </a:lnTo>
                    <a:lnTo>
                      <a:pt x="125" y="233"/>
                    </a:lnTo>
                    <a:lnTo>
                      <a:pt x="131" y="239"/>
                    </a:lnTo>
                    <a:lnTo>
                      <a:pt x="131" y="244"/>
                    </a:lnTo>
                    <a:lnTo>
                      <a:pt x="136" y="249"/>
                    </a:lnTo>
                    <a:lnTo>
                      <a:pt x="148" y="260"/>
                    </a:lnTo>
                    <a:lnTo>
                      <a:pt x="148" y="271"/>
                    </a:lnTo>
                    <a:lnTo>
                      <a:pt x="153" y="276"/>
                    </a:lnTo>
                    <a:lnTo>
                      <a:pt x="165" y="287"/>
                    </a:lnTo>
                    <a:lnTo>
                      <a:pt x="165" y="297"/>
                    </a:lnTo>
                    <a:lnTo>
                      <a:pt x="170" y="303"/>
                    </a:lnTo>
                    <a:lnTo>
                      <a:pt x="176" y="308"/>
                    </a:lnTo>
                    <a:lnTo>
                      <a:pt x="182" y="313"/>
                    </a:lnTo>
                    <a:lnTo>
                      <a:pt x="182" y="318"/>
                    </a:lnTo>
                    <a:lnTo>
                      <a:pt x="187" y="324"/>
                    </a:lnTo>
                    <a:lnTo>
                      <a:pt x="199" y="334"/>
                    </a:lnTo>
                    <a:lnTo>
                      <a:pt x="199" y="340"/>
                    </a:lnTo>
                    <a:lnTo>
                      <a:pt x="204" y="345"/>
                    </a:lnTo>
                    <a:lnTo>
                      <a:pt x="216" y="356"/>
                    </a:lnTo>
                    <a:lnTo>
                      <a:pt x="216" y="361"/>
                    </a:lnTo>
                    <a:lnTo>
                      <a:pt x="221" y="366"/>
                    </a:lnTo>
                    <a:lnTo>
                      <a:pt x="227" y="372"/>
                    </a:lnTo>
                    <a:lnTo>
                      <a:pt x="233" y="377"/>
                    </a:lnTo>
                    <a:lnTo>
                      <a:pt x="244" y="388"/>
                    </a:lnTo>
                    <a:lnTo>
                      <a:pt x="244" y="393"/>
                    </a:lnTo>
                    <a:lnTo>
                      <a:pt x="250" y="398"/>
                    </a:lnTo>
                    <a:lnTo>
                      <a:pt x="255" y="404"/>
                    </a:lnTo>
                    <a:lnTo>
                      <a:pt x="261" y="409"/>
                    </a:lnTo>
                    <a:lnTo>
                      <a:pt x="267" y="414"/>
                    </a:lnTo>
                    <a:lnTo>
                      <a:pt x="272" y="419"/>
                    </a:lnTo>
                    <a:lnTo>
                      <a:pt x="278" y="425"/>
                    </a:lnTo>
                    <a:lnTo>
                      <a:pt x="284" y="430"/>
                    </a:lnTo>
                    <a:lnTo>
                      <a:pt x="289" y="430"/>
                    </a:lnTo>
                    <a:lnTo>
                      <a:pt x="295" y="435"/>
                    </a:lnTo>
                    <a:lnTo>
                      <a:pt x="301" y="441"/>
                    </a:lnTo>
                    <a:lnTo>
                      <a:pt x="306" y="446"/>
                    </a:lnTo>
                    <a:lnTo>
                      <a:pt x="312" y="451"/>
                    </a:lnTo>
                    <a:lnTo>
                      <a:pt x="318" y="451"/>
                    </a:lnTo>
                    <a:lnTo>
                      <a:pt x="323" y="457"/>
                    </a:lnTo>
                    <a:lnTo>
                      <a:pt x="329" y="457"/>
                    </a:lnTo>
                    <a:lnTo>
                      <a:pt x="335" y="462"/>
                    </a:lnTo>
                    <a:lnTo>
                      <a:pt x="340" y="467"/>
                    </a:lnTo>
                    <a:lnTo>
                      <a:pt x="346" y="467"/>
                    </a:lnTo>
                    <a:lnTo>
                      <a:pt x="352" y="473"/>
                    </a:lnTo>
                    <a:lnTo>
                      <a:pt x="357" y="473"/>
                    </a:lnTo>
                    <a:lnTo>
                      <a:pt x="363" y="473"/>
                    </a:lnTo>
                    <a:lnTo>
                      <a:pt x="369" y="478"/>
                    </a:lnTo>
                    <a:lnTo>
                      <a:pt x="374" y="478"/>
                    </a:lnTo>
                    <a:lnTo>
                      <a:pt x="380" y="478"/>
                    </a:lnTo>
                    <a:lnTo>
                      <a:pt x="386" y="483"/>
                    </a:lnTo>
                    <a:lnTo>
                      <a:pt x="392" y="483"/>
                    </a:lnTo>
                    <a:lnTo>
                      <a:pt x="397" y="483"/>
                    </a:lnTo>
                    <a:lnTo>
                      <a:pt x="403" y="483"/>
                    </a:lnTo>
                    <a:lnTo>
                      <a:pt x="409" y="483"/>
                    </a:lnTo>
                    <a:lnTo>
                      <a:pt x="414" y="483"/>
                    </a:lnTo>
                    <a:lnTo>
                      <a:pt x="420" y="483"/>
                    </a:lnTo>
                    <a:lnTo>
                      <a:pt x="431" y="483"/>
                    </a:lnTo>
                    <a:lnTo>
                      <a:pt x="426" y="483"/>
                    </a:lnTo>
                    <a:lnTo>
                      <a:pt x="431" y="483"/>
                    </a:lnTo>
                    <a:lnTo>
                      <a:pt x="437" y="483"/>
                    </a:lnTo>
                    <a:lnTo>
                      <a:pt x="443" y="483"/>
                    </a:lnTo>
                    <a:lnTo>
                      <a:pt x="448" y="483"/>
                    </a:lnTo>
                    <a:lnTo>
                      <a:pt x="454" y="483"/>
                    </a:lnTo>
                    <a:lnTo>
                      <a:pt x="460" y="483"/>
                    </a:lnTo>
                    <a:lnTo>
                      <a:pt x="465" y="483"/>
                    </a:lnTo>
                    <a:lnTo>
                      <a:pt x="471" y="478"/>
                    </a:lnTo>
                    <a:lnTo>
                      <a:pt x="477" y="478"/>
                    </a:lnTo>
                    <a:lnTo>
                      <a:pt x="482" y="478"/>
                    </a:lnTo>
                    <a:lnTo>
                      <a:pt x="488" y="473"/>
                    </a:lnTo>
                    <a:lnTo>
                      <a:pt x="494" y="473"/>
                    </a:lnTo>
                    <a:lnTo>
                      <a:pt x="499" y="467"/>
                    </a:lnTo>
                    <a:lnTo>
                      <a:pt x="505" y="467"/>
                    </a:lnTo>
                    <a:lnTo>
                      <a:pt x="511" y="462"/>
                    </a:lnTo>
                    <a:lnTo>
                      <a:pt x="516" y="462"/>
                    </a:lnTo>
                    <a:lnTo>
                      <a:pt x="522" y="457"/>
                    </a:lnTo>
                    <a:lnTo>
                      <a:pt x="528" y="457"/>
                    </a:lnTo>
                    <a:lnTo>
                      <a:pt x="533" y="451"/>
                    </a:lnTo>
                    <a:lnTo>
                      <a:pt x="539" y="446"/>
                    </a:lnTo>
                    <a:lnTo>
                      <a:pt x="545" y="441"/>
                    </a:lnTo>
                    <a:lnTo>
                      <a:pt x="550" y="441"/>
                    </a:lnTo>
                    <a:lnTo>
                      <a:pt x="556" y="435"/>
                    </a:lnTo>
                    <a:lnTo>
                      <a:pt x="562" y="430"/>
                    </a:lnTo>
                    <a:lnTo>
                      <a:pt x="567" y="425"/>
                    </a:lnTo>
                    <a:lnTo>
                      <a:pt x="573" y="419"/>
                    </a:lnTo>
                    <a:lnTo>
                      <a:pt x="579" y="414"/>
                    </a:lnTo>
                    <a:lnTo>
                      <a:pt x="584" y="409"/>
                    </a:lnTo>
                    <a:lnTo>
                      <a:pt x="590" y="409"/>
                    </a:lnTo>
                    <a:lnTo>
                      <a:pt x="596" y="398"/>
                    </a:lnTo>
                    <a:lnTo>
                      <a:pt x="601" y="393"/>
                    </a:lnTo>
                    <a:lnTo>
                      <a:pt x="607" y="388"/>
                    </a:lnTo>
                    <a:lnTo>
                      <a:pt x="613" y="382"/>
                    </a:lnTo>
                    <a:lnTo>
                      <a:pt x="618" y="377"/>
                    </a:lnTo>
                    <a:lnTo>
                      <a:pt x="624" y="372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45" name="Freeform 353">
                <a:extLst>
                  <a:ext uri="{FF2B5EF4-FFF2-40B4-BE49-F238E27FC236}">
                    <a16:creationId xmlns:a16="http://schemas.microsoft.com/office/drawing/2014/main" id="{5F69D9C6-3B17-906F-1DC5-ACDAD2898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9" y="2332"/>
                <a:ext cx="420" cy="792"/>
              </a:xfrm>
              <a:custGeom>
                <a:avLst/>
                <a:gdLst>
                  <a:gd name="T0" fmla="*/ 11 w 420"/>
                  <a:gd name="T1" fmla="*/ 781 h 792"/>
                  <a:gd name="T2" fmla="*/ 17 w 420"/>
                  <a:gd name="T3" fmla="*/ 770 h 792"/>
                  <a:gd name="T4" fmla="*/ 28 w 420"/>
                  <a:gd name="T5" fmla="*/ 754 h 792"/>
                  <a:gd name="T6" fmla="*/ 40 w 420"/>
                  <a:gd name="T7" fmla="*/ 744 h 792"/>
                  <a:gd name="T8" fmla="*/ 45 w 420"/>
                  <a:gd name="T9" fmla="*/ 733 h 792"/>
                  <a:gd name="T10" fmla="*/ 62 w 420"/>
                  <a:gd name="T11" fmla="*/ 717 h 792"/>
                  <a:gd name="T12" fmla="*/ 68 w 420"/>
                  <a:gd name="T13" fmla="*/ 701 h 792"/>
                  <a:gd name="T14" fmla="*/ 79 w 420"/>
                  <a:gd name="T15" fmla="*/ 691 h 792"/>
                  <a:gd name="T16" fmla="*/ 85 w 420"/>
                  <a:gd name="T17" fmla="*/ 675 h 792"/>
                  <a:gd name="T18" fmla="*/ 96 w 420"/>
                  <a:gd name="T19" fmla="*/ 664 h 792"/>
                  <a:gd name="T20" fmla="*/ 102 w 420"/>
                  <a:gd name="T21" fmla="*/ 653 h 792"/>
                  <a:gd name="T22" fmla="*/ 113 w 420"/>
                  <a:gd name="T23" fmla="*/ 638 h 792"/>
                  <a:gd name="T24" fmla="*/ 119 w 420"/>
                  <a:gd name="T25" fmla="*/ 627 h 792"/>
                  <a:gd name="T26" fmla="*/ 125 w 420"/>
                  <a:gd name="T27" fmla="*/ 616 h 792"/>
                  <a:gd name="T28" fmla="*/ 136 w 420"/>
                  <a:gd name="T29" fmla="*/ 600 h 792"/>
                  <a:gd name="T30" fmla="*/ 142 w 420"/>
                  <a:gd name="T31" fmla="*/ 584 h 792"/>
                  <a:gd name="T32" fmla="*/ 147 w 420"/>
                  <a:gd name="T33" fmla="*/ 574 h 792"/>
                  <a:gd name="T34" fmla="*/ 153 w 420"/>
                  <a:gd name="T35" fmla="*/ 558 h 792"/>
                  <a:gd name="T36" fmla="*/ 164 w 420"/>
                  <a:gd name="T37" fmla="*/ 542 h 792"/>
                  <a:gd name="T38" fmla="*/ 170 w 420"/>
                  <a:gd name="T39" fmla="*/ 531 h 792"/>
                  <a:gd name="T40" fmla="*/ 176 w 420"/>
                  <a:gd name="T41" fmla="*/ 515 h 792"/>
                  <a:gd name="T42" fmla="*/ 187 w 420"/>
                  <a:gd name="T43" fmla="*/ 505 h 792"/>
                  <a:gd name="T44" fmla="*/ 193 w 420"/>
                  <a:gd name="T45" fmla="*/ 494 h 792"/>
                  <a:gd name="T46" fmla="*/ 198 w 420"/>
                  <a:gd name="T47" fmla="*/ 478 h 792"/>
                  <a:gd name="T48" fmla="*/ 210 w 420"/>
                  <a:gd name="T49" fmla="*/ 462 h 792"/>
                  <a:gd name="T50" fmla="*/ 215 w 420"/>
                  <a:gd name="T51" fmla="*/ 446 h 792"/>
                  <a:gd name="T52" fmla="*/ 221 w 420"/>
                  <a:gd name="T53" fmla="*/ 436 h 792"/>
                  <a:gd name="T54" fmla="*/ 227 w 420"/>
                  <a:gd name="T55" fmla="*/ 425 h 792"/>
                  <a:gd name="T56" fmla="*/ 232 w 420"/>
                  <a:gd name="T57" fmla="*/ 414 h 792"/>
                  <a:gd name="T58" fmla="*/ 238 w 420"/>
                  <a:gd name="T59" fmla="*/ 398 h 792"/>
                  <a:gd name="T60" fmla="*/ 244 w 420"/>
                  <a:gd name="T61" fmla="*/ 388 h 792"/>
                  <a:gd name="T62" fmla="*/ 249 w 420"/>
                  <a:gd name="T63" fmla="*/ 377 h 792"/>
                  <a:gd name="T64" fmla="*/ 255 w 420"/>
                  <a:gd name="T65" fmla="*/ 361 h 792"/>
                  <a:gd name="T66" fmla="*/ 261 w 420"/>
                  <a:gd name="T67" fmla="*/ 351 h 792"/>
                  <a:gd name="T68" fmla="*/ 266 w 420"/>
                  <a:gd name="T69" fmla="*/ 340 h 792"/>
                  <a:gd name="T70" fmla="*/ 272 w 420"/>
                  <a:gd name="T71" fmla="*/ 324 h 792"/>
                  <a:gd name="T72" fmla="*/ 278 w 420"/>
                  <a:gd name="T73" fmla="*/ 313 h 792"/>
                  <a:gd name="T74" fmla="*/ 283 w 420"/>
                  <a:gd name="T75" fmla="*/ 303 h 792"/>
                  <a:gd name="T76" fmla="*/ 289 w 420"/>
                  <a:gd name="T77" fmla="*/ 287 h 792"/>
                  <a:gd name="T78" fmla="*/ 295 w 420"/>
                  <a:gd name="T79" fmla="*/ 276 h 792"/>
                  <a:gd name="T80" fmla="*/ 300 w 420"/>
                  <a:gd name="T81" fmla="*/ 266 h 792"/>
                  <a:gd name="T82" fmla="*/ 306 w 420"/>
                  <a:gd name="T83" fmla="*/ 255 h 792"/>
                  <a:gd name="T84" fmla="*/ 312 w 420"/>
                  <a:gd name="T85" fmla="*/ 239 h 792"/>
                  <a:gd name="T86" fmla="*/ 317 w 420"/>
                  <a:gd name="T87" fmla="*/ 228 h 792"/>
                  <a:gd name="T88" fmla="*/ 323 w 420"/>
                  <a:gd name="T89" fmla="*/ 218 h 792"/>
                  <a:gd name="T90" fmla="*/ 329 w 420"/>
                  <a:gd name="T91" fmla="*/ 202 h 792"/>
                  <a:gd name="T92" fmla="*/ 334 w 420"/>
                  <a:gd name="T93" fmla="*/ 191 h 792"/>
                  <a:gd name="T94" fmla="*/ 340 w 420"/>
                  <a:gd name="T95" fmla="*/ 180 h 792"/>
                  <a:gd name="T96" fmla="*/ 346 w 420"/>
                  <a:gd name="T97" fmla="*/ 159 h 792"/>
                  <a:gd name="T98" fmla="*/ 351 w 420"/>
                  <a:gd name="T99" fmla="*/ 149 h 792"/>
                  <a:gd name="T100" fmla="*/ 357 w 420"/>
                  <a:gd name="T101" fmla="*/ 138 h 792"/>
                  <a:gd name="T102" fmla="*/ 363 w 420"/>
                  <a:gd name="T103" fmla="*/ 127 h 792"/>
                  <a:gd name="T104" fmla="*/ 368 w 420"/>
                  <a:gd name="T105" fmla="*/ 111 h 792"/>
                  <a:gd name="T106" fmla="*/ 374 w 420"/>
                  <a:gd name="T107" fmla="*/ 101 h 792"/>
                  <a:gd name="T108" fmla="*/ 380 w 420"/>
                  <a:gd name="T109" fmla="*/ 90 h 792"/>
                  <a:gd name="T110" fmla="*/ 385 w 420"/>
                  <a:gd name="T111" fmla="*/ 69 h 792"/>
                  <a:gd name="T112" fmla="*/ 391 w 420"/>
                  <a:gd name="T113" fmla="*/ 58 h 792"/>
                  <a:gd name="T114" fmla="*/ 397 w 420"/>
                  <a:gd name="T115" fmla="*/ 48 h 792"/>
                  <a:gd name="T116" fmla="*/ 403 w 420"/>
                  <a:gd name="T117" fmla="*/ 32 h 792"/>
                  <a:gd name="T118" fmla="*/ 408 w 420"/>
                  <a:gd name="T119" fmla="*/ 21 h 792"/>
                  <a:gd name="T120" fmla="*/ 414 w 420"/>
                  <a:gd name="T121" fmla="*/ 10 h 792"/>
                  <a:gd name="T122" fmla="*/ 420 w 420"/>
                  <a:gd name="T123" fmla="*/ 0 h 7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20" h="792">
                    <a:moveTo>
                      <a:pt x="0" y="792"/>
                    </a:moveTo>
                    <a:lnTo>
                      <a:pt x="11" y="781"/>
                    </a:lnTo>
                    <a:lnTo>
                      <a:pt x="11" y="776"/>
                    </a:lnTo>
                    <a:lnTo>
                      <a:pt x="17" y="770"/>
                    </a:lnTo>
                    <a:lnTo>
                      <a:pt x="28" y="760"/>
                    </a:lnTo>
                    <a:lnTo>
                      <a:pt x="28" y="754"/>
                    </a:lnTo>
                    <a:lnTo>
                      <a:pt x="34" y="749"/>
                    </a:lnTo>
                    <a:lnTo>
                      <a:pt x="40" y="744"/>
                    </a:lnTo>
                    <a:lnTo>
                      <a:pt x="45" y="738"/>
                    </a:lnTo>
                    <a:lnTo>
                      <a:pt x="45" y="733"/>
                    </a:lnTo>
                    <a:lnTo>
                      <a:pt x="51" y="728"/>
                    </a:lnTo>
                    <a:lnTo>
                      <a:pt x="62" y="717"/>
                    </a:lnTo>
                    <a:lnTo>
                      <a:pt x="62" y="707"/>
                    </a:lnTo>
                    <a:lnTo>
                      <a:pt x="68" y="701"/>
                    </a:lnTo>
                    <a:lnTo>
                      <a:pt x="74" y="696"/>
                    </a:lnTo>
                    <a:lnTo>
                      <a:pt x="79" y="691"/>
                    </a:lnTo>
                    <a:lnTo>
                      <a:pt x="79" y="680"/>
                    </a:lnTo>
                    <a:lnTo>
                      <a:pt x="85" y="675"/>
                    </a:lnTo>
                    <a:lnTo>
                      <a:pt x="91" y="669"/>
                    </a:lnTo>
                    <a:lnTo>
                      <a:pt x="96" y="664"/>
                    </a:lnTo>
                    <a:lnTo>
                      <a:pt x="96" y="659"/>
                    </a:lnTo>
                    <a:lnTo>
                      <a:pt x="102" y="653"/>
                    </a:lnTo>
                    <a:lnTo>
                      <a:pt x="102" y="648"/>
                    </a:lnTo>
                    <a:lnTo>
                      <a:pt x="113" y="638"/>
                    </a:lnTo>
                    <a:lnTo>
                      <a:pt x="113" y="632"/>
                    </a:lnTo>
                    <a:lnTo>
                      <a:pt x="119" y="627"/>
                    </a:lnTo>
                    <a:lnTo>
                      <a:pt x="119" y="622"/>
                    </a:lnTo>
                    <a:lnTo>
                      <a:pt x="125" y="616"/>
                    </a:lnTo>
                    <a:lnTo>
                      <a:pt x="125" y="611"/>
                    </a:lnTo>
                    <a:lnTo>
                      <a:pt x="136" y="600"/>
                    </a:lnTo>
                    <a:lnTo>
                      <a:pt x="136" y="590"/>
                    </a:lnTo>
                    <a:lnTo>
                      <a:pt x="142" y="584"/>
                    </a:lnTo>
                    <a:lnTo>
                      <a:pt x="142" y="579"/>
                    </a:lnTo>
                    <a:lnTo>
                      <a:pt x="147" y="574"/>
                    </a:lnTo>
                    <a:lnTo>
                      <a:pt x="153" y="568"/>
                    </a:lnTo>
                    <a:lnTo>
                      <a:pt x="153" y="558"/>
                    </a:lnTo>
                    <a:lnTo>
                      <a:pt x="164" y="547"/>
                    </a:lnTo>
                    <a:lnTo>
                      <a:pt x="164" y="542"/>
                    </a:lnTo>
                    <a:lnTo>
                      <a:pt x="170" y="537"/>
                    </a:lnTo>
                    <a:lnTo>
                      <a:pt x="170" y="531"/>
                    </a:lnTo>
                    <a:lnTo>
                      <a:pt x="176" y="526"/>
                    </a:lnTo>
                    <a:lnTo>
                      <a:pt x="176" y="515"/>
                    </a:lnTo>
                    <a:lnTo>
                      <a:pt x="181" y="510"/>
                    </a:lnTo>
                    <a:lnTo>
                      <a:pt x="187" y="505"/>
                    </a:lnTo>
                    <a:lnTo>
                      <a:pt x="187" y="499"/>
                    </a:lnTo>
                    <a:lnTo>
                      <a:pt x="193" y="494"/>
                    </a:lnTo>
                    <a:lnTo>
                      <a:pt x="193" y="483"/>
                    </a:lnTo>
                    <a:lnTo>
                      <a:pt x="198" y="478"/>
                    </a:lnTo>
                    <a:lnTo>
                      <a:pt x="198" y="473"/>
                    </a:lnTo>
                    <a:lnTo>
                      <a:pt x="210" y="462"/>
                    </a:lnTo>
                    <a:lnTo>
                      <a:pt x="210" y="452"/>
                    </a:lnTo>
                    <a:lnTo>
                      <a:pt x="215" y="446"/>
                    </a:lnTo>
                    <a:lnTo>
                      <a:pt x="215" y="441"/>
                    </a:lnTo>
                    <a:lnTo>
                      <a:pt x="221" y="436"/>
                    </a:lnTo>
                    <a:lnTo>
                      <a:pt x="221" y="430"/>
                    </a:lnTo>
                    <a:lnTo>
                      <a:pt x="227" y="425"/>
                    </a:lnTo>
                    <a:lnTo>
                      <a:pt x="227" y="420"/>
                    </a:lnTo>
                    <a:lnTo>
                      <a:pt x="232" y="414"/>
                    </a:lnTo>
                    <a:lnTo>
                      <a:pt x="232" y="404"/>
                    </a:lnTo>
                    <a:lnTo>
                      <a:pt x="238" y="398"/>
                    </a:lnTo>
                    <a:lnTo>
                      <a:pt x="238" y="393"/>
                    </a:lnTo>
                    <a:lnTo>
                      <a:pt x="244" y="388"/>
                    </a:lnTo>
                    <a:lnTo>
                      <a:pt x="244" y="382"/>
                    </a:lnTo>
                    <a:lnTo>
                      <a:pt x="249" y="377"/>
                    </a:lnTo>
                    <a:lnTo>
                      <a:pt x="249" y="366"/>
                    </a:lnTo>
                    <a:lnTo>
                      <a:pt x="255" y="361"/>
                    </a:lnTo>
                    <a:lnTo>
                      <a:pt x="255" y="356"/>
                    </a:lnTo>
                    <a:lnTo>
                      <a:pt x="261" y="351"/>
                    </a:lnTo>
                    <a:lnTo>
                      <a:pt x="261" y="345"/>
                    </a:lnTo>
                    <a:lnTo>
                      <a:pt x="266" y="340"/>
                    </a:lnTo>
                    <a:lnTo>
                      <a:pt x="266" y="329"/>
                    </a:lnTo>
                    <a:lnTo>
                      <a:pt x="272" y="324"/>
                    </a:lnTo>
                    <a:lnTo>
                      <a:pt x="272" y="319"/>
                    </a:lnTo>
                    <a:lnTo>
                      <a:pt x="278" y="313"/>
                    </a:lnTo>
                    <a:lnTo>
                      <a:pt x="278" y="308"/>
                    </a:lnTo>
                    <a:lnTo>
                      <a:pt x="283" y="303"/>
                    </a:lnTo>
                    <a:lnTo>
                      <a:pt x="283" y="292"/>
                    </a:lnTo>
                    <a:lnTo>
                      <a:pt x="289" y="287"/>
                    </a:lnTo>
                    <a:lnTo>
                      <a:pt x="289" y="281"/>
                    </a:lnTo>
                    <a:lnTo>
                      <a:pt x="295" y="276"/>
                    </a:lnTo>
                    <a:lnTo>
                      <a:pt x="295" y="271"/>
                    </a:lnTo>
                    <a:lnTo>
                      <a:pt x="300" y="266"/>
                    </a:lnTo>
                    <a:lnTo>
                      <a:pt x="300" y="260"/>
                    </a:lnTo>
                    <a:lnTo>
                      <a:pt x="306" y="255"/>
                    </a:lnTo>
                    <a:lnTo>
                      <a:pt x="306" y="244"/>
                    </a:lnTo>
                    <a:lnTo>
                      <a:pt x="312" y="239"/>
                    </a:lnTo>
                    <a:lnTo>
                      <a:pt x="312" y="234"/>
                    </a:lnTo>
                    <a:lnTo>
                      <a:pt x="317" y="228"/>
                    </a:lnTo>
                    <a:lnTo>
                      <a:pt x="317" y="223"/>
                    </a:lnTo>
                    <a:lnTo>
                      <a:pt x="323" y="218"/>
                    </a:lnTo>
                    <a:lnTo>
                      <a:pt x="323" y="207"/>
                    </a:lnTo>
                    <a:lnTo>
                      <a:pt x="329" y="202"/>
                    </a:lnTo>
                    <a:lnTo>
                      <a:pt x="329" y="196"/>
                    </a:lnTo>
                    <a:lnTo>
                      <a:pt x="334" y="191"/>
                    </a:lnTo>
                    <a:lnTo>
                      <a:pt x="334" y="186"/>
                    </a:lnTo>
                    <a:lnTo>
                      <a:pt x="340" y="180"/>
                    </a:lnTo>
                    <a:lnTo>
                      <a:pt x="340" y="170"/>
                    </a:lnTo>
                    <a:lnTo>
                      <a:pt x="346" y="159"/>
                    </a:lnTo>
                    <a:lnTo>
                      <a:pt x="346" y="154"/>
                    </a:lnTo>
                    <a:lnTo>
                      <a:pt x="351" y="149"/>
                    </a:lnTo>
                    <a:lnTo>
                      <a:pt x="351" y="143"/>
                    </a:lnTo>
                    <a:lnTo>
                      <a:pt x="357" y="138"/>
                    </a:lnTo>
                    <a:lnTo>
                      <a:pt x="357" y="133"/>
                    </a:lnTo>
                    <a:lnTo>
                      <a:pt x="363" y="127"/>
                    </a:lnTo>
                    <a:lnTo>
                      <a:pt x="363" y="117"/>
                    </a:lnTo>
                    <a:lnTo>
                      <a:pt x="368" y="111"/>
                    </a:lnTo>
                    <a:lnTo>
                      <a:pt x="368" y="106"/>
                    </a:lnTo>
                    <a:lnTo>
                      <a:pt x="374" y="101"/>
                    </a:lnTo>
                    <a:lnTo>
                      <a:pt x="374" y="95"/>
                    </a:lnTo>
                    <a:lnTo>
                      <a:pt x="380" y="90"/>
                    </a:lnTo>
                    <a:lnTo>
                      <a:pt x="380" y="80"/>
                    </a:lnTo>
                    <a:lnTo>
                      <a:pt x="385" y="69"/>
                    </a:lnTo>
                    <a:lnTo>
                      <a:pt x="385" y="64"/>
                    </a:lnTo>
                    <a:lnTo>
                      <a:pt x="391" y="58"/>
                    </a:lnTo>
                    <a:lnTo>
                      <a:pt x="391" y="53"/>
                    </a:lnTo>
                    <a:lnTo>
                      <a:pt x="397" y="48"/>
                    </a:lnTo>
                    <a:lnTo>
                      <a:pt x="397" y="37"/>
                    </a:lnTo>
                    <a:lnTo>
                      <a:pt x="403" y="32"/>
                    </a:lnTo>
                    <a:lnTo>
                      <a:pt x="403" y="26"/>
                    </a:lnTo>
                    <a:lnTo>
                      <a:pt x="408" y="21"/>
                    </a:lnTo>
                    <a:lnTo>
                      <a:pt x="408" y="16"/>
                    </a:lnTo>
                    <a:lnTo>
                      <a:pt x="414" y="10"/>
                    </a:lnTo>
                    <a:lnTo>
                      <a:pt x="414" y="5"/>
                    </a:lnTo>
                    <a:lnTo>
                      <a:pt x="42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</p:grpSp>
        <p:grpSp>
          <p:nvGrpSpPr>
            <p:cNvPr id="110946" name="Group 354">
              <a:extLst>
                <a:ext uri="{FF2B5EF4-FFF2-40B4-BE49-F238E27FC236}">
                  <a16:creationId xmlns:a16="http://schemas.microsoft.com/office/drawing/2014/main" id="{A465B511-0841-0628-1263-0EA8C936E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6" y="3661"/>
              <a:ext cx="2328" cy="397"/>
              <a:chOff x="1856" y="3234"/>
              <a:chExt cx="2328" cy="740"/>
            </a:xfrm>
          </p:grpSpPr>
          <p:sp>
            <p:nvSpPr>
              <p:cNvPr id="110947" name="Line 355">
                <a:extLst>
                  <a:ext uri="{FF2B5EF4-FFF2-40B4-BE49-F238E27FC236}">
                    <a16:creationId xmlns:a16="http://schemas.microsoft.com/office/drawing/2014/main" id="{DD99273B-9781-6582-5E44-927950C376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02" y="3351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48" name="Line 356">
                <a:extLst>
                  <a:ext uri="{FF2B5EF4-FFF2-40B4-BE49-F238E27FC236}">
                    <a16:creationId xmlns:a16="http://schemas.microsoft.com/office/drawing/2014/main" id="{09E01CBD-5425-2C5D-3712-5BAE06C9D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607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49" name="Line 357">
                <a:extLst>
                  <a:ext uri="{FF2B5EF4-FFF2-40B4-BE49-F238E27FC236}">
                    <a16:creationId xmlns:a16="http://schemas.microsoft.com/office/drawing/2014/main" id="{174A20C2-D6C6-29F1-62D9-715E6A14A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69" y="360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50" name="Line 358">
                <a:extLst>
                  <a:ext uri="{FF2B5EF4-FFF2-40B4-BE49-F238E27FC236}">
                    <a16:creationId xmlns:a16="http://schemas.microsoft.com/office/drawing/2014/main" id="{F3913CF2-D7C9-F380-85A2-DCF02239E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4" y="3352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51" name="Line 359">
                <a:extLst>
                  <a:ext uri="{FF2B5EF4-FFF2-40B4-BE49-F238E27FC236}">
                    <a16:creationId xmlns:a16="http://schemas.microsoft.com/office/drawing/2014/main" id="{D875B421-379A-8074-6FD1-019C2D981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5" y="3346"/>
                <a:ext cx="0" cy="2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52" name="Line 360">
                <a:extLst>
                  <a:ext uri="{FF2B5EF4-FFF2-40B4-BE49-F238E27FC236}">
                    <a16:creationId xmlns:a16="http://schemas.microsoft.com/office/drawing/2014/main" id="{1092F5F8-0FEF-333B-88EE-1B653DCEE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" y="3607"/>
                <a:ext cx="0" cy="2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53" name="Line 361">
                <a:extLst>
                  <a:ext uri="{FF2B5EF4-FFF2-40B4-BE49-F238E27FC236}">
                    <a16:creationId xmlns:a16="http://schemas.microsoft.com/office/drawing/2014/main" id="{CB3ABD64-0A78-FACC-567F-5D7718648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2" y="3607"/>
                <a:ext cx="0" cy="2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sp>
            <p:nvSpPr>
              <p:cNvPr id="110954" name="Line 362">
                <a:extLst>
                  <a:ext uri="{FF2B5EF4-FFF2-40B4-BE49-F238E27FC236}">
                    <a16:creationId xmlns:a16="http://schemas.microsoft.com/office/drawing/2014/main" id="{8C552252-52B0-CA78-9D57-9E20CE5F83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27" y="3346"/>
                <a:ext cx="0" cy="2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grpSp>
            <p:nvGrpSpPr>
              <p:cNvPr id="110955" name="Group 363">
                <a:extLst>
                  <a:ext uri="{FF2B5EF4-FFF2-40B4-BE49-F238E27FC236}">
                    <a16:creationId xmlns:a16="http://schemas.microsoft.com/office/drawing/2014/main" id="{B6B1E89F-7DE0-2BD5-0927-A862624ABB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856" y="3234"/>
                <a:ext cx="2316" cy="737"/>
                <a:chOff x="1264" y="2784"/>
                <a:chExt cx="680" cy="142"/>
              </a:xfrm>
            </p:grpSpPr>
            <p:grpSp>
              <p:nvGrpSpPr>
                <p:cNvPr id="110956" name="Group 364">
                  <a:extLst>
                    <a:ext uri="{FF2B5EF4-FFF2-40B4-BE49-F238E27FC236}">
                      <a16:creationId xmlns:a16="http://schemas.microsoft.com/office/drawing/2014/main" id="{9D82046C-0F7D-F35D-2297-1F4644946C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1264" y="2784"/>
                  <a:ext cx="340" cy="142"/>
                  <a:chOff x="529" y="1178"/>
                  <a:chExt cx="2455" cy="1812"/>
                </a:xfrm>
              </p:grpSpPr>
              <p:sp>
                <p:nvSpPr>
                  <p:cNvPr id="110957" name="Freeform 365">
                    <a:extLst>
                      <a:ext uri="{FF2B5EF4-FFF2-40B4-BE49-F238E27FC236}">
                        <a16:creationId xmlns:a16="http://schemas.microsoft.com/office/drawing/2014/main" id="{7475011C-0F6E-5CB7-D720-7D124B272F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9" y="1178"/>
                    <a:ext cx="521" cy="702"/>
                  </a:xfrm>
                  <a:custGeom>
                    <a:avLst/>
                    <a:gdLst>
                      <a:gd name="T0" fmla="*/ 11 w 521"/>
                      <a:gd name="T1" fmla="*/ 0 h 702"/>
                      <a:gd name="T2" fmla="*/ 28 w 521"/>
                      <a:gd name="T3" fmla="*/ 0 h 702"/>
                      <a:gd name="T4" fmla="*/ 45 w 521"/>
                      <a:gd name="T5" fmla="*/ 5 h 702"/>
                      <a:gd name="T6" fmla="*/ 62 w 521"/>
                      <a:gd name="T7" fmla="*/ 11 h 702"/>
                      <a:gd name="T8" fmla="*/ 79 w 521"/>
                      <a:gd name="T9" fmla="*/ 16 h 702"/>
                      <a:gd name="T10" fmla="*/ 96 w 521"/>
                      <a:gd name="T11" fmla="*/ 27 h 702"/>
                      <a:gd name="T12" fmla="*/ 113 w 521"/>
                      <a:gd name="T13" fmla="*/ 37 h 702"/>
                      <a:gd name="T14" fmla="*/ 130 w 521"/>
                      <a:gd name="T15" fmla="*/ 53 h 702"/>
                      <a:gd name="T16" fmla="*/ 147 w 521"/>
                      <a:gd name="T17" fmla="*/ 64 h 702"/>
                      <a:gd name="T18" fmla="*/ 164 w 521"/>
                      <a:gd name="T19" fmla="*/ 80 h 702"/>
                      <a:gd name="T20" fmla="*/ 187 w 521"/>
                      <a:gd name="T21" fmla="*/ 101 h 702"/>
                      <a:gd name="T22" fmla="*/ 198 w 521"/>
                      <a:gd name="T23" fmla="*/ 117 h 702"/>
                      <a:gd name="T24" fmla="*/ 221 w 521"/>
                      <a:gd name="T25" fmla="*/ 138 h 702"/>
                      <a:gd name="T26" fmla="*/ 238 w 521"/>
                      <a:gd name="T27" fmla="*/ 159 h 702"/>
                      <a:gd name="T28" fmla="*/ 249 w 521"/>
                      <a:gd name="T29" fmla="*/ 181 h 702"/>
                      <a:gd name="T30" fmla="*/ 261 w 521"/>
                      <a:gd name="T31" fmla="*/ 197 h 702"/>
                      <a:gd name="T32" fmla="*/ 278 w 521"/>
                      <a:gd name="T33" fmla="*/ 218 h 702"/>
                      <a:gd name="T34" fmla="*/ 289 w 521"/>
                      <a:gd name="T35" fmla="*/ 239 h 702"/>
                      <a:gd name="T36" fmla="*/ 300 w 521"/>
                      <a:gd name="T37" fmla="*/ 255 h 702"/>
                      <a:gd name="T38" fmla="*/ 312 w 521"/>
                      <a:gd name="T39" fmla="*/ 271 h 702"/>
                      <a:gd name="T40" fmla="*/ 323 w 521"/>
                      <a:gd name="T41" fmla="*/ 292 h 702"/>
                      <a:gd name="T42" fmla="*/ 334 w 521"/>
                      <a:gd name="T43" fmla="*/ 308 h 702"/>
                      <a:gd name="T44" fmla="*/ 346 w 521"/>
                      <a:gd name="T45" fmla="*/ 335 h 702"/>
                      <a:gd name="T46" fmla="*/ 357 w 521"/>
                      <a:gd name="T47" fmla="*/ 356 h 702"/>
                      <a:gd name="T48" fmla="*/ 368 w 521"/>
                      <a:gd name="T49" fmla="*/ 372 h 702"/>
                      <a:gd name="T50" fmla="*/ 380 w 521"/>
                      <a:gd name="T51" fmla="*/ 393 h 702"/>
                      <a:gd name="T52" fmla="*/ 385 w 521"/>
                      <a:gd name="T53" fmla="*/ 409 h 702"/>
                      <a:gd name="T54" fmla="*/ 397 w 521"/>
                      <a:gd name="T55" fmla="*/ 431 h 702"/>
                      <a:gd name="T56" fmla="*/ 408 w 521"/>
                      <a:gd name="T57" fmla="*/ 446 h 702"/>
                      <a:gd name="T58" fmla="*/ 414 w 521"/>
                      <a:gd name="T59" fmla="*/ 468 h 702"/>
                      <a:gd name="T60" fmla="*/ 425 w 521"/>
                      <a:gd name="T61" fmla="*/ 484 h 702"/>
                      <a:gd name="T62" fmla="*/ 431 w 521"/>
                      <a:gd name="T63" fmla="*/ 505 h 702"/>
                      <a:gd name="T64" fmla="*/ 442 w 521"/>
                      <a:gd name="T65" fmla="*/ 521 h 702"/>
                      <a:gd name="T66" fmla="*/ 448 w 521"/>
                      <a:gd name="T67" fmla="*/ 542 h 702"/>
                      <a:gd name="T68" fmla="*/ 459 w 521"/>
                      <a:gd name="T69" fmla="*/ 558 h 702"/>
                      <a:gd name="T70" fmla="*/ 465 w 521"/>
                      <a:gd name="T71" fmla="*/ 579 h 702"/>
                      <a:gd name="T72" fmla="*/ 476 w 521"/>
                      <a:gd name="T73" fmla="*/ 595 h 702"/>
                      <a:gd name="T74" fmla="*/ 482 w 521"/>
                      <a:gd name="T75" fmla="*/ 617 h 702"/>
                      <a:gd name="T76" fmla="*/ 493 w 521"/>
                      <a:gd name="T77" fmla="*/ 632 h 702"/>
                      <a:gd name="T78" fmla="*/ 499 w 521"/>
                      <a:gd name="T79" fmla="*/ 654 h 702"/>
                      <a:gd name="T80" fmla="*/ 510 w 521"/>
                      <a:gd name="T81" fmla="*/ 670 h 702"/>
                      <a:gd name="T82" fmla="*/ 516 w 521"/>
                      <a:gd name="T83" fmla="*/ 686 h 7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521" h="702">
                        <a:moveTo>
                          <a:pt x="0" y="0"/>
                        </a:moveTo>
                        <a:lnTo>
                          <a:pt x="6" y="0"/>
                        </a:lnTo>
                        <a:lnTo>
                          <a:pt x="11" y="0"/>
                        </a:lnTo>
                        <a:lnTo>
                          <a:pt x="17" y="0"/>
                        </a:lnTo>
                        <a:lnTo>
                          <a:pt x="23" y="0"/>
                        </a:lnTo>
                        <a:lnTo>
                          <a:pt x="28" y="0"/>
                        </a:lnTo>
                        <a:lnTo>
                          <a:pt x="34" y="0"/>
                        </a:lnTo>
                        <a:lnTo>
                          <a:pt x="40" y="5"/>
                        </a:lnTo>
                        <a:lnTo>
                          <a:pt x="45" y="5"/>
                        </a:lnTo>
                        <a:lnTo>
                          <a:pt x="51" y="5"/>
                        </a:lnTo>
                        <a:lnTo>
                          <a:pt x="57" y="11"/>
                        </a:lnTo>
                        <a:lnTo>
                          <a:pt x="62" y="11"/>
                        </a:lnTo>
                        <a:lnTo>
                          <a:pt x="68" y="11"/>
                        </a:lnTo>
                        <a:lnTo>
                          <a:pt x="74" y="16"/>
                        </a:lnTo>
                        <a:lnTo>
                          <a:pt x="79" y="16"/>
                        </a:lnTo>
                        <a:lnTo>
                          <a:pt x="85" y="21"/>
                        </a:lnTo>
                        <a:lnTo>
                          <a:pt x="91" y="27"/>
                        </a:lnTo>
                        <a:lnTo>
                          <a:pt x="96" y="27"/>
                        </a:lnTo>
                        <a:lnTo>
                          <a:pt x="102" y="32"/>
                        </a:lnTo>
                        <a:lnTo>
                          <a:pt x="108" y="37"/>
                        </a:lnTo>
                        <a:lnTo>
                          <a:pt x="113" y="37"/>
                        </a:lnTo>
                        <a:lnTo>
                          <a:pt x="119" y="43"/>
                        </a:lnTo>
                        <a:lnTo>
                          <a:pt x="125" y="48"/>
                        </a:lnTo>
                        <a:lnTo>
                          <a:pt x="130" y="53"/>
                        </a:lnTo>
                        <a:lnTo>
                          <a:pt x="136" y="53"/>
                        </a:lnTo>
                        <a:lnTo>
                          <a:pt x="142" y="59"/>
                        </a:lnTo>
                        <a:lnTo>
                          <a:pt x="147" y="64"/>
                        </a:lnTo>
                        <a:lnTo>
                          <a:pt x="153" y="69"/>
                        </a:lnTo>
                        <a:lnTo>
                          <a:pt x="159" y="74"/>
                        </a:lnTo>
                        <a:lnTo>
                          <a:pt x="164" y="80"/>
                        </a:lnTo>
                        <a:lnTo>
                          <a:pt x="170" y="85"/>
                        </a:lnTo>
                        <a:lnTo>
                          <a:pt x="176" y="90"/>
                        </a:lnTo>
                        <a:lnTo>
                          <a:pt x="187" y="101"/>
                        </a:lnTo>
                        <a:lnTo>
                          <a:pt x="187" y="106"/>
                        </a:lnTo>
                        <a:lnTo>
                          <a:pt x="193" y="112"/>
                        </a:lnTo>
                        <a:lnTo>
                          <a:pt x="198" y="117"/>
                        </a:lnTo>
                        <a:lnTo>
                          <a:pt x="204" y="122"/>
                        </a:lnTo>
                        <a:lnTo>
                          <a:pt x="210" y="128"/>
                        </a:lnTo>
                        <a:lnTo>
                          <a:pt x="221" y="138"/>
                        </a:lnTo>
                        <a:lnTo>
                          <a:pt x="221" y="144"/>
                        </a:lnTo>
                        <a:lnTo>
                          <a:pt x="227" y="149"/>
                        </a:lnTo>
                        <a:lnTo>
                          <a:pt x="238" y="159"/>
                        </a:lnTo>
                        <a:lnTo>
                          <a:pt x="238" y="170"/>
                        </a:lnTo>
                        <a:lnTo>
                          <a:pt x="244" y="175"/>
                        </a:lnTo>
                        <a:lnTo>
                          <a:pt x="249" y="181"/>
                        </a:lnTo>
                        <a:lnTo>
                          <a:pt x="255" y="186"/>
                        </a:lnTo>
                        <a:lnTo>
                          <a:pt x="261" y="191"/>
                        </a:lnTo>
                        <a:lnTo>
                          <a:pt x="261" y="197"/>
                        </a:lnTo>
                        <a:lnTo>
                          <a:pt x="272" y="207"/>
                        </a:lnTo>
                        <a:lnTo>
                          <a:pt x="272" y="213"/>
                        </a:lnTo>
                        <a:lnTo>
                          <a:pt x="278" y="218"/>
                        </a:lnTo>
                        <a:lnTo>
                          <a:pt x="278" y="223"/>
                        </a:lnTo>
                        <a:lnTo>
                          <a:pt x="289" y="234"/>
                        </a:lnTo>
                        <a:lnTo>
                          <a:pt x="289" y="239"/>
                        </a:lnTo>
                        <a:lnTo>
                          <a:pt x="295" y="245"/>
                        </a:lnTo>
                        <a:lnTo>
                          <a:pt x="295" y="250"/>
                        </a:lnTo>
                        <a:lnTo>
                          <a:pt x="300" y="255"/>
                        </a:lnTo>
                        <a:lnTo>
                          <a:pt x="300" y="260"/>
                        </a:lnTo>
                        <a:lnTo>
                          <a:pt x="306" y="266"/>
                        </a:lnTo>
                        <a:lnTo>
                          <a:pt x="312" y="271"/>
                        </a:lnTo>
                        <a:lnTo>
                          <a:pt x="312" y="282"/>
                        </a:lnTo>
                        <a:lnTo>
                          <a:pt x="317" y="287"/>
                        </a:lnTo>
                        <a:lnTo>
                          <a:pt x="323" y="292"/>
                        </a:lnTo>
                        <a:lnTo>
                          <a:pt x="323" y="298"/>
                        </a:lnTo>
                        <a:lnTo>
                          <a:pt x="329" y="303"/>
                        </a:lnTo>
                        <a:lnTo>
                          <a:pt x="334" y="308"/>
                        </a:lnTo>
                        <a:lnTo>
                          <a:pt x="334" y="319"/>
                        </a:lnTo>
                        <a:lnTo>
                          <a:pt x="346" y="330"/>
                        </a:lnTo>
                        <a:lnTo>
                          <a:pt x="346" y="335"/>
                        </a:lnTo>
                        <a:lnTo>
                          <a:pt x="351" y="340"/>
                        </a:lnTo>
                        <a:lnTo>
                          <a:pt x="351" y="351"/>
                        </a:lnTo>
                        <a:lnTo>
                          <a:pt x="357" y="356"/>
                        </a:lnTo>
                        <a:lnTo>
                          <a:pt x="363" y="361"/>
                        </a:lnTo>
                        <a:lnTo>
                          <a:pt x="363" y="367"/>
                        </a:lnTo>
                        <a:lnTo>
                          <a:pt x="368" y="372"/>
                        </a:lnTo>
                        <a:lnTo>
                          <a:pt x="368" y="383"/>
                        </a:lnTo>
                        <a:lnTo>
                          <a:pt x="374" y="388"/>
                        </a:lnTo>
                        <a:lnTo>
                          <a:pt x="380" y="393"/>
                        </a:lnTo>
                        <a:lnTo>
                          <a:pt x="380" y="399"/>
                        </a:lnTo>
                        <a:lnTo>
                          <a:pt x="385" y="404"/>
                        </a:lnTo>
                        <a:lnTo>
                          <a:pt x="385" y="409"/>
                        </a:lnTo>
                        <a:lnTo>
                          <a:pt x="391" y="415"/>
                        </a:lnTo>
                        <a:lnTo>
                          <a:pt x="391" y="425"/>
                        </a:lnTo>
                        <a:lnTo>
                          <a:pt x="397" y="431"/>
                        </a:lnTo>
                        <a:lnTo>
                          <a:pt x="397" y="436"/>
                        </a:lnTo>
                        <a:lnTo>
                          <a:pt x="402" y="441"/>
                        </a:lnTo>
                        <a:lnTo>
                          <a:pt x="408" y="446"/>
                        </a:lnTo>
                        <a:lnTo>
                          <a:pt x="408" y="457"/>
                        </a:lnTo>
                        <a:lnTo>
                          <a:pt x="414" y="462"/>
                        </a:lnTo>
                        <a:lnTo>
                          <a:pt x="414" y="468"/>
                        </a:lnTo>
                        <a:lnTo>
                          <a:pt x="419" y="473"/>
                        </a:lnTo>
                        <a:lnTo>
                          <a:pt x="419" y="478"/>
                        </a:lnTo>
                        <a:lnTo>
                          <a:pt x="425" y="484"/>
                        </a:lnTo>
                        <a:lnTo>
                          <a:pt x="425" y="494"/>
                        </a:lnTo>
                        <a:lnTo>
                          <a:pt x="431" y="500"/>
                        </a:lnTo>
                        <a:lnTo>
                          <a:pt x="431" y="505"/>
                        </a:lnTo>
                        <a:lnTo>
                          <a:pt x="436" y="510"/>
                        </a:lnTo>
                        <a:lnTo>
                          <a:pt x="436" y="516"/>
                        </a:lnTo>
                        <a:lnTo>
                          <a:pt x="442" y="521"/>
                        </a:lnTo>
                        <a:lnTo>
                          <a:pt x="442" y="531"/>
                        </a:lnTo>
                        <a:lnTo>
                          <a:pt x="448" y="537"/>
                        </a:lnTo>
                        <a:lnTo>
                          <a:pt x="448" y="542"/>
                        </a:lnTo>
                        <a:lnTo>
                          <a:pt x="453" y="547"/>
                        </a:lnTo>
                        <a:lnTo>
                          <a:pt x="453" y="553"/>
                        </a:lnTo>
                        <a:lnTo>
                          <a:pt x="459" y="558"/>
                        </a:lnTo>
                        <a:lnTo>
                          <a:pt x="459" y="563"/>
                        </a:lnTo>
                        <a:lnTo>
                          <a:pt x="465" y="569"/>
                        </a:lnTo>
                        <a:lnTo>
                          <a:pt x="465" y="579"/>
                        </a:lnTo>
                        <a:lnTo>
                          <a:pt x="470" y="585"/>
                        </a:lnTo>
                        <a:lnTo>
                          <a:pt x="470" y="590"/>
                        </a:lnTo>
                        <a:lnTo>
                          <a:pt x="476" y="595"/>
                        </a:lnTo>
                        <a:lnTo>
                          <a:pt x="476" y="601"/>
                        </a:lnTo>
                        <a:lnTo>
                          <a:pt x="482" y="606"/>
                        </a:lnTo>
                        <a:lnTo>
                          <a:pt x="482" y="617"/>
                        </a:lnTo>
                        <a:lnTo>
                          <a:pt x="487" y="622"/>
                        </a:lnTo>
                        <a:lnTo>
                          <a:pt x="487" y="627"/>
                        </a:lnTo>
                        <a:lnTo>
                          <a:pt x="493" y="632"/>
                        </a:lnTo>
                        <a:lnTo>
                          <a:pt x="493" y="638"/>
                        </a:lnTo>
                        <a:lnTo>
                          <a:pt x="499" y="643"/>
                        </a:lnTo>
                        <a:lnTo>
                          <a:pt x="499" y="654"/>
                        </a:lnTo>
                        <a:lnTo>
                          <a:pt x="504" y="659"/>
                        </a:lnTo>
                        <a:lnTo>
                          <a:pt x="504" y="664"/>
                        </a:lnTo>
                        <a:lnTo>
                          <a:pt x="510" y="670"/>
                        </a:lnTo>
                        <a:lnTo>
                          <a:pt x="510" y="675"/>
                        </a:lnTo>
                        <a:lnTo>
                          <a:pt x="516" y="680"/>
                        </a:lnTo>
                        <a:lnTo>
                          <a:pt x="516" y="686"/>
                        </a:lnTo>
                        <a:lnTo>
                          <a:pt x="521" y="691"/>
                        </a:lnTo>
                        <a:lnTo>
                          <a:pt x="521" y="702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58" name="Freeform 366">
                    <a:extLst>
                      <a:ext uri="{FF2B5EF4-FFF2-40B4-BE49-F238E27FC236}">
                        <a16:creationId xmlns:a16="http://schemas.microsoft.com/office/drawing/2014/main" id="{B953071A-2014-5B5A-259B-60004ED5B1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50" y="1880"/>
                    <a:ext cx="380" cy="813"/>
                  </a:xfrm>
                  <a:custGeom>
                    <a:avLst/>
                    <a:gdLst>
                      <a:gd name="T0" fmla="*/ 6 w 380"/>
                      <a:gd name="T1" fmla="*/ 10 h 813"/>
                      <a:gd name="T2" fmla="*/ 18 w 380"/>
                      <a:gd name="T3" fmla="*/ 26 h 813"/>
                      <a:gd name="T4" fmla="*/ 23 w 380"/>
                      <a:gd name="T5" fmla="*/ 53 h 813"/>
                      <a:gd name="T6" fmla="*/ 35 w 380"/>
                      <a:gd name="T7" fmla="*/ 69 h 813"/>
                      <a:gd name="T8" fmla="*/ 40 w 380"/>
                      <a:gd name="T9" fmla="*/ 90 h 813"/>
                      <a:gd name="T10" fmla="*/ 52 w 380"/>
                      <a:gd name="T11" fmla="*/ 106 h 813"/>
                      <a:gd name="T12" fmla="*/ 57 w 380"/>
                      <a:gd name="T13" fmla="*/ 132 h 813"/>
                      <a:gd name="T14" fmla="*/ 69 w 380"/>
                      <a:gd name="T15" fmla="*/ 148 h 813"/>
                      <a:gd name="T16" fmla="*/ 74 w 380"/>
                      <a:gd name="T17" fmla="*/ 170 h 813"/>
                      <a:gd name="T18" fmla="*/ 86 w 380"/>
                      <a:gd name="T19" fmla="*/ 186 h 813"/>
                      <a:gd name="T20" fmla="*/ 91 w 380"/>
                      <a:gd name="T21" fmla="*/ 212 h 813"/>
                      <a:gd name="T22" fmla="*/ 103 w 380"/>
                      <a:gd name="T23" fmla="*/ 228 h 813"/>
                      <a:gd name="T24" fmla="*/ 108 w 380"/>
                      <a:gd name="T25" fmla="*/ 249 h 813"/>
                      <a:gd name="T26" fmla="*/ 120 w 380"/>
                      <a:gd name="T27" fmla="*/ 265 h 813"/>
                      <a:gd name="T28" fmla="*/ 125 w 380"/>
                      <a:gd name="T29" fmla="*/ 287 h 813"/>
                      <a:gd name="T30" fmla="*/ 137 w 380"/>
                      <a:gd name="T31" fmla="*/ 308 h 813"/>
                      <a:gd name="T32" fmla="*/ 142 w 380"/>
                      <a:gd name="T33" fmla="*/ 324 h 813"/>
                      <a:gd name="T34" fmla="*/ 154 w 380"/>
                      <a:gd name="T35" fmla="*/ 345 h 813"/>
                      <a:gd name="T36" fmla="*/ 159 w 380"/>
                      <a:gd name="T37" fmla="*/ 361 h 813"/>
                      <a:gd name="T38" fmla="*/ 171 w 380"/>
                      <a:gd name="T39" fmla="*/ 387 h 813"/>
                      <a:gd name="T40" fmla="*/ 176 w 380"/>
                      <a:gd name="T41" fmla="*/ 403 h 813"/>
                      <a:gd name="T42" fmla="*/ 188 w 380"/>
                      <a:gd name="T43" fmla="*/ 425 h 813"/>
                      <a:gd name="T44" fmla="*/ 193 w 380"/>
                      <a:gd name="T45" fmla="*/ 441 h 813"/>
                      <a:gd name="T46" fmla="*/ 205 w 380"/>
                      <a:gd name="T47" fmla="*/ 457 h 813"/>
                      <a:gd name="T48" fmla="*/ 210 w 380"/>
                      <a:gd name="T49" fmla="*/ 478 h 813"/>
                      <a:gd name="T50" fmla="*/ 222 w 380"/>
                      <a:gd name="T51" fmla="*/ 494 h 813"/>
                      <a:gd name="T52" fmla="*/ 227 w 380"/>
                      <a:gd name="T53" fmla="*/ 515 h 813"/>
                      <a:gd name="T54" fmla="*/ 239 w 380"/>
                      <a:gd name="T55" fmla="*/ 531 h 813"/>
                      <a:gd name="T56" fmla="*/ 244 w 380"/>
                      <a:gd name="T57" fmla="*/ 552 h 813"/>
                      <a:gd name="T58" fmla="*/ 256 w 380"/>
                      <a:gd name="T59" fmla="*/ 568 h 813"/>
                      <a:gd name="T60" fmla="*/ 261 w 380"/>
                      <a:gd name="T61" fmla="*/ 589 h 813"/>
                      <a:gd name="T62" fmla="*/ 273 w 380"/>
                      <a:gd name="T63" fmla="*/ 605 h 813"/>
                      <a:gd name="T64" fmla="*/ 278 w 380"/>
                      <a:gd name="T65" fmla="*/ 627 h 813"/>
                      <a:gd name="T66" fmla="*/ 290 w 380"/>
                      <a:gd name="T67" fmla="*/ 643 h 813"/>
                      <a:gd name="T68" fmla="*/ 295 w 380"/>
                      <a:gd name="T69" fmla="*/ 664 h 813"/>
                      <a:gd name="T70" fmla="*/ 307 w 380"/>
                      <a:gd name="T71" fmla="*/ 680 h 813"/>
                      <a:gd name="T72" fmla="*/ 318 w 380"/>
                      <a:gd name="T73" fmla="*/ 701 h 813"/>
                      <a:gd name="T74" fmla="*/ 324 w 380"/>
                      <a:gd name="T75" fmla="*/ 717 h 813"/>
                      <a:gd name="T76" fmla="*/ 335 w 380"/>
                      <a:gd name="T77" fmla="*/ 738 h 813"/>
                      <a:gd name="T78" fmla="*/ 346 w 380"/>
                      <a:gd name="T79" fmla="*/ 754 h 813"/>
                      <a:gd name="T80" fmla="*/ 363 w 380"/>
                      <a:gd name="T81" fmla="*/ 781 h 813"/>
                      <a:gd name="T82" fmla="*/ 369 w 380"/>
                      <a:gd name="T83" fmla="*/ 802 h 8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80" h="813">
                        <a:moveTo>
                          <a:pt x="0" y="0"/>
                        </a:moveTo>
                        <a:lnTo>
                          <a:pt x="6" y="5"/>
                        </a:lnTo>
                        <a:lnTo>
                          <a:pt x="6" y="10"/>
                        </a:lnTo>
                        <a:lnTo>
                          <a:pt x="12" y="15"/>
                        </a:lnTo>
                        <a:lnTo>
                          <a:pt x="12" y="21"/>
                        </a:lnTo>
                        <a:lnTo>
                          <a:pt x="18" y="26"/>
                        </a:lnTo>
                        <a:lnTo>
                          <a:pt x="18" y="42"/>
                        </a:lnTo>
                        <a:lnTo>
                          <a:pt x="23" y="47"/>
                        </a:lnTo>
                        <a:lnTo>
                          <a:pt x="23" y="53"/>
                        </a:lnTo>
                        <a:lnTo>
                          <a:pt x="29" y="58"/>
                        </a:lnTo>
                        <a:lnTo>
                          <a:pt x="29" y="63"/>
                        </a:lnTo>
                        <a:lnTo>
                          <a:pt x="35" y="69"/>
                        </a:lnTo>
                        <a:lnTo>
                          <a:pt x="35" y="79"/>
                        </a:lnTo>
                        <a:lnTo>
                          <a:pt x="40" y="85"/>
                        </a:lnTo>
                        <a:lnTo>
                          <a:pt x="40" y="90"/>
                        </a:lnTo>
                        <a:lnTo>
                          <a:pt x="46" y="95"/>
                        </a:lnTo>
                        <a:lnTo>
                          <a:pt x="46" y="101"/>
                        </a:lnTo>
                        <a:lnTo>
                          <a:pt x="52" y="106"/>
                        </a:lnTo>
                        <a:lnTo>
                          <a:pt x="52" y="116"/>
                        </a:lnTo>
                        <a:lnTo>
                          <a:pt x="57" y="122"/>
                        </a:lnTo>
                        <a:lnTo>
                          <a:pt x="57" y="132"/>
                        </a:lnTo>
                        <a:lnTo>
                          <a:pt x="63" y="138"/>
                        </a:lnTo>
                        <a:lnTo>
                          <a:pt x="63" y="143"/>
                        </a:lnTo>
                        <a:lnTo>
                          <a:pt x="69" y="148"/>
                        </a:lnTo>
                        <a:lnTo>
                          <a:pt x="69" y="154"/>
                        </a:lnTo>
                        <a:lnTo>
                          <a:pt x="74" y="159"/>
                        </a:lnTo>
                        <a:lnTo>
                          <a:pt x="74" y="170"/>
                        </a:lnTo>
                        <a:lnTo>
                          <a:pt x="80" y="175"/>
                        </a:lnTo>
                        <a:lnTo>
                          <a:pt x="80" y="180"/>
                        </a:lnTo>
                        <a:lnTo>
                          <a:pt x="86" y="186"/>
                        </a:lnTo>
                        <a:lnTo>
                          <a:pt x="86" y="191"/>
                        </a:lnTo>
                        <a:lnTo>
                          <a:pt x="91" y="196"/>
                        </a:lnTo>
                        <a:lnTo>
                          <a:pt x="91" y="212"/>
                        </a:lnTo>
                        <a:lnTo>
                          <a:pt x="97" y="217"/>
                        </a:lnTo>
                        <a:lnTo>
                          <a:pt x="97" y="223"/>
                        </a:lnTo>
                        <a:lnTo>
                          <a:pt x="103" y="228"/>
                        </a:lnTo>
                        <a:lnTo>
                          <a:pt x="103" y="233"/>
                        </a:lnTo>
                        <a:lnTo>
                          <a:pt x="108" y="239"/>
                        </a:lnTo>
                        <a:lnTo>
                          <a:pt x="108" y="249"/>
                        </a:lnTo>
                        <a:lnTo>
                          <a:pt x="114" y="255"/>
                        </a:lnTo>
                        <a:lnTo>
                          <a:pt x="114" y="260"/>
                        </a:lnTo>
                        <a:lnTo>
                          <a:pt x="120" y="265"/>
                        </a:lnTo>
                        <a:lnTo>
                          <a:pt x="120" y="271"/>
                        </a:lnTo>
                        <a:lnTo>
                          <a:pt x="125" y="276"/>
                        </a:lnTo>
                        <a:lnTo>
                          <a:pt x="125" y="287"/>
                        </a:lnTo>
                        <a:lnTo>
                          <a:pt x="131" y="292"/>
                        </a:lnTo>
                        <a:lnTo>
                          <a:pt x="131" y="302"/>
                        </a:lnTo>
                        <a:lnTo>
                          <a:pt x="137" y="308"/>
                        </a:lnTo>
                        <a:lnTo>
                          <a:pt x="137" y="313"/>
                        </a:lnTo>
                        <a:lnTo>
                          <a:pt x="142" y="318"/>
                        </a:lnTo>
                        <a:lnTo>
                          <a:pt x="142" y="324"/>
                        </a:lnTo>
                        <a:lnTo>
                          <a:pt x="148" y="329"/>
                        </a:lnTo>
                        <a:lnTo>
                          <a:pt x="148" y="340"/>
                        </a:lnTo>
                        <a:lnTo>
                          <a:pt x="154" y="345"/>
                        </a:lnTo>
                        <a:lnTo>
                          <a:pt x="154" y="350"/>
                        </a:lnTo>
                        <a:lnTo>
                          <a:pt x="159" y="356"/>
                        </a:lnTo>
                        <a:lnTo>
                          <a:pt x="159" y="361"/>
                        </a:lnTo>
                        <a:lnTo>
                          <a:pt x="165" y="366"/>
                        </a:lnTo>
                        <a:lnTo>
                          <a:pt x="165" y="382"/>
                        </a:lnTo>
                        <a:lnTo>
                          <a:pt x="171" y="387"/>
                        </a:lnTo>
                        <a:lnTo>
                          <a:pt x="171" y="393"/>
                        </a:lnTo>
                        <a:lnTo>
                          <a:pt x="176" y="398"/>
                        </a:lnTo>
                        <a:lnTo>
                          <a:pt x="176" y="403"/>
                        </a:lnTo>
                        <a:lnTo>
                          <a:pt x="182" y="409"/>
                        </a:lnTo>
                        <a:lnTo>
                          <a:pt x="182" y="419"/>
                        </a:lnTo>
                        <a:lnTo>
                          <a:pt x="188" y="425"/>
                        </a:lnTo>
                        <a:lnTo>
                          <a:pt x="188" y="430"/>
                        </a:lnTo>
                        <a:lnTo>
                          <a:pt x="193" y="435"/>
                        </a:lnTo>
                        <a:lnTo>
                          <a:pt x="193" y="441"/>
                        </a:lnTo>
                        <a:lnTo>
                          <a:pt x="199" y="446"/>
                        </a:lnTo>
                        <a:lnTo>
                          <a:pt x="199" y="451"/>
                        </a:lnTo>
                        <a:lnTo>
                          <a:pt x="205" y="457"/>
                        </a:lnTo>
                        <a:lnTo>
                          <a:pt x="205" y="467"/>
                        </a:lnTo>
                        <a:lnTo>
                          <a:pt x="210" y="473"/>
                        </a:lnTo>
                        <a:lnTo>
                          <a:pt x="210" y="478"/>
                        </a:lnTo>
                        <a:lnTo>
                          <a:pt x="216" y="483"/>
                        </a:lnTo>
                        <a:lnTo>
                          <a:pt x="216" y="488"/>
                        </a:lnTo>
                        <a:lnTo>
                          <a:pt x="222" y="494"/>
                        </a:lnTo>
                        <a:lnTo>
                          <a:pt x="222" y="504"/>
                        </a:lnTo>
                        <a:lnTo>
                          <a:pt x="227" y="510"/>
                        </a:lnTo>
                        <a:lnTo>
                          <a:pt x="227" y="515"/>
                        </a:lnTo>
                        <a:lnTo>
                          <a:pt x="233" y="520"/>
                        </a:lnTo>
                        <a:lnTo>
                          <a:pt x="233" y="526"/>
                        </a:lnTo>
                        <a:lnTo>
                          <a:pt x="239" y="531"/>
                        </a:lnTo>
                        <a:lnTo>
                          <a:pt x="239" y="542"/>
                        </a:lnTo>
                        <a:lnTo>
                          <a:pt x="244" y="547"/>
                        </a:lnTo>
                        <a:lnTo>
                          <a:pt x="244" y="552"/>
                        </a:lnTo>
                        <a:lnTo>
                          <a:pt x="250" y="558"/>
                        </a:lnTo>
                        <a:lnTo>
                          <a:pt x="250" y="563"/>
                        </a:lnTo>
                        <a:lnTo>
                          <a:pt x="256" y="568"/>
                        </a:lnTo>
                        <a:lnTo>
                          <a:pt x="256" y="573"/>
                        </a:lnTo>
                        <a:lnTo>
                          <a:pt x="261" y="579"/>
                        </a:lnTo>
                        <a:lnTo>
                          <a:pt x="261" y="589"/>
                        </a:lnTo>
                        <a:lnTo>
                          <a:pt x="267" y="595"/>
                        </a:lnTo>
                        <a:lnTo>
                          <a:pt x="267" y="600"/>
                        </a:lnTo>
                        <a:lnTo>
                          <a:pt x="273" y="605"/>
                        </a:lnTo>
                        <a:lnTo>
                          <a:pt x="273" y="611"/>
                        </a:lnTo>
                        <a:lnTo>
                          <a:pt x="278" y="616"/>
                        </a:lnTo>
                        <a:lnTo>
                          <a:pt x="278" y="627"/>
                        </a:lnTo>
                        <a:lnTo>
                          <a:pt x="284" y="632"/>
                        </a:lnTo>
                        <a:lnTo>
                          <a:pt x="284" y="637"/>
                        </a:lnTo>
                        <a:lnTo>
                          <a:pt x="290" y="643"/>
                        </a:lnTo>
                        <a:lnTo>
                          <a:pt x="290" y="648"/>
                        </a:lnTo>
                        <a:lnTo>
                          <a:pt x="295" y="653"/>
                        </a:lnTo>
                        <a:lnTo>
                          <a:pt x="295" y="664"/>
                        </a:lnTo>
                        <a:lnTo>
                          <a:pt x="301" y="669"/>
                        </a:lnTo>
                        <a:lnTo>
                          <a:pt x="307" y="674"/>
                        </a:lnTo>
                        <a:lnTo>
                          <a:pt x="307" y="680"/>
                        </a:lnTo>
                        <a:lnTo>
                          <a:pt x="312" y="685"/>
                        </a:lnTo>
                        <a:lnTo>
                          <a:pt x="312" y="696"/>
                        </a:lnTo>
                        <a:lnTo>
                          <a:pt x="318" y="701"/>
                        </a:lnTo>
                        <a:lnTo>
                          <a:pt x="318" y="706"/>
                        </a:lnTo>
                        <a:lnTo>
                          <a:pt x="324" y="712"/>
                        </a:lnTo>
                        <a:lnTo>
                          <a:pt x="324" y="717"/>
                        </a:lnTo>
                        <a:lnTo>
                          <a:pt x="329" y="722"/>
                        </a:lnTo>
                        <a:lnTo>
                          <a:pt x="335" y="728"/>
                        </a:lnTo>
                        <a:lnTo>
                          <a:pt x="335" y="738"/>
                        </a:lnTo>
                        <a:lnTo>
                          <a:pt x="341" y="744"/>
                        </a:lnTo>
                        <a:lnTo>
                          <a:pt x="341" y="749"/>
                        </a:lnTo>
                        <a:lnTo>
                          <a:pt x="346" y="754"/>
                        </a:lnTo>
                        <a:lnTo>
                          <a:pt x="352" y="759"/>
                        </a:lnTo>
                        <a:lnTo>
                          <a:pt x="352" y="770"/>
                        </a:lnTo>
                        <a:lnTo>
                          <a:pt x="363" y="781"/>
                        </a:lnTo>
                        <a:lnTo>
                          <a:pt x="363" y="786"/>
                        </a:lnTo>
                        <a:lnTo>
                          <a:pt x="369" y="791"/>
                        </a:lnTo>
                        <a:lnTo>
                          <a:pt x="369" y="802"/>
                        </a:lnTo>
                        <a:lnTo>
                          <a:pt x="375" y="807"/>
                        </a:lnTo>
                        <a:lnTo>
                          <a:pt x="380" y="813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59" name="Freeform 367">
                    <a:extLst>
                      <a:ext uri="{FF2B5EF4-FFF2-40B4-BE49-F238E27FC236}">
                        <a16:creationId xmlns:a16="http://schemas.microsoft.com/office/drawing/2014/main" id="{E2FA6F39-CD51-05CC-54D3-75D71283AB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30" y="2693"/>
                    <a:ext cx="652" cy="297"/>
                  </a:xfrm>
                  <a:custGeom>
                    <a:avLst/>
                    <a:gdLst>
                      <a:gd name="T0" fmla="*/ 12 w 652"/>
                      <a:gd name="T1" fmla="*/ 16 h 297"/>
                      <a:gd name="T2" fmla="*/ 23 w 652"/>
                      <a:gd name="T3" fmla="*/ 37 h 297"/>
                      <a:gd name="T4" fmla="*/ 29 w 652"/>
                      <a:gd name="T5" fmla="*/ 53 h 297"/>
                      <a:gd name="T6" fmla="*/ 46 w 652"/>
                      <a:gd name="T7" fmla="*/ 74 h 297"/>
                      <a:gd name="T8" fmla="*/ 57 w 652"/>
                      <a:gd name="T9" fmla="*/ 95 h 297"/>
                      <a:gd name="T10" fmla="*/ 68 w 652"/>
                      <a:gd name="T11" fmla="*/ 111 h 297"/>
                      <a:gd name="T12" fmla="*/ 91 w 652"/>
                      <a:gd name="T13" fmla="*/ 138 h 297"/>
                      <a:gd name="T14" fmla="*/ 108 w 652"/>
                      <a:gd name="T15" fmla="*/ 159 h 297"/>
                      <a:gd name="T16" fmla="*/ 125 w 652"/>
                      <a:gd name="T17" fmla="*/ 180 h 297"/>
                      <a:gd name="T18" fmla="*/ 136 w 652"/>
                      <a:gd name="T19" fmla="*/ 196 h 297"/>
                      <a:gd name="T20" fmla="*/ 153 w 652"/>
                      <a:gd name="T21" fmla="*/ 212 h 297"/>
                      <a:gd name="T22" fmla="*/ 165 w 652"/>
                      <a:gd name="T23" fmla="*/ 223 h 297"/>
                      <a:gd name="T24" fmla="*/ 182 w 652"/>
                      <a:gd name="T25" fmla="*/ 239 h 297"/>
                      <a:gd name="T26" fmla="*/ 199 w 652"/>
                      <a:gd name="T27" fmla="*/ 255 h 297"/>
                      <a:gd name="T28" fmla="*/ 216 w 652"/>
                      <a:gd name="T29" fmla="*/ 265 h 297"/>
                      <a:gd name="T30" fmla="*/ 233 w 652"/>
                      <a:gd name="T31" fmla="*/ 276 h 297"/>
                      <a:gd name="T32" fmla="*/ 250 w 652"/>
                      <a:gd name="T33" fmla="*/ 281 h 297"/>
                      <a:gd name="T34" fmla="*/ 267 w 652"/>
                      <a:gd name="T35" fmla="*/ 292 h 297"/>
                      <a:gd name="T36" fmla="*/ 284 w 652"/>
                      <a:gd name="T37" fmla="*/ 297 h 297"/>
                      <a:gd name="T38" fmla="*/ 301 w 652"/>
                      <a:gd name="T39" fmla="*/ 297 h 297"/>
                      <a:gd name="T40" fmla="*/ 318 w 652"/>
                      <a:gd name="T41" fmla="*/ 297 h 297"/>
                      <a:gd name="T42" fmla="*/ 335 w 652"/>
                      <a:gd name="T43" fmla="*/ 297 h 297"/>
                      <a:gd name="T44" fmla="*/ 352 w 652"/>
                      <a:gd name="T45" fmla="*/ 297 h 297"/>
                      <a:gd name="T46" fmla="*/ 369 w 652"/>
                      <a:gd name="T47" fmla="*/ 292 h 297"/>
                      <a:gd name="T48" fmla="*/ 386 w 652"/>
                      <a:gd name="T49" fmla="*/ 287 h 297"/>
                      <a:gd name="T50" fmla="*/ 403 w 652"/>
                      <a:gd name="T51" fmla="*/ 281 h 297"/>
                      <a:gd name="T52" fmla="*/ 420 w 652"/>
                      <a:gd name="T53" fmla="*/ 271 h 297"/>
                      <a:gd name="T54" fmla="*/ 437 w 652"/>
                      <a:gd name="T55" fmla="*/ 260 h 297"/>
                      <a:gd name="T56" fmla="*/ 454 w 652"/>
                      <a:gd name="T57" fmla="*/ 249 h 297"/>
                      <a:gd name="T58" fmla="*/ 471 w 652"/>
                      <a:gd name="T59" fmla="*/ 239 h 297"/>
                      <a:gd name="T60" fmla="*/ 488 w 652"/>
                      <a:gd name="T61" fmla="*/ 223 h 297"/>
                      <a:gd name="T62" fmla="*/ 505 w 652"/>
                      <a:gd name="T63" fmla="*/ 207 h 297"/>
                      <a:gd name="T64" fmla="*/ 522 w 652"/>
                      <a:gd name="T65" fmla="*/ 186 h 297"/>
                      <a:gd name="T66" fmla="*/ 539 w 652"/>
                      <a:gd name="T67" fmla="*/ 170 h 297"/>
                      <a:gd name="T68" fmla="*/ 556 w 652"/>
                      <a:gd name="T69" fmla="*/ 148 h 297"/>
                      <a:gd name="T70" fmla="*/ 573 w 652"/>
                      <a:gd name="T71" fmla="*/ 122 h 297"/>
                      <a:gd name="T72" fmla="*/ 590 w 652"/>
                      <a:gd name="T73" fmla="*/ 106 h 297"/>
                      <a:gd name="T74" fmla="*/ 601 w 652"/>
                      <a:gd name="T75" fmla="*/ 85 h 297"/>
                      <a:gd name="T76" fmla="*/ 618 w 652"/>
                      <a:gd name="T77" fmla="*/ 63 h 297"/>
                      <a:gd name="T78" fmla="*/ 624 w 652"/>
                      <a:gd name="T79" fmla="*/ 47 h 297"/>
                      <a:gd name="T80" fmla="*/ 635 w 652"/>
                      <a:gd name="T81" fmla="*/ 32 h 297"/>
                      <a:gd name="T82" fmla="*/ 647 w 652"/>
                      <a:gd name="T83" fmla="*/ 10 h 2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652" h="297"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12" y="16"/>
                        </a:lnTo>
                        <a:lnTo>
                          <a:pt x="12" y="26"/>
                        </a:lnTo>
                        <a:lnTo>
                          <a:pt x="17" y="32"/>
                        </a:lnTo>
                        <a:lnTo>
                          <a:pt x="23" y="37"/>
                        </a:lnTo>
                        <a:lnTo>
                          <a:pt x="23" y="42"/>
                        </a:lnTo>
                        <a:lnTo>
                          <a:pt x="29" y="47"/>
                        </a:lnTo>
                        <a:lnTo>
                          <a:pt x="29" y="53"/>
                        </a:lnTo>
                        <a:lnTo>
                          <a:pt x="40" y="63"/>
                        </a:lnTo>
                        <a:lnTo>
                          <a:pt x="40" y="69"/>
                        </a:lnTo>
                        <a:lnTo>
                          <a:pt x="46" y="74"/>
                        </a:lnTo>
                        <a:lnTo>
                          <a:pt x="46" y="79"/>
                        </a:lnTo>
                        <a:lnTo>
                          <a:pt x="57" y="90"/>
                        </a:lnTo>
                        <a:lnTo>
                          <a:pt x="57" y="95"/>
                        </a:lnTo>
                        <a:lnTo>
                          <a:pt x="63" y="101"/>
                        </a:lnTo>
                        <a:lnTo>
                          <a:pt x="63" y="106"/>
                        </a:lnTo>
                        <a:lnTo>
                          <a:pt x="68" y="111"/>
                        </a:lnTo>
                        <a:lnTo>
                          <a:pt x="80" y="122"/>
                        </a:lnTo>
                        <a:lnTo>
                          <a:pt x="80" y="127"/>
                        </a:lnTo>
                        <a:lnTo>
                          <a:pt x="91" y="138"/>
                        </a:lnTo>
                        <a:lnTo>
                          <a:pt x="91" y="143"/>
                        </a:lnTo>
                        <a:lnTo>
                          <a:pt x="97" y="148"/>
                        </a:lnTo>
                        <a:lnTo>
                          <a:pt x="108" y="159"/>
                        </a:lnTo>
                        <a:lnTo>
                          <a:pt x="108" y="164"/>
                        </a:lnTo>
                        <a:lnTo>
                          <a:pt x="114" y="170"/>
                        </a:lnTo>
                        <a:lnTo>
                          <a:pt x="125" y="180"/>
                        </a:lnTo>
                        <a:lnTo>
                          <a:pt x="125" y="186"/>
                        </a:lnTo>
                        <a:lnTo>
                          <a:pt x="131" y="191"/>
                        </a:lnTo>
                        <a:lnTo>
                          <a:pt x="136" y="196"/>
                        </a:lnTo>
                        <a:lnTo>
                          <a:pt x="142" y="202"/>
                        </a:lnTo>
                        <a:lnTo>
                          <a:pt x="148" y="207"/>
                        </a:lnTo>
                        <a:lnTo>
                          <a:pt x="153" y="212"/>
                        </a:lnTo>
                        <a:lnTo>
                          <a:pt x="165" y="223"/>
                        </a:lnTo>
                        <a:lnTo>
                          <a:pt x="159" y="223"/>
                        </a:lnTo>
                        <a:lnTo>
                          <a:pt x="165" y="223"/>
                        </a:lnTo>
                        <a:lnTo>
                          <a:pt x="170" y="228"/>
                        </a:lnTo>
                        <a:lnTo>
                          <a:pt x="176" y="233"/>
                        </a:lnTo>
                        <a:lnTo>
                          <a:pt x="182" y="239"/>
                        </a:lnTo>
                        <a:lnTo>
                          <a:pt x="187" y="244"/>
                        </a:lnTo>
                        <a:lnTo>
                          <a:pt x="193" y="249"/>
                        </a:lnTo>
                        <a:lnTo>
                          <a:pt x="199" y="255"/>
                        </a:lnTo>
                        <a:lnTo>
                          <a:pt x="204" y="255"/>
                        </a:lnTo>
                        <a:lnTo>
                          <a:pt x="210" y="260"/>
                        </a:lnTo>
                        <a:lnTo>
                          <a:pt x="216" y="265"/>
                        </a:lnTo>
                        <a:lnTo>
                          <a:pt x="221" y="271"/>
                        </a:lnTo>
                        <a:lnTo>
                          <a:pt x="227" y="271"/>
                        </a:lnTo>
                        <a:lnTo>
                          <a:pt x="233" y="276"/>
                        </a:lnTo>
                        <a:lnTo>
                          <a:pt x="238" y="276"/>
                        </a:lnTo>
                        <a:lnTo>
                          <a:pt x="244" y="281"/>
                        </a:lnTo>
                        <a:lnTo>
                          <a:pt x="250" y="281"/>
                        </a:lnTo>
                        <a:lnTo>
                          <a:pt x="255" y="287"/>
                        </a:lnTo>
                        <a:lnTo>
                          <a:pt x="261" y="287"/>
                        </a:lnTo>
                        <a:lnTo>
                          <a:pt x="267" y="292"/>
                        </a:lnTo>
                        <a:lnTo>
                          <a:pt x="273" y="292"/>
                        </a:lnTo>
                        <a:lnTo>
                          <a:pt x="278" y="292"/>
                        </a:lnTo>
                        <a:lnTo>
                          <a:pt x="284" y="297"/>
                        </a:lnTo>
                        <a:lnTo>
                          <a:pt x="290" y="297"/>
                        </a:lnTo>
                        <a:lnTo>
                          <a:pt x="295" y="297"/>
                        </a:lnTo>
                        <a:lnTo>
                          <a:pt x="301" y="297"/>
                        </a:lnTo>
                        <a:lnTo>
                          <a:pt x="307" y="297"/>
                        </a:lnTo>
                        <a:lnTo>
                          <a:pt x="312" y="297"/>
                        </a:lnTo>
                        <a:lnTo>
                          <a:pt x="318" y="297"/>
                        </a:lnTo>
                        <a:lnTo>
                          <a:pt x="324" y="297"/>
                        </a:lnTo>
                        <a:lnTo>
                          <a:pt x="329" y="297"/>
                        </a:lnTo>
                        <a:lnTo>
                          <a:pt x="335" y="297"/>
                        </a:lnTo>
                        <a:lnTo>
                          <a:pt x="341" y="297"/>
                        </a:lnTo>
                        <a:lnTo>
                          <a:pt x="346" y="297"/>
                        </a:lnTo>
                        <a:lnTo>
                          <a:pt x="352" y="297"/>
                        </a:lnTo>
                        <a:lnTo>
                          <a:pt x="358" y="297"/>
                        </a:lnTo>
                        <a:lnTo>
                          <a:pt x="363" y="297"/>
                        </a:lnTo>
                        <a:lnTo>
                          <a:pt x="369" y="292"/>
                        </a:lnTo>
                        <a:lnTo>
                          <a:pt x="375" y="292"/>
                        </a:lnTo>
                        <a:lnTo>
                          <a:pt x="380" y="292"/>
                        </a:lnTo>
                        <a:lnTo>
                          <a:pt x="386" y="287"/>
                        </a:lnTo>
                        <a:lnTo>
                          <a:pt x="392" y="287"/>
                        </a:lnTo>
                        <a:lnTo>
                          <a:pt x="397" y="287"/>
                        </a:lnTo>
                        <a:lnTo>
                          <a:pt x="403" y="281"/>
                        </a:lnTo>
                        <a:lnTo>
                          <a:pt x="409" y="281"/>
                        </a:lnTo>
                        <a:lnTo>
                          <a:pt x="414" y="276"/>
                        </a:lnTo>
                        <a:lnTo>
                          <a:pt x="420" y="271"/>
                        </a:lnTo>
                        <a:lnTo>
                          <a:pt x="426" y="271"/>
                        </a:lnTo>
                        <a:lnTo>
                          <a:pt x="431" y="265"/>
                        </a:lnTo>
                        <a:lnTo>
                          <a:pt x="437" y="260"/>
                        </a:lnTo>
                        <a:lnTo>
                          <a:pt x="443" y="260"/>
                        </a:lnTo>
                        <a:lnTo>
                          <a:pt x="448" y="255"/>
                        </a:lnTo>
                        <a:lnTo>
                          <a:pt x="454" y="249"/>
                        </a:lnTo>
                        <a:lnTo>
                          <a:pt x="460" y="244"/>
                        </a:lnTo>
                        <a:lnTo>
                          <a:pt x="465" y="244"/>
                        </a:lnTo>
                        <a:lnTo>
                          <a:pt x="471" y="239"/>
                        </a:lnTo>
                        <a:lnTo>
                          <a:pt x="477" y="233"/>
                        </a:lnTo>
                        <a:lnTo>
                          <a:pt x="482" y="228"/>
                        </a:lnTo>
                        <a:lnTo>
                          <a:pt x="488" y="223"/>
                        </a:lnTo>
                        <a:lnTo>
                          <a:pt x="494" y="218"/>
                        </a:lnTo>
                        <a:lnTo>
                          <a:pt x="499" y="212"/>
                        </a:lnTo>
                        <a:lnTo>
                          <a:pt x="505" y="207"/>
                        </a:lnTo>
                        <a:lnTo>
                          <a:pt x="516" y="196"/>
                        </a:lnTo>
                        <a:lnTo>
                          <a:pt x="516" y="191"/>
                        </a:lnTo>
                        <a:lnTo>
                          <a:pt x="522" y="186"/>
                        </a:lnTo>
                        <a:lnTo>
                          <a:pt x="528" y="180"/>
                        </a:lnTo>
                        <a:lnTo>
                          <a:pt x="533" y="175"/>
                        </a:lnTo>
                        <a:lnTo>
                          <a:pt x="539" y="170"/>
                        </a:lnTo>
                        <a:lnTo>
                          <a:pt x="550" y="159"/>
                        </a:lnTo>
                        <a:lnTo>
                          <a:pt x="550" y="154"/>
                        </a:lnTo>
                        <a:lnTo>
                          <a:pt x="556" y="148"/>
                        </a:lnTo>
                        <a:lnTo>
                          <a:pt x="567" y="138"/>
                        </a:lnTo>
                        <a:lnTo>
                          <a:pt x="567" y="127"/>
                        </a:lnTo>
                        <a:lnTo>
                          <a:pt x="573" y="122"/>
                        </a:lnTo>
                        <a:lnTo>
                          <a:pt x="579" y="117"/>
                        </a:lnTo>
                        <a:lnTo>
                          <a:pt x="584" y="111"/>
                        </a:lnTo>
                        <a:lnTo>
                          <a:pt x="590" y="106"/>
                        </a:lnTo>
                        <a:lnTo>
                          <a:pt x="590" y="101"/>
                        </a:lnTo>
                        <a:lnTo>
                          <a:pt x="601" y="90"/>
                        </a:lnTo>
                        <a:lnTo>
                          <a:pt x="601" y="85"/>
                        </a:lnTo>
                        <a:lnTo>
                          <a:pt x="607" y="79"/>
                        </a:lnTo>
                        <a:lnTo>
                          <a:pt x="607" y="74"/>
                        </a:lnTo>
                        <a:lnTo>
                          <a:pt x="618" y="63"/>
                        </a:lnTo>
                        <a:lnTo>
                          <a:pt x="618" y="58"/>
                        </a:lnTo>
                        <a:lnTo>
                          <a:pt x="624" y="53"/>
                        </a:lnTo>
                        <a:lnTo>
                          <a:pt x="624" y="47"/>
                        </a:lnTo>
                        <a:lnTo>
                          <a:pt x="630" y="42"/>
                        </a:lnTo>
                        <a:lnTo>
                          <a:pt x="630" y="37"/>
                        </a:lnTo>
                        <a:lnTo>
                          <a:pt x="635" y="32"/>
                        </a:lnTo>
                        <a:lnTo>
                          <a:pt x="641" y="26"/>
                        </a:lnTo>
                        <a:lnTo>
                          <a:pt x="641" y="16"/>
                        </a:lnTo>
                        <a:lnTo>
                          <a:pt x="647" y="10"/>
                        </a:lnTo>
                        <a:lnTo>
                          <a:pt x="652" y="5"/>
                        </a:lnTo>
                        <a:lnTo>
                          <a:pt x="652" y="0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60" name="Freeform 368">
                    <a:extLst>
                      <a:ext uri="{FF2B5EF4-FFF2-40B4-BE49-F238E27FC236}">
                        <a16:creationId xmlns:a16="http://schemas.microsoft.com/office/drawing/2014/main" id="{67887A53-5E50-228C-4505-42890B6C29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880"/>
                    <a:ext cx="380" cy="813"/>
                  </a:xfrm>
                  <a:custGeom>
                    <a:avLst/>
                    <a:gdLst>
                      <a:gd name="T0" fmla="*/ 12 w 380"/>
                      <a:gd name="T1" fmla="*/ 802 h 813"/>
                      <a:gd name="T2" fmla="*/ 23 w 380"/>
                      <a:gd name="T3" fmla="*/ 775 h 813"/>
                      <a:gd name="T4" fmla="*/ 34 w 380"/>
                      <a:gd name="T5" fmla="*/ 754 h 813"/>
                      <a:gd name="T6" fmla="*/ 46 w 380"/>
                      <a:gd name="T7" fmla="*/ 738 h 813"/>
                      <a:gd name="T8" fmla="*/ 57 w 380"/>
                      <a:gd name="T9" fmla="*/ 717 h 813"/>
                      <a:gd name="T10" fmla="*/ 63 w 380"/>
                      <a:gd name="T11" fmla="*/ 701 h 813"/>
                      <a:gd name="T12" fmla="*/ 74 w 380"/>
                      <a:gd name="T13" fmla="*/ 680 h 813"/>
                      <a:gd name="T14" fmla="*/ 85 w 380"/>
                      <a:gd name="T15" fmla="*/ 664 h 813"/>
                      <a:gd name="T16" fmla="*/ 91 w 380"/>
                      <a:gd name="T17" fmla="*/ 643 h 813"/>
                      <a:gd name="T18" fmla="*/ 102 w 380"/>
                      <a:gd name="T19" fmla="*/ 627 h 813"/>
                      <a:gd name="T20" fmla="*/ 108 w 380"/>
                      <a:gd name="T21" fmla="*/ 605 h 813"/>
                      <a:gd name="T22" fmla="*/ 119 w 380"/>
                      <a:gd name="T23" fmla="*/ 589 h 813"/>
                      <a:gd name="T24" fmla="*/ 125 w 380"/>
                      <a:gd name="T25" fmla="*/ 568 h 813"/>
                      <a:gd name="T26" fmla="*/ 136 w 380"/>
                      <a:gd name="T27" fmla="*/ 552 h 813"/>
                      <a:gd name="T28" fmla="*/ 142 w 380"/>
                      <a:gd name="T29" fmla="*/ 531 h 813"/>
                      <a:gd name="T30" fmla="*/ 153 w 380"/>
                      <a:gd name="T31" fmla="*/ 515 h 813"/>
                      <a:gd name="T32" fmla="*/ 159 w 380"/>
                      <a:gd name="T33" fmla="*/ 494 h 813"/>
                      <a:gd name="T34" fmla="*/ 170 w 380"/>
                      <a:gd name="T35" fmla="*/ 478 h 813"/>
                      <a:gd name="T36" fmla="*/ 176 w 380"/>
                      <a:gd name="T37" fmla="*/ 457 h 813"/>
                      <a:gd name="T38" fmla="*/ 187 w 380"/>
                      <a:gd name="T39" fmla="*/ 441 h 813"/>
                      <a:gd name="T40" fmla="*/ 193 w 380"/>
                      <a:gd name="T41" fmla="*/ 425 h 813"/>
                      <a:gd name="T42" fmla="*/ 204 w 380"/>
                      <a:gd name="T43" fmla="*/ 403 h 813"/>
                      <a:gd name="T44" fmla="*/ 210 w 380"/>
                      <a:gd name="T45" fmla="*/ 387 h 813"/>
                      <a:gd name="T46" fmla="*/ 221 w 380"/>
                      <a:gd name="T47" fmla="*/ 361 h 813"/>
                      <a:gd name="T48" fmla="*/ 227 w 380"/>
                      <a:gd name="T49" fmla="*/ 345 h 813"/>
                      <a:gd name="T50" fmla="*/ 238 w 380"/>
                      <a:gd name="T51" fmla="*/ 324 h 813"/>
                      <a:gd name="T52" fmla="*/ 244 w 380"/>
                      <a:gd name="T53" fmla="*/ 308 h 813"/>
                      <a:gd name="T54" fmla="*/ 256 w 380"/>
                      <a:gd name="T55" fmla="*/ 287 h 813"/>
                      <a:gd name="T56" fmla="*/ 261 w 380"/>
                      <a:gd name="T57" fmla="*/ 265 h 813"/>
                      <a:gd name="T58" fmla="*/ 273 w 380"/>
                      <a:gd name="T59" fmla="*/ 249 h 813"/>
                      <a:gd name="T60" fmla="*/ 278 w 380"/>
                      <a:gd name="T61" fmla="*/ 228 h 813"/>
                      <a:gd name="T62" fmla="*/ 290 w 380"/>
                      <a:gd name="T63" fmla="*/ 212 h 813"/>
                      <a:gd name="T64" fmla="*/ 295 w 380"/>
                      <a:gd name="T65" fmla="*/ 186 h 813"/>
                      <a:gd name="T66" fmla="*/ 307 w 380"/>
                      <a:gd name="T67" fmla="*/ 170 h 813"/>
                      <a:gd name="T68" fmla="*/ 312 w 380"/>
                      <a:gd name="T69" fmla="*/ 148 h 813"/>
                      <a:gd name="T70" fmla="*/ 324 w 380"/>
                      <a:gd name="T71" fmla="*/ 132 h 813"/>
                      <a:gd name="T72" fmla="*/ 329 w 380"/>
                      <a:gd name="T73" fmla="*/ 106 h 813"/>
                      <a:gd name="T74" fmla="*/ 341 w 380"/>
                      <a:gd name="T75" fmla="*/ 90 h 813"/>
                      <a:gd name="T76" fmla="*/ 346 w 380"/>
                      <a:gd name="T77" fmla="*/ 69 h 813"/>
                      <a:gd name="T78" fmla="*/ 358 w 380"/>
                      <a:gd name="T79" fmla="*/ 53 h 813"/>
                      <a:gd name="T80" fmla="*/ 363 w 380"/>
                      <a:gd name="T81" fmla="*/ 26 h 813"/>
                      <a:gd name="T82" fmla="*/ 375 w 380"/>
                      <a:gd name="T83" fmla="*/ 10 h 8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80" h="813">
                        <a:moveTo>
                          <a:pt x="0" y="813"/>
                        </a:moveTo>
                        <a:lnTo>
                          <a:pt x="6" y="807"/>
                        </a:lnTo>
                        <a:lnTo>
                          <a:pt x="12" y="802"/>
                        </a:lnTo>
                        <a:lnTo>
                          <a:pt x="12" y="791"/>
                        </a:lnTo>
                        <a:lnTo>
                          <a:pt x="23" y="781"/>
                        </a:lnTo>
                        <a:lnTo>
                          <a:pt x="23" y="775"/>
                        </a:lnTo>
                        <a:lnTo>
                          <a:pt x="29" y="770"/>
                        </a:lnTo>
                        <a:lnTo>
                          <a:pt x="29" y="759"/>
                        </a:lnTo>
                        <a:lnTo>
                          <a:pt x="34" y="754"/>
                        </a:lnTo>
                        <a:lnTo>
                          <a:pt x="40" y="749"/>
                        </a:lnTo>
                        <a:lnTo>
                          <a:pt x="40" y="744"/>
                        </a:lnTo>
                        <a:lnTo>
                          <a:pt x="46" y="738"/>
                        </a:lnTo>
                        <a:lnTo>
                          <a:pt x="46" y="728"/>
                        </a:lnTo>
                        <a:lnTo>
                          <a:pt x="51" y="722"/>
                        </a:lnTo>
                        <a:lnTo>
                          <a:pt x="57" y="717"/>
                        </a:lnTo>
                        <a:lnTo>
                          <a:pt x="57" y="712"/>
                        </a:lnTo>
                        <a:lnTo>
                          <a:pt x="63" y="706"/>
                        </a:lnTo>
                        <a:lnTo>
                          <a:pt x="63" y="701"/>
                        </a:lnTo>
                        <a:lnTo>
                          <a:pt x="68" y="696"/>
                        </a:lnTo>
                        <a:lnTo>
                          <a:pt x="68" y="685"/>
                        </a:lnTo>
                        <a:lnTo>
                          <a:pt x="74" y="680"/>
                        </a:lnTo>
                        <a:lnTo>
                          <a:pt x="74" y="674"/>
                        </a:lnTo>
                        <a:lnTo>
                          <a:pt x="80" y="669"/>
                        </a:lnTo>
                        <a:lnTo>
                          <a:pt x="85" y="664"/>
                        </a:lnTo>
                        <a:lnTo>
                          <a:pt x="85" y="653"/>
                        </a:lnTo>
                        <a:lnTo>
                          <a:pt x="91" y="648"/>
                        </a:lnTo>
                        <a:lnTo>
                          <a:pt x="91" y="643"/>
                        </a:lnTo>
                        <a:lnTo>
                          <a:pt x="97" y="637"/>
                        </a:lnTo>
                        <a:lnTo>
                          <a:pt x="97" y="632"/>
                        </a:lnTo>
                        <a:lnTo>
                          <a:pt x="102" y="627"/>
                        </a:lnTo>
                        <a:lnTo>
                          <a:pt x="102" y="616"/>
                        </a:lnTo>
                        <a:lnTo>
                          <a:pt x="108" y="611"/>
                        </a:lnTo>
                        <a:lnTo>
                          <a:pt x="108" y="605"/>
                        </a:lnTo>
                        <a:lnTo>
                          <a:pt x="114" y="600"/>
                        </a:lnTo>
                        <a:lnTo>
                          <a:pt x="114" y="595"/>
                        </a:lnTo>
                        <a:lnTo>
                          <a:pt x="119" y="589"/>
                        </a:lnTo>
                        <a:lnTo>
                          <a:pt x="119" y="579"/>
                        </a:lnTo>
                        <a:lnTo>
                          <a:pt x="125" y="573"/>
                        </a:lnTo>
                        <a:lnTo>
                          <a:pt x="125" y="568"/>
                        </a:lnTo>
                        <a:lnTo>
                          <a:pt x="131" y="563"/>
                        </a:lnTo>
                        <a:lnTo>
                          <a:pt x="131" y="558"/>
                        </a:lnTo>
                        <a:lnTo>
                          <a:pt x="136" y="552"/>
                        </a:lnTo>
                        <a:lnTo>
                          <a:pt x="136" y="547"/>
                        </a:lnTo>
                        <a:lnTo>
                          <a:pt x="142" y="542"/>
                        </a:lnTo>
                        <a:lnTo>
                          <a:pt x="142" y="531"/>
                        </a:lnTo>
                        <a:lnTo>
                          <a:pt x="148" y="526"/>
                        </a:lnTo>
                        <a:lnTo>
                          <a:pt x="148" y="520"/>
                        </a:lnTo>
                        <a:lnTo>
                          <a:pt x="153" y="515"/>
                        </a:lnTo>
                        <a:lnTo>
                          <a:pt x="153" y="510"/>
                        </a:lnTo>
                        <a:lnTo>
                          <a:pt x="159" y="504"/>
                        </a:lnTo>
                        <a:lnTo>
                          <a:pt x="159" y="494"/>
                        </a:lnTo>
                        <a:lnTo>
                          <a:pt x="165" y="488"/>
                        </a:lnTo>
                        <a:lnTo>
                          <a:pt x="165" y="483"/>
                        </a:lnTo>
                        <a:lnTo>
                          <a:pt x="170" y="478"/>
                        </a:lnTo>
                        <a:lnTo>
                          <a:pt x="170" y="473"/>
                        </a:lnTo>
                        <a:lnTo>
                          <a:pt x="176" y="467"/>
                        </a:lnTo>
                        <a:lnTo>
                          <a:pt x="176" y="457"/>
                        </a:lnTo>
                        <a:lnTo>
                          <a:pt x="182" y="451"/>
                        </a:lnTo>
                        <a:lnTo>
                          <a:pt x="182" y="446"/>
                        </a:lnTo>
                        <a:lnTo>
                          <a:pt x="187" y="441"/>
                        </a:lnTo>
                        <a:lnTo>
                          <a:pt x="187" y="435"/>
                        </a:lnTo>
                        <a:lnTo>
                          <a:pt x="193" y="430"/>
                        </a:lnTo>
                        <a:lnTo>
                          <a:pt x="193" y="425"/>
                        </a:lnTo>
                        <a:lnTo>
                          <a:pt x="199" y="419"/>
                        </a:lnTo>
                        <a:lnTo>
                          <a:pt x="199" y="409"/>
                        </a:lnTo>
                        <a:lnTo>
                          <a:pt x="204" y="403"/>
                        </a:lnTo>
                        <a:lnTo>
                          <a:pt x="204" y="398"/>
                        </a:lnTo>
                        <a:lnTo>
                          <a:pt x="210" y="393"/>
                        </a:lnTo>
                        <a:lnTo>
                          <a:pt x="210" y="387"/>
                        </a:lnTo>
                        <a:lnTo>
                          <a:pt x="216" y="382"/>
                        </a:lnTo>
                        <a:lnTo>
                          <a:pt x="216" y="366"/>
                        </a:lnTo>
                        <a:lnTo>
                          <a:pt x="221" y="361"/>
                        </a:lnTo>
                        <a:lnTo>
                          <a:pt x="221" y="356"/>
                        </a:lnTo>
                        <a:lnTo>
                          <a:pt x="227" y="350"/>
                        </a:lnTo>
                        <a:lnTo>
                          <a:pt x="227" y="345"/>
                        </a:lnTo>
                        <a:lnTo>
                          <a:pt x="233" y="340"/>
                        </a:lnTo>
                        <a:lnTo>
                          <a:pt x="233" y="329"/>
                        </a:lnTo>
                        <a:lnTo>
                          <a:pt x="238" y="324"/>
                        </a:lnTo>
                        <a:lnTo>
                          <a:pt x="238" y="318"/>
                        </a:lnTo>
                        <a:lnTo>
                          <a:pt x="244" y="313"/>
                        </a:lnTo>
                        <a:lnTo>
                          <a:pt x="244" y="308"/>
                        </a:lnTo>
                        <a:lnTo>
                          <a:pt x="250" y="302"/>
                        </a:lnTo>
                        <a:lnTo>
                          <a:pt x="250" y="292"/>
                        </a:lnTo>
                        <a:lnTo>
                          <a:pt x="256" y="287"/>
                        </a:lnTo>
                        <a:lnTo>
                          <a:pt x="256" y="276"/>
                        </a:lnTo>
                        <a:lnTo>
                          <a:pt x="261" y="271"/>
                        </a:lnTo>
                        <a:lnTo>
                          <a:pt x="261" y="265"/>
                        </a:lnTo>
                        <a:lnTo>
                          <a:pt x="267" y="260"/>
                        </a:lnTo>
                        <a:lnTo>
                          <a:pt x="267" y="255"/>
                        </a:lnTo>
                        <a:lnTo>
                          <a:pt x="273" y="249"/>
                        </a:lnTo>
                        <a:lnTo>
                          <a:pt x="273" y="239"/>
                        </a:lnTo>
                        <a:lnTo>
                          <a:pt x="278" y="233"/>
                        </a:lnTo>
                        <a:lnTo>
                          <a:pt x="278" y="228"/>
                        </a:lnTo>
                        <a:lnTo>
                          <a:pt x="284" y="223"/>
                        </a:lnTo>
                        <a:lnTo>
                          <a:pt x="284" y="217"/>
                        </a:lnTo>
                        <a:lnTo>
                          <a:pt x="290" y="212"/>
                        </a:lnTo>
                        <a:lnTo>
                          <a:pt x="290" y="196"/>
                        </a:lnTo>
                        <a:lnTo>
                          <a:pt x="295" y="191"/>
                        </a:lnTo>
                        <a:lnTo>
                          <a:pt x="295" y="186"/>
                        </a:lnTo>
                        <a:lnTo>
                          <a:pt x="301" y="180"/>
                        </a:lnTo>
                        <a:lnTo>
                          <a:pt x="301" y="175"/>
                        </a:lnTo>
                        <a:lnTo>
                          <a:pt x="307" y="170"/>
                        </a:lnTo>
                        <a:lnTo>
                          <a:pt x="307" y="159"/>
                        </a:lnTo>
                        <a:lnTo>
                          <a:pt x="312" y="154"/>
                        </a:lnTo>
                        <a:lnTo>
                          <a:pt x="312" y="148"/>
                        </a:lnTo>
                        <a:lnTo>
                          <a:pt x="318" y="143"/>
                        </a:lnTo>
                        <a:lnTo>
                          <a:pt x="318" y="138"/>
                        </a:lnTo>
                        <a:lnTo>
                          <a:pt x="324" y="132"/>
                        </a:lnTo>
                        <a:lnTo>
                          <a:pt x="324" y="122"/>
                        </a:lnTo>
                        <a:lnTo>
                          <a:pt x="329" y="116"/>
                        </a:lnTo>
                        <a:lnTo>
                          <a:pt x="329" y="106"/>
                        </a:lnTo>
                        <a:lnTo>
                          <a:pt x="335" y="101"/>
                        </a:lnTo>
                        <a:lnTo>
                          <a:pt x="335" y="95"/>
                        </a:lnTo>
                        <a:lnTo>
                          <a:pt x="341" y="90"/>
                        </a:lnTo>
                        <a:lnTo>
                          <a:pt x="341" y="85"/>
                        </a:lnTo>
                        <a:lnTo>
                          <a:pt x="346" y="79"/>
                        </a:lnTo>
                        <a:lnTo>
                          <a:pt x="346" y="69"/>
                        </a:lnTo>
                        <a:lnTo>
                          <a:pt x="352" y="63"/>
                        </a:lnTo>
                        <a:lnTo>
                          <a:pt x="352" y="58"/>
                        </a:lnTo>
                        <a:lnTo>
                          <a:pt x="358" y="53"/>
                        </a:lnTo>
                        <a:lnTo>
                          <a:pt x="358" y="47"/>
                        </a:lnTo>
                        <a:lnTo>
                          <a:pt x="363" y="42"/>
                        </a:lnTo>
                        <a:lnTo>
                          <a:pt x="363" y="26"/>
                        </a:lnTo>
                        <a:lnTo>
                          <a:pt x="369" y="21"/>
                        </a:lnTo>
                        <a:lnTo>
                          <a:pt x="369" y="15"/>
                        </a:lnTo>
                        <a:lnTo>
                          <a:pt x="375" y="10"/>
                        </a:lnTo>
                        <a:lnTo>
                          <a:pt x="375" y="5"/>
                        </a:lnTo>
                        <a:lnTo>
                          <a:pt x="380" y="0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61" name="Freeform 369">
                    <a:extLst>
                      <a:ext uri="{FF2B5EF4-FFF2-40B4-BE49-F238E27FC236}">
                        <a16:creationId xmlns:a16="http://schemas.microsoft.com/office/drawing/2014/main" id="{6E3AC7B9-A340-CCB4-FE32-4233985463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2" y="1178"/>
                    <a:ext cx="522" cy="702"/>
                  </a:xfrm>
                  <a:custGeom>
                    <a:avLst/>
                    <a:gdLst>
                      <a:gd name="T0" fmla="*/ 6 w 522"/>
                      <a:gd name="T1" fmla="*/ 686 h 702"/>
                      <a:gd name="T2" fmla="*/ 12 w 522"/>
                      <a:gd name="T3" fmla="*/ 670 h 702"/>
                      <a:gd name="T4" fmla="*/ 23 w 522"/>
                      <a:gd name="T5" fmla="*/ 654 h 702"/>
                      <a:gd name="T6" fmla="*/ 29 w 522"/>
                      <a:gd name="T7" fmla="*/ 632 h 702"/>
                      <a:gd name="T8" fmla="*/ 40 w 522"/>
                      <a:gd name="T9" fmla="*/ 617 h 702"/>
                      <a:gd name="T10" fmla="*/ 46 w 522"/>
                      <a:gd name="T11" fmla="*/ 595 h 702"/>
                      <a:gd name="T12" fmla="*/ 57 w 522"/>
                      <a:gd name="T13" fmla="*/ 579 h 702"/>
                      <a:gd name="T14" fmla="*/ 63 w 522"/>
                      <a:gd name="T15" fmla="*/ 558 h 702"/>
                      <a:gd name="T16" fmla="*/ 74 w 522"/>
                      <a:gd name="T17" fmla="*/ 542 h 702"/>
                      <a:gd name="T18" fmla="*/ 80 w 522"/>
                      <a:gd name="T19" fmla="*/ 521 h 702"/>
                      <a:gd name="T20" fmla="*/ 91 w 522"/>
                      <a:gd name="T21" fmla="*/ 505 h 702"/>
                      <a:gd name="T22" fmla="*/ 97 w 522"/>
                      <a:gd name="T23" fmla="*/ 484 h 702"/>
                      <a:gd name="T24" fmla="*/ 108 w 522"/>
                      <a:gd name="T25" fmla="*/ 468 h 702"/>
                      <a:gd name="T26" fmla="*/ 114 w 522"/>
                      <a:gd name="T27" fmla="*/ 446 h 702"/>
                      <a:gd name="T28" fmla="*/ 125 w 522"/>
                      <a:gd name="T29" fmla="*/ 431 h 702"/>
                      <a:gd name="T30" fmla="*/ 136 w 522"/>
                      <a:gd name="T31" fmla="*/ 409 h 702"/>
                      <a:gd name="T32" fmla="*/ 142 w 522"/>
                      <a:gd name="T33" fmla="*/ 393 h 702"/>
                      <a:gd name="T34" fmla="*/ 153 w 522"/>
                      <a:gd name="T35" fmla="*/ 372 h 702"/>
                      <a:gd name="T36" fmla="*/ 165 w 522"/>
                      <a:gd name="T37" fmla="*/ 356 h 702"/>
                      <a:gd name="T38" fmla="*/ 182 w 522"/>
                      <a:gd name="T39" fmla="*/ 330 h 702"/>
                      <a:gd name="T40" fmla="*/ 187 w 522"/>
                      <a:gd name="T41" fmla="*/ 308 h 702"/>
                      <a:gd name="T42" fmla="*/ 199 w 522"/>
                      <a:gd name="T43" fmla="*/ 292 h 702"/>
                      <a:gd name="T44" fmla="*/ 216 w 522"/>
                      <a:gd name="T45" fmla="*/ 266 h 702"/>
                      <a:gd name="T46" fmla="*/ 227 w 522"/>
                      <a:gd name="T47" fmla="*/ 250 h 702"/>
                      <a:gd name="T48" fmla="*/ 238 w 522"/>
                      <a:gd name="T49" fmla="*/ 229 h 702"/>
                      <a:gd name="T50" fmla="*/ 255 w 522"/>
                      <a:gd name="T51" fmla="*/ 207 h 702"/>
                      <a:gd name="T52" fmla="*/ 261 w 522"/>
                      <a:gd name="T53" fmla="*/ 191 h 702"/>
                      <a:gd name="T54" fmla="*/ 278 w 522"/>
                      <a:gd name="T55" fmla="*/ 170 h 702"/>
                      <a:gd name="T56" fmla="*/ 295 w 522"/>
                      <a:gd name="T57" fmla="*/ 149 h 702"/>
                      <a:gd name="T58" fmla="*/ 312 w 522"/>
                      <a:gd name="T59" fmla="*/ 128 h 702"/>
                      <a:gd name="T60" fmla="*/ 329 w 522"/>
                      <a:gd name="T61" fmla="*/ 106 h 702"/>
                      <a:gd name="T62" fmla="*/ 346 w 522"/>
                      <a:gd name="T63" fmla="*/ 90 h 702"/>
                      <a:gd name="T64" fmla="*/ 357 w 522"/>
                      <a:gd name="T65" fmla="*/ 74 h 702"/>
                      <a:gd name="T66" fmla="*/ 374 w 522"/>
                      <a:gd name="T67" fmla="*/ 64 h 702"/>
                      <a:gd name="T68" fmla="*/ 391 w 522"/>
                      <a:gd name="T69" fmla="*/ 48 h 702"/>
                      <a:gd name="T70" fmla="*/ 408 w 522"/>
                      <a:gd name="T71" fmla="*/ 37 h 702"/>
                      <a:gd name="T72" fmla="*/ 425 w 522"/>
                      <a:gd name="T73" fmla="*/ 27 h 702"/>
                      <a:gd name="T74" fmla="*/ 442 w 522"/>
                      <a:gd name="T75" fmla="*/ 16 h 702"/>
                      <a:gd name="T76" fmla="*/ 459 w 522"/>
                      <a:gd name="T77" fmla="*/ 11 h 702"/>
                      <a:gd name="T78" fmla="*/ 476 w 522"/>
                      <a:gd name="T79" fmla="*/ 5 h 702"/>
                      <a:gd name="T80" fmla="*/ 493 w 522"/>
                      <a:gd name="T81" fmla="*/ 0 h 702"/>
                      <a:gd name="T82" fmla="*/ 511 w 522"/>
                      <a:gd name="T83" fmla="*/ 0 h 7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522" h="702">
                        <a:moveTo>
                          <a:pt x="0" y="702"/>
                        </a:moveTo>
                        <a:lnTo>
                          <a:pt x="0" y="691"/>
                        </a:lnTo>
                        <a:lnTo>
                          <a:pt x="6" y="686"/>
                        </a:lnTo>
                        <a:lnTo>
                          <a:pt x="6" y="680"/>
                        </a:lnTo>
                        <a:lnTo>
                          <a:pt x="12" y="675"/>
                        </a:lnTo>
                        <a:lnTo>
                          <a:pt x="12" y="670"/>
                        </a:lnTo>
                        <a:lnTo>
                          <a:pt x="17" y="664"/>
                        </a:lnTo>
                        <a:lnTo>
                          <a:pt x="17" y="659"/>
                        </a:lnTo>
                        <a:lnTo>
                          <a:pt x="23" y="654"/>
                        </a:lnTo>
                        <a:lnTo>
                          <a:pt x="23" y="643"/>
                        </a:lnTo>
                        <a:lnTo>
                          <a:pt x="29" y="638"/>
                        </a:lnTo>
                        <a:lnTo>
                          <a:pt x="29" y="632"/>
                        </a:lnTo>
                        <a:lnTo>
                          <a:pt x="34" y="627"/>
                        </a:lnTo>
                        <a:lnTo>
                          <a:pt x="34" y="622"/>
                        </a:lnTo>
                        <a:lnTo>
                          <a:pt x="40" y="617"/>
                        </a:lnTo>
                        <a:lnTo>
                          <a:pt x="40" y="606"/>
                        </a:lnTo>
                        <a:lnTo>
                          <a:pt x="46" y="601"/>
                        </a:lnTo>
                        <a:lnTo>
                          <a:pt x="46" y="595"/>
                        </a:lnTo>
                        <a:lnTo>
                          <a:pt x="51" y="590"/>
                        </a:lnTo>
                        <a:lnTo>
                          <a:pt x="51" y="585"/>
                        </a:lnTo>
                        <a:lnTo>
                          <a:pt x="57" y="579"/>
                        </a:lnTo>
                        <a:lnTo>
                          <a:pt x="57" y="569"/>
                        </a:lnTo>
                        <a:lnTo>
                          <a:pt x="63" y="563"/>
                        </a:lnTo>
                        <a:lnTo>
                          <a:pt x="63" y="558"/>
                        </a:lnTo>
                        <a:lnTo>
                          <a:pt x="68" y="553"/>
                        </a:lnTo>
                        <a:lnTo>
                          <a:pt x="68" y="547"/>
                        </a:lnTo>
                        <a:lnTo>
                          <a:pt x="74" y="542"/>
                        </a:lnTo>
                        <a:lnTo>
                          <a:pt x="74" y="537"/>
                        </a:lnTo>
                        <a:lnTo>
                          <a:pt x="80" y="531"/>
                        </a:lnTo>
                        <a:lnTo>
                          <a:pt x="80" y="521"/>
                        </a:lnTo>
                        <a:lnTo>
                          <a:pt x="85" y="516"/>
                        </a:lnTo>
                        <a:lnTo>
                          <a:pt x="85" y="510"/>
                        </a:lnTo>
                        <a:lnTo>
                          <a:pt x="91" y="505"/>
                        </a:lnTo>
                        <a:lnTo>
                          <a:pt x="91" y="500"/>
                        </a:lnTo>
                        <a:lnTo>
                          <a:pt x="97" y="494"/>
                        </a:lnTo>
                        <a:lnTo>
                          <a:pt x="97" y="484"/>
                        </a:lnTo>
                        <a:lnTo>
                          <a:pt x="102" y="478"/>
                        </a:lnTo>
                        <a:lnTo>
                          <a:pt x="102" y="473"/>
                        </a:lnTo>
                        <a:lnTo>
                          <a:pt x="108" y="468"/>
                        </a:lnTo>
                        <a:lnTo>
                          <a:pt x="108" y="462"/>
                        </a:lnTo>
                        <a:lnTo>
                          <a:pt x="114" y="457"/>
                        </a:lnTo>
                        <a:lnTo>
                          <a:pt x="114" y="446"/>
                        </a:lnTo>
                        <a:lnTo>
                          <a:pt x="119" y="441"/>
                        </a:lnTo>
                        <a:lnTo>
                          <a:pt x="125" y="436"/>
                        </a:lnTo>
                        <a:lnTo>
                          <a:pt x="125" y="431"/>
                        </a:lnTo>
                        <a:lnTo>
                          <a:pt x="131" y="425"/>
                        </a:lnTo>
                        <a:lnTo>
                          <a:pt x="131" y="415"/>
                        </a:lnTo>
                        <a:lnTo>
                          <a:pt x="136" y="409"/>
                        </a:lnTo>
                        <a:lnTo>
                          <a:pt x="136" y="404"/>
                        </a:lnTo>
                        <a:lnTo>
                          <a:pt x="142" y="399"/>
                        </a:lnTo>
                        <a:lnTo>
                          <a:pt x="142" y="393"/>
                        </a:lnTo>
                        <a:lnTo>
                          <a:pt x="148" y="388"/>
                        </a:lnTo>
                        <a:lnTo>
                          <a:pt x="153" y="383"/>
                        </a:lnTo>
                        <a:lnTo>
                          <a:pt x="153" y="372"/>
                        </a:lnTo>
                        <a:lnTo>
                          <a:pt x="159" y="367"/>
                        </a:lnTo>
                        <a:lnTo>
                          <a:pt x="159" y="361"/>
                        </a:lnTo>
                        <a:lnTo>
                          <a:pt x="165" y="356"/>
                        </a:lnTo>
                        <a:lnTo>
                          <a:pt x="170" y="351"/>
                        </a:lnTo>
                        <a:lnTo>
                          <a:pt x="170" y="340"/>
                        </a:lnTo>
                        <a:lnTo>
                          <a:pt x="182" y="330"/>
                        </a:lnTo>
                        <a:lnTo>
                          <a:pt x="182" y="324"/>
                        </a:lnTo>
                        <a:lnTo>
                          <a:pt x="187" y="319"/>
                        </a:lnTo>
                        <a:lnTo>
                          <a:pt x="187" y="308"/>
                        </a:lnTo>
                        <a:lnTo>
                          <a:pt x="193" y="303"/>
                        </a:lnTo>
                        <a:lnTo>
                          <a:pt x="199" y="298"/>
                        </a:lnTo>
                        <a:lnTo>
                          <a:pt x="199" y="292"/>
                        </a:lnTo>
                        <a:lnTo>
                          <a:pt x="210" y="282"/>
                        </a:lnTo>
                        <a:lnTo>
                          <a:pt x="210" y="271"/>
                        </a:lnTo>
                        <a:lnTo>
                          <a:pt x="216" y="266"/>
                        </a:lnTo>
                        <a:lnTo>
                          <a:pt x="221" y="260"/>
                        </a:lnTo>
                        <a:lnTo>
                          <a:pt x="221" y="255"/>
                        </a:lnTo>
                        <a:lnTo>
                          <a:pt x="227" y="250"/>
                        </a:lnTo>
                        <a:lnTo>
                          <a:pt x="227" y="245"/>
                        </a:lnTo>
                        <a:lnTo>
                          <a:pt x="238" y="234"/>
                        </a:lnTo>
                        <a:lnTo>
                          <a:pt x="238" y="229"/>
                        </a:lnTo>
                        <a:lnTo>
                          <a:pt x="244" y="223"/>
                        </a:lnTo>
                        <a:lnTo>
                          <a:pt x="244" y="218"/>
                        </a:lnTo>
                        <a:lnTo>
                          <a:pt x="255" y="207"/>
                        </a:lnTo>
                        <a:lnTo>
                          <a:pt x="255" y="202"/>
                        </a:lnTo>
                        <a:lnTo>
                          <a:pt x="261" y="197"/>
                        </a:lnTo>
                        <a:lnTo>
                          <a:pt x="261" y="191"/>
                        </a:lnTo>
                        <a:lnTo>
                          <a:pt x="267" y="186"/>
                        </a:lnTo>
                        <a:lnTo>
                          <a:pt x="278" y="175"/>
                        </a:lnTo>
                        <a:lnTo>
                          <a:pt x="278" y="170"/>
                        </a:lnTo>
                        <a:lnTo>
                          <a:pt x="289" y="159"/>
                        </a:lnTo>
                        <a:lnTo>
                          <a:pt x="289" y="154"/>
                        </a:lnTo>
                        <a:lnTo>
                          <a:pt x="295" y="149"/>
                        </a:lnTo>
                        <a:lnTo>
                          <a:pt x="306" y="138"/>
                        </a:lnTo>
                        <a:lnTo>
                          <a:pt x="306" y="133"/>
                        </a:lnTo>
                        <a:lnTo>
                          <a:pt x="312" y="128"/>
                        </a:lnTo>
                        <a:lnTo>
                          <a:pt x="323" y="117"/>
                        </a:lnTo>
                        <a:lnTo>
                          <a:pt x="323" y="112"/>
                        </a:lnTo>
                        <a:lnTo>
                          <a:pt x="329" y="106"/>
                        </a:lnTo>
                        <a:lnTo>
                          <a:pt x="335" y="101"/>
                        </a:lnTo>
                        <a:lnTo>
                          <a:pt x="340" y="96"/>
                        </a:lnTo>
                        <a:lnTo>
                          <a:pt x="346" y="90"/>
                        </a:lnTo>
                        <a:lnTo>
                          <a:pt x="352" y="85"/>
                        </a:lnTo>
                        <a:lnTo>
                          <a:pt x="363" y="74"/>
                        </a:lnTo>
                        <a:lnTo>
                          <a:pt x="357" y="74"/>
                        </a:lnTo>
                        <a:lnTo>
                          <a:pt x="363" y="74"/>
                        </a:lnTo>
                        <a:lnTo>
                          <a:pt x="369" y="69"/>
                        </a:lnTo>
                        <a:lnTo>
                          <a:pt x="374" y="64"/>
                        </a:lnTo>
                        <a:lnTo>
                          <a:pt x="380" y="59"/>
                        </a:lnTo>
                        <a:lnTo>
                          <a:pt x="386" y="53"/>
                        </a:lnTo>
                        <a:lnTo>
                          <a:pt x="391" y="48"/>
                        </a:lnTo>
                        <a:lnTo>
                          <a:pt x="397" y="43"/>
                        </a:lnTo>
                        <a:lnTo>
                          <a:pt x="403" y="43"/>
                        </a:lnTo>
                        <a:lnTo>
                          <a:pt x="408" y="37"/>
                        </a:lnTo>
                        <a:lnTo>
                          <a:pt x="414" y="32"/>
                        </a:lnTo>
                        <a:lnTo>
                          <a:pt x="420" y="27"/>
                        </a:lnTo>
                        <a:lnTo>
                          <a:pt x="425" y="27"/>
                        </a:lnTo>
                        <a:lnTo>
                          <a:pt x="431" y="21"/>
                        </a:lnTo>
                        <a:lnTo>
                          <a:pt x="437" y="21"/>
                        </a:lnTo>
                        <a:lnTo>
                          <a:pt x="442" y="16"/>
                        </a:lnTo>
                        <a:lnTo>
                          <a:pt x="448" y="16"/>
                        </a:lnTo>
                        <a:lnTo>
                          <a:pt x="454" y="11"/>
                        </a:lnTo>
                        <a:lnTo>
                          <a:pt x="459" y="11"/>
                        </a:lnTo>
                        <a:lnTo>
                          <a:pt x="465" y="5"/>
                        </a:lnTo>
                        <a:lnTo>
                          <a:pt x="471" y="5"/>
                        </a:lnTo>
                        <a:lnTo>
                          <a:pt x="476" y="5"/>
                        </a:lnTo>
                        <a:lnTo>
                          <a:pt x="482" y="0"/>
                        </a:lnTo>
                        <a:lnTo>
                          <a:pt x="488" y="0"/>
                        </a:lnTo>
                        <a:lnTo>
                          <a:pt x="493" y="0"/>
                        </a:lnTo>
                        <a:lnTo>
                          <a:pt x="499" y="0"/>
                        </a:lnTo>
                        <a:lnTo>
                          <a:pt x="505" y="0"/>
                        </a:lnTo>
                        <a:lnTo>
                          <a:pt x="511" y="0"/>
                        </a:lnTo>
                        <a:lnTo>
                          <a:pt x="516" y="0"/>
                        </a:lnTo>
                        <a:lnTo>
                          <a:pt x="522" y="0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</p:grpSp>
            <p:grpSp>
              <p:nvGrpSpPr>
                <p:cNvPr id="110962" name="Group 370">
                  <a:extLst>
                    <a:ext uri="{FF2B5EF4-FFF2-40B4-BE49-F238E27FC236}">
                      <a16:creationId xmlns:a16="http://schemas.microsoft.com/office/drawing/2014/main" id="{69BD0E2F-3369-3F34-F0C7-C7CA7BD46D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1604" y="2784"/>
                  <a:ext cx="340" cy="142"/>
                  <a:chOff x="529" y="1178"/>
                  <a:chExt cx="2455" cy="1812"/>
                </a:xfrm>
              </p:grpSpPr>
              <p:sp>
                <p:nvSpPr>
                  <p:cNvPr id="110963" name="Freeform 371">
                    <a:extLst>
                      <a:ext uri="{FF2B5EF4-FFF2-40B4-BE49-F238E27FC236}">
                        <a16:creationId xmlns:a16="http://schemas.microsoft.com/office/drawing/2014/main" id="{7A389275-322B-8C5C-2B91-5BC3008E13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9" y="1178"/>
                    <a:ext cx="521" cy="702"/>
                  </a:xfrm>
                  <a:custGeom>
                    <a:avLst/>
                    <a:gdLst>
                      <a:gd name="T0" fmla="*/ 11 w 521"/>
                      <a:gd name="T1" fmla="*/ 0 h 702"/>
                      <a:gd name="T2" fmla="*/ 28 w 521"/>
                      <a:gd name="T3" fmla="*/ 0 h 702"/>
                      <a:gd name="T4" fmla="*/ 45 w 521"/>
                      <a:gd name="T5" fmla="*/ 5 h 702"/>
                      <a:gd name="T6" fmla="*/ 62 w 521"/>
                      <a:gd name="T7" fmla="*/ 11 h 702"/>
                      <a:gd name="T8" fmla="*/ 79 w 521"/>
                      <a:gd name="T9" fmla="*/ 16 h 702"/>
                      <a:gd name="T10" fmla="*/ 96 w 521"/>
                      <a:gd name="T11" fmla="*/ 27 h 702"/>
                      <a:gd name="T12" fmla="*/ 113 w 521"/>
                      <a:gd name="T13" fmla="*/ 37 h 702"/>
                      <a:gd name="T14" fmla="*/ 130 w 521"/>
                      <a:gd name="T15" fmla="*/ 53 h 702"/>
                      <a:gd name="T16" fmla="*/ 147 w 521"/>
                      <a:gd name="T17" fmla="*/ 64 h 702"/>
                      <a:gd name="T18" fmla="*/ 164 w 521"/>
                      <a:gd name="T19" fmla="*/ 80 h 702"/>
                      <a:gd name="T20" fmla="*/ 187 w 521"/>
                      <a:gd name="T21" fmla="*/ 101 h 702"/>
                      <a:gd name="T22" fmla="*/ 198 w 521"/>
                      <a:gd name="T23" fmla="*/ 117 h 702"/>
                      <a:gd name="T24" fmla="*/ 221 w 521"/>
                      <a:gd name="T25" fmla="*/ 138 h 702"/>
                      <a:gd name="T26" fmla="*/ 238 w 521"/>
                      <a:gd name="T27" fmla="*/ 159 h 702"/>
                      <a:gd name="T28" fmla="*/ 249 w 521"/>
                      <a:gd name="T29" fmla="*/ 181 h 702"/>
                      <a:gd name="T30" fmla="*/ 261 w 521"/>
                      <a:gd name="T31" fmla="*/ 197 h 702"/>
                      <a:gd name="T32" fmla="*/ 278 w 521"/>
                      <a:gd name="T33" fmla="*/ 218 h 702"/>
                      <a:gd name="T34" fmla="*/ 289 w 521"/>
                      <a:gd name="T35" fmla="*/ 239 h 702"/>
                      <a:gd name="T36" fmla="*/ 300 w 521"/>
                      <a:gd name="T37" fmla="*/ 255 h 702"/>
                      <a:gd name="T38" fmla="*/ 312 w 521"/>
                      <a:gd name="T39" fmla="*/ 271 h 702"/>
                      <a:gd name="T40" fmla="*/ 323 w 521"/>
                      <a:gd name="T41" fmla="*/ 292 h 702"/>
                      <a:gd name="T42" fmla="*/ 334 w 521"/>
                      <a:gd name="T43" fmla="*/ 308 h 702"/>
                      <a:gd name="T44" fmla="*/ 346 w 521"/>
                      <a:gd name="T45" fmla="*/ 335 h 702"/>
                      <a:gd name="T46" fmla="*/ 357 w 521"/>
                      <a:gd name="T47" fmla="*/ 356 h 702"/>
                      <a:gd name="T48" fmla="*/ 368 w 521"/>
                      <a:gd name="T49" fmla="*/ 372 h 702"/>
                      <a:gd name="T50" fmla="*/ 380 w 521"/>
                      <a:gd name="T51" fmla="*/ 393 h 702"/>
                      <a:gd name="T52" fmla="*/ 385 w 521"/>
                      <a:gd name="T53" fmla="*/ 409 h 702"/>
                      <a:gd name="T54" fmla="*/ 397 w 521"/>
                      <a:gd name="T55" fmla="*/ 431 h 702"/>
                      <a:gd name="T56" fmla="*/ 408 w 521"/>
                      <a:gd name="T57" fmla="*/ 446 h 702"/>
                      <a:gd name="T58" fmla="*/ 414 w 521"/>
                      <a:gd name="T59" fmla="*/ 468 h 702"/>
                      <a:gd name="T60" fmla="*/ 425 w 521"/>
                      <a:gd name="T61" fmla="*/ 484 h 702"/>
                      <a:gd name="T62" fmla="*/ 431 w 521"/>
                      <a:gd name="T63" fmla="*/ 505 h 702"/>
                      <a:gd name="T64" fmla="*/ 442 w 521"/>
                      <a:gd name="T65" fmla="*/ 521 h 702"/>
                      <a:gd name="T66" fmla="*/ 448 w 521"/>
                      <a:gd name="T67" fmla="*/ 542 h 702"/>
                      <a:gd name="T68" fmla="*/ 459 w 521"/>
                      <a:gd name="T69" fmla="*/ 558 h 702"/>
                      <a:gd name="T70" fmla="*/ 465 w 521"/>
                      <a:gd name="T71" fmla="*/ 579 h 702"/>
                      <a:gd name="T72" fmla="*/ 476 w 521"/>
                      <a:gd name="T73" fmla="*/ 595 h 702"/>
                      <a:gd name="T74" fmla="*/ 482 w 521"/>
                      <a:gd name="T75" fmla="*/ 617 h 702"/>
                      <a:gd name="T76" fmla="*/ 493 w 521"/>
                      <a:gd name="T77" fmla="*/ 632 h 702"/>
                      <a:gd name="T78" fmla="*/ 499 w 521"/>
                      <a:gd name="T79" fmla="*/ 654 h 702"/>
                      <a:gd name="T80" fmla="*/ 510 w 521"/>
                      <a:gd name="T81" fmla="*/ 670 h 702"/>
                      <a:gd name="T82" fmla="*/ 516 w 521"/>
                      <a:gd name="T83" fmla="*/ 686 h 7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521" h="702">
                        <a:moveTo>
                          <a:pt x="0" y="0"/>
                        </a:moveTo>
                        <a:lnTo>
                          <a:pt x="6" y="0"/>
                        </a:lnTo>
                        <a:lnTo>
                          <a:pt x="11" y="0"/>
                        </a:lnTo>
                        <a:lnTo>
                          <a:pt x="17" y="0"/>
                        </a:lnTo>
                        <a:lnTo>
                          <a:pt x="23" y="0"/>
                        </a:lnTo>
                        <a:lnTo>
                          <a:pt x="28" y="0"/>
                        </a:lnTo>
                        <a:lnTo>
                          <a:pt x="34" y="0"/>
                        </a:lnTo>
                        <a:lnTo>
                          <a:pt x="40" y="5"/>
                        </a:lnTo>
                        <a:lnTo>
                          <a:pt x="45" y="5"/>
                        </a:lnTo>
                        <a:lnTo>
                          <a:pt x="51" y="5"/>
                        </a:lnTo>
                        <a:lnTo>
                          <a:pt x="57" y="11"/>
                        </a:lnTo>
                        <a:lnTo>
                          <a:pt x="62" y="11"/>
                        </a:lnTo>
                        <a:lnTo>
                          <a:pt x="68" y="11"/>
                        </a:lnTo>
                        <a:lnTo>
                          <a:pt x="74" y="16"/>
                        </a:lnTo>
                        <a:lnTo>
                          <a:pt x="79" y="16"/>
                        </a:lnTo>
                        <a:lnTo>
                          <a:pt x="85" y="21"/>
                        </a:lnTo>
                        <a:lnTo>
                          <a:pt x="91" y="27"/>
                        </a:lnTo>
                        <a:lnTo>
                          <a:pt x="96" y="27"/>
                        </a:lnTo>
                        <a:lnTo>
                          <a:pt x="102" y="32"/>
                        </a:lnTo>
                        <a:lnTo>
                          <a:pt x="108" y="37"/>
                        </a:lnTo>
                        <a:lnTo>
                          <a:pt x="113" y="37"/>
                        </a:lnTo>
                        <a:lnTo>
                          <a:pt x="119" y="43"/>
                        </a:lnTo>
                        <a:lnTo>
                          <a:pt x="125" y="48"/>
                        </a:lnTo>
                        <a:lnTo>
                          <a:pt x="130" y="53"/>
                        </a:lnTo>
                        <a:lnTo>
                          <a:pt x="136" y="53"/>
                        </a:lnTo>
                        <a:lnTo>
                          <a:pt x="142" y="59"/>
                        </a:lnTo>
                        <a:lnTo>
                          <a:pt x="147" y="64"/>
                        </a:lnTo>
                        <a:lnTo>
                          <a:pt x="153" y="69"/>
                        </a:lnTo>
                        <a:lnTo>
                          <a:pt x="159" y="74"/>
                        </a:lnTo>
                        <a:lnTo>
                          <a:pt x="164" y="80"/>
                        </a:lnTo>
                        <a:lnTo>
                          <a:pt x="170" y="85"/>
                        </a:lnTo>
                        <a:lnTo>
                          <a:pt x="176" y="90"/>
                        </a:lnTo>
                        <a:lnTo>
                          <a:pt x="187" y="101"/>
                        </a:lnTo>
                        <a:lnTo>
                          <a:pt x="187" y="106"/>
                        </a:lnTo>
                        <a:lnTo>
                          <a:pt x="193" y="112"/>
                        </a:lnTo>
                        <a:lnTo>
                          <a:pt x="198" y="117"/>
                        </a:lnTo>
                        <a:lnTo>
                          <a:pt x="204" y="122"/>
                        </a:lnTo>
                        <a:lnTo>
                          <a:pt x="210" y="128"/>
                        </a:lnTo>
                        <a:lnTo>
                          <a:pt x="221" y="138"/>
                        </a:lnTo>
                        <a:lnTo>
                          <a:pt x="221" y="144"/>
                        </a:lnTo>
                        <a:lnTo>
                          <a:pt x="227" y="149"/>
                        </a:lnTo>
                        <a:lnTo>
                          <a:pt x="238" y="159"/>
                        </a:lnTo>
                        <a:lnTo>
                          <a:pt x="238" y="170"/>
                        </a:lnTo>
                        <a:lnTo>
                          <a:pt x="244" y="175"/>
                        </a:lnTo>
                        <a:lnTo>
                          <a:pt x="249" y="181"/>
                        </a:lnTo>
                        <a:lnTo>
                          <a:pt x="255" y="186"/>
                        </a:lnTo>
                        <a:lnTo>
                          <a:pt x="261" y="191"/>
                        </a:lnTo>
                        <a:lnTo>
                          <a:pt x="261" y="197"/>
                        </a:lnTo>
                        <a:lnTo>
                          <a:pt x="272" y="207"/>
                        </a:lnTo>
                        <a:lnTo>
                          <a:pt x="272" y="213"/>
                        </a:lnTo>
                        <a:lnTo>
                          <a:pt x="278" y="218"/>
                        </a:lnTo>
                        <a:lnTo>
                          <a:pt x="278" y="223"/>
                        </a:lnTo>
                        <a:lnTo>
                          <a:pt x="289" y="234"/>
                        </a:lnTo>
                        <a:lnTo>
                          <a:pt x="289" y="239"/>
                        </a:lnTo>
                        <a:lnTo>
                          <a:pt x="295" y="245"/>
                        </a:lnTo>
                        <a:lnTo>
                          <a:pt x="295" y="250"/>
                        </a:lnTo>
                        <a:lnTo>
                          <a:pt x="300" y="255"/>
                        </a:lnTo>
                        <a:lnTo>
                          <a:pt x="300" y="260"/>
                        </a:lnTo>
                        <a:lnTo>
                          <a:pt x="306" y="266"/>
                        </a:lnTo>
                        <a:lnTo>
                          <a:pt x="312" y="271"/>
                        </a:lnTo>
                        <a:lnTo>
                          <a:pt x="312" y="282"/>
                        </a:lnTo>
                        <a:lnTo>
                          <a:pt x="317" y="287"/>
                        </a:lnTo>
                        <a:lnTo>
                          <a:pt x="323" y="292"/>
                        </a:lnTo>
                        <a:lnTo>
                          <a:pt x="323" y="298"/>
                        </a:lnTo>
                        <a:lnTo>
                          <a:pt x="329" y="303"/>
                        </a:lnTo>
                        <a:lnTo>
                          <a:pt x="334" y="308"/>
                        </a:lnTo>
                        <a:lnTo>
                          <a:pt x="334" y="319"/>
                        </a:lnTo>
                        <a:lnTo>
                          <a:pt x="346" y="330"/>
                        </a:lnTo>
                        <a:lnTo>
                          <a:pt x="346" y="335"/>
                        </a:lnTo>
                        <a:lnTo>
                          <a:pt x="351" y="340"/>
                        </a:lnTo>
                        <a:lnTo>
                          <a:pt x="351" y="351"/>
                        </a:lnTo>
                        <a:lnTo>
                          <a:pt x="357" y="356"/>
                        </a:lnTo>
                        <a:lnTo>
                          <a:pt x="363" y="361"/>
                        </a:lnTo>
                        <a:lnTo>
                          <a:pt x="363" y="367"/>
                        </a:lnTo>
                        <a:lnTo>
                          <a:pt x="368" y="372"/>
                        </a:lnTo>
                        <a:lnTo>
                          <a:pt x="368" y="383"/>
                        </a:lnTo>
                        <a:lnTo>
                          <a:pt x="374" y="388"/>
                        </a:lnTo>
                        <a:lnTo>
                          <a:pt x="380" y="393"/>
                        </a:lnTo>
                        <a:lnTo>
                          <a:pt x="380" y="399"/>
                        </a:lnTo>
                        <a:lnTo>
                          <a:pt x="385" y="404"/>
                        </a:lnTo>
                        <a:lnTo>
                          <a:pt x="385" y="409"/>
                        </a:lnTo>
                        <a:lnTo>
                          <a:pt x="391" y="415"/>
                        </a:lnTo>
                        <a:lnTo>
                          <a:pt x="391" y="425"/>
                        </a:lnTo>
                        <a:lnTo>
                          <a:pt x="397" y="431"/>
                        </a:lnTo>
                        <a:lnTo>
                          <a:pt x="397" y="436"/>
                        </a:lnTo>
                        <a:lnTo>
                          <a:pt x="402" y="441"/>
                        </a:lnTo>
                        <a:lnTo>
                          <a:pt x="408" y="446"/>
                        </a:lnTo>
                        <a:lnTo>
                          <a:pt x="408" y="457"/>
                        </a:lnTo>
                        <a:lnTo>
                          <a:pt x="414" y="462"/>
                        </a:lnTo>
                        <a:lnTo>
                          <a:pt x="414" y="468"/>
                        </a:lnTo>
                        <a:lnTo>
                          <a:pt x="419" y="473"/>
                        </a:lnTo>
                        <a:lnTo>
                          <a:pt x="419" y="478"/>
                        </a:lnTo>
                        <a:lnTo>
                          <a:pt x="425" y="484"/>
                        </a:lnTo>
                        <a:lnTo>
                          <a:pt x="425" y="494"/>
                        </a:lnTo>
                        <a:lnTo>
                          <a:pt x="431" y="500"/>
                        </a:lnTo>
                        <a:lnTo>
                          <a:pt x="431" y="505"/>
                        </a:lnTo>
                        <a:lnTo>
                          <a:pt x="436" y="510"/>
                        </a:lnTo>
                        <a:lnTo>
                          <a:pt x="436" y="516"/>
                        </a:lnTo>
                        <a:lnTo>
                          <a:pt x="442" y="521"/>
                        </a:lnTo>
                        <a:lnTo>
                          <a:pt x="442" y="531"/>
                        </a:lnTo>
                        <a:lnTo>
                          <a:pt x="448" y="537"/>
                        </a:lnTo>
                        <a:lnTo>
                          <a:pt x="448" y="542"/>
                        </a:lnTo>
                        <a:lnTo>
                          <a:pt x="453" y="547"/>
                        </a:lnTo>
                        <a:lnTo>
                          <a:pt x="453" y="553"/>
                        </a:lnTo>
                        <a:lnTo>
                          <a:pt x="459" y="558"/>
                        </a:lnTo>
                        <a:lnTo>
                          <a:pt x="459" y="563"/>
                        </a:lnTo>
                        <a:lnTo>
                          <a:pt x="465" y="569"/>
                        </a:lnTo>
                        <a:lnTo>
                          <a:pt x="465" y="579"/>
                        </a:lnTo>
                        <a:lnTo>
                          <a:pt x="470" y="585"/>
                        </a:lnTo>
                        <a:lnTo>
                          <a:pt x="470" y="590"/>
                        </a:lnTo>
                        <a:lnTo>
                          <a:pt x="476" y="595"/>
                        </a:lnTo>
                        <a:lnTo>
                          <a:pt x="476" y="601"/>
                        </a:lnTo>
                        <a:lnTo>
                          <a:pt x="482" y="606"/>
                        </a:lnTo>
                        <a:lnTo>
                          <a:pt x="482" y="617"/>
                        </a:lnTo>
                        <a:lnTo>
                          <a:pt x="487" y="622"/>
                        </a:lnTo>
                        <a:lnTo>
                          <a:pt x="487" y="627"/>
                        </a:lnTo>
                        <a:lnTo>
                          <a:pt x="493" y="632"/>
                        </a:lnTo>
                        <a:lnTo>
                          <a:pt x="493" y="638"/>
                        </a:lnTo>
                        <a:lnTo>
                          <a:pt x="499" y="643"/>
                        </a:lnTo>
                        <a:lnTo>
                          <a:pt x="499" y="654"/>
                        </a:lnTo>
                        <a:lnTo>
                          <a:pt x="504" y="659"/>
                        </a:lnTo>
                        <a:lnTo>
                          <a:pt x="504" y="664"/>
                        </a:lnTo>
                        <a:lnTo>
                          <a:pt x="510" y="670"/>
                        </a:lnTo>
                        <a:lnTo>
                          <a:pt x="510" y="675"/>
                        </a:lnTo>
                        <a:lnTo>
                          <a:pt x="516" y="680"/>
                        </a:lnTo>
                        <a:lnTo>
                          <a:pt x="516" y="686"/>
                        </a:lnTo>
                        <a:lnTo>
                          <a:pt x="521" y="691"/>
                        </a:lnTo>
                        <a:lnTo>
                          <a:pt x="521" y="702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64" name="Freeform 372">
                    <a:extLst>
                      <a:ext uri="{FF2B5EF4-FFF2-40B4-BE49-F238E27FC236}">
                        <a16:creationId xmlns:a16="http://schemas.microsoft.com/office/drawing/2014/main" id="{0887D2DB-15A1-0110-2B8D-A57FFD34F2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50" y="1880"/>
                    <a:ext cx="380" cy="813"/>
                  </a:xfrm>
                  <a:custGeom>
                    <a:avLst/>
                    <a:gdLst>
                      <a:gd name="T0" fmla="*/ 6 w 380"/>
                      <a:gd name="T1" fmla="*/ 10 h 813"/>
                      <a:gd name="T2" fmla="*/ 18 w 380"/>
                      <a:gd name="T3" fmla="*/ 26 h 813"/>
                      <a:gd name="T4" fmla="*/ 23 w 380"/>
                      <a:gd name="T5" fmla="*/ 53 h 813"/>
                      <a:gd name="T6" fmla="*/ 35 w 380"/>
                      <a:gd name="T7" fmla="*/ 69 h 813"/>
                      <a:gd name="T8" fmla="*/ 40 w 380"/>
                      <a:gd name="T9" fmla="*/ 90 h 813"/>
                      <a:gd name="T10" fmla="*/ 52 w 380"/>
                      <a:gd name="T11" fmla="*/ 106 h 813"/>
                      <a:gd name="T12" fmla="*/ 57 w 380"/>
                      <a:gd name="T13" fmla="*/ 132 h 813"/>
                      <a:gd name="T14" fmla="*/ 69 w 380"/>
                      <a:gd name="T15" fmla="*/ 148 h 813"/>
                      <a:gd name="T16" fmla="*/ 74 w 380"/>
                      <a:gd name="T17" fmla="*/ 170 h 813"/>
                      <a:gd name="T18" fmla="*/ 86 w 380"/>
                      <a:gd name="T19" fmla="*/ 186 h 813"/>
                      <a:gd name="T20" fmla="*/ 91 w 380"/>
                      <a:gd name="T21" fmla="*/ 212 h 813"/>
                      <a:gd name="T22" fmla="*/ 103 w 380"/>
                      <a:gd name="T23" fmla="*/ 228 h 813"/>
                      <a:gd name="T24" fmla="*/ 108 w 380"/>
                      <a:gd name="T25" fmla="*/ 249 h 813"/>
                      <a:gd name="T26" fmla="*/ 120 w 380"/>
                      <a:gd name="T27" fmla="*/ 265 h 813"/>
                      <a:gd name="T28" fmla="*/ 125 w 380"/>
                      <a:gd name="T29" fmla="*/ 287 h 813"/>
                      <a:gd name="T30" fmla="*/ 137 w 380"/>
                      <a:gd name="T31" fmla="*/ 308 h 813"/>
                      <a:gd name="T32" fmla="*/ 142 w 380"/>
                      <a:gd name="T33" fmla="*/ 324 h 813"/>
                      <a:gd name="T34" fmla="*/ 154 w 380"/>
                      <a:gd name="T35" fmla="*/ 345 h 813"/>
                      <a:gd name="T36" fmla="*/ 159 w 380"/>
                      <a:gd name="T37" fmla="*/ 361 h 813"/>
                      <a:gd name="T38" fmla="*/ 171 w 380"/>
                      <a:gd name="T39" fmla="*/ 387 h 813"/>
                      <a:gd name="T40" fmla="*/ 176 w 380"/>
                      <a:gd name="T41" fmla="*/ 403 h 813"/>
                      <a:gd name="T42" fmla="*/ 188 w 380"/>
                      <a:gd name="T43" fmla="*/ 425 h 813"/>
                      <a:gd name="T44" fmla="*/ 193 w 380"/>
                      <a:gd name="T45" fmla="*/ 441 h 813"/>
                      <a:gd name="T46" fmla="*/ 205 w 380"/>
                      <a:gd name="T47" fmla="*/ 457 h 813"/>
                      <a:gd name="T48" fmla="*/ 210 w 380"/>
                      <a:gd name="T49" fmla="*/ 478 h 813"/>
                      <a:gd name="T50" fmla="*/ 222 w 380"/>
                      <a:gd name="T51" fmla="*/ 494 h 813"/>
                      <a:gd name="T52" fmla="*/ 227 w 380"/>
                      <a:gd name="T53" fmla="*/ 515 h 813"/>
                      <a:gd name="T54" fmla="*/ 239 w 380"/>
                      <a:gd name="T55" fmla="*/ 531 h 813"/>
                      <a:gd name="T56" fmla="*/ 244 w 380"/>
                      <a:gd name="T57" fmla="*/ 552 h 813"/>
                      <a:gd name="T58" fmla="*/ 256 w 380"/>
                      <a:gd name="T59" fmla="*/ 568 h 813"/>
                      <a:gd name="T60" fmla="*/ 261 w 380"/>
                      <a:gd name="T61" fmla="*/ 589 h 813"/>
                      <a:gd name="T62" fmla="*/ 273 w 380"/>
                      <a:gd name="T63" fmla="*/ 605 h 813"/>
                      <a:gd name="T64" fmla="*/ 278 w 380"/>
                      <a:gd name="T65" fmla="*/ 627 h 813"/>
                      <a:gd name="T66" fmla="*/ 290 w 380"/>
                      <a:gd name="T67" fmla="*/ 643 h 813"/>
                      <a:gd name="T68" fmla="*/ 295 w 380"/>
                      <a:gd name="T69" fmla="*/ 664 h 813"/>
                      <a:gd name="T70" fmla="*/ 307 w 380"/>
                      <a:gd name="T71" fmla="*/ 680 h 813"/>
                      <a:gd name="T72" fmla="*/ 318 w 380"/>
                      <a:gd name="T73" fmla="*/ 701 h 813"/>
                      <a:gd name="T74" fmla="*/ 324 w 380"/>
                      <a:gd name="T75" fmla="*/ 717 h 813"/>
                      <a:gd name="T76" fmla="*/ 335 w 380"/>
                      <a:gd name="T77" fmla="*/ 738 h 813"/>
                      <a:gd name="T78" fmla="*/ 346 w 380"/>
                      <a:gd name="T79" fmla="*/ 754 h 813"/>
                      <a:gd name="T80" fmla="*/ 363 w 380"/>
                      <a:gd name="T81" fmla="*/ 781 h 813"/>
                      <a:gd name="T82" fmla="*/ 369 w 380"/>
                      <a:gd name="T83" fmla="*/ 802 h 8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80" h="813">
                        <a:moveTo>
                          <a:pt x="0" y="0"/>
                        </a:moveTo>
                        <a:lnTo>
                          <a:pt x="6" y="5"/>
                        </a:lnTo>
                        <a:lnTo>
                          <a:pt x="6" y="10"/>
                        </a:lnTo>
                        <a:lnTo>
                          <a:pt x="12" y="15"/>
                        </a:lnTo>
                        <a:lnTo>
                          <a:pt x="12" y="21"/>
                        </a:lnTo>
                        <a:lnTo>
                          <a:pt x="18" y="26"/>
                        </a:lnTo>
                        <a:lnTo>
                          <a:pt x="18" y="42"/>
                        </a:lnTo>
                        <a:lnTo>
                          <a:pt x="23" y="47"/>
                        </a:lnTo>
                        <a:lnTo>
                          <a:pt x="23" y="53"/>
                        </a:lnTo>
                        <a:lnTo>
                          <a:pt x="29" y="58"/>
                        </a:lnTo>
                        <a:lnTo>
                          <a:pt x="29" y="63"/>
                        </a:lnTo>
                        <a:lnTo>
                          <a:pt x="35" y="69"/>
                        </a:lnTo>
                        <a:lnTo>
                          <a:pt x="35" y="79"/>
                        </a:lnTo>
                        <a:lnTo>
                          <a:pt x="40" y="85"/>
                        </a:lnTo>
                        <a:lnTo>
                          <a:pt x="40" y="90"/>
                        </a:lnTo>
                        <a:lnTo>
                          <a:pt x="46" y="95"/>
                        </a:lnTo>
                        <a:lnTo>
                          <a:pt x="46" y="101"/>
                        </a:lnTo>
                        <a:lnTo>
                          <a:pt x="52" y="106"/>
                        </a:lnTo>
                        <a:lnTo>
                          <a:pt x="52" y="116"/>
                        </a:lnTo>
                        <a:lnTo>
                          <a:pt x="57" y="122"/>
                        </a:lnTo>
                        <a:lnTo>
                          <a:pt x="57" y="132"/>
                        </a:lnTo>
                        <a:lnTo>
                          <a:pt x="63" y="138"/>
                        </a:lnTo>
                        <a:lnTo>
                          <a:pt x="63" y="143"/>
                        </a:lnTo>
                        <a:lnTo>
                          <a:pt x="69" y="148"/>
                        </a:lnTo>
                        <a:lnTo>
                          <a:pt x="69" y="154"/>
                        </a:lnTo>
                        <a:lnTo>
                          <a:pt x="74" y="159"/>
                        </a:lnTo>
                        <a:lnTo>
                          <a:pt x="74" y="170"/>
                        </a:lnTo>
                        <a:lnTo>
                          <a:pt x="80" y="175"/>
                        </a:lnTo>
                        <a:lnTo>
                          <a:pt x="80" y="180"/>
                        </a:lnTo>
                        <a:lnTo>
                          <a:pt x="86" y="186"/>
                        </a:lnTo>
                        <a:lnTo>
                          <a:pt x="86" y="191"/>
                        </a:lnTo>
                        <a:lnTo>
                          <a:pt x="91" y="196"/>
                        </a:lnTo>
                        <a:lnTo>
                          <a:pt x="91" y="212"/>
                        </a:lnTo>
                        <a:lnTo>
                          <a:pt x="97" y="217"/>
                        </a:lnTo>
                        <a:lnTo>
                          <a:pt x="97" y="223"/>
                        </a:lnTo>
                        <a:lnTo>
                          <a:pt x="103" y="228"/>
                        </a:lnTo>
                        <a:lnTo>
                          <a:pt x="103" y="233"/>
                        </a:lnTo>
                        <a:lnTo>
                          <a:pt x="108" y="239"/>
                        </a:lnTo>
                        <a:lnTo>
                          <a:pt x="108" y="249"/>
                        </a:lnTo>
                        <a:lnTo>
                          <a:pt x="114" y="255"/>
                        </a:lnTo>
                        <a:lnTo>
                          <a:pt x="114" y="260"/>
                        </a:lnTo>
                        <a:lnTo>
                          <a:pt x="120" y="265"/>
                        </a:lnTo>
                        <a:lnTo>
                          <a:pt x="120" y="271"/>
                        </a:lnTo>
                        <a:lnTo>
                          <a:pt x="125" y="276"/>
                        </a:lnTo>
                        <a:lnTo>
                          <a:pt x="125" y="287"/>
                        </a:lnTo>
                        <a:lnTo>
                          <a:pt x="131" y="292"/>
                        </a:lnTo>
                        <a:lnTo>
                          <a:pt x="131" y="302"/>
                        </a:lnTo>
                        <a:lnTo>
                          <a:pt x="137" y="308"/>
                        </a:lnTo>
                        <a:lnTo>
                          <a:pt x="137" y="313"/>
                        </a:lnTo>
                        <a:lnTo>
                          <a:pt x="142" y="318"/>
                        </a:lnTo>
                        <a:lnTo>
                          <a:pt x="142" y="324"/>
                        </a:lnTo>
                        <a:lnTo>
                          <a:pt x="148" y="329"/>
                        </a:lnTo>
                        <a:lnTo>
                          <a:pt x="148" y="340"/>
                        </a:lnTo>
                        <a:lnTo>
                          <a:pt x="154" y="345"/>
                        </a:lnTo>
                        <a:lnTo>
                          <a:pt x="154" y="350"/>
                        </a:lnTo>
                        <a:lnTo>
                          <a:pt x="159" y="356"/>
                        </a:lnTo>
                        <a:lnTo>
                          <a:pt x="159" y="361"/>
                        </a:lnTo>
                        <a:lnTo>
                          <a:pt x="165" y="366"/>
                        </a:lnTo>
                        <a:lnTo>
                          <a:pt x="165" y="382"/>
                        </a:lnTo>
                        <a:lnTo>
                          <a:pt x="171" y="387"/>
                        </a:lnTo>
                        <a:lnTo>
                          <a:pt x="171" y="393"/>
                        </a:lnTo>
                        <a:lnTo>
                          <a:pt x="176" y="398"/>
                        </a:lnTo>
                        <a:lnTo>
                          <a:pt x="176" y="403"/>
                        </a:lnTo>
                        <a:lnTo>
                          <a:pt x="182" y="409"/>
                        </a:lnTo>
                        <a:lnTo>
                          <a:pt x="182" y="419"/>
                        </a:lnTo>
                        <a:lnTo>
                          <a:pt x="188" y="425"/>
                        </a:lnTo>
                        <a:lnTo>
                          <a:pt x="188" y="430"/>
                        </a:lnTo>
                        <a:lnTo>
                          <a:pt x="193" y="435"/>
                        </a:lnTo>
                        <a:lnTo>
                          <a:pt x="193" y="441"/>
                        </a:lnTo>
                        <a:lnTo>
                          <a:pt x="199" y="446"/>
                        </a:lnTo>
                        <a:lnTo>
                          <a:pt x="199" y="451"/>
                        </a:lnTo>
                        <a:lnTo>
                          <a:pt x="205" y="457"/>
                        </a:lnTo>
                        <a:lnTo>
                          <a:pt x="205" y="467"/>
                        </a:lnTo>
                        <a:lnTo>
                          <a:pt x="210" y="473"/>
                        </a:lnTo>
                        <a:lnTo>
                          <a:pt x="210" y="478"/>
                        </a:lnTo>
                        <a:lnTo>
                          <a:pt x="216" y="483"/>
                        </a:lnTo>
                        <a:lnTo>
                          <a:pt x="216" y="488"/>
                        </a:lnTo>
                        <a:lnTo>
                          <a:pt x="222" y="494"/>
                        </a:lnTo>
                        <a:lnTo>
                          <a:pt x="222" y="504"/>
                        </a:lnTo>
                        <a:lnTo>
                          <a:pt x="227" y="510"/>
                        </a:lnTo>
                        <a:lnTo>
                          <a:pt x="227" y="515"/>
                        </a:lnTo>
                        <a:lnTo>
                          <a:pt x="233" y="520"/>
                        </a:lnTo>
                        <a:lnTo>
                          <a:pt x="233" y="526"/>
                        </a:lnTo>
                        <a:lnTo>
                          <a:pt x="239" y="531"/>
                        </a:lnTo>
                        <a:lnTo>
                          <a:pt x="239" y="542"/>
                        </a:lnTo>
                        <a:lnTo>
                          <a:pt x="244" y="547"/>
                        </a:lnTo>
                        <a:lnTo>
                          <a:pt x="244" y="552"/>
                        </a:lnTo>
                        <a:lnTo>
                          <a:pt x="250" y="558"/>
                        </a:lnTo>
                        <a:lnTo>
                          <a:pt x="250" y="563"/>
                        </a:lnTo>
                        <a:lnTo>
                          <a:pt x="256" y="568"/>
                        </a:lnTo>
                        <a:lnTo>
                          <a:pt x="256" y="573"/>
                        </a:lnTo>
                        <a:lnTo>
                          <a:pt x="261" y="579"/>
                        </a:lnTo>
                        <a:lnTo>
                          <a:pt x="261" y="589"/>
                        </a:lnTo>
                        <a:lnTo>
                          <a:pt x="267" y="595"/>
                        </a:lnTo>
                        <a:lnTo>
                          <a:pt x="267" y="600"/>
                        </a:lnTo>
                        <a:lnTo>
                          <a:pt x="273" y="605"/>
                        </a:lnTo>
                        <a:lnTo>
                          <a:pt x="273" y="611"/>
                        </a:lnTo>
                        <a:lnTo>
                          <a:pt x="278" y="616"/>
                        </a:lnTo>
                        <a:lnTo>
                          <a:pt x="278" y="627"/>
                        </a:lnTo>
                        <a:lnTo>
                          <a:pt x="284" y="632"/>
                        </a:lnTo>
                        <a:lnTo>
                          <a:pt x="284" y="637"/>
                        </a:lnTo>
                        <a:lnTo>
                          <a:pt x="290" y="643"/>
                        </a:lnTo>
                        <a:lnTo>
                          <a:pt x="290" y="648"/>
                        </a:lnTo>
                        <a:lnTo>
                          <a:pt x="295" y="653"/>
                        </a:lnTo>
                        <a:lnTo>
                          <a:pt x="295" y="664"/>
                        </a:lnTo>
                        <a:lnTo>
                          <a:pt x="301" y="669"/>
                        </a:lnTo>
                        <a:lnTo>
                          <a:pt x="307" y="674"/>
                        </a:lnTo>
                        <a:lnTo>
                          <a:pt x="307" y="680"/>
                        </a:lnTo>
                        <a:lnTo>
                          <a:pt x="312" y="685"/>
                        </a:lnTo>
                        <a:lnTo>
                          <a:pt x="312" y="696"/>
                        </a:lnTo>
                        <a:lnTo>
                          <a:pt x="318" y="701"/>
                        </a:lnTo>
                        <a:lnTo>
                          <a:pt x="318" y="706"/>
                        </a:lnTo>
                        <a:lnTo>
                          <a:pt x="324" y="712"/>
                        </a:lnTo>
                        <a:lnTo>
                          <a:pt x="324" y="717"/>
                        </a:lnTo>
                        <a:lnTo>
                          <a:pt x="329" y="722"/>
                        </a:lnTo>
                        <a:lnTo>
                          <a:pt x="335" y="728"/>
                        </a:lnTo>
                        <a:lnTo>
                          <a:pt x="335" y="738"/>
                        </a:lnTo>
                        <a:lnTo>
                          <a:pt x="341" y="744"/>
                        </a:lnTo>
                        <a:lnTo>
                          <a:pt x="341" y="749"/>
                        </a:lnTo>
                        <a:lnTo>
                          <a:pt x="346" y="754"/>
                        </a:lnTo>
                        <a:lnTo>
                          <a:pt x="352" y="759"/>
                        </a:lnTo>
                        <a:lnTo>
                          <a:pt x="352" y="770"/>
                        </a:lnTo>
                        <a:lnTo>
                          <a:pt x="363" y="781"/>
                        </a:lnTo>
                        <a:lnTo>
                          <a:pt x="363" y="786"/>
                        </a:lnTo>
                        <a:lnTo>
                          <a:pt x="369" y="791"/>
                        </a:lnTo>
                        <a:lnTo>
                          <a:pt x="369" y="802"/>
                        </a:lnTo>
                        <a:lnTo>
                          <a:pt x="375" y="807"/>
                        </a:lnTo>
                        <a:lnTo>
                          <a:pt x="380" y="813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65" name="Freeform 373">
                    <a:extLst>
                      <a:ext uri="{FF2B5EF4-FFF2-40B4-BE49-F238E27FC236}">
                        <a16:creationId xmlns:a16="http://schemas.microsoft.com/office/drawing/2014/main" id="{A792A787-DDA5-1BE8-6463-F68277CC1F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30" y="2693"/>
                    <a:ext cx="652" cy="297"/>
                  </a:xfrm>
                  <a:custGeom>
                    <a:avLst/>
                    <a:gdLst>
                      <a:gd name="T0" fmla="*/ 12 w 652"/>
                      <a:gd name="T1" fmla="*/ 16 h 297"/>
                      <a:gd name="T2" fmla="*/ 23 w 652"/>
                      <a:gd name="T3" fmla="*/ 37 h 297"/>
                      <a:gd name="T4" fmla="*/ 29 w 652"/>
                      <a:gd name="T5" fmla="*/ 53 h 297"/>
                      <a:gd name="T6" fmla="*/ 46 w 652"/>
                      <a:gd name="T7" fmla="*/ 74 h 297"/>
                      <a:gd name="T8" fmla="*/ 57 w 652"/>
                      <a:gd name="T9" fmla="*/ 95 h 297"/>
                      <a:gd name="T10" fmla="*/ 68 w 652"/>
                      <a:gd name="T11" fmla="*/ 111 h 297"/>
                      <a:gd name="T12" fmla="*/ 91 w 652"/>
                      <a:gd name="T13" fmla="*/ 138 h 297"/>
                      <a:gd name="T14" fmla="*/ 108 w 652"/>
                      <a:gd name="T15" fmla="*/ 159 h 297"/>
                      <a:gd name="T16" fmla="*/ 125 w 652"/>
                      <a:gd name="T17" fmla="*/ 180 h 297"/>
                      <a:gd name="T18" fmla="*/ 136 w 652"/>
                      <a:gd name="T19" fmla="*/ 196 h 297"/>
                      <a:gd name="T20" fmla="*/ 153 w 652"/>
                      <a:gd name="T21" fmla="*/ 212 h 297"/>
                      <a:gd name="T22" fmla="*/ 165 w 652"/>
                      <a:gd name="T23" fmla="*/ 223 h 297"/>
                      <a:gd name="T24" fmla="*/ 182 w 652"/>
                      <a:gd name="T25" fmla="*/ 239 h 297"/>
                      <a:gd name="T26" fmla="*/ 199 w 652"/>
                      <a:gd name="T27" fmla="*/ 255 h 297"/>
                      <a:gd name="T28" fmla="*/ 216 w 652"/>
                      <a:gd name="T29" fmla="*/ 265 h 297"/>
                      <a:gd name="T30" fmla="*/ 233 w 652"/>
                      <a:gd name="T31" fmla="*/ 276 h 297"/>
                      <a:gd name="T32" fmla="*/ 250 w 652"/>
                      <a:gd name="T33" fmla="*/ 281 h 297"/>
                      <a:gd name="T34" fmla="*/ 267 w 652"/>
                      <a:gd name="T35" fmla="*/ 292 h 297"/>
                      <a:gd name="T36" fmla="*/ 284 w 652"/>
                      <a:gd name="T37" fmla="*/ 297 h 297"/>
                      <a:gd name="T38" fmla="*/ 301 w 652"/>
                      <a:gd name="T39" fmla="*/ 297 h 297"/>
                      <a:gd name="T40" fmla="*/ 318 w 652"/>
                      <a:gd name="T41" fmla="*/ 297 h 297"/>
                      <a:gd name="T42" fmla="*/ 335 w 652"/>
                      <a:gd name="T43" fmla="*/ 297 h 297"/>
                      <a:gd name="T44" fmla="*/ 352 w 652"/>
                      <a:gd name="T45" fmla="*/ 297 h 297"/>
                      <a:gd name="T46" fmla="*/ 369 w 652"/>
                      <a:gd name="T47" fmla="*/ 292 h 297"/>
                      <a:gd name="T48" fmla="*/ 386 w 652"/>
                      <a:gd name="T49" fmla="*/ 287 h 297"/>
                      <a:gd name="T50" fmla="*/ 403 w 652"/>
                      <a:gd name="T51" fmla="*/ 281 h 297"/>
                      <a:gd name="T52" fmla="*/ 420 w 652"/>
                      <a:gd name="T53" fmla="*/ 271 h 297"/>
                      <a:gd name="T54" fmla="*/ 437 w 652"/>
                      <a:gd name="T55" fmla="*/ 260 h 297"/>
                      <a:gd name="T56" fmla="*/ 454 w 652"/>
                      <a:gd name="T57" fmla="*/ 249 h 297"/>
                      <a:gd name="T58" fmla="*/ 471 w 652"/>
                      <a:gd name="T59" fmla="*/ 239 h 297"/>
                      <a:gd name="T60" fmla="*/ 488 w 652"/>
                      <a:gd name="T61" fmla="*/ 223 h 297"/>
                      <a:gd name="T62" fmla="*/ 505 w 652"/>
                      <a:gd name="T63" fmla="*/ 207 h 297"/>
                      <a:gd name="T64" fmla="*/ 522 w 652"/>
                      <a:gd name="T65" fmla="*/ 186 h 297"/>
                      <a:gd name="T66" fmla="*/ 539 w 652"/>
                      <a:gd name="T67" fmla="*/ 170 h 297"/>
                      <a:gd name="T68" fmla="*/ 556 w 652"/>
                      <a:gd name="T69" fmla="*/ 148 h 297"/>
                      <a:gd name="T70" fmla="*/ 573 w 652"/>
                      <a:gd name="T71" fmla="*/ 122 h 297"/>
                      <a:gd name="T72" fmla="*/ 590 w 652"/>
                      <a:gd name="T73" fmla="*/ 106 h 297"/>
                      <a:gd name="T74" fmla="*/ 601 w 652"/>
                      <a:gd name="T75" fmla="*/ 85 h 297"/>
                      <a:gd name="T76" fmla="*/ 618 w 652"/>
                      <a:gd name="T77" fmla="*/ 63 h 297"/>
                      <a:gd name="T78" fmla="*/ 624 w 652"/>
                      <a:gd name="T79" fmla="*/ 47 h 297"/>
                      <a:gd name="T80" fmla="*/ 635 w 652"/>
                      <a:gd name="T81" fmla="*/ 32 h 297"/>
                      <a:gd name="T82" fmla="*/ 647 w 652"/>
                      <a:gd name="T83" fmla="*/ 10 h 2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652" h="297"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12" y="16"/>
                        </a:lnTo>
                        <a:lnTo>
                          <a:pt x="12" y="26"/>
                        </a:lnTo>
                        <a:lnTo>
                          <a:pt x="17" y="32"/>
                        </a:lnTo>
                        <a:lnTo>
                          <a:pt x="23" y="37"/>
                        </a:lnTo>
                        <a:lnTo>
                          <a:pt x="23" y="42"/>
                        </a:lnTo>
                        <a:lnTo>
                          <a:pt x="29" y="47"/>
                        </a:lnTo>
                        <a:lnTo>
                          <a:pt x="29" y="53"/>
                        </a:lnTo>
                        <a:lnTo>
                          <a:pt x="40" y="63"/>
                        </a:lnTo>
                        <a:lnTo>
                          <a:pt x="40" y="69"/>
                        </a:lnTo>
                        <a:lnTo>
                          <a:pt x="46" y="74"/>
                        </a:lnTo>
                        <a:lnTo>
                          <a:pt x="46" y="79"/>
                        </a:lnTo>
                        <a:lnTo>
                          <a:pt x="57" y="90"/>
                        </a:lnTo>
                        <a:lnTo>
                          <a:pt x="57" y="95"/>
                        </a:lnTo>
                        <a:lnTo>
                          <a:pt x="63" y="101"/>
                        </a:lnTo>
                        <a:lnTo>
                          <a:pt x="63" y="106"/>
                        </a:lnTo>
                        <a:lnTo>
                          <a:pt x="68" y="111"/>
                        </a:lnTo>
                        <a:lnTo>
                          <a:pt x="80" y="122"/>
                        </a:lnTo>
                        <a:lnTo>
                          <a:pt x="80" y="127"/>
                        </a:lnTo>
                        <a:lnTo>
                          <a:pt x="91" y="138"/>
                        </a:lnTo>
                        <a:lnTo>
                          <a:pt x="91" y="143"/>
                        </a:lnTo>
                        <a:lnTo>
                          <a:pt x="97" y="148"/>
                        </a:lnTo>
                        <a:lnTo>
                          <a:pt x="108" y="159"/>
                        </a:lnTo>
                        <a:lnTo>
                          <a:pt x="108" y="164"/>
                        </a:lnTo>
                        <a:lnTo>
                          <a:pt x="114" y="170"/>
                        </a:lnTo>
                        <a:lnTo>
                          <a:pt x="125" y="180"/>
                        </a:lnTo>
                        <a:lnTo>
                          <a:pt x="125" y="186"/>
                        </a:lnTo>
                        <a:lnTo>
                          <a:pt x="131" y="191"/>
                        </a:lnTo>
                        <a:lnTo>
                          <a:pt x="136" y="196"/>
                        </a:lnTo>
                        <a:lnTo>
                          <a:pt x="142" y="202"/>
                        </a:lnTo>
                        <a:lnTo>
                          <a:pt x="148" y="207"/>
                        </a:lnTo>
                        <a:lnTo>
                          <a:pt x="153" y="212"/>
                        </a:lnTo>
                        <a:lnTo>
                          <a:pt x="165" y="223"/>
                        </a:lnTo>
                        <a:lnTo>
                          <a:pt x="159" y="223"/>
                        </a:lnTo>
                        <a:lnTo>
                          <a:pt x="165" y="223"/>
                        </a:lnTo>
                        <a:lnTo>
                          <a:pt x="170" y="228"/>
                        </a:lnTo>
                        <a:lnTo>
                          <a:pt x="176" y="233"/>
                        </a:lnTo>
                        <a:lnTo>
                          <a:pt x="182" y="239"/>
                        </a:lnTo>
                        <a:lnTo>
                          <a:pt x="187" y="244"/>
                        </a:lnTo>
                        <a:lnTo>
                          <a:pt x="193" y="249"/>
                        </a:lnTo>
                        <a:lnTo>
                          <a:pt x="199" y="255"/>
                        </a:lnTo>
                        <a:lnTo>
                          <a:pt x="204" y="255"/>
                        </a:lnTo>
                        <a:lnTo>
                          <a:pt x="210" y="260"/>
                        </a:lnTo>
                        <a:lnTo>
                          <a:pt x="216" y="265"/>
                        </a:lnTo>
                        <a:lnTo>
                          <a:pt x="221" y="271"/>
                        </a:lnTo>
                        <a:lnTo>
                          <a:pt x="227" y="271"/>
                        </a:lnTo>
                        <a:lnTo>
                          <a:pt x="233" y="276"/>
                        </a:lnTo>
                        <a:lnTo>
                          <a:pt x="238" y="276"/>
                        </a:lnTo>
                        <a:lnTo>
                          <a:pt x="244" y="281"/>
                        </a:lnTo>
                        <a:lnTo>
                          <a:pt x="250" y="281"/>
                        </a:lnTo>
                        <a:lnTo>
                          <a:pt x="255" y="287"/>
                        </a:lnTo>
                        <a:lnTo>
                          <a:pt x="261" y="287"/>
                        </a:lnTo>
                        <a:lnTo>
                          <a:pt x="267" y="292"/>
                        </a:lnTo>
                        <a:lnTo>
                          <a:pt x="273" y="292"/>
                        </a:lnTo>
                        <a:lnTo>
                          <a:pt x="278" y="292"/>
                        </a:lnTo>
                        <a:lnTo>
                          <a:pt x="284" y="297"/>
                        </a:lnTo>
                        <a:lnTo>
                          <a:pt x="290" y="297"/>
                        </a:lnTo>
                        <a:lnTo>
                          <a:pt x="295" y="297"/>
                        </a:lnTo>
                        <a:lnTo>
                          <a:pt x="301" y="297"/>
                        </a:lnTo>
                        <a:lnTo>
                          <a:pt x="307" y="297"/>
                        </a:lnTo>
                        <a:lnTo>
                          <a:pt x="312" y="297"/>
                        </a:lnTo>
                        <a:lnTo>
                          <a:pt x="318" y="297"/>
                        </a:lnTo>
                        <a:lnTo>
                          <a:pt x="324" y="297"/>
                        </a:lnTo>
                        <a:lnTo>
                          <a:pt x="329" y="297"/>
                        </a:lnTo>
                        <a:lnTo>
                          <a:pt x="335" y="297"/>
                        </a:lnTo>
                        <a:lnTo>
                          <a:pt x="341" y="297"/>
                        </a:lnTo>
                        <a:lnTo>
                          <a:pt x="346" y="297"/>
                        </a:lnTo>
                        <a:lnTo>
                          <a:pt x="352" y="297"/>
                        </a:lnTo>
                        <a:lnTo>
                          <a:pt x="358" y="297"/>
                        </a:lnTo>
                        <a:lnTo>
                          <a:pt x="363" y="297"/>
                        </a:lnTo>
                        <a:lnTo>
                          <a:pt x="369" y="292"/>
                        </a:lnTo>
                        <a:lnTo>
                          <a:pt x="375" y="292"/>
                        </a:lnTo>
                        <a:lnTo>
                          <a:pt x="380" y="292"/>
                        </a:lnTo>
                        <a:lnTo>
                          <a:pt x="386" y="287"/>
                        </a:lnTo>
                        <a:lnTo>
                          <a:pt x="392" y="287"/>
                        </a:lnTo>
                        <a:lnTo>
                          <a:pt x="397" y="287"/>
                        </a:lnTo>
                        <a:lnTo>
                          <a:pt x="403" y="281"/>
                        </a:lnTo>
                        <a:lnTo>
                          <a:pt x="409" y="281"/>
                        </a:lnTo>
                        <a:lnTo>
                          <a:pt x="414" y="276"/>
                        </a:lnTo>
                        <a:lnTo>
                          <a:pt x="420" y="271"/>
                        </a:lnTo>
                        <a:lnTo>
                          <a:pt x="426" y="271"/>
                        </a:lnTo>
                        <a:lnTo>
                          <a:pt x="431" y="265"/>
                        </a:lnTo>
                        <a:lnTo>
                          <a:pt x="437" y="260"/>
                        </a:lnTo>
                        <a:lnTo>
                          <a:pt x="443" y="260"/>
                        </a:lnTo>
                        <a:lnTo>
                          <a:pt x="448" y="255"/>
                        </a:lnTo>
                        <a:lnTo>
                          <a:pt x="454" y="249"/>
                        </a:lnTo>
                        <a:lnTo>
                          <a:pt x="460" y="244"/>
                        </a:lnTo>
                        <a:lnTo>
                          <a:pt x="465" y="244"/>
                        </a:lnTo>
                        <a:lnTo>
                          <a:pt x="471" y="239"/>
                        </a:lnTo>
                        <a:lnTo>
                          <a:pt x="477" y="233"/>
                        </a:lnTo>
                        <a:lnTo>
                          <a:pt x="482" y="228"/>
                        </a:lnTo>
                        <a:lnTo>
                          <a:pt x="488" y="223"/>
                        </a:lnTo>
                        <a:lnTo>
                          <a:pt x="494" y="218"/>
                        </a:lnTo>
                        <a:lnTo>
                          <a:pt x="499" y="212"/>
                        </a:lnTo>
                        <a:lnTo>
                          <a:pt x="505" y="207"/>
                        </a:lnTo>
                        <a:lnTo>
                          <a:pt x="516" y="196"/>
                        </a:lnTo>
                        <a:lnTo>
                          <a:pt x="516" y="191"/>
                        </a:lnTo>
                        <a:lnTo>
                          <a:pt x="522" y="186"/>
                        </a:lnTo>
                        <a:lnTo>
                          <a:pt x="528" y="180"/>
                        </a:lnTo>
                        <a:lnTo>
                          <a:pt x="533" y="175"/>
                        </a:lnTo>
                        <a:lnTo>
                          <a:pt x="539" y="170"/>
                        </a:lnTo>
                        <a:lnTo>
                          <a:pt x="550" y="159"/>
                        </a:lnTo>
                        <a:lnTo>
                          <a:pt x="550" y="154"/>
                        </a:lnTo>
                        <a:lnTo>
                          <a:pt x="556" y="148"/>
                        </a:lnTo>
                        <a:lnTo>
                          <a:pt x="567" y="138"/>
                        </a:lnTo>
                        <a:lnTo>
                          <a:pt x="567" y="127"/>
                        </a:lnTo>
                        <a:lnTo>
                          <a:pt x="573" y="122"/>
                        </a:lnTo>
                        <a:lnTo>
                          <a:pt x="579" y="117"/>
                        </a:lnTo>
                        <a:lnTo>
                          <a:pt x="584" y="111"/>
                        </a:lnTo>
                        <a:lnTo>
                          <a:pt x="590" y="106"/>
                        </a:lnTo>
                        <a:lnTo>
                          <a:pt x="590" y="101"/>
                        </a:lnTo>
                        <a:lnTo>
                          <a:pt x="601" y="90"/>
                        </a:lnTo>
                        <a:lnTo>
                          <a:pt x="601" y="85"/>
                        </a:lnTo>
                        <a:lnTo>
                          <a:pt x="607" y="79"/>
                        </a:lnTo>
                        <a:lnTo>
                          <a:pt x="607" y="74"/>
                        </a:lnTo>
                        <a:lnTo>
                          <a:pt x="618" y="63"/>
                        </a:lnTo>
                        <a:lnTo>
                          <a:pt x="618" y="58"/>
                        </a:lnTo>
                        <a:lnTo>
                          <a:pt x="624" y="53"/>
                        </a:lnTo>
                        <a:lnTo>
                          <a:pt x="624" y="47"/>
                        </a:lnTo>
                        <a:lnTo>
                          <a:pt x="630" y="42"/>
                        </a:lnTo>
                        <a:lnTo>
                          <a:pt x="630" y="37"/>
                        </a:lnTo>
                        <a:lnTo>
                          <a:pt x="635" y="32"/>
                        </a:lnTo>
                        <a:lnTo>
                          <a:pt x="641" y="26"/>
                        </a:lnTo>
                        <a:lnTo>
                          <a:pt x="641" y="16"/>
                        </a:lnTo>
                        <a:lnTo>
                          <a:pt x="647" y="10"/>
                        </a:lnTo>
                        <a:lnTo>
                          <a:pt x="652" y="5"/>
                        </a:lnTo>
                        <a:lnTo>
                          <a:pt x="652" y="0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66" name="Freeform 374">
                    <a:extLst>
                      <a:ext uri="{FF2B5EF4-FFF2-40B4-BE49-F238E27FC236}">
                        <a16:creationId xmlns:a16="http://schemas.microsoft.com/office/drawing/2014/main" id="{49BC4CAF-5038-C333-2143-5588213786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880"/>
                    <a:ext cx="380" cy="813"/>
                  </a:xfrm>
                  <a:custGeom>
                    <a:avLst/>
                    <a:gdLst>
                      <a:gd name="T0" fmla="*/ 12 w 380"/>
                      <a:gd name="T1" fmla="*/ 802 h 813"/>
                      <a:gd name="T2" fmla="*/ 23 w 380"/>
                      <a:gd name="T3" fmla="*/ 775 h 813"/>
                      <a:gd name="T4" fmla="*/ 34 w 380"/>
                      <a:gd name="T5" fmla="*/ 754 h 813"/>
                      <a:gd name="T6" fmla="*/ 46 w 380"/>
                      <a:gd name="T7" fmla="*/ 738 h 813"/>
                      <a:gd name="T8" fmla="*/ 57 w 380"/>
                      <a:gd name="T9" fmla="*/ 717 h 813"/>
                      <a:gd name="T10" fmla="*/ 63 w 380"/>
                      <a:gd name="T11" fmla="*/ 701 h 813"/>
                      <a:gd name="T12" fmla="*/ 74 w 380"/>
                      <a:gd name="T13" fmla="*/ 680 h 813"/>
                      <a:gd name="T14" fmla="*/ 85 w 380"/>
                      <a:gd name="T15" fmla="*/ 664 h 813"/>
                      <a:gd name="T16" fmla="*/ 91 w 380"/>
                      <a:gd name="T17" fmla="*/ 643 h 813"/>
                      <a:gd name="T18" fmla="*/ 102 w 380"/>
                      <a:gd name="T19" fmla="*/ 627 h 813"/>
                      <a:gd name="T20" fmla="*/ 108 w 380"/>
                      <a:gd name="T21" fmla="*/ 605 h 813"/>
                      <a:gd name="T22" fmla="*/ 119 w 380"/>
                      <a:gd name="T23" fmla="*/ 589 h 813"/>
                      <a:gd name="T24" fmla="*/ 125 w 380"/>
                      <a:gd name="T25" fmla="*/ 568 h 813"/>
                      <a:gd name="T26" fmla="*/ 136 w 380"/>
                      <a:gd name="T27" fmla="*/ 552 h 813"/>
                      <a:gd name="T28" fmla="*/ 142 w 380"/>
                      <a:gd name="T29" fmla="*/ 531 h 813"/>
                      <a:gd name="T30" fmla="*/ 153 w 380"/>
                      <a:gd name="T31" fmla="*/ 515 h 813"/>
                      <a:gd name="T32" fmla="*/ 159 w 380"/>
                      <a:gd name="T33" fmla="*/ 494 h 813"/>
                      <a:gd name="T34" fmla="*/ 170 w 380"/>
                      <a:gd name="T35" fmla="*/ 478 h 813"/>
                      <a:gd name="T36" fmla="*/ 176 w 380"/>
                      <a:gd name="T37" fmla="*/ 457 h 813"/>
                      <a:gd name="T38" fmla="*/ 187 w 380"/>
                      <a:gd name="T39" fmla="*/ 441 h 813"/>
                      <a:gd name="T40" fmla="*/ 193 w 380"/>
                      <a:gd name="T41" fmla="*/ 425 h 813"/>
                      <a:gd name="T42" fmla="*/ 204 w 380"/>
                      <a:gd name="T43" fmla="*/ 403 h 813"/>
                      <a:gd name="T44" fmla="*/ 210 w 380"/>
                      <a:gd name="T45" fmla="*/ 387 h 813"/>
                      <a:gd name="T46" fmla="*/ 221 w 380"/>
                      <a:gd name="T47" fmla="*/ 361 h 813"/>
                      <a:gd name="T48" fmla="*/ 227 w 380"/>
                      <a:gd name="T49" fmla="*/ 345 h 813"/>
                      <a:gd name="T50" fmla="*/ 238 w 380"/>
                      <a:gd name="T51" fmla="*/ 324 h 813"/>
                      <a:gd name="T52" fmla="*/ 244 w 380"/>
                      <a:gd name="T53" fmla="*/ 308 h 813"/>
                      <a:gd name="T54" fmla="*/ 256 w 380"/>
                      <a:gd name="T55" fmla="*/ 287 h 813"/>
                      <a:gd name="T56" fmla="*/ 261 w 380"/>
                      <a:gd name="T57" fmla="*/ 265 h 813"/>
                      <a:gd name="T58" fmla="*/ 273 w 380"/>
                      <a:gd name="T59" fmla="*/ 249 h 813"/>
                      <a:gd name="T60" fmla="*/ 278 w 380"/>
                      <a:gd name="T61" fmla="*/ 228 h 813"/>
                      <a:gd name="T62" fmla="*/ 290 w 380"/>
                      <a:gd name="T63" fmla="*/ 212 h 813"/>
                      <a:gd name="T64" fmla="*/ 295 w 380"/>
                      <a:gd name="T65" fmla="*/ 186 h 813"/>
                      <a:gd name="T66" fmla="*/ 307 w 380"/>
                      <a:gd name="T67" fmla="*/ 170 h 813"/>
                      <a:gd name="T68" fmla="*/ 312 w 380"/>
                      <a:gd name="T69" fmla="*/ 148 h 813"/>
                      <a:gd name="T70" fmla="*/ 324 w 380"/>
                      <a:gd name="T71" fmla="*/ 132 h 813"/>
                      <a:gd name="T72" fmla="*/ 329 w 380"/>
                      <a:gd name="T73" fmla="*/ 106 h 813"/>
                      <a:gd name="T74" fmla="*/ 341 w 380"/>
                      <a:gd name="T75" fmla="*/ 90 h 813"/>
                      <a:gd name="T76" fmla="*/ 346 w 380"/>
                      <a:gd name="T77" fmla="*/ 69 h 813"/>
                      <a:gd name="T78" fmla="*/ 358 w 380"/>
                      <a:gd name="T79" fmla="*/ 53 h 813"/>
                      <a:gd name="T80" fmla="*/ 363 w 380"/>
                      <a:gd name="T81" fmla="*/ 26 h 813"/>
                      <a:gd name="T82" fmla="*/ 375 w 380"/>
                      <a:gd name="T83" fmla="*/ 10 h 8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80" h="813">
                        <a:moveTo>
                          <a:pt x="0" y="813"/>
                        </a:moveTo>
                        <a:lnTo>
                          <a:pt x="6" y="807"/>
                        </a:lnTo>
                        <a:lnTo>
                          <a:pt x="12" y="802"/>
                        </a:lnTo>
                        <a:lnTo>
                          <a:pt x="12" y="791"/>
                        </a:lnTo>
                        <a:lnTo>
                          <a:pt x="23" y="781"/>
                        </a:lnTo>
                        <a:lnTo>
                          <a:pt x="23" y="775"/>
                        </a:lnTo>
                        <a:lnTo>
                          <a:pt x="29" y="770"/>
                        </a:lnTo>
                        <a:lnTo>
                          <a:pt x="29" y="759"/>
                        </a:lnTo>
                        <a:lnTo>
                          <a:pt x="34" y="754"/>
                        </a:lnTo>
                        <a:lnTo>
                          <a:pt x="40" y="749"/>
                        </a:lnTo>
                        <a:lnTo>
                          <a:pt x="40" y="744"/>
                        </a:lnTo>
                        <a:lnTo>
                          <a:pt x="46" y="738"/>
                        </a:lnTo>
                        <a:lnTo>
                          <a:pt x="46" y="728"/>
                        </a:lnTo>
                        <a:lnTo>
                          <a:pt x="51" y="722"/>
                        </a:lnTo>
                        <a:lnTo>
                          <a:pt x="57" y="717"/>
                        </a:lnTo>
                        <a:lnTo>
                          <a:pt x="57" y="712"/>
                        </a:lnTo>
                        <a:lnTo>
                          <a:pt x="63" y="706"/>
                        </a:lnTo>
                        <a:lnTo>
                          <a:pt x="63" y="701"/>
                        </a:lnTo>
                        <a:lnTo>
                          <a:pt x="68" y="696"/>
                        </a:lnTo>
                        <a:lnTo>
                          <a:pt x="68" y="685"/>
                        </a:lnTo>
                        <a:lnTo>
                          <a:pt x="74" y="680"/>
                        </a:lnTo>
                        <a:lnTo>
                          <a:pt x="74" y="674"/>
                        </a:lnTo>
                        <a:lnTo>
                          <a:pt x="80" y="669"/>
                        </a:lnTo>
                        <a:lnTo>
                          <a:pt x="85" y="664"/>
                        </a:lnTo>
                        <a:lnTo>
                          <a:pt x="85" y="653"/>
                        </a:lnTo>
                        <a:lnTo>
                          <a:pt x="91" y="648"/>
                        </a:lnTo>
                        <a:lnTo>
                          <a:pt x="91" y="643"/>
                        </a:lnTo>
                        <a:lnTo>
                          <a:pt x="97" y="637"/>
                        </a:lnTo>
                        <a:lnTo>
                          <a:pt x="97" y="632"/>
                        </a:lnTo>
                        <a:lnTo>
                          <a:pt x="102" y="627"/>
                        </a:lnTo>
                        <a:lnTo>
                          <a:pt x="102" y="616"/>
                        </a:lnTo>
                        <a:lnTo>
                          <a:pt x="108" y="611"/>
                        </a:lnTo>
                        <a:lnTo>
                          <a:pt x="108" y="605"/>
                        </a:lnTo>
                        <a:lnTo>
                          <a:pt x="114" y="600"/>
                        </a:lnTo>
                        <a:lnTo>
                          <a:pt x="114" y="595"/>
                        </a:lnTo>
                        <a:lnTo>
                          <a:pt x="119" y="589"/>
                        </a:lnTo>
                        <a:lnTo>
                          <a:pt x="119" y="579"/>
                        </a:lnTo>
                        <a:lnTo>
                          <a:pt x="125" y="573"/>
                        </a:lnTo>
                        <a:lnTo>
                          <a:pt x="125" y="568"/>
                        </a:lnTo>
                        <a:lnTo>
                          <a:pt x="131" y="563"/>
                        </a:lnTo>
                        <a:lnTo>
                          <a:pt x="131" y="558"/>
                        </a:lnTo>
                        <a:lnTo>
                          <a:pt x="136" y="552"/>
                        </a:lnTo>
                        <a:lnTo>
                          <a:pt x="136" y="547"/>
                        </a:lnTo>
                        <a:lnTo>
                          <a:pt x="142" y="542"/>
                        </a:lnTo>
                        <a:lnTo>
                          <a:pt x="142" y="531"/>
                        </a:lnTo>
                        <a:lnTo>
                          <a:pt x="148" y="526"/>
                        </a:lnTo>
                        <a:lnTo>
                          <a:pt x="148" y="520"/>
                        </a:lnTo>
                        <a:lnTo>
                          <a:pt x="153" y="515"/>
                        </a:lnTo>
                        <a:lnTo>
                          <a:pt x="153" y="510"/>
                        </a:lnTo>
                        <a:lnTo>
                          <a:pt x="159" y="504"/>
                        </a:lnTo>
                        <a:lnTo>
                          <a:pt x="159" y="494"/>
                        </a:lnTo>
                        <a:lnTo>
                          <a:pt x="165" y="488"/>
                        </a:lnTo>
                        <a:lnTo>
                          <a:pt x="165" y="483"/>
                        </a:lnTo>
                        <a:lnTo>
                          <a:pt x="170" y="478"/>
                        </a:lnTo>
                        <a:lnTo>
                          <a:pt x="170" y="473"/>
                        </a:lnTo>
                        <a:lnTo>
                          <a:pt x="176" y="467"/>
                        </a:lnTo>
                        <a:lnTo>
                          <a:pt x="176" y="457"/>
                        </a:lnTo>
                        <a:lnTo>
                          <a:pt x="182" y="451"/>
                        </a:lnTo>
                        <a:lnTo>
                          <a:pt x="182" y="446"/>
                        </a:lnTo>
                        <a:lnTo>
                          <a:pt x="187" y="441"/>
                        </a:lnTo>
                        <a:lnTo>
                          <a:pt x="187" y="435"/>
                        </a:lnTo>
                        <a:lnTo>
                          <a:pt x="193" y="430"/>
                        </a:lnTo>
                        <a:lnTo>
                          <a:pt x="193" y="425"/>
                        </a:lnTo>
                        <a:lnTo>
                          <a:pt x="199" y="419"/>
                        </a:lnTo>
                        <a:lnTo>
                          <a:pt x="199" y="409"/>
                        </a:lnTo>
                        <a:lnTo>
                          <a:pt x="204" y="403"/>
                        </a:lnTo>
                        <a:lnTo>
                          <a:pt x="204" y="398"/>
                        </a:lnTo>
                        <a:lnTo>
                          <a:pt x="210" y="393"/>
                        </a:lnTo>
                        <a:lnTo>
                          <a:pt x="210" y="387"/>
                        </a:lnTo>
                        <a:lnTo>
                          <a:pt x="216" y="382"/>
                        </a:lnTo>
                        <a:lnTo>
                          <a:pt x="216" y="366"/>
                        </a:lnTo>
                        <a:lnTo>
                          <a:pt x="221" y="361"/>
                        </a:lnTo>
                        <a:lnTo>
                          <a:pt x="221" y="356"/>
                        </a:lnTo>
                        <a:lnTo>
                          <a:pt x="227" y="350"/>
                        </a:lnTo>
                        <a:lnTo>
                          <a:pt x="227" y="345"/>
                        </a:lnTo>
                        <a:lnTo>
                          <a:pt x="233" y="340"/>
                        </a:lnTo>
                        <a:lnTo>
                          <a:pt x="233" y="329"/>
                        </a:lnTo>
                        <a:lnTo>
                          <a:pt x="238" y="324"/>
                        </a:lnTo>
                        <a:lnTo>
                          <a:pt x="238" y="318"/>
                        </a:lnTo>
                        <a:lnTo>
                          <a:pt x="244" y="313"/>
                        </a:lnTo>
                        <a:lnTo>
                          <a:pt x="244" y="308"/>
                        </a:lnTo>
                        <a:lnTo>
                          <a:pt x="250" y="302"/>
                        </a:lnTo>
                        <a:lnTo>
                          <a:pt x="250" y="292"/>
                        </a:lnTo>
                        <a:lnTo>
                          <a:pt x="256" y="287"/>
                        </a:lnTo>
                        <a:lnTo>
                          <a:pt x="256" y="276"/>
                        </a:lnTo>
                        <a:lnTo>
                          <a:pt x="261" y="271"/>
                        </a:lnTo>
                        <a:lnTo>
                          <a:pt x="261" y="265"/>
                        </a:lnTo>
                        <a:lnTo>
                          <a:pt x="267" y="260"/>
                        </a:lnTo>
                        <a:lnTo>
                          <a:pt x="267" y="255"/>
                        </a:lnTo>
                        <a:lnTo>
                          <a:pt x="273" y="249"/>
                        </a:lnTo>
                        <a:lnTo>
                          <a:pt x="273" y="239"/>
                        </a:lnTo>
                        <a:lnTo>
                          <a:pt x="278" y="233"/>
                        </a:lnTo>
                        <a:lnTo>
                          <a:pt x="278" y="228"/>
                        </a:lnTo>
                        <a:lnTo>
                          <a:pt x="284" y="223"/>
                        </a:lnTo>
                        <a:lnTo>
                          <a:pt x="284" y="217"/>
                        </a:lnTo>
                        <a:lnTo>
                          <a:pt x="290" y="212"/>
                        </a:lnTo>
                        <a:lnTo>
                          <a:pt x="290" y="196"/>
                        </a:lnTo>
                        <a:lnTo>
                          <a:pt x="295" y="191"/>
                        </a:lnTo>
                        <a:lnTo>
                          <a:pt x="295" y="186"/>
                        </a:lnTo>
                        <a:lnTo>
                          <a:pt x="301" y="180"/>
                        </a:lnTo>
                        <a:lnTo>
                          <a:pt x="301" y="175"/>
                        </a:lnTo>
                        <a:lnTo>
                          <a:pt x="307" y="170"/>
                        </a:lnTo>
                        <a:lnTo>
                          <a:pt x="307" y="159"/>
                        </a:lnTo>
                        <a:lnTo>
                          <a:pt x="312" y="154"/>
                        </a:lnTo>
                        <a:lnTo>
                          <a:pt x="312" y="148"/>
                        </a:lnTo>
                        <a:lnTo>
                          <a:pt x="318" y="143"/>
                        </a:lnTo>
                        <a:lnTo>
                          <a:pt x="318" y="138"/>
                        </a:lnTo>
                        <a:lnTo>
                          <a:pt x="324" y="132"/>
                        </a:lnTo>
                        <a:lnTo>
                          <a:pt x="324" y="122"/>
                        </a:lnTo>
                        <a:lnTo>
                          <a:pt x="329" y="116"/>
                        </a:lnTo>
                        <a:lnTo>
                          <a:pt x="329" y="106"/>
                        </a:lnTo>
                        <a:lnTo>
                          <a:pt x="335" y="101"/>
                        </a:lnTo>
                        <a:lnTo>
                          <a:pt x="335" y="95"/>
                        </a:lnTo>
                        <a:lnTo>
                          <a:pt x="341" y="90"/>
                        </a:lnTo>
                        <a:lnTo>
                          <a:pt x="341" y="85"/>
                        </a:lnTo>
                        <a:lnTo>
                          <a:pt x="346" y="79"/>
                        </a:lnTo>
                        <a:lnTo>
                          <a:pt x="346" y="69"/>
                        </a:lnTo>
                        <a:lnTo>
                          <a:pt x="352" y="63"/>
                        </a:lnTo>
                        <a:lnTo>
                          <a:pt x="352" y="58"/>
                        </a:lnTo>
                        <a:lnTo>
                          <a:pt x="358" y="53"/>
                        </a:lnTo>
                        <a:lnTo>
                          <a:pt x="358" y="47"/>
                        </a:lnTo>
                        <a:lnTo>
                          <a:pt x="363" y="42"/>
                        </a:lnTo>
                        <a:lnTo>
                          <a:pt x="363" y="26"/>
                        </a:lnTo>
                        <a:lnTo>
                          <a:pt x="369" y="21"/>
                        </a:lnTo>
                        <a:lnTo>
                          <a:pt x="369" y="15"/>
                        </a:lnTo>
                        <a:lnTo>
                          <a:pt x="375" y="10"/>
                        </a:lnTo>
                        <a:lnTo>
                          <a:pt x="375" y="5"/>
                        </a:lnTo>
                        <a:lnTo>
                          <a:pt x="380" y="0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67" name="Freeform 375">
                    <a:extLst>
                      <a:ext uri="{FF2B5EF4-FFF2-40B4-BE49-F238E27FC236}">
                        <a16:creationId xmlns:a16="http://schemas.microsoft.com/office/drawing/2014/main" id="{D3866180-B2F0-A010-3729-710B710642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2" y="1178"/>
                    <a:ext cx="522" cy="702"/>
                  </a:xfrm>
                  <a:custGeom>
                    <a:avLst/>
                    <a:gdLst>
                      <a:gd name="T0" fmla="*/ 6 w 522"/>
                      <a:gd name="T1" fmla="*/ 686 h 702"/>
                      <a:gd name="T2" fmla="*/ 12 w 522"/>
                      <a:gd name="T3" fmla="*/ 670 h 702"/>
                      <a:gd name="T4" fmla="*/ 23 w 522"/>
                      <a:gd name="T5" fmla="*/ 654 h 702"/>
                      <a:gd name="T6" fmla="*/ 29 w 522"/>
                      <a:gd name="T7" fmla="*/ 632 h 702"/>
                      <a:gd name="T8" fmla="*/ 40 w 522"/>
                      <a:gd name="T9" fmla="*/ 617 h 702"/>
                      <a:gd name="T10" fmla="*/ 46 w 522"/>
                      <a:gd name="T11" fmla="*/ 595 h 702"/>
                      <a:gd name="T12" fmla="*/ 57 w 522"/>
                      <a:gd name="T13" fmla="*/ 579 h 702"/>
                      <a:gd name="T14" fmla="*/ 63 w 522"/>
                      <a:gd name="T15" fmla="*/ 558 h 702"/>
                      <a:gd name="T16" fmla="*/ 74 w 522"/>
                      <a:gd name="T17" fmla="*/ 542 h 702"/>
                      <a:gd name="T18" fmla="*/ 80 w 522"/>
                      <a:gd name="T19" fmla="*/ 521 h 702"/>
                      <a:gd name="T20" fmla="*/ 91 w 522"/>
                      <a:gd name="T21" fmla="*/ 505 h 702"/>
                      <a:gd name="T22" fmla="*/ 97 w 522"/>
                      <a:gd name="T23" fmla="*/ 484 h 702"/>
                      <a:gd name="T24" fmla="*/ 108 w 522"/>
                      <a:gd name="T25" fmla="*/ 468 h 702"/>
                      <a:gd name="T26" fmla="*/ 114 w 522"/>
                      <a:gd name="T27" fmla="*/ 446 h 702"/>
                      <a:gd name="T28" fmla="*/ 125 w 522"/>
                      <a:gd name="T29" fmla="*/ 431 h 702"/>
                      <a:gd name="T30" fmla="*/ 136 w 522"/>
                      <a:gd name="T31" fmla="*/ 409 h 702"/>
                      <a:gd name="T32" fmla="*/ 142 w 522"/>
                      <a:gd name="T33" fmla="*/ 393 h 702"/>
                      <a:gd name="T34" fmla="*/ 153 w 522"/>
                      <a:gd name="T35" fmla="*/ 372 h 702"/>
                      <a:gd name="T36" fmla="*/ 165 w 522"/>
                      <a:gd name="T37" fmla="*/ 356 h 702"/>
                      <a:gd name="T38" fmla="*/ 182 w 522"/>
                      <a:gd name="T39" fmla="*/ 330 h 702"/>
                      <a:gd name="T40" fmla="*/ 187 w 522"/>
                      <a:gd name="T41" fmla="*/ 308 h 702"/>
                      <a:gd name="T42" fmla="*/ 199 w 522"/>
                      <a:gd name="T43" fmla="*/ 292 h 702"/>
                      <a:gd name="T44" fmla="*/ 216 w 522"/>
                      <a:gd name="T45" fmla="*/ 266 h 702"/>
                      <a:gd name="T46" fmla="*/ 227 w 522"/>
                      <a:gd name="T47" fmla="*/ 250 h 702"/>
                      <a:gd name="T48" fmla="*/ 238 w 522"/>
                      <a:gd name="T49" fmla="*/ 229 h 702"/>
                      <a:gd name="T50" fmla="*/ 255 w 522"/>
                      <a:gd name="T51" fmla="*/ 207 h 702"/>
                      <a:gd name="T52" fmla="*/ 261 w 522"/>
                      <a:gd name="T53" fmla="*/ 191 h 702"/>
                      <a:gd name="T54" fmla="*/ 278 w 522"/>
                      <a:gd name="T55" fmla="*/ 170 h 702"/>
                      <a:gd name="T56" fmla="*/ 295 w 522"/>
                      <a:gd name="T57" fmla="*/ 149 h 702"/>
                      <a:gd name="T58" fmla="*/ 312 w 522"/>
                      <a:gd name="T59" fmla="*/ 128 h 702"/>
                      <a:gd name="T60" fmla="*/ 329 w 522"/>
                      <a:gd name="T61" fmla="*/ 106 h 702"/>
                      <a:gd name="T62" fmla="*/ 346 w 522"/>
                      <a:gd name="T63" fmla="*/ 90 h 702"/>
                      <a:gd name="T64" fmla="*/ 357 w 522"/>
                      <a:gd name="T65" fmla="*/ 74 h 702"/>
                      <a:gd name="T66" fmla="*/ 374 w 522"/>
                      <a:gd name="T67" fmla="*/ 64 h 702"/>
                      <a:gd name="T68" fmla="*/ 391 w 522"/>
                      <a:gd name="T69" fmla="*/ 48 h 702"/>
                      <a:gd name="T70" fmla="*/ 408 w 522"/>
                      <a:gd name="T71" fmla="*/ 37 h 702"/>
                      <a:gd name="T72" fmla="*/ 425 w 522"/>
                      <a:gd name="T73" fmla="*/ 27 h 702"/>
                      <a:gd name="T74" fmla="*/ 442 w 522"/>
                      <a:gd name="T75" fmla="*/ 16 h 702"/>
                      <a:gd name="T76" fmla="*/ 459 w 522"/>
                      <a:gd name="T77" fmla="*/ 11 h 702"/>
                      <a:gd name="T78" fmla="*/ 476 w 522"/>
                      <a:gd name="T79" fmla="*/ 5 h 702"/>
                      <a:gd name="T80" fmla="*/ 493 w 522"/>
                      <a:gd name="T81" fmla="*/ 0 h 702"/>
                      <a:gd name="T82" fmla="*/ 511 w 522"/>
                      <a:gd name="T83" fmla="*/ 0 h 7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522" h="702">
                        <a:moveTo>
                          <a:pt x="0" y="702"/>
                        </a:moveTo>
                        <a:lnTo>
                          <a:pt x="0" y="691"/>
                        </a:lnTo>
                        <a:lnTo>
                          <a:pt x="6" y="686"/>
                        </a:lnTo>
                        <a:lnTo>
                          <a:pt x="6" y="680"/>
                        </a:lnTo>
                        <a:lnTo>
                          <a:pt x="12" y="675"/>
                        </a:lnTo>
                        <a:lnTo>
                          <a:pt x="12" y="670"/>
                        </a:lnTo>
                        <a:lnTo>
                          <a:pt x="17" y="664"/>
                        </a:lnTo>
                        <a:lnTo>
                          <a:pt x="17" y="659"/>
                        </a:lnTo>
                        <a:lnTo>
                          <a:pt x="23" y="654"/>
                        </a:lnTo>
                        <a:lnTo>
                          <a:pt x="23" y="643"/>
                        </a:lnTo>
                        <a:lnTo>
                          <a:pt x="29" y="638"/>
                        </a:lnTo>
                        <a:lnTo>
                          <a:pt x="29" y="632"/>
                        </a:lnTo>
                        <a:lnTo>
                          <a:pt x="34" y="627"/>
                        </a:lnTo>
                        <a:lnTo>
                          <a:pt x="34" y="622"/>
                        </a:lnTo>
                        <a:lnTo>
                          <a:pt x="40" y="617"/>
                        </a:lnTo>
                        <a:lnTo>
                          <a:pt x="40" y="606"/>
                        </a:lnTo>
                        <a:lnTo>
                          <a:pt x="46" y="601"/>
                        </a:lnTo>
                        <a:lnTo>
                          <a:pt x="46" y="595"/>
                        </a:lnTo>
                        <a:lnTo>
                          <a:pt x="51" y="590"/>
                        </a:lnTo>
                        <a:lnTo>
                          <a:pt x="51" y="585"/>
                        </a:lnTo>
                        <a:lnTo>
                          <a:pt x="57" y="579"/>
                        </a:lnTo>
                        <a:lnTo>
                          <a:pt x="57" y="569"/>
                        </a:lnTo>
                        <a:lnTo>
                          <a:pt x="63" y="563"/>
                        </a:lnTo>
                        <a:lnTo>
                          <a:pt x="63" y="558"/>
                        </a:lnTo>
                        <a:lnTo>
                          <a:pt x="68" y="553"/>
                        </a:lnTo>
                        <a:lnTo>
                          <a:pt x="68" y="547"/>
                        </a:lnTo>
                        <a:lnTo>
                          <a:pt x="74" y="542"/>
                        </a:lnTo>
                        <a:lnTo>
                          <a:pt x="74" y="537"/>
                        </a:lnTo>
                        <a:lnTo>
                          <a:pt x="80" y="531"/>
                        </a:lnTo>
                        <a:lnTo>
                          <a:pt x="80" y="521"/>
                        </a:lnTo>
                        <a:lnTo>
                          <a:pt x="85" y="516"/>
                        </a:lnTo>
                        <a:lnTo>
                          <a:pt x="85" y="510"/>
                        </a:lnTo>
                        <a:lnTo>
                          <a:pt x="91" y="505"/>
                        </a:lnTo>
                        <a:lnTo>
                          <a:pt x="91" y="500"/>
                        </a:lnTo>
                        <a:lnTo>
                          <a:pt x="97" y="494"/>
                        </a:lnTo>
                        <a:lnTo>
                          <a:pt x="97" y="484"/>
                        </a:lnTo>
                        <a:lnTo>
                          <a:pt x="102" y="478"/>
                        </a:lnTo>
                        <a:lnTo>
                          <a:pt x="102" y="473"/>
                        </a:lnTo>
                        <a:lnTo>
                          <a:pt x="108" y="468"/>
                        </a:lnTo>
                        <a:lnTo>
                          <a:pt x="108" y="462"/>
                        </a:lnTo>
                        <a:lnTo>
                          <a:pt x="114" y="457"/>
                        </a:lnTo>
                        <a:lnTo>
                          <a:pt x="114" y="446"/>
                        </a:lnTo>
                        <a:lnTo>
                          <a:pt x="119" y="441"/>
                        </a:lnTo>
                        <a:lnTo>
                          <a:pt x="125" y="436"/>
                        </a:lnTo>
                        <a:lnTo>
                          <a:pt x="125" y="431"/>
                        </a:lnTo>
                        <a:lnTo>
                          <a:pt x="131" y="425"/>
                        </a:lnTo>
                        <a:lnTo>
                          <a:pt x="131" y="415"/>
                        </a:lnTo>
                        <a:lnTo>
                          <a:pt x="136" y="409"/>
                        </a:lnTo>
                        <a:lnTo>
                          <a:pt x="136" y="404"/>
                        </a:lnTo>
                        <a:lnTo>
                          <a:pt x="142" y="399"/>
                        </a:lnTo>
                        <a:lnTo>
                          <a:pt x="142" y="393"/>
                        </a:lnTo>
                        <a:lnTo>
                          <a:pt x="148" y="388"/>
                        </a:lnTo>
                        <a:lnTo>
                          <a:pt x="153" y="383"/>
                        </a:lnTo>
                        <a:lnTo>
                          <a:pt x="153" y="372"/>
                        </a:lnTo>
                        <a:lnTo>
                          <a:pt x="159" y="367"/>
                        </a:lnTo>
                        <a:lnTo>
                          <a:pt x="159" y="361"/>
                        </a:lnTo>
                        <a:lnTo>
                          <a:pt x="165" y="356"/>
                        </a:lnTo>
                        <a:lnTo>
                          <a:pt x="170" y="351"/>
                        </a:lnTo>
                        <a:lnTo>
                          <a:pt x="170" y="340"/>
                        </a:lnTo>
                        <a:lnTo>
                          <a:pt x="182" y="330"/>
                        </a:lnTo>
                        <a:lnTo>
                          <a:pt x="182" y="324"/>
                        </a:lnTo>
                        <a:lnTo>
                          <a:pt x="187" y="319"/>
                        </a:lnTo>
                        <a:lnTo>
                          <a:pt x="187" y="308"/>
                        </a:lnTo>
                        <a:lnTo>
                          <a:pt x="193" y="303"/>
                        </a:lnTo>
                        <a:lnTo>
                          <a:pt x="199" y="298"/>
                        </a:lnTo>
                        <a:lnTo>
                          <a:pt x="199" y="292"/>
                        </a:lnTo>
                        <a:lnTo>
                          <a:pt x="210" y="282"/>
                        </a:lnTo>
                        <a:lnTo>
                          <a:pt x="210" y="271"/>
                        </a:lnTo>
                        <a:lnTo>
                          <a:pt x="216" y="266"/>
                        </a:lnTo>
                        <a:lnTo>
                          <a:pt x="221" y="260"/>
                        </a:lnTo>
                        <a:lnTo>
                          <a:pt x="221" y="255"/>
                        </a:lnTo>
                        <a:lnTo>
                          <a:pt x="227" y="250"/>
                        </a:lnTo>
                        <a:lnTo>
                          <a:pt x="227" y="245"/>
                        </a:lnTo>
                        <a:lnTo>
                          <a:pt x="238" y="234"/>
                        </a:lnTo>
                        <a:lnTo>
                          <a:pt x="238" y="229"/>
                        </a:lnTo>
                        <a:lnTo>
                          <a:pt x="244" y="223"/>
                        </a:lnTo>
                        <a:lnTo>
                          <a:pt x="244" y="218"/>
                        </a:lnTo>
                        <a:lnTo>
                          <a:pt x="255" y="207"/>
                        </a:lnTo>
                        <a:lnTo>
                          <a:pt x="255" y="202"/>
                        </a:lnTo>
                        <a:lnTo>
                          <a:pt x="261" y="197"/>
                        </a:lnTo>
                        <a:lnTo>
                          <a:pt x="261" y="191"/>
                        </a:lnTo>
                        <a:lnTo>
                          <a:pt x="267" y="186"/>
                        </a:lnTo>
                        <a:lnTo>
                          <a:pt x="278" y="175"/>
                        </a:lnTo>
                        <a:lnTo>
                          <a:pt x="278" y="170"/>
                        </a:lnTo>
                        <a:lnTo>
                          <a:pt x="289" y="159"/>
                        </a:lnTo>
                        <a:lnTo>
                          <a:pt x="289" y="154"/>
                        </a:lnTo>
                        <a:lnTo>
                          <a:pt x="295" y="149"/>
                        </a:lnTo>
                        <a:lnTo>
                          <a:pt x="306" y="138"/>
                        </a:lnTo>
                        <a:lnTo>
                          <a:pt x="306" y="133"/>
                        </a:lnTo>
                        <a:lnTo>
                          <a:pt x="312" y="128"/>
                        </a:lnTo>
                        <a:lnTo>
                          <a:pt x="323" y="117"/>
                        </a:lnTo>
                        <a:lnTo>
                          <a:pt x="323" y="112"/>
                        </a:lnTo>
                        <a:lnTo>
                          <a:pt x="329" y="106"/>
                        </a:lnTo>
                        <a:lnTo>
                          <a:pt x="335" y="101"/>
                        </a:lnTo>
                        <a:lnTo>
                          <a:pt x="340" y="96"/>
                        </a:lnTo>
                        <a:lnTo>
                          <a:pt x="346" y="90"/>
                        </a:lnTo>
                        <a:lnTo>
                          <a:pt x="352" y="85"/>
                        </a:lnTo>
                        <a:lnTo>
                          <a:pt x="363" y="74"/>
                        </a:lnTo>
                        <a:lnTo>
                          <a:pt x="357" y="74"/>
                        </a:lnTo>
                        <a:lnTo>
                          <a:pt x="363" y="74"/>
                        </a:lnTo>
                        <a:lnTo>
                          <a:pt x="369" y="69"/>
                        </a:lnTo>
                        <a:lnTo>
                          <a:pt x="374" y="64"/>
                        </a:lnTo>
                        <a:lnTo>
                          <a:pt x="380" y="59"/>
                        </a:lnTo>
                        <a:lnTo>
                          <a:pt x="386" y="53"/>
                        </a:lnTo>
                        <a:lnTo>
                          <a:pt x="391" y="48"/>
                        </a:lnTo>
                        <a:lnTo>
                          <a:pt x="397" y="43"/>
                        </a:lnTo>
                        <a:lnTo>
                          <a:pt x="403" y="43"/>
                        </a:lnTo>
                        <a:lnTo>
                          <a:pt x="408" y="37"/>
                        </a:lnTo>
                        <a:lnTo>
                          <a:pt x="414" y="32"/>
                        </a:lnTo>
                        <a:lnTo>
                          <a:pt x="420" y="27"/>
                        </a:lnTo>
                        <a:lnTo>
                          <a:pt x="425" y="27"/>
                        </a:lnTo>
                        <a:lnTo>
                          <a:pt x="431" y="21"/>
                        </a:lnTo>
                        <a:lnTo>
                          <a:pt x="437" y="21"/>
                        </a:lnTo>
                        <a:lnTo>
                          <a:pt x="442" y="16"/>
                        </a:lnTo>
                        <a:lnTo>
                          <a:pt x="448" y="16"/>
                        </a:lnTo>
                        <a:lnTo>
                          <a:pt x="454" y="11"/>
                        </a:lnTo>
                        <a:lnTo>
                          <a:pt x="459" y="11"/>
                        </a:lnTo>
                        <a:lnTo>
                          <a:pt x="465" y="5"/>
                        </a:lnTo>
                        <a:lnTo>
                          <a:pt x="471" y="5"/>
                        </a:lnTo>
                        <a:lnTo>
                          <a:pt x="476" y="5"/>
                        </a:lnTo>
                        <a:lnTo>
                          <a:pt x="482" y="0"/>
                        </a:lnTo>
                        <a:lnTo>
                          <a:pt x="488" y="0"/>
                        </a:lnTo>
                        <a:lnTo>
                          <a:pt x="493" y="0"/>
                        </a:lnTo>
                        <a:lnTo>
                          <a:pt x="499" y="0"/>
                        </a:lnTo>
                        <a:lnTo>
                          <a:pt x="505" y="0"/>
                        </a:lnTo>
                        <a:lnTo>
                          <a:pt x="511" y="0"/>
                        </a:lnTo>
                        <a:lnTo>
                          <a:pt x="516" y="0"/>
                        </a:lnTo>
                        <a:lnTo>
                          <a:pt x="522" y="0"/>
                        </a:lnTo>
                      </a:path>
                    </a:pathLst>
                  </a:custGeom>
                  <a:noFill/>
                  <a:ln w="6350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</p:grpSp>
          </p:grpSp>
          <p:grpSp>
            <p:nvGrpSpPr>
              <p:cNvPr id="110968" name="Group 376">
                <a:extLst>
                  <a:ext uri="{FF2B5EF4-FFF2-40B4-BE49-F238E27FC236}">
                    <a16:creationId xmlns:a16="http://schemas.microsoft.com/office/drawing/2014/main" id="{33BC5B8B-ED49-A6CC-BFD4-E514010E6B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9" y="3239"/>
                <a:ext cx="2325" cy="735"/>
                <a:chOff x="2455" y="2642"/>
                <a:chExt cx="2268" cy="735"/>
              </a:xfrm>
            </p:grpSpPr>
            <p:grpSp>
              <p:nvGrpSpPr>
                <p:cNvPr id="110969" name="Group 377">
                  <a:extLst>
                    <a:ext uri="{FF2B5EF4-FFF2-40B4-BE49-F238E27FC236}">
                      <a16:creationId xmlns:a16="http://schemas.microsoft.com/office/drawing/2014/main" id="{0D7ED205-42C6-F4A6-4DBE-553DC9D732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55" y="2642"/>
                  <a:ext cx="1134" cy="735"/>
                  <a:chOff x="2358" y="1423"/>
                  <a:chExt cx="2461" cy="1812"/>
                </a:xfrm>
              </p:grpSpPr>
              <p:sp>
                <p:nvSpPr>
                  <p:cNvPr id="110970" name="Freeform 378">
                    <a:extLst>
                      <a:ext uri="{FF2B5EF4-FFF2-40B4-BE49-F238E27FC236}">
                        <a16:creationId xmlns:a16="http://schemas.microsoft.com/office/drawing/2014/main" id="{D4F8439B-35F7-1286-99C4-EB36FD71E9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58" y="1503"/>
                    <a:ext cx="442" cy="818"/>
                  </a:xfrm>
                  <a:custGeom>
                    <a:avLst/>
                    <a:gdLst>
                      <a:gd name="T0" fmla="*/ 6 w 442"/>
                      <a:gd name="T1" fmla="*/ 808 h 818"/>
                      <a:gd name="T2" fmla="*/ 11 w 442"/>
                      <a:gd name="T3" fmla="*/ 792 h 818"/>
                      <a:gd name="T4" fmla="*/ 23 w 442"/>
                      <a:gd name="T5" fmla="*/ 770 h 818"/>
                      <a:gd name="T6" fmla="*/ 28 w 442"/>
                      <a:gd name="T7" fmla="*/ 754 h 818"/>
                      <a:gd name="T8" fmla="*/ 40 w 442"/>
                      <a:gd name="T9" fmla="*/ 728 h 818"/>
                      <a:gd name="T10" fmla="*/ 45 w 442"/>
                      <a:gd name="T11" fmla="*/ 712 h 818"/>
                      <a:gd name="T12" fmla="*/ 57 w 442"/>
                      <a:gd name="T13" fmla="*/ 691 h 818"/>
                      <a:gd name="T14" fmla="*/ 62 w 442"/>
                      <a:gd name="T15" fmla="*/ 675 h 818"/>
                      <a:gd name="T16" fmla="*/ 74 w 442"/>
                      <a:gd name="T17" fmla="*/ 653 h 818"/>
                      <a:gd name="T18" fmla="*/ 79 w 442"/>
                      <a:gd name="T19" fmla="*/ 632 h 818"/>
                      <a:gd name="T20" fmla="*/ 91 w 442"/>
                      <a:gd name="T21" fmla="*/ 616 h 818"/>
                      <a:gd name="T22" fmla="*/ 96 w 442"/>
                      <a:gd name="T23" fmla="*/ 595 h 818"/>
                      <a:gd name="T24" fmla="*/ 108 w 442"/>
                      <a:gd name="T25" fmla="*/ 579 h 818"/>
                      <a:gd name="T26" fmla="*/ 113 w 442"/>
                      <a:gd name="T27" fmla="*/ 558 h 818"/>
                      <a:gd name="T28" fmla="*/ 125 w 442"/>
                      <a:gd name="T29" fmla="*/ 542 h 818"/>
                      <a:gd name="T30" fmla="*/ 130 w 442"/>
                      <a:gd name="T31" fmla="*/ 521 h 818"/>
                      <a:gd name="T32" fmla="*/ 142 w 442"/>
                      <a:gd name="T33" fmla="*/ 505 h 818"/>
                      <a:gd name="T34" fmla="*/ 147 w 442"/>
                      <a:gd name="T35" fmla="*/ 483 h 818"/>
                      <a:gd name="T36" fmla="*/ 159 w 442"/>
                      <a:gd name="T37" fmla="*/ 467 h 818"/>
                      <a:gd name="T38" fmla="*/ 164 w 442"/>
                      <a:gd name="T39" fmla="*/ 446 h 818"/>
                      <a:gd name="T40" fmla="*/ 176 w 442"/>
                      <a:gd name="T41" fmla="*/ 430 h 818"/>
                      <a:gd name="T42" fmla="*/ 181 w 442"/>
                      <a:gd name="T43" fmla="*/ 409 h 818"/>
                      <a:gd name="T44" fmla="*/ 193 w 442"/>
                      <a:gd name="T45" fmla="*/ 393 h 818"/>
                      <a:gd name="T46" fmla="*/ 198 w 442"/>
                      <a:gd name="T47" fmla="*/ 377 h 818"/>
                      <a:gd name="T48" fmla="*/ 210 w 442"/>
                      <a:gd name="T49" fmla="*/ 356 h 818"/>
                      <a:gd name="T50" fmla="*/ 221 w 442"/>
                      <a:gd name="T51" fmla="*/ 340 h 818"/>
                      <a:gd name="T52" fmla="*/ 227 w 442"/>
                      <a:gd name="T53" fmla="*/ 319 h 818"/>
                      <a:gd name="T54" fmla="*/ 244 w 442"/>
                      <a:gd name="T55" fmla="*/ 292 h 818"/>
                      <a:gd name="T56" fmla="*/ 255 w 442"/>
                      <a:gd name="T57" fmla="*/ 271 h 818"/>
                      <a:gd name="T58" fmla="*/ 266 w 442"/>
                      <a:gd name="T59" fmla="*/ 250 h 818"/>
                      <a:gd name="T60" fmla="*/ 278 w 442"/>
                      <a:gd name="T61" fmla="*/ 234 h 818"/>
                      <a:gd name="T62" fmla="*/ 289 w 442"/>
                      <a:gd name="T63" fmla="*/ 212 h 818"/>
                      <a:gd name="T64" fmla="*/ 295 w 442"/>
                      <a:gd name="T65" fmla="*/ 196 h 818"/>
                      <a:gd name="T66" fmla="*/ 312 w 442"/>
                      <a:gd name="T67" fmla="*/ 175 h 818"/>
                      <a:gd name="T68" fmla="*/ 317 w 442"/>
                      <a:gd name="T69" fmla="*/ 159 h 818"/>
                      <a:gd name="T70" fmla="*/ 334 w 442"/>
                      <a:gd name="T71" fmla="*/ 133 h 818"/>
                      <a:gd name="T72" fmla="*/ 351 w 442"/>
                      <a:gd name="T73" fmla="*/ 106 h 818"/>
                      <a:gd name="T74" fmla="*/ 368 w 442"/>
                      <a:gd name="T75" fmla="*/ 90 h 818"/>
                      <a:gd name="T76" fmla="*/ 385 w 442"/>
                      <a:gd name="T77" fmla="*/ 69 h 818"/>
                      <a:gd name="T78" fmla="*/ 402 w 442"/>
                      <a:gd name="T79" fmla="*/ 48 h 818"/>
                      <a:gd name="T80" fmla="*/ 414 w 442"/>
                      <a:gd name="T81" fmla="*/ 32 h 818"/>
                      <a:gd name="T82" fmla="*/ 431 w 442"/>
                      <a:gd name="T83" fmla="*/ 10 h 8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442" h="818">
                        <a:moveTo>
                          <a:pt x="0" y="818"/>
                        </a:moveTo>
                        <a:lnTo>
                          <a:pt x="0" y="813"/>
                        </a:lnTo>
                        <a:lnTo>
                          <a:pt x="6" y="808"/>
                        </a:lnTo>
                        <a:lnTo>
                          <a:pt x="6" y="802"/>
                        </a:lnTo>
                        <a:lnTo>
                          <a:pt x="11" y="797"/>
                        </a:lnTo>
                        <a:lnTo>
                          <a:pt x="11" y="792"/>
                        </a:lnTo>
                        <a:lnTo>
                          <a:pt x="17" y="786"/>
                        </a:lnTo>
                        <a:lnTo>
                          <a:pt x="17" y="776"/>
                        </a:lnTo>
                        <a:lnTo>
                          <a:pt x="23" y="770"/>
                        </a:lnTo>
                        <a:lnTo>
                          <a:pt x="23" y="765"/>
                        </a:lnTo>
                        <a:lnTo>
                          <a:pt x="28" y="760"/>
                        </a:lnTo>
                        <a:lnTo>
                          <a:pt x="28" y="754"/>
                        </a:lnTo>
                        <a:lnTo>
                          <a:pt x="34" y="744"/>
                        </a:lnTo>
                        <a:lnTo>
                          <a:pt x="34" y="733"/>
                        </a:lnTo>
                        <a:lnTo>
                          <a:pt x="40" y="728"/>
                        </a:lnTo>
                        <a:lnTo>
                          <a:pt x="40" y="723"/>
                        </a:lnTo>
                        <a:lnTo>
                          <a:pt x="45" y="717"/>
                        </a:lnTo>
                        <a:lnTo>
                          <a:pt x="45" y="712"/>
                        </a:lnTo>
                        <a:lnTo>
                          <a:pt x="51" y="707"/>
                        </a:lnTo>
                        <a:lnTo>
                          <a:pt x="51" y="696"/>
                        </a:lnTo>
                        <a:lnTo>
                          <a:pt x="57" y="691"/>
                        </a:lnTo>
                        <a:lnTo>
                          <a:pt x="57" y="685"/>
                        </a:lnTo>
                        <a:lnTo>
                          <a:pt x="62" y="680"/>
                        </a:lnTo>
                        <a:lnTo>
                          <a:pt x="62" y="675"/>
                        </a:lnTo>
                        <a:lnTo>
                          <a:pt x="68" y="669"/>
                        </a:lnTo>
                        <a:lnTo>
                          <a:pt x="68" y="664"/>
                        </a:lnTo>
                        <a:lnTo>
                          <a:pt x="74" y="653"/>
                        </a:lnTo>
                        <a:lnTo>
                          <a:pt x="74" y="643"/>
                        </a:lnTo>
                        <a:lnTo>
                          <a:pt x="79" y="637"/>
                        </a:lnTo>
                        <a:lnTo>
                          <a:pt x="79" y="632"/>
                        </a:lnTo>
                        <a:lnTo>
                          <a:pt x="85" y="627"/>
                        </a:lnTo>
                        <a:lnTo>
                          <a:pt x="85" y="622"/>
                        </a:lnTo>
                        <a:lnTo>
                          <a:pt x="91" y="616"/>
                        </a:lnTo>
                        <a:lnTo>
                          <a:pt x="91" y="606"/>
                        </a:lnTo>
                        <a:lnTo>
                          <a:pt x="96" y="600"/>
                        </a:lnTo>
                        <a:lnTo>
                          <a:pt x="96" y="595"/>
                        </a:lnTo>
                        <a:lnTo>
                          <a:pt x="102" y="590"/>
                        </a:lnTo>
                        <a:lnTo>
                          <a:pt x="102" y="584"/>
                        </a:lnTo>
                        <a:lnTo>
                          <a:pt x="108" y="579"/>
                        </a:lnTo>
                        <a:lnTo>
                          <a:pt x="108" y="568"/>
                        </a:lnTo>
                        <a:lnTo>
                          <a:pt x="113" y="563"/>
                        </a:lnTo>
                        <a:lnTo>
                          <a:pt x="113" y="558"/>
                        </a:lnTo>
                        <a:lnTo>
                          <a:pt x="119" y="552"/>
                        </a:lnTo>
                        <a:lnTo>
                          <a:pt x="119" y="547"/>
                        </a:lnTo>
                        <a:lnTo>
                          <a:pt x="125" y="542"/>
                        </a:lnTo>
                        <a:lnTo>
                          <a:pt x="125" y="537"/>
                        </a:lnTo>
                        <a:lnTo>
                          <a:pt x="130" y="531"/>
                        </a:lnTo>
                        <a:lnTo>
                          <a:pt x="130" y="521"/>
                        </a:lnTo>
                        <a:lnTo>
                          <a:pt x="136" y="515"/>
                        </a:lnTo>
                        <a:lnTo>
                          <a:pt x="136" y="510"/>
                        </a:lnTo>
                        <a:lnTo>
                          <a:pt x="142" y="505"/>
                        </a:lnTo>
                        <a:lnTo>
                          <a:pt x="142" y="499"/>
                        </a:lnTo>
                        <a:lnTo>
                          <a:pt x="147" y="494"/>
                        </a:lnTo>
                        <a:lnTo>
                          <a:pt x="147" y="483"/>
                        </a:lnTo>
                        <a:lnTo>
                          <a:pt x="153" y="478"/>
                        </a:lnTo>
                        <a:lnTo>
                          <a:pt x="153" y="473"/>
                        </a:lnTo>
                        <a:lnTo>
                          <a:pt x="159" y="467"/>
                        </a:lnTo>
                        <a:lnTo>
                          <a:pt x="159" y="462"/>
                        </a:lnTo>
                        <a:lnTo>
                          <a:pt x="164" y="457"/>
                        </a:lnTo>
                        <a:lnTo>
                          <a:pt x="164" y="446"/>
                        </a:lnTo>
                        <a:lnTo>
                          <a:pt x="170" y="441"/>
                        </a:lnTo>
                        <a:lnTo>
                          <a:pt x="170" y="436"/>
                        </a:lnTo>
                        <a:lnTo>
                          <a:pt x="176" y="430"/>
                        </a:lnTo>
                        <a:lnTo>
                          <a:pt x="176" y="425"/>
                        </a:lnTo>
                        <a:lnTo>
                          <a:pt x="181" y="420"/>
                        </a:lnTo>
                        <a:lnTo>
                          <a:pt x="181" y="409"/>
                        </a:lnTo>
                        <a:lnTo>
                          <a:pt x="187" y="404"/>
                        </a:lnTo>
                        <a:lnTo>
                          <a:pt x="187" y="398"/>
                        </a:lnTo>
                        <a:lnTo>
                          <a:pt x="193" y="393"/>
                        </a:lnTo>
                        <a:lnTo>
                          <a:pt x="193" y="388"/>
                        </a:lnTo>
                        <a:lnTo>
                          <a:pt x="198" y="382"/>
                        </a:lnTo>
                        <a:lnTo>
                          <a:pt x="198" y="377"/>
                        </a:lnTo>
                        <a:lnTo>
                          <a:pt x="204" y="372"/>
                        </a:lnTo>
                        <a:lnTo>
                          <a:pt x="204" y="361"/>
                        </a:lnTo>
                        <a:lnTo>
                          <a:pt x="210" y="356"/>
                        </a:lnTo>
                        <a:lnTo>
                          <a:pt x="215" y="351"/>
                        </a:lnTo>
                        <a:lnTo>
                          <a:pt x="215" y="345"/>
                        </a:lnTo>
                        <a:lnTo>
                          <a:pt x="221" y="340"/>
                        </a:lnTo>
                        <a:lnTo>
                          <a:pt x="221" y="329"/>
                        </a:lnTo>
                        <a:lnTo>
                          <a:pt x="227" y="324"/>
                        </a:lnTo>
                        <a:lnTo>
                          <a:pt x="227" y="319"/>
                        </a:lnTo>
                        <a:lnTo>
                          <a:pt x="238" y="308"/>
                        </a:lnTo>
                        <a:lnTo>
                          <a:pt x="238" y="297"/>
                        </a:lnTo>
                        <a:lnTo>
                          <a:pt x="244" y="292"/>
                        </a:lnTo>
                        <a:lnTo>
                          <a:pt x="244" y="287"/>
                        </a:lnTo>
                        <a:lnTo>
                          <a:pt x="255" y="276"/>
                        </a:lnTo>
                        <a:lnTo>
                          <a:pt x="255" y="271"/>
                        </a:lnTo>
                        <a:lnTo>
                          <a:pt x="261" y="265"/>
                        </a:lnTo>
                        <a:lnTo>
                          <a:pt x="261" y="255"/>
                        </a:lnTo>
                        <a:lnTo>
                          <a:pt x="266" y="250"/>
                        </a:lnTo>
                        <a:lnTo>
                          <a:pt x="272" y="244"/>
                        </a:lnTo>
                        <a:lnTo>
                          <a:pt x="272" y="239"/>
                        </a:lnTo>
                        <a:lnTo>
                          <a:pt x="278" y="234"/>
                        </a:lnTo>
                        <a:lnTo>
                          <a:pt x="278" y="223"/>
                        </a:lnTo>
                        <a:lnTo>
                          <a:pt x="283" y="218"/>
                        </a:lnTo>
                        <a:lnTo>
                          <a:pt x="289" y="212"/>
                        </a:lnTo>
                        <a:lnTo>
                          <a:pt x="289" y="207"/>
                        </a:lnTo>
                        <a:lnTo>
                          <a:pt x="295" y="202"/>
                        </a:lnTo>
                        <a:lnTo>
                          <a:pt x="295" y="196"/>
                        </a:lnTo>
                        <a:lnTo>
                          <a:pt x="306" y="186"/>
                        </a:lnTo>
                        <a:lnTo>
                          <a:pt x="306" y="180"/>
                        </a:lnTo>
                        <a:lnTo>
                          <a:pt x="312" y="175"/>
                        </a:lnTo>
                        <a:lnTo>
                          <a:pt x="312" y="170"/>
                        </a:lnTo>
                        <a:lnTo>
                          <a:pt x="317" y="165"/>
                        </a:lnTo>
                        <a:lnTo>
                          <a:pt x="317" y="159"/>
                        </a:lnTo>
                        <a:lnTo>
                          <a:pt x="323" y="154"/>
                        </a:lnTo>
                        <a:lnTo>
                          <a:pt x="334" y="143"/>
                        </a:lnTo>
                        <a:lnTo>
                          <a:pt x="334" y="133"/>
                        </a:lnTo>
                        <a:lnTo>
                          <a:pt x="340" y="127"/>
                        </a:lnTo>
                        <a:lnTo>
                          <a:pt x="351" y="117"/>
                        </a:lnTo>
                        <a:lnTo>
                          <a:pt x="351" y="106"/>
                        </a:lnTo>
                        <a:lnTo>
                          <a:pt x="357" y="101"/>
                        </a:lnTo>
                        <a:lnTo>
                          <a:pt x="363" y="95"/>
                        </a:lnTo>
                        <a:lnTo>
                          <a:pt x="368" y="90"/>
                        </a:lnTo>
                        <a:lnTo>
                          <a:pt x="368" y="85"/>
                        </a:lnTo>
                        <a:lnTo>
                          <a:pt x="374" y="79"/>
                        </a:lnTo>
                        <a:lnTo>
                          <a:pt x="385" y="69"/>
                        </a:lnTo>
                        <a:lnTo>
                          <a:pt x="385" y="64"/>
                        </a:lnTo>
                        <a:lnTo>
                          <a:pt x="391" y="58"/>
                        </a:lnTo>
                        <a:lnTo>
                          <a:pt x="402" y="48"/>
                        </a:lnTo>
                        <a:lnTo>
                          <a:pt x="402" y="42"/>
                        </a:lnTo>
                        <a:lnTo>
                          <a:pt x="408" y="37"/>
                        </a:lnTo>
                        <a:lnTo>
                          <a:pt x="414" y="32"/>
                        </a:lnTo>
                        <a:lnTo>
                          <a:pt x="419" y="26"/>
                        </a:lnTo>
                        <a:lnTo>
                          <a:pt x="431" y="16"/>
                        </a:lnTo>
                        <a:lnTo>
                          <a:pt x="431" y="10"/>
                        </a:lnTo>
                        <a:lnTo>
                          <a:pt x="436" y="5"/>
                        </a:lnTo>
                        <a:lnTo>
                          <a:pt x="442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71" name="Freeform 379">
                    <a:extLst>
                      <a:ext uri="{FF2B5EF4-FFF2-40B4-BE49-F238E27FC236}">
                        <a16:creationId xmlns:a16="http://schemas.microsoft.com/office/drawing/2014/main" id="{57DB79BE-35DF-5F7C-3D2A-287B47C595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0" y="1423"/>
                    <a:ext cx="612" cy="521"/>
                  </a:xfrm>
                  <a:custGeom>
                    <a:avLst/>
                    <a:gdLst>
                      <a:gd name="T0" fmla="*/ 11 w 612"/>
                      <a:gd name="T1" fmla="*/ 69 h 521"/>
                      <a:gd name="T2" fmla="*/ 28 w 612"/>
                      <a:gd name="T3" fmla="*/ 53 h 521"/>
                      <a:gd name="T4" fmla="*/ 45 w 612"/>
                      <a:gd name="T5" fmla="*/ 43 h 521"/>
                      <a:gd name="T6" fmla="*/ 62 w 612"/>
                      <a:gd name="T7" fmla="*/ 32 h 521"/>
                      <a:gd name="T8" fmla="*/ 79 w 612"/>
                      <a:gd name="T9" fmla="*/ 21 h 521"/>
                      <a:gd name="T10" fmla="*/ 97 w 612"/>
                      <a:gd name="T11" fmla="*/ 11 h 521"/>
                      <a:gd name="T12" fmla="*/ 114 w 612"/>
                      <a:gd name="T13" fmla="*/ 5 h 521"/>
                      <a:gd name="T14" fmla="*/ 131 w 612"/>
                      <a:gd name="T15" fmla="*/ 0 h 521"/>
                      <a:gd name="T16" fmla="*/ 148 w 612"/>
                      <a:gd name="T17" fmla="*/ 0 h 521"/>
                      <a:gd name="T18" fmla="*/ 165 w 612"/>
                      <a:gd name="T19" fmla="*/ 0 h 521"/>
                      <a:gd name="T20" fmla="*/ 182 w 612"/>
                      <a:gd name="T21" fmla="*/ 0 h 521"/>
                      <a:gd name="T22" fmla="*/ 199 w 612"/>
                      <a:gd name="T23" fmla="*/ 0 h 521"/>
                      <a:gd name="T24" fmla="*/ 216 w 612"/>
                      <a:gd name="T25" fmla="*/ 5 h 521"/>
                      <a:gd name="T26" fmla="*/ 233 w 612"/>
                      <a:gd name="T27" fmla="*/ 11 h 521"/>
                      <a:gd name="T28" fmla="*/ 250 w 612"/>
                      <a:gd name="T29" fmla="*/ 16 h 521"/>
                      <a:gd name="T30" fmla="*/ 267 w 612"/>
                      <a:gd name="T31" fmla="*/ 27 h 521"/>
                      <a:gd name="T32" fmla="*/ 284 w 612"/>
                      <a:gd name="T33" fmla="*/ 37 h 521"/>
                      <a:gd name="T34" fmla="*/ 301 w 612"/>
                      <a:gd name="T35" fmla="*/ 48 h 521"/>
                      <a:gd name="T36" fmla="*/ 318 w 612"/>
                      <a:gd name="T37" fmla="*/ 64 h 521"/>
                      <a:gd name="T38" fmla="*/ 335 w 612"/>
                      <a:gd name="T39" fmla="*/ 74 h 521"/>
                      <a:gd name="T40" fmla="*/ 352 w 612"/>
                      <a:gd name="T41" fmla="*/ 96 h 521"/>
                      <a:gd name="T42" fmla="*/ 369 w 612"/>
                      <a:gd name="T43" fmla="*/ 112 h 521"/>
                      <a:gd name="T44" fmla="*/ 386 w 612"/>
                      <a:gd name="T45" fmla="*/ 133 h 521"/>
                      <a:gd name="T46" fmla="*/ 403 w 612"/>
                      <a:gd name="T47" fmla="*/ 154 h 521"/>
                      <a:gd name="T48" fmla="*/ 414 w 612"/>
                      <a:gd name="T49" fmla="*/ 170 h 521"/>
                      <a:gd name="T50" fmla="*/ 431 w 612"/>
                      <a:gd name="T51" fmla="*/ 197 h 521"/>
                      <a:gd name="T52" fmla="*/ 448 w 612"/>
                      <a:gd name="T53" fmla="*/ 213 h 521"/>
                      <a:gd name="T54" fmla="*/ 459 w 612"/>
                      <a:gd name="T55" fmla="*/ 234 h 521"/>
                      <a:gd name="T56" fmla="*/ 471 w 612"/>
                      <a:gd name="T57" fmla="*/ 250 h 521"/>
                      <a:gd name="T58" fmla="*/ 482 w 612"/>
                      <a:gd name="T59" fmla="*/ 271 h 521"/>
                      <a:gd name="T60" fmla="*/ 493 w 612"/>
                      <a:gd name="T61" fmla="*/ 287 h 521"/>
                      <a:gd name="T62" fmla="*/ 505 w 612"/>
                      <a:gd name="T63" fmla="*/ 314 h 521"/>
                      <a:gd name="T64" fmla="*/ 516 w 612"/>
                      <a:gd name="T65" fmla="*/ 330 h 521"/>
                      <a:gd name="T66" fmla="*/ 533 w 612"/>
                      <a:gd name="T67" fmla="*/ 356 h 521"/>
                      <a:gd name="T68" fmla="*/ 539 w 612"/>
                      <a:gd name="T69" fmla="*/ 372 h 521"/>
                      <a:gd name="T70" fmla="*/ 550 w 612"/>
                      <a:gd name="T71" fmla="*/ 393 h 521"/>
                      <a:gd name="T72" fmla="*/ 561 w 612"/>
                      <a:gd name="T73" fmla="*/ 409 h 521"/>
                      <a:gd name="T74" fmla="*/ 567 w 612"/>
                      <a:gd name="T75" fmla="*/ 431 h 521"/>
                      <a:gd name="T76" fmla="*/ 584 w 612"/>
                      <a:gd name="T77" fmla="*/ 457 h 521"/>
                      <a:gd name="T78" fmla="*/ 590 w 612"/>
                      <a:gd name="T79" fmla="*/ 473 h 521"/>
                      <a:gd name="T80" fmla="*/ 601 w 612"/>
                      <a:gd name="T81" fmla="*/ 489 h 521"/>
                      <a:gd name="T82" fmla="*/ 607 w 612"/>
                      <a:gd name="T83" fmla="*/ 510 h 5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612" h="521">
                        <a:moveTo>
                          <a:pt x="0" y="80"/>
                        </a:moveTo>
                        <a:lnTo>
                          <a:pt x="6" y="74"/>
                        </a:lnTo>
                        <a:lnTo>
                          <a:pt x="11" y="69"/>
                        </a:lnTo>
                        <a:lnTo>
                          <a:pt x="17" y="64"/>
                        </a:lnTo>
                        <a:lnTo>
                          <a:pt x="23" y="59"/>
                        </a:lnTo>
                        <a:lnTo>
                          <a:pt x="28" y="53"/>
                        </a:lnTo>
                        <a:lnTo>
                          <a:pt x="34" y="53"/>
                        </a:lnTo>
                        <a:lnTo>
                          <a:pt x="40" y="48"/>
                        </a:lnTo>
                        <a:lnTo>
                          <a:pt x="45" y="43"/>
                        </a:lnTo>
                        <a:lnTo>
                          <a:pt x="51" y="37"/>
                        </a:lnTo>
                        <a:lnTo>
                          <a:pt x="57" y="32"/>
                        </a:lnTo>
                        <a:lnTo>
                          <a:pt x="62" y="32"/>
                        </a:lnTo>
                        <a:lnTo>
                          <a:pt x="68" y="27"/>
                        </a:lnTo>
                        <a:lnTo>
                          <a:pt x="74" y="27"/>
                        </a:lnTo>
                        <a:lnTo>
                          <a:pt x="79" y="21"/>
                        </a:lnTo>
                        <a:lnTo>
                          <a:pt x="85" y="16"/>
                        </a:lnTo>
                        <a:lnTo>
                          <a:pt x="91" y="16"/>
                        </a:lnTo>
                        <a:lnTo>
                          <a:pt x="97" y="11"/>
                        </a:lnTo>
                        <a:lnTo>
                          <a:pt x="102" y="11"/>
                        </a:lnTo>
                        <a:lnTo>
                          <a:pt x="108" y="11"/>
                        </a:lnTo>
                        <a:lnTo>
                          <a:pt x="114" y="5"/>
                        </a:lnTo>
                        <a:lnTo>
                          <a:pt x="119" y="5"/>
                        </a:lnTo>
                        <a:lnTo>
                          <a:pt x="125" y="5"/>
                        </a:lnTo>
                        <a:lnTo>
                          <a:pt x="131" y="0"/>
                        </a:lnTo>
                        <a:lnTo>
                          <a:pt x="136" y="0"/>
                        </a:lnTo>
                        <a:lnTo>
                          <a:pt x="142" y="0"/>
                        </a:lnTo>
                        <a:lnTo>
                          <a:pt x="148" y="0"/>
                        </a:lnTo>
                        <a:lnTo>
                          <a:pt x="153" y="0"/>
                        </a:lnTo>
                        <a:lnTo>
                          <a:pt x="159" y="0"/>
                        </a:lnTo>
                        <a:lnTo>
                          <a:pt x="165" y="0"/>
                        </a:lnTo>
                        <a:lnTo>
                          <a:pt x="170" y="0"/>
                        </a:lnTo>
                        <a:lnTo>
                          <a:pt x="176" y="0"/>
                        </a:lnTo>
                        <a:lnTo>
                          <a:pt x="182" y="0"/>
                        </a:lnTo>
                        <a:lnTo>
                          <a:pt x="187" y="0"/>
                        </a:lnTo>
                        <a:lnTo>
                          <a:pt x="193" y="0"/>
                        </a:lnTo>
                        <a:lnTo>
                          <a:pt x="199" y="0"/>
                        </a:lnTo>
                        <a:lnTo>
                          <a:pt x="204" y="0"/>
                        </a:lnTo>
                        <a:lnTo>
                          <a:pt x="210" y="0"/>
                        </a:lnTo>
                        <a:lnTo>
                          <a:pt x="216" y="5"/>
                        </a:lnTo>
                        <a:lnTo>
                          <a:pt x="221" y="5"/>
                        </a:lnTo>
                        <a:lnTo>
                          <a:pt x="227" y="5"/>
                        </a:lnTo>
                        <a:lnTo>
                          <a:pt x="233" y="11"/>
                        </a:lnTo>
                        <a:lnTo>
                          <a:pt x="238" y="11"/>
                        </a:lnTo>
                        <a:lnTo>
                          <a:pt x="244" y="16"/>
                        </a:lnTo>
                        <a:lnTo>
                          <a:pt x="250" y="16"/>
                        </a:lnTo>
                        <a:lnTo>
                          <a:pt x="255" y="21"/>
                        </a:lnTo>
                        <a:lnTo>
                          <a:pt x="261" y="21"/>
                        </a:lnTo>
                        <a:lnTo>
                          <a:pt x="267" y="27"/>
                        </a:lnTo>
                        <a:lnTo>
                          <a:pt x="272" y="27"/>
                        </a:lnTo>
                        <a:lnTo>
                          <a:pt x="278" y="32"/>
                        </a:lnTo>
                        <a:lnTo>
                          <a:pt x="284" y="37"/>
                        </a:lnTo>
                        <a:lnTo>
                          <a:pt x="289" y="43"/>
                        </a:lnTo>
                        <a:lnTo>
                          <a:pt x="295" y="43"/>
                        </a:lnTo>
                        <a:lnTo>
                          <a:pt x="301" y="48"/>
                        </a:lnTo>
                        <a:lnTo>
                          <a:pt x="306" y="53"/>
                        </a:lnTo>
                        <a:lnTo>
                          <a:pt x="312" y="59"/>
                        </a:lnTo>
                        <a:lnTo>
                          <a:pt x="318" y="64"/>
                        </a:lnTo>
                        <a:lnTo>
                          <a:pt x="323" y="69"/>
                        </a:lnTo>
                        <a:lnTo>
                          <a:pt x="329" y="74"/>
                        </a:lnTo>
                        <a:lnTo>
                          <a:pt x="335" y="74"/>
                        </a:lnTo>
                        <a:lnTo>
                          <a:pt x="340" y="85"/>
                        </a:lnTo>
                        <a:lnTo>
                          <a:pt x="346" y="90"/>
                        </a:lnTo>
                        <a:lnTo>
                          <a:pt x="352" y="96"/>
                        </a:lnTo>
                        <a:lnTo>
                          <a:pt x="357" y="101"/>
                        </a:lnTo>
                        <a:lnTo>
                          <a:pt x="363" y="106"/>
                        </a:lnTo>
                        <a:lnTo>
                          <a:pt x="369" y="112"/>
                        </a:lnTo>
                        <a:lnTo>
                          <a:pt x="380" y="122"/>
                        </a:lnTo>
                        <a:lnTo>
                          <a:pt x="380" y="128"/>
                        </a:lnTo>
                        <a:lnTo>
                          <a:pt x="386" y="133"/>
                        </a:lnTo>
                        <a:lnTo>
                          <a:pt x="397" y="144"/>
                        </a:lnTo>
                        <a:lnTo>
                          <a:pt x="397" y="149"/>
                        </a:lnTo>
                        <a:lnTo>
                          <a:pt x="403" y="154"/>
                        </a:lnTo>
                        <a:lnTo>
                          <a:pt x="408" y="159"/>
                        </a:lnTo>
                        <a:lnTo>
                          <a:pt x="414" y="165"/>
                        </a:lnTo>
                        <a:lnTo>
                          <a:pt x="414" y="170"/>
                        </a:lnTo>
                        <a:lnTo>
                          <a:pt x="420" y="175"/>
                        </a:lnTo>
                        <a:lnTo>
                          <a:pt x="431" y="186"/>
                        </a:lnTo>
                        <a:lnTo>
                          <a:pt x="431" y="197"/>
                        </a:lnTo>
                        <a:lnTo>
                          <a:pt x="437" y="202"/>
                        </a:lnTo>
                        <a:lnTo>
                          <a:pt x="442" y="207"/>
                        </a:lnTo>
                        <a:lnTo>
                          <a:pt x="448" y="213"/>
                        </a:lnTo>
                        <a:lnTo>
                          <a:pt x="448" y="223"/>
                        </a:lnTo>
                        <a:lnTo>
                          <a:pt x="454" y="229"/>
                        </a:lnTo>
                        <a:lnTo>
                          <a:pt x="459" y="234"/>
                        </a:lnTo>
                        <a:lnTo>
                          <a:pt x="465" y="239"/>
                        </a:lnTo>
                        <a:lnTo>
                          <a:pt x="465" y="245"/>
                        </a:lnTo>
                        <a:lnTo>
                          <a:pt x="471" y="250"/>
                        </a:lnTo>
                        <a:lnTo>
                          <a:pt x="471" y="255"/>
                        </a:lnTo>
                        <a:lnTo>
                          <a:pt x="482" y="266"/>
                        </a:lnTo>
                        <a:lnTo>
                          <a:pt x="482" y="271"/>
                        </a:lnTo>
                        <a:lnTo>
                          <a:pt x="488" y="276"/>
                        </a:lnTo>
                        <a:lnTo>
                          <a:pt x="488" y="282"/>
                        </a:lnTo>
                        <a:lnTo>
                          <a:pt x="493" y="287"/>
                        </a:lnTo>
                        <a:lnTo>
                          <a:pt x="493" y="292"/>
                        </a:lnTo>
                        <a:lnTo>
                          <a:pt x="505" y="303"/>
                        </a:lnTo>
                        <a:lnTo>
                          <a:pt x="505" y="314"/>
                        </a:lnTo>
                        <a:lnTo>
                          <a:pt x="510" y="319"/>
                        </a:lnTo>
                        <a:lnTo>
                          <a:pt x="510" y="324"/>
                        </a:lnTo>
                        <a:lnTo>
                          <a:pt x="516" y="330"/>
                        </a:lnTo>
                        <a:lnTo>
                          <a:pt x="522" y="335"/>
                        </a:lnTo>
                        <a:lnTo>
                          <a:pt x="522" y="345"/>
                        </a:lnTo>
                        <a:lnTo>
                          <a:pt x="533" y="356"/>
                        </a:lnTo>
                        <a:lnTo>
                          <a:pt x="533" y="361"/>
                        </a:lnTo>
                        <a:lnTo>
                          <a:pt x="539" y="367"/>
                        </a:lnTo>
                        <a:lnTo>
                          <a:pt x="539" y="372"/>
                        </a:lnTo>
                        <a:lnTo>
                          <a:pt x="544" y="377"/>
                        </a:lnTo>
                        <a:lnTo>
                          <a:pt x="544" y="388"/>
                        </a:lnTo>
                        <a:lnTo>
                          <a:pt x="550" y="393"/>
                        </a:lnTo>
                        <a:lnTo>
                          <a:pt x="556" y="399"/>
                        </a:lnTo>
                        <a:lnTo>
                          <a:pt x="556" y="404"/>
                        </a:lnTo>
                        <a:lnTo>
                          <a:pt x="561" y="409"/>
                        </a:lnTo>
                        <a:lnTo>
                          <a:pt x="561" y="420"/>
                        </a:lnTo>
                        <a:lnTo>
                          <a:pt x="567" y="425"/>
                        </a:lnTo>
                        <a:lnTo>
                          <a:pt x="567" y="431"/>
                        </a:lnTo>
                        <a:lnTo>
                          <a:pt x="578" y="441"/>
                        </a:lnTo>
                        <a:lnTo>
                          <a:pt x="578" y="452"/>
                        </a:lnTo>
                        <a:lnTo>
                          <a:pt x="584" y="457"/>
                        </a:lnTo>
                        <a:lnTo>
                          <a:pt x="584" y="462"/>
                        </a:lnTo>
                        <a:lnTo>
                          <a:pt x="590" y="468"/>
                        </a:lnTo>
                        <a:lnTo>
                          <a:pt x="590" y="473"/>
                        </a:lnTo>
                        <a:lnTo>
                          <a:pt x="595" y="478"/>
                        </a:lnTo>
                        <a:lnTo>
                          <a:pt x="595" y="484"/>
                        </a:lnTo>
                        <a:lnTo>
                          <a:pt x="601" y="489"/>
                        </a:lnTo>
                        <a:lnTo>
                          <a:pt x="601" y="500"/>
                        </a:lnTo>
                        <a:lnTo>
                          <a:pt x="607" y="505"/>
                        </a:lnTo>
                        <a:lnTo>
                          <a:pt x="607" y="510"/>
                        </a:lnTo>
                        <a:lnTo>
                          <a:pt x="612" y="516"/>
                        </a:lnTo>
                        <a:lnTo>
                          <a:pt x="612" y="521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72" name="Freeform 380">
                    <a:extLst>
                      <a:ext uri="{FF2B5EF4-FFF2-40B4-BE49-F238E27FC236}">
                        <a16:creationId xmlns:a16="http://schemas.microsoft.com/office/drawing/2014/main" id="{8CFD586F-B7D4-EE54-8D9E-4F4DE58161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12" y="1944"/>
                    <a:ext cx="363" cy="808"/>
                  </a:xfrm>
                  <a:custGeom>
                    <a:avLst/>
                    <a:gdLst>
                      <a:gd name="T0" fmla="*/ 6 w 363"/>
                      <a:gd name="T1" fmla="*/ 16 h 808"/>
                      <a:gd name="T2" fmla="*/ 17 w 363"/>
                      <a:gd name="T3" fmla="*/ 32 h 808"/>
                      <a:gd name="T4" fmla="*/ 23 w 363"/>
                      <a:gd name="T5" fmla="*/ 53 h 808"/>
                      <a:gd name="T6" fmla="*/ 34 w 363"/>
                      <a:gd name="T7" fmla="*/ 69 h 808"/>
                      <a:gd name="T8" fmla="*/ 40 w 363"/>
                      <a:gd name="T9" fmla="*/ 90 h 808"/>
                      <a:gd name="T10" fmla="*/ 51 w 363"/>
                      <a:gd name="T11" fmla="*/ 106 h 808"/>
                      <a:gd name="T12" fmla="*/ 57 w 363"/>
                      <a:gd name="T13" fmla="*/ 122 h 808"/>
                      <a:gd name="T14" fmla="*/ 68 w 363"/>
                      <a:gd name="T15" fmla="*/ 143 h 808"/>
                      <a:gd name="T16" fmla="*/ 74 w 363"/>
                      <a:gd name="T17" fmla="*/ 159 h 808"/>
                      <a:gd name="T18" fmla="*/ 85 w 363"/>
                      <a:gd name="T19" fmla="*/ 181 h 808"/>
                      <a:gd name="T20" fmla="*/ 91 w 363"/>
                      <a:gd name="T21" fmla="*/ 196 h 808"/>
                      <a:gd name="T22" fmla="*/ 102 w 363"/>
                      <a:gd name="T23" fmla="*/ 223 h 808"/>
                      <a:gd name="T24" fmla="*/ 108 w 363"/>
                      <a:gd name="T25" fmla="*/ 239 h 808"/>
                      <a:gd name="T26" fmla="*/ 120 w 363"/>
                      <a:gd name="T27" fmla="*/ 255 h 808"/>
                      <a:gd name="T28" fmla="*/ 125 w 363"/>
                      <a:gd name="T29" fmla="*/ 276 h 808"/>
                      <a:gd name="T30" fmla="*/ 137 w 363"/>
                      <a:gd name="T31" fmla="*/ 292 h 808"/>
                      <a:gd name="T32" fmla="*/ 142 w 363"/>
                      <a:gd name="T33" fmla="*/ 319 h 808"/>
                      <a:gd name="T34" fmla="*/ 154 w 363"/>
                      <a:gd name="T35" fmla="*/ 335 h 808"/>
                      <a:gd name="T36" fmla="*/ 159 w 363"/>
                      <a:gd name="T37" fmla="*/ 356 h 808"/>
                      <a:gd name="T38" fmla="*/ 171 w 363"/>
                      <a:gd name="T39" fmla="*/ 372 h 808"/>
                      <a:gd name="T40" fmla="*/ 176 w 363"/>
                      <a:gd name="T41" fmla="*/ 398 h 808"/>
                      <a:gd name="T42" fmla="*/ 188 w 363"/>
                      <a:gd name="T43" fmla="*/ 414 h 808"/>
                      <a:gd name="T44" fmla="*/ 193 w 363"/>
                      <a:gd name="T45" fmla="*/ 436 h 808"/>
                      <a:gd name="T46" fmla="*/ 205 w 363"/>
                      <a:gd name="T47" fmla="*/ 452 h 808"/>
                      <a:gd name="T48" fmla="*/ 210 w 363"/>
                      <a:gd name="T49" fmla="*/ 478 h 808"/>
                      <a:gd name="T50" fmla="*/ 222 w 363"/>
                      <a:gd name="T51" fmla="*/ 494 h 808"/>
                      <a:gd name="T52" fmla="*/ 227 w 363"/>
                      <a:gd name="T53" fmla="*/ 515 h 808"/>
                      <a:gd name="T54" fmla="*/ 239 w 363"/>
                      <a:gd name="T55" fmla="*/ 531 h 808"/>
                      <a:gd name="T56" fmla="*/ 244 w 363"/>
                      <a:gd name="T57" fmla="*/ 547 h 808"/>
                      <a:gd name="T58" fmla="*/ 256 w 363"/>
                      <a:gd name="T59" fmla="*/ 574 h 808"/>
                      <a:gd name="T60" fmla="*/ 261 w 363"/>
                      <a:gd name="T61" fmla="*/ 590 h 808"/>
                      <a:gd name="T62" fmla="*/ 273 w 363"/>
                      <a:gd name="T63" fmla="*/ 611 h 808"/>
                      <a:gd name="T64" fmla="*/ 278 w 363"/>
                      <a:gd name="T65" fmla="*/ 627 h 808"/>
                      <a:gd name="T66" fmla="*/ 290 w 363"/>
                      <a:gd name="T67" fmla="*/ 648 h 808"/>
                      <a:gd name="T68" fmla="*/ 295 w 363"/>
                      <a:gd name="T69" fmla="*/ 664 h 808"/>
                      <a:gd name="T70" fmla="*/ 307 w 363"/>
                      <a:gd name="T71" fmla="*/ 680 h 808"/>
                      <a:gd name="T72" fmla="*/ 312 w 363"/>
                      <a:gd name="T73" fmla="*/ 701 h 808"/>
                      <a:gd name="T74" fmla="*/ 324 w 363"/>
                      <a:gd name="T75" fmla="*/ 717 h 808"/>
                      <a:gd name="T76" fmla="*/ 329 w 363"/>
                      <a:gd name="T77" fmla="*/ 739 h 808"/>
                      <a:gd name="T78" fmla="*/ 341 w 363"/>
                      <a:gd name="T79" fmla="*/ 754 h 808"/>
                      <a:gd name="T80" fmla="*/ 346 w 363"/>
                      <a:gd name="T81" fmla="*/ 776 h 808"/>
                      <a:gd name="T82" fmla="*/ 358 w 363"/>
                      <a:gd name="T83" fmla="*/ 792 h 8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63" h="808">
                        <a:moveTo>
                          <a:pt x="0" y="0"/>
                        </a:moveTo>
                        <a:lnTo>
                          <a:pt x="6" y="5"/>
                        </a:lnTo>
                        <a:lnTo>
                          <a:pt x="6" y="16"/>
                        </a:lnTo>
                        <a:lnTo>
                          <a:pt x="12" y="21"/>
                        </a:lnTo>
                        <a:lnTo>
                          <a:pt x="12" y="26"/>
                        </a:lnTo>
                        <a:lnTo>
                          <a:pt x="17" y="32"/>
                        </a:lnTo>
                        <a:lnTo>
                          <a:pt x="17" y="37"/>
                        </a:lnTo>
                        <a:lnTo>
                          <a:pt x="23" y="42"/>
                        </a:lnTo>
                        <a:lnTo>
                          <a:pt x="23" y="53"/>
                        </a:lnTo>
                        <a:lnTo>
                          <a:pt x="29" y="58"/>
                        </a:lnTo>
                        <a:lnTo>
                          <a:pt x="29" y="64"/>
                        </a:lnTo>
                        <a:lnTo>
                          <a:pt x="34" y="69"/>
                        </a:lnTo>
                        <a:lnTo>
                          <a:pt x="34" y="74"/>
                        </a:lnTo>
                        <a:lnTo>
                          <a:pt x="40" y="80"/>
                        </a:lnTo>
                        <a:lnTo>
                          <a:pt x="40" y="90"/>
                        </a:lnTo>
                        <a:lnTo>
                          <a:pt x="46" y="96"/>
                        </a:lnTo>
                        <a:lnTo>
                          <a:pt x="46" y="101"/>
                        </a:lnTo>
                        <a:lnTo>
                          <a:pt x="51" y="106"/>
                        </a:lnTo>
                        <a:lnTo>
                          <a:pt x="51" y="111"/>
                        </a:lnTo>
                        <a:lnTo>
                          <a:pt x="57" y="117"/>
                        </a:lnTo>
                        <a:lnTo>
                          <a:pt x="57" y="122"/>
                        </a:lnTo>
                        <a:lnTo>
                          <a:pt x="63" y="127"/>
                        </a:lnTo>
                        <a:lnTo>
                          <a:pt x="63" y="138"/>
                        </a:lnTo>
                        <a:lnTo>
                          <a:pt x="68" y="143"/>
                        </a:lnTo>
                        <a:lnTo>
                          <a:pt x="68" y="149"/>
                        </a:lnTo>
                        <a:lnTo>
                          <a:pt x="74" y="154"/>
                        </a:lnTo>
                        <a:lnTo>
                          <a:pt x="74" y="159"/>
                        </a:lnTo>
                        <a:lnTo>
                          <a:pt x="80" y="165"/>
                        </a:lnTo>
                        <a:lnTo>
                          <a:pt x="80" y="175"/>
                        </a:lnTo>
                        <a:lnTo>
                          <a:pt x="85" y="181"/>
                        </a:lnTo>
                        <a:lnTo>
                          <a:pt x="85" y="186"/>
                        </a:lnTo>
                        <a:lnTo>
                          <a:pt x="91" y="191"/>
                        </a:lnTo>
                        <a:lnTo>
                          <a:pt x="91" y="196"/>
                        </a:lnTo>
                        <a:lnTo>
                          <a:pt x="97" y="202"/>
                        </a:lnTo>
                        <a:lnTo>
                          <a:pt x="97" y="212"/>
                        </a:lnTo>
                        <a:lnTo>
                          <a:pt x="102" y="223"/>
                        </a:lnTo>
                        <a:lnTo>
                          <a:pt x="102" y="228"/>
                        </a:lnTo>
                        <a:lnTo>
                          <a:pt x="108" y="234"/>
                        </a:lnTo>
                        <a:lnTo>
                          <a:pt x="108" y="239"/>
                        </a:lnTo>
                        <a:lnTo>
                          <a:pt x="114" y="244"/>
                        </a:lnTo>
                        <a:lnTo>
                          <a:pt x="114" y="250"/>
                        </a:lnTo>
                        <a:lnTo>
                          <a:pt x="120" y="255"/>
                        </a:lnTo>
                        <a:lnTo>
                          <a:pt x="120" y="266"/>
                        </a:lnTo>
                        <a:lnTo>
                          <a:pt x="125" y="271"/>
                        </a:lnTo>
                        <a:lnTo>
                          <a:pt x="125" y="276"/>
                        </a:lnTo>
                        <a:lnTo>
                          <a:pt x="131" y="282"/>
                        </a:lnTo>
                        <a:lnTo>
                          <a:pt x="131" y="287"/>
                        </a:lnTo>
                        <a:lnTo>
                          <a:pt x="137" y="292"/>
                        </a:lnTo>
                        <a:lnTo>
                          <a:pt x="137" y="303"/>
                        </a:lnTo>
                        <a:lnTo>
                          <a:pt x="142" y="313"/>
                        </a:lnTo>
                        <a:lnTo>
                          <a:pt x="142" y="319"/>
                        </a:lnTo>
                        <a:lnTo>
                          <a:pt x="148" y="324"/>
                        </a:lnTo>
                        <a:lnTo>
                          <a:pt x="148" y="329"/>
                        </a:lnTo>
                        <a:lnTo>
                          <a:pt x="154" y="335"/>
                        </a:lnTo>
                        <a:lnTo>
                          <a:pt x="154" y="345"/>
                        </a:lnTo>
                        <a:lnTo>
                          <a:pt x="159" y="351"/>
                        </a:lnTo>
                        <a:lnTo>
                          <a:pt x="159" y="356"/>
                        </a:lnTo>
                        <a:lnTo>
                          <a:pt x="165" y="361"/>
                        </a:lnTo>
                        <a:lnTo>
                          <a:pt x="165" y="367"/>
                        </a:lnTo>
                        <a:lnTo>
                          <a:pt x="171" y="372"/>
                        </a:lnTo>
                        <a:lnTo>
                          <a:pt x="171" y="377"/>
                        </a:lnTo>
                        <a:lnTo>
                          <a:pt x="176" y="382"/>
                        </a:lnTo>
                        <a:lnTo>
                          <a:pt x="176" y="398"/>
                        </a:lnTo>
                        <a:lnTo>
                          <a:pt x="182" y="404"/>
                        </a:lnTo>
                        <a:lnTo>
                          <a:pt x="182" y="409"/>
                        </a:lnTo>
                        <a:lnTo>
                          <a:pt x="188" y="414"/>
                        </a:lnTo>
                        <a:lnTo>
                          <a:pt x="188" y="420"/>
                        </a:lnTo>
                        <a:lnTo>
                          <a:pt x="193" y="425"/>
                        </a:lnTo>
                        <a:lnTo>
                          <a:pt x="193" y="436"/>
                        </a:lnTo>
                        <a:lnTo>
                          <a:pt x="199" y="441"/>
                        </a:lnTo>
                        <a:lnTo>
                          <a:pt x="199" y="446"/>
                        </a:lnTo>
                        <a:lnTo>
                          <a:pt x="205" y="452"/>
                        </a:lnTo>
                        <a:lnTo>
                          <a:pt x="205" y="457"/>
                        </a:lnTo>
                        <a:lnTo>
                          <a:pt x="210" y="468"/>
                        </a:lnTo>
                        <a:lnTo>
                          <a:pt x="210" y="478"/>
                        </a:lnTo>
                        <a:lnTo>
                          <a:pt x="216" y="483"/>
                        </a:lnTo>
                        <a:lnTo>
                          <a:pt x="216" y="489"/>
                        </a:lnTo>
                        <a:lnTo>
                          <a:pt x="222" y="494"/>
                        </a:lnTo>
                        <a:lnTo>
                          <a:pt x="222" y="499"/>
                        </a:lnTo>
                        <a:lnTo>
                          <a:pt x="227" y="505"/>
                        </a:lnTo>
                        <a:lnTo>
                          <a:pt x="227" y="515"/>
                        </a:lnTo>
                        <a:lnTo>
                          <a:pt x="233" y="521"/>
                        </a:lnTo>
                        <a:lnTo>
                          <a:pt x="233" y="526"/>
                        </a:lnTo>
                        <a:lnTo>
                          <a:pt x="239" y="531"/>
                        </a:lnTo>
                        <a:lnTo>
                          <a:pt x="239" y="537"/>
                        </a:lnTo>
                        <a:lnTo>
                          <a:pt x="244" y="542"/>
                        </a:lnTo>
                        <a:lnTo>
                          <a:pt x="244" y="547"/>
                        </a:lnTo>
                        <a:lnTo>
                          <a:pt x="250" y="558"/>
                        </a:lnTo>
                        <a:lnTo>
                          <a:pt x="250" y="568"/>
                        </a:lnTo>
                        <a:lnTo>
                          <a:pt x="256" y="574"/>
                        </a:lnTo>
                        <a:lnTo>
                          <a:pt x="256" y="579"/>
                        </a:lnTo>
                        <a:lnTo>
                          <a:pt x="261" y="584"/>
                        </a:lnTo>
                        <a:lnTo>
                          <a:pt x="261" y="590"/>
                        </a:lnTo>
                        <a:lnTo>
                          <a:pt x="267" y="595"/>
                        </a:lnTo>
                        <a:lnTo>
                          <a:pt x="267" y="606"/>
                        </a:lnTo>
                        <a:lnTo>
                          <a:pt x="273" y="611"/>
                        </a:lnTo>
                        <a:lnTo>
                          <a:pt x="273" y="616"/>
                        </a:lnTo>
                        <a:lnTo>
                          <a:pt x="278" y="622"/>
                        </a:lnTo>
                        <a:lnTo>
                          <a:pt x="278" y="627"/>
                        </a:lnTo>
                        <a:lnTo>
                          <a:pt x="284" y="632"/>
                        </a:lnTo>
                        <a:lnTo>
                          <a:pt x="284" y="643"/>
                        </a:lnTo>
                        <a:lnTo>
                          <a:pt x="290" y="648"/>
                        </a:lnTo>
                        <a:lnTo>
                          <a:pt x="290" y="654"/>
                        </a:lnTo>
                        <a:lnTo>
                          <a:pt x="295" y="659"/>
                        </a:lnTo>
                        <a:lnTo>
                          <a:pt x="295" y="664"/>
                        </a:lnTo>
                        <a:lnTo>
                          <a:pt x="301" y="669"/>
                        </a:lnTo>
                        <a:lnTo>
                          <a:pt x="301" y="675"/>
                        </a:lnTo>
                        <a:lnTo>
                          <a:pt x="307" y="680"/>
                        </a:lnTo>
                        <a:lnTo>
                          <a:pt x="307" y="691"/>
                        </a:lnTo>
                        <a:lnTo>
                          <a:pt x="312" y="696"/>
                        </a:lnTo>
                        <a:lnTo>
                          <a:pt x="312" y="701"/>
                        </a:lnTo>
                        <a:lnTo>
                          <a:pt x="318" y="707"/>
                        </a:lnTo>
                        <a:lnTo>
                          <a:pt x="318" y="712"/>
                        </a:lnTo>
                        <a:lnTo>
                          <a:pt x="324" y="717"/>
                        </a:lnTo>
                        <a:lnTo>
                          <a:pt x="324" y="728"/>
                        </a:lnTo>
                        <a:lnTo>
                          <a:pt x="329" y="733"/>
                        </a:lnTo>
                        <a:lnTo>
                          <a:pt x="329" y="739"/>
                        </a:lnTo>
                        <a:lnTo>
                          <a:pt x="335" y="744"/>
                        </a:lnTo>
                        <a:lnTo>
                          <a:pt x="335" y="749"/>
                        </a:lnTo>
                        <a:lnTo>
                          <a:pt x="341" y="754"/>
                        </a:lnTo>
                        <a:lnTo>
                          <a:pt x="341" y="765"/>
                        </a:lnTo>
                        <a:lnTo>
                          <a:pt x="346" y="770"/>
                        </a:lnTo>
                        <a:lnTo>
                          <a:pt x="346" y="776"/>
                        </a:lnTo>
                        <a:lnTo>
                          <a:pt x="352" y="781"/>
                        </a:lnTo>
                        <a:lnTo>
                          <a:pt x="352" y="786"/>
                        </a:lnTo>
                        <a:lnTo>
                          <a:pt x="358" y="792"/>
                        </a:lnTo>
                        <a:lnTo>
                          <a:pt x="358" y="802"/>
                        </a:lnTo>
                        <a:lnTo>
                          <a:pt x="363" y="808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73" name="Freeform 381">
                    <a:extLst>
                      <a:ext uri="{FF2B5EF4-FFF2-40B4-BE49-F238E27FC236}">
                        <a16:creationId xmlns:a16="http://schemas.microsoft.com/office/drawing/2014/main" id="{1B9F6E67-39C6-3707-8F05-BE386732A4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75" y="2752"/>
                    <a:ext cx="624" cy="483"/>
                  </a:xfrm>
                  <a:custGeom>
                    <a:avLst/>
                    <a:gdLst>
                      <a:gd name="T0" fmla="*/ 6 w 624"/>
                      <a:gd name="T1" fmla="*/ 10 h 483"/>
                      <a:gd name="T2" fmla="*/ 12 w 624"/>
                      <a:gd name="T3" fmla="*/ 26 h 483"/>
                      <a:gd name="T4" fmla="*/ 23 w 624"/>
                      <a:gd name="T5" fmla="*/ 47 h 483"/>
                      <a:gd name="T6" fmla="*/ 34 w 624"/>
                      <a:gd name="T7" fmla="*/ 63 h 483"/>
                      <a:gd name="T8" fmla="*/ 40 w 624"/>
                      <a:gd name="T9" fmla="*/ 85 h 483"/>
                      <a:gd name="T10" fmla="*/ 57 w 624"/>
                      <a:gd name="T11" fmla="*/ 111 h 483"/>
                      <a:gd name="T12" fmla="*/ 68 w 624"/>
                      <a:gd name="T13" fmla="*/ 132 h 483"/>
                      <a:gd name="T14" fmla="*/ 80 w 624"/>
                      <a:gd name="T15" fmla="*/ 154 h 483"/>
                      <a:gd name="T16" fmla="*/ 91 w 624"/>
                      <a:gd name="T17" fmla="*/ 170 h 483"/>
                      <a:gd name="T18" fmla="*/ 102 w 624"/>
                      <a:gd name="T19" fmla="*/ 191 h 483"/>
                      <a:gd name="T20" fmla="*/ 108 w 624"/>
                      <a:gd name="T21" fmla="*/ 207 h 483"/>
                      <a:gd name="T22" fmla="*/ 125 w 624"/>
                      <a:gd name="T23" fmla="*/ 228 h 483"/>
                      <a:gd name="T24" fmla="*/ 131 w 624"/>
                      <a:gd name="T25" fmla="*/ 244 h 483"/>
                      <a:gd name="T26" fmla="*/ 148 w 624"/>
                      <a:gd name="T27" fmla="*/ 271 h 483"/>
                      <a:gd name="T28" fmla="*/ 165 w 624"/>
                      <a:gd name="T29" fmla="*/ 297 h 483"/>
                      <a:gd name="T30" fmla="*/ 182 w 624"/>
                      <a:gd name="T31" fmla="*/ 313 h 483"/>
                      <a:gd name="T32" fmla="*/ 199 w 624"/>
                      <a:gd name="T33" fmla="*/ 334 h 483"/>
                      <a:gd name="T34" fmla="*/ 216 w 624"/>
                      <a:gd name="T35" fmla="*/ 356 h 483"/>
                      <a:gd name="T36" fmla="*/ 227 w 624"/>
                      <a:gd name="T37" fmla="*/ 372 h 483"/>
                      <a:gd name="T38" fmla="*/ 244 w 624"/>
                      <a:gd name="T39" fmla="*/ 393 h 483"/>
                      <a:gd name="T40" fmla="*/ 261 w 624"/>
                      <a:gd name="T41" fmla="*/ 409 h 483"/>
                      <a:gd name="T42" fmla="*/ 278 w 624"/>
                      <a:gd name="T43" fmla="*/ 425 h 483"/>
                      <a:gd name="T44" fmla="*/ 295 w 624"/>
                      <a:gd name="T45" fmla="*/ 435 h 483"/>
                      <a:gd name="T46" fmla="*/ 312 w 624"/>
                      <a:gd name="T47" fmla="*/ 451 h 483"/>
                      <a:gd name="T48" fmla="*/ 329 w 624"/>
                      <a:gd name="T49" fmla="*/ 457 h 483"/>
                      <a:gd name="T50" fmla="*/ 346 w 624"/>
                      <a:gd name="T51" fmla="*/ 467 h 483"/>
                      <a:gd name="T52" fmla="*/ 363 w 624"/>
                      <a:gd name="T53" fmla="*/ 473 h 483"/>
                      <a:gd name="T54" fmla="*/ 380 w 624"/>
                      <a:gd name="T55" fmla="*/ 478 h 483"/>
                      <a:gd name="T56" fmla="*/ 397 w 624"/>
                      <a:gd name="T57" fmla="*/ 483 h 483"/>
                      <a:gd name="T58" fmla="*/ 414 w 624"/>
                      <a:gd name="T59" fmla="*/ 483 h 483"/>
                      <a:gd name="T60" fmla="*/ 426 w 624"/>
                      <a:gd name="T61" fmla="*/ 483 h 483"/>
                      <a:gd name="T62" fmla="*/ 443 w 624"/>
                      <a:gd name="T63" fmla="*/ 483 h 483"/>
                      <a:gd name="T64" fmla="*/ 460 w 624"/>
                      <a:gd name="T65" fmla="*/ 483 h 483"/>
                      <a:gd name="T66" fmla="*/ 477 w 624"/>
                      <a:gd name="T67" fmla="*/ 478 h 483"/>
                      <a:gd name="T68" fmla="*/ 494 w 624"/>
                      <a:gd name="T69" fmla="*/ 473 h 483"/>
                      <a:gd name="T70" fmla="*/ 511 w 624"/>
                      <a:gd name="T71" fmla="*/ 462 h 483"/>
                      <a:gd name="T72" fmla="*/ 528 w 624"/>
                      <a:gd name="T73" fmla="*/ 457 h 483"/>
                      <a:gd name="T74" fmla="*/ 545 w 624"/>
                      <a:gd name="T75" fmla="*/ 441 h 483"/>
                      <a:gd name="T76" fmla="*/ 562 w 624"/>
                      <a:gd name="T77" fmla="*/ 430 h 483"/>
                      <a:gd name="T78" fmla="*/ 579 w 624"/>
                      <a:gd name="T79" fmla="*/ 414 h 483"/>
                      <a:gd name="T80" fmla="*/ 596 w 624"/>
                      <a:gd name="T81" fmla="*/ 398 h 483"/>
                      <a:gd name="T82" fmla="*/ 613 w 624"/>
                      <a:gd name="T83" fmla="*/ 382 h 4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624" h="483"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6" y="10"/>
                        </a:lnTo>
                        <a:lnTo>
                          <a:pt x="6" y="16"/>
                        </a:lnTo>
                        <a:lnTo>
                          <a:pt x="12" y="21"/>
                        </a:lnTo>
                        <a:lnTo>
                          <a:pt x="12" y="26"/>
                        </a:lnTo>
                        <a:lnTo>
                          <a:pt x="17" y="32"/>
                        </a:lnTo>
                        <a:lnTo>
                          <a:pt x="17" y="42"/>
                        </a:lnTo>
                        <a:lnTo>
                          <a:pt x="23" y="47"/>
                        </a:lnTo>
                        <a:lnTo>
                          <a:pt x="29" y="53"/>
                        </a:lnTo>
                        <a:lnTo>
                          <a:pt x="29" y="58"/>
                        </a:lnTo>
                        <a:lnTo>
                          <a:pt x="34" y="63"/>
                        </a:lnTo>
                        <a:lnTo>
                          <a:pt x="34" y="74"/>
                        </a:lnTo>
                        <a:lnTo>
                          <a:pt x="40" y="79"/>
                        </a:lnTo>
                        <a:lnTo>
                          <a:pt x="40" y="85"/>
                        </a:lnTo>
                        <a:lnTo>
                          <a:pt x="51" y="95"/>
                        </a:lnTo>
                        <a:lnTo>
                          <a:pt x="51" y="106"/>
                        </a:lnTo>
                        <a:lnTo>
                          <a:pt x="57" y="111"/>
                        </a:lnTo>
                        <a:lnTo>
                          <a:pt x="57" y="117"/>
                        </a:lnTo>
                        <a:lnTo>
                          <a:pt x="68" y="127"/>
                        </a:lnTo>
                        <a:lnTo>
                          <a:pt x="68" y="132"/>
                        </a:lnTo>
                        <a:lnTo>
                          <a:pt x="74" y="138"/>
                        </a:lnTo>
                        <a:lnTo>
                          <a:pt x="74" y="148"/>
                        </a:lnTo>
                        <a:lnTo>
                          <a:pt x="80" y="154"/>
                        </a:lnTo>
                        <a:lnTo>
                          <a:pt x="85" y="159"/>
                        </a:lnTo>
                        <a:lnTo>
                          <a:pt x="85" y="164"/>
                        </a:lnTo>
                        <a:lnTo>
                          <a:pt x="91" y="170"/>
                        </a:lnTo>
                        <a:lnTo>
                          <a:pt x="91" y="180"/>
                        </a:lnTo>
                        <a:lnTo>
                          <a:pt x="97" y="186"/>
                        </a:lnTo>
                        <a:lnTo>
                          <a:pt x="102" y="191"/>
                        </a:lnTo>
                        <a:lnTo>
                          <a:pt x="102" y="196"/>
                        </a:lnTo>
                        <a:lnTo>
                          <a:pt x="108" y="202"/>
                        </a:lnTo>
                        <a:lnTo>
                          <a:pt x="108" y="207"/>
                        </a:lnTo>
                        <a:lnTo>
                          <a:pt x="119" y="218"/>
                        </a:lnTo>
                        <a:lnTo>
                          <a:pt x="119" y="223"/>
                        </a:lnTo>
                        <a:lnTo>
                          <a:pt x="125" y="228"/>
                        </a:lnTo>
                        <a:lnTo>
                          <a:pt x="125" y="233"/>
                        </a:lnTo>
                        <a:lnTo>
                          <a:pt x="131" y="239"/>
                        </a:lnTo>
                        <a:lnTo>
                          <a:pt x="131" y="244"/>
                        </a:lnTo>
                        <a:lnTo>
                          <a:pt x="136" y="249"/>
                        </a:lnTo>
                        <a:lnTo>
                          <a:pt x="148" y="260"/>
                        </a:lnTo>
                        <a:lnTo>
                          <a:pt x="148" y="271"/>
                        </a:lnTo>
                        <a:lnTo>
                          <a:pt x="153" y="276"/>
                        </a:lnTo>
                        <a:lnTo>
                          <a:pt x="165" y="287"/>
                        </a:lnTo>
                        <a:lnTo>
                          <a:pt x="165" y="297"/>
                        </a:lnTo>
                        <a:lnTo>
                          <a:pt x="170" y="303"/>
                        </a:lnTo>
                        <a:lnTo>
                          <a:pt x="176" y="308"/>
                        </a:lnTo>
                        <a:lnTo>
                          <a:pt x="182" y="313"/>
                        </a:lnTo>
                        <a:lnTo>
                          <a:pt x="182" y="318"/>
                        </a:lnTo>
                        <a:lnTo>
                          <a:pt x="187" y="324"/>
                        </a:lnTo>
                        <a:lnTo>
                          <a:pt x="199" y="334"/>
                        </a:lnTo>
                        <a:lnTo>
                          <a:pt x="199" y="340"/>
                        </a:lnTo>
                        <a:lnTo>
                          <a:pt x="204" y="345"/>
                        </a:lnTo>
                        <a:lnTo>
                          <a:pt x="216" y="356"/>
                        </a:lnTo>
                        <a:lnTo>
                          <a:pt x="216" y="361"/>
                        </a:lnTo>
                        <a:lnTo>
                          <a:pt x="221" y="366"/>
                        </a:lnTo>
                        <a:lnTo>
                          <a:pt x="227" y="372"/>
                        </a:lnTo>
                        <a:lnTo>
                          <a:pt x="233" y="377"/>
                        </a:lnTo>
                        <a:lnTo>
                          <a:pt x="244" y="388"/>
                        </a:lnTo>
                        <a:lnTo>
                          <a:pt x="244" y="393"/>
                        </a:lnTo>
                        <a:lnTo>
                          <a:pt x="250" y="398"/>
                        </a:lnTo>
                        <a:lnTo>
                          <a:pt x="255" y="404"/>
                        </a:lnTo>
                        <a:lnTo>
                          <a:pt x="261" y="409"/>
                        </a:lnTo>
                        <a:lnTo>
                          <a:pt x="267" y="414"/>
                        </a:lnTo>
                        <a:lnTo>
                          <a:pt x="272" y="419"/>
                        </a:lnTo>
                        <a:lnTo>
                          <a:pt x="278" y="425"/>
                        </a:lnTo>
                        <a:lnTo>
                          <a:pt x="284" y="430"/>
                        </a:lnTo>
                        <a:lnTo>
                          <a:pt x="289" y="430"/>
                        </a:lnTo>
                        <a:lnTo>
                          <a:pt x="295" y="435"/>
                        </a:lnTo>
                        <a:lnTo>
                          <a:pt x="301" y="441"/>
                        </a:lnTo>
                        <a:lnTo>
                          <a:pt x="306" y="446"/>
                        </a:lnTo>
                        <a:lnTo>
                          <a:pt x="312" y="451"/>
                        </a:lnTo>
                        <a:lnTo>
                          <a:pt x="318" y="451"/>
                        </a:lnTo>
                        <a:lnTo>
                          <a:pt x="323" y="457"/>
                        </a:lnTo>
                        <a:lnTo>
                          <a:pt x="329" y="457"/>
                        </a:lnTo>
                        <a:lnTo>
                          <a:pt x="335" y="462"/>
                        </a:lnTo>
                        <a:lnTo>
                          <a:pt x="340" y="467"/>
                        </a:lnTo>
                        <a:lnTo>
                          <a:pt x="346" y="467"/>
                        </a:lnTo>
                        <a:lnTo>
                          <a:pt x="352" y="473"/>
                        </a:lnTo>
                        <a:lnTo>
                          <a:pt x="357" y="473"/>
                        </a:lnTo>
                        <a:lnTo>
                          <a:pt x="363" y="473"/>
                        </a:lnTo>
                        <a:lnTo>
                          <a:pt x="369" y="478"/>
                        </a:lnTo>
                        <a:lnTo>
                          <a:pt x="374" y="478"/>
                        </a:lnTo>
                        <a:lnTo>
                          <a:pt x="380" y="478"/>
                        </a:lnTo>
                        <a:lnTo>
                          <a:pt x="386" y="483"/>
                        </a:lnTo>
                        <a:lnTo>
                          <a:pt x="392" y="483"/>
                        </a:lnTo>
                        <a:lnTo>
                          <a:pt x="397" y="483"/>
                        </a:lnTo>
                        <a:lnTo>
                          <a:pt x="403" y="483"/>
                        </a:lnTo>
                        <a:lnTo>
                          <a:pt x="409" y="483"/>
                        </a:lnTo>
                        <a:lnTo>
                          <a:pt x="414" y="483"/>
                        </a:lnTo>
                        <a:lnTo>
                          <a:pt x="420" y="483"/>
                        </a:lnTo>
                        <a:lnTo>
                          <a:pt x="431" y="483"/>
                        </a:lnTo>
                        <a:lnTo>
                          <a:pt x="426" y="483"/>
                        </a:lnTo>
                        <a:lnTo>
                          <a:pt x="431" y="483"/>
                        </a:lnTo>
                        <a:lnTo>
                          <a:pt x="437" y="483"/>
                        </a:lnTo>
                        <a:lnTo>
                          <a:pt x="443" y="483"/>
                        </a:lnTo>
                        <a:lnTo>
                          <a:pt x="448" y="483"/>
                        </a:lnTo>
                        <a:lnTo>
                          <a:pt x="454" y="483"/>
                        </a:lnTo>
                        <a:lnTo>
                          <a:pt x="460" y="483"/>
                        </a:lnTo>
                        <a:lnTo>
                          <a:pt x="465" y="483"/>
                        </a:lnTo>
                        <a:lnTo>
                          <a:pt x="471" y="478"/>
                        </a:lnTo>
                        <a:lnTo>
                          <a:pt x="477" y="478"/>
                        </a:lnTo>
                        <a:lnTo>
                          <a:pt x="482" y="478"/>
                        </a:lnTo>
                        <a:lnTo>
                          <a:pt x="488" y="473"/>
                        </a:lnTo>
                        <a:lnTo>
                          <a:pt x="494" y="473"/>
                        </a:lnTo>
                        <a:lnTo>
                          <a:pt x="499" y="467"/>
                        </a:lnTo>
                        <a:lnTo>
                          <a:pt x="505" y="467"/>
                        </a:lnTo>
                        <a:lnTo>
                          <a:pt x="511" y="462"/>
                        </a:lnTo>
                        <a:lnTo>
                          <a:pt x="516" y="462"/>
                        </a:lnTo>
                        <a:lnTo>
                          <a:pt x="522" y="457"/>
                        </a:lnTo>
                        <a:lnTo>
                          <a:pt x="528" y="457"/>
                        </a:lnTo>
                        <a:lnTo>
                          <a:pt x="533" y="451"/>
                        </a:lnTo>
                        <a:lnTo>
                          <a:pt x="539" y="446"/>
                        </a:lnTo>
                        <a:lnTo>
                          <a:pt x="545" y="441"/>
                        </a:lnTo>
                        <a:lnTo>
                          <a:pt x="550" y="441"/>
                        </a:lnTo>
                        <a:lnTo>
                          <a:pt x="556" y="435"/>
                        </a:lnTo>
                        <a:lnTo>
                          <a:pt x="562" y="430"/>
                        </a:lnTo>
                        <a:lnTo>
                          <a:pt x="567" y="425"/>
                        </a:lnTo>
                        <a:lnTo>
                          <a:pt x="573" y="419"/>
                        </a:lnTo>
                        <a:lnTo>
                          <a:pt x="579" y="414"/>
                        </a:lnTo>
                        <a:lnTo>
                          <a:pt x="584" y="409"/>
                        </a:lnTo>
                        <a:lnTo>
                          <a:pt x="590" y="409"/>
                        </a:lnTo>
                        <a:lnTo>
                          <a:pt x="596" y="398"/>
                        </a:lnTo>
                        <a:lnTo>
                          <a:pt x="601" y="393"/>
                        </a:lnTo>
                        <a:lnTo>
                          <a:pt x="607" y="388"/>
                        </a:lnTo>
                        <a:lnTo>
                          <a:pt x="613" y="382"/>
                        </a:lnTo>
                        <a:lnTo>
                          <a:pt x="618" y="377"/>
                        </a:lnTo>
                        <a:lnTo>
                          <a:pt x="624" y="372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74" name="Freeform 382">
                    <a:extLst>
                      <a:ext uri="{FF2B5EF4-FFF2-40B4-BE49-F238E27FC236}">
                        <a16:creationId xmlns:a16="http://schemas.microsoft.com/office/drawing/2014/main" id="{ED478398-D37F-F1E2-6D13-3BA00C463F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9" y="2332"/>
                    <a:ext cx="420" cy="792"/>
                  </a:xfrm>
                  <a:custGeom>
                    <a:avLst/>
                    <a:gdLst>
                      <a:gd name="T0" fmla="*/ 11 w 420"/>
                      <a:gd name="T1" fmla="*/ 781 h 792"/>
                      <a:gd name="T2" fmla="*/ 17 w 420"/>
                      <a:gd name="T3" fmla="*/ 770 h 792"/>
                      <a:gd name="T4" fmla="*/ 28 w 420"/>
                      <a:gd name="T5" fmla="*/ 754 h 792"/>
                      <a:gd name="T6" fmla="*/ 40 w 420"/>
                      <a:gd name="T7" fmla="*/ 744 h 792"/>
                      <a:gd name="T8" fmla="*/ 45 w 420"/>
                      <a:gd name="T9" fmla="*/ 733 h 792"/>
                      <a:gd name="T10" fmla="*/ 62 w 420"/>
                      <a:gd name="T11" fmla="*/ 717 h 792"/>
                      <a:gd name="T12" fmla="*/ 68 w 420"/>
                      <a:gd name="T13" fmla="*/ 701 h 792"/>
                      <a:gd name="T14" fmla="*/ 79 w 420"/>
                      <a:gd name="T15" fmla="*/ 691 h 792"/>
                      <a:gd name="T16" fmla="*/ 85 w 420"/>
                      <a:gd name="T17" fmla="*/ 675 h 792"/>
                      <a:gd name="T18" fmla="*/ 96 w 420"/>
                      <a:gd name="T19" fmla="*/ 664 h 792"/>
                      <a:gd name="T20" fmla="*/ 102 w 420"/>
                      <a:gd name="T21" fmla="*/ 653 h 792"/>
                      <a:gd name="T22" fmla="*/ 113 w 420"/>
                      <a:gd name="T23" fmla="*/ 638 h 792"/>
                      <a:gd name="T24" fmla="*/ 119 w 420"/>
                      <a:gd name="T25" fmla="*/ 627 h 792"/>
                      <a:gd name="T26" fmla="*/ 125 w 420"/>
                      <a:gd name="T27" fmla="*/ 616 h 792"/>
                      <a:gd name="T28" fmla="*/ 136 w 420"/>
                      <a:gd name="T29" fmla="*/ 600 h 792"/>
                      <a:gd name="T30" fmla="*/ 142 w 420"/>
                      <a:gd name="T31" fmla="*/ 584 h 792"/>
                      <a:gd name="T32" fmla="*/ 147 w 420"/>
                      <a:gd name="T33" fmla="*/ 574 h 792"/>
                      <a:gd name="T34" fmla="*/ 153 w 420"/>
                      <a:gd name="T35" fmla="*/ 558 h 792"/>
                      <a:gd name="T36" fmla="*/ 164 w 420"/>
                      <a:gd name="T37" fmla="*/ 542 h 792"/>
                      <a:gd name="T38" fmla="*/ 170 w 420"/>
                      <a:gd name="T39" fmla="*/ 531 h 792"/>
                      <a:gd name="T40" fmla="*/ 176 w 420"/>
                      <a:gd name="T41" fmla="*/ 515 h 792"/>
                      <a:gd name="T42" fmla="*/ 187 w 420"/>
                      <a:gd name="T43" fmla="*/ 505 h 792"/>
                      <a:gd name="T44" fmla="*/ 193 w 420"/>
                      <a:gd name="T45" fmla="*/ 494 h 792"/>
                      <a:gd name="T46" fmla="*/ 198 w 420"/>
                      <a:gd name="T47" fmla="*/ 478 h 792"/>
                      <a:gd name="T48" fmla="*/ 210 w 420"/>
                      <a:gd name="T49" fmla="*/ 462 h 792"/>
                      <a:gd name="T50" fmla="*/ 215 w 420"/>
                      <a:gd name="T51" fmla="*/ 446 h 792"/>
                      <a:gd name="T52" fmla="*/ 221 w 420"/>
                      <a:gd name="T53" fmla="*/ 436 h 792"/>
                      <a:gd name="T54" fmla="*/ 227 w 420"/>
                      <a:gd name="T55" fmla="*/ 425 h 792"/>
                      <a:gd name="T56" fmla="*/ 232 w 420"/>
                      <a:gd name="T57" fmla="*/ 414 h 792"/>
                      <a:gd name="T58" fmla="*/ 238 w 420"/>
                      <a:gd name="T59" fmla="*/ 398 h 792"/>
                      <a:gd name="T60" fmla="*/ 244 w 420"/>
                      <a:gd name="T61" fmla="*/ 388 h 792"/>
                      <a:gd name="T62" fmla="*/ 249 w 420"/>
                      <a:gd name="T63" fmla="*/ 377 h 792"/>
                      <a:gd name="T64" fmla="*/ 255 w 420"/>
                      <a:gd name="T65" fmla="*/ 361 h 792"/>
                      <a:gd name="T66" fmla="*/ 261 w 420"/>
                      <a:gd name="T67" fmla="*/ 351 h 792"/>
                      <a:gd name="T68" fmla="*/ 266 w 420"/>
                      <a:gd name="T69" fmla="*/ 340 h 792"/>
                      <a:gd name="T70" fmla="*/ 272 w 420"/>
                      <a:gd name="T71" fmla="*/ 324 h 792"/>
                      <a:gd name="T72" fmla="*/ 278 w 420"/>
                      <a:gd name="T73" fmla="*/ 313 h 792"/>
                      <a:gd name="T74" fmla="*/ 283 w 420"/>
                      <a:gd name="T75" fmla="*/ 303 h 792"/>
                      <a:gd name="T76" fmla="*/ 289 w 420"/>
                      <a:gd name="T77" fmla="*/ 287 h 792"/>
                      <a:gd name="T78" fmla="*/ 295 w 420"/>
                      <a:gd name="T79" fmla="*/ 276 h 792"/>
                      <a:gd name="T80" fmla="*/ 300 w 420"/>
                      <a:gd name="T81" fmla="*/ 266 h 792"/>
                      <a:gd name="T82" fmla="*/ 306 w 420"/>
                      <a:gd name="T83" fmla="*/ 255 h 792"/>
                      <a:gd name="T84" fmla="*/ 312 w 420"/>
                      <a:gd name="T85" fmla="*/ 239 h 792"/>
                      <a:gd name="T86" fmla="*/ 317 w 420"/>
                      <a:gd name="T87" fmla="*/ 228 h 792"/>
                      <a:gd name="T88" fmla="*/ 323 w 420"/>
                      <a:gd name="T89" fmla="*/ 218 h 792"/>
                      <a:gd name="T90" fmla="*/ 329 w 420"/>
                      <a:gd name="T91" fmla="*/ 202 h 792"/>
                      <a:gd name="T92" fmla="*/ 334 w 420"/>
                      <a:gd name="T93" fmla="*/ 191 h 792"/>
                      <a:gd name="T94" fmla="*/ 340 w 420"/>
                      <a:gd name="T95" fmla="*/ 180 h 792"/>
                      <a:gd name="T96" fmla="*/ 346 w 420"/>
                      <a:gd name="T97" fmla="*/ 159 h 792"/>
                      <a:gd name="T98" fmla="*/ 351 w 420"/>
                      <a:gd name="T99" fmla="*/ 149 h 792"/>
                      <a:gd name="T100" fmla="*/ 357 w 420"/>
                      <a:gd name="T101" fmla="*/ 138 h 792"/>
                      <a:gd name="T102" fmla="*/ 363 w 420"/>
                      <a:gd name="T103" fmla="*/ 127 h 792"/>
                      <a:gd name="T104" fmla="*/ 368 w 420"/>
                      <a:gd name="T105" fmla="*/ 111 h 792"/>
                      <a:gd name="T106" fmla="*/ 374 w 420"/>
                      <a:gd name="T107" fmla="*/ 101 h 792"/>
                      <a:gd name="T108" fmla="*/ 380 w 420"/>
                      <a:gd name="T109" fmla="*/ 90 h 792"/>
                      <a:gd name="T110" fmla="*/ 385 w 420"/>
                      <a:gd name="T111" fmla="*/ 69 h 792"/>
                      <a:gd name="T112" fmla="*/ 391 w 420"/>
                      <a:gd name="T113" fmla="*/ 58 h 792"/>
                      <a:gd name="T114" fmla="*/ 397 w 420"/>
                      <a:gd name="T115" fmla="*/ 48 h 792"/>
                      <a:gd name="T116" fmla="*/ 403 w 420"/>
                      <a:gd name="T117" fmla="*/ 32 h 792"/>
                      <a:gd name="T118" fmla="*/ 408 w 420"/>
                      <a:gd name="T119" fmla="*/ 21 h 792"/>
                      <a:gd name="T120" fmla="*/ 414 w 420"/>
                      <a:gd name="T121" fmla="*/ 10 h 792"/>
                      <a:gd name="T122" fmla="*/ 420 w 420"/>
                      <a:gd name="T123" fmla="*/ 0 h 7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420" h="792">
                        <a:moveTo>
                          <a:pt x="0" y="792"/>
                        </a:moveTo>
                        <a:lnTo>
                          <a:pt x="11" y="781"/>
                        </a:lnTo>
                        <a:lnTo>
                          <a:pt x="11" y="776"/>
                        </a:lnTo>
                        <a:lnTo>
                          <a:pt x="17" y="770"/>
                        </a:lnTo>
                        <a:lnTo>
                          <a:pt x="28" y="760"/>
                        </a:lnTo>
                        <a:lnTo>
                          <a:pt x="28" y="754"/>
                        </a:lnTo>
                        <a:lnTo>
                          <a:pt x="34" y="749"/>
                        </a:lnTo>
                        <a:lnTo>
                          <a:pt x="40" y="744"/>
                        </a:lnTo>
                        <a:lnTo>
                          <a:pt x="45" y="738"/>
                        </a:lnTo>
                        <a:lnTo>
                          <a:pt x="45" y="733"/>
                        </a:lnTo>
                        <a:lnTo>
                          <a:pt x="51" y="728"/>
                        </a:lnTo>
                        <a:lnTo>
                          <a:pt x="62" y="717"/>
                        </a:lnTo>
                        <a:lnTo>
                          <a:pt x="62" y="707"/>
                        </a:lnTo>
                        <a:lnTo>
                          <a:pt x="68" y="701"/>
                        </a:lnTo>
                        <a:lnTo>
                          <a:pt x="74" y="696"/>
                        </a:lnTo>
                        <a:lnTo>
                          <a:pt x="79" y="691"/>
                        </a:lnTo>
                        <a:lnTo>
                          <a:pt x="79" y="680"/>
                        </a:lnTo>
                        <a:lnTo>
                          <a:pt x="85" y="675"/>
                        </a:lnTo>
                        <a:lnTo>
                          <a:pt x="91" y="669"/>
                        </a:lnTo>
                        <a:lnTo>
                          <a:pt x="96" y="664"/>
                        </a:lnTo>
                        <a:lnTo>
                          <a:pt x="96" y="659"/>
                        </a:lnTo>
                        <a:lnTo>
                          <a:pt x="102" y="653"/>
                        </a:lnTo>
                        <a:lnTo>
                          <a:pt x="102" y="648"/>
                        </a:lnTo>
                        <a:lnTo>
                          <a:pt x="113" y="638"/>
                        </a:lnTo>
                        <a:lnTo>
                          <a:pt x="113" y="632"/>
                        </a:lnTo>
                        <a:lnTo>
                          <a:pt x="119" y="627"/>
                        </a:lnTo>
                        <a:lnTo>
                          <a:pt x="119" y="622"/>
                        </a:lnTo>
                        <a:lnTo>
                          <a:pt x="125" y="616"/>
                        </a:lnTo>
                        <a:lnTo>
                          <a:pt x="125" y="611"/>
                        </a:lnTo>
                        <a:lnTo>
                          <a:pt x="136" y="600"/>
                        </a:lnTo>
                        <a:lnTo>
                          <a:pt x="136" y="590"/>
                        </a:lnTo>
                        <a:lnTo>
                          <a:pt x="142" y="584"/>
                        </a:lnTo>
                        <a:lnTo>
                          <a:pt x="142" y="579"/>
                        </a:lnTo>
                        <a:lnTo>
                          <a:pt x="147" y="574"/>
                        </a:lnTo>
                        <a:lnTo>
                          <a:pt x="153" y="568"/>
                        </a:lnTo>
                        <a:lnTo>
                          <a:pt x="153" y="558"/>
                        </a:lnTo>
                        <a:lnTo>
                          <a:pt x="164" y="547"/>
                        </a:lnTo>
                        <a:lnTo>
                          <a:pt x="164" y="542"/>
                        </a:lnTo>
                        <a:lnTo>
                          <a:pt x="170" y="537"/>
                        </a:lnTo>
                        <a:lnTo>
                          <a:pt x="170" y="531"/>
                        </a:lnTo>
                        <a:lnTo>
                          <a:pt x="176" y="526"/>
                        </a:lnTo>
                        <a:lnTo>
                          <a:pt x="176" y="515"/>
                        </a:lnTo>
                        <a:lnTo>
                          <a:pt x="181" y="510"/>
                        </a:lnTo>
                        <a:lnTo>
                          <a:pt x="187" y="505"/>
                        </a:lnTo>
                        <a:lnTo>
                          <a:pt x="187" y="499"/>
                        </a:lnTo>
                        <a:lnTo>
                          <a:pt x="193" y="494"/>
                        </a:lnTo>
                        <a:lnTo>
                          <a:pt x="193" y="483"/>
                        </a:lnTo>
                        <a:lnTo>
                          <a:pt x="198" y="478"/>
                        </a:lnTo>
                        <a:lnTo>
                          <a:pt x="198" y="473"/>
                        </a:lnTo>
                        <a:lnTo>
                          <a:pt x="210" y="462"/>
                        </a:lnTo>
                        <a:lnTo>
                          <a:pt x="210" y="452"/>
                        </a:lnTo>
                        <a:lnTo>
                          <a:pt x="215" y="446"/>
                        </a:lnTo>
                        <a:lnTo>
                          <a:pt x="215" y="441"/>
                        </a:lnTo>
                        <a:lnTo>
                          <a:pt x="221" y="436"/>
                        </a:lnTo>
                        <a:lnTo>
                          <a:pt x="221" y="430"/>
                        </a:lnTo>
                        <a:lnTo>
                          <a:pt x="227" y="425"/>
                        </a:lnTo>
                        <a:lnTo>
                          <a:pt x="227" y="420"/>
                        </a:lnTo>
                        <a:lnTo>
                          <a:pt x="232" y="414"/>
                        </a:lnTo>
                        <a:lnTo>
                          <a:pt x="232" y="404"/>
                        </a:lnTo>
                        <a:lnTo>
                          <a:pt x="238" y="398"/>
                        </a:lnTo>
                        <a:lnTo>
                          <a:pt x="238" y="393"/>
                        </a:lnTo>
                        <a:lnTo>
                          <a:pt x="244" y="388"/>
                        </a:lnTo>
                        <a:lnTo>
                          <a:pt x="244" y="382"/>
                        </a:lnTo>
                        <a:lnTo>
                          <a:pt x="249" y="377"/>
                        </a:lnTo>
                        <a:lnTo>
                          <a:pt x="249" y="366"/>
                        </a:lnTo>
                        <a:lnTo>
                          <a:pt x="255" y="361"/>
                        </a:lnTo>
                        <a:lnTo>
                          <a:pt x="255" y="356"/>
                        </a:lnTo>
                        <a:lnTo>
                          <a:pt x="261" y="351"/>
                        </a:lnTo>
                        <a:lnTo>
                          <a:pt x="261" y="345"/>
                        </a:lnTo>
                        <a:lnTo>
                          <a:pt x="266" y="340"/>
                        </a:lnTo>
                        <a:lnTo>
                          <a:pt x="266" y="329"/>
                        </a:lnTo>
                        <a:lnTo>
                          <a:pt x="272" y="324"/>
                        </a:lnTo>
                        <a:lnTo>
                          <a:pt x="272" y="319"/>
                        </a:lnTo>
                        <a:lnTo>
                          <a:pt x="278" y="313"/>
                        </a:lnTo>
                        <a:lnTo>
                          <a:pt x="278" y="308"/>
                        </a:lnTo>
                        <a:lnTo>
                          <a:pt x="283" y="303"/>
                        </a:lnTo>
                        <a:lnTo>
                          <a:pt x="283" y="292"/>
                        </a:lnTo>
                        <a:lnTo>
                          <a:pt x="289" y="287"/>
                        </a:lnTo>
                        <a:lnTo>
                          <a:pt x="289" y="281"/>
                        </a:lnTo>
                        <a:lnTo>
                          <a:pt x="295" y="276"/>
                        </a:lnTo>
                        <a:lnTo>
                          <a:pt x="295" y="271"/>
                        </a:lnTo>
                        <a:lnTo>
                          <a:pt x="300" y="266"/>
                        </a:lnTo>
                        <a:lnTo>
                          <a:pt x="300" y="260"/>
                        </a:lnTo>
                        <a:lnTo>
                          <a:pt x="306" y="255"/>
                        </a:lnTo>
                        <a:lnTo>
                          <a:pt x="306" y="244"/>
                        </a:lnTo>
                        <a:lnTo>
                          <a:pt x="312" y="239"/>
                        </a:lnTo>
                        <a:lnTo>
                          <a:pt x="312" y="234"/>
                        </a:lnTo>
                        <a:lnTo>
                          <a:pt x="317" y="228"/>
                        </a:lnTo>
                        <a:lnTo>
                          <a:pt x="317" y="223"/>
                        </a:lnTo>
                        <a:lnTo>
                          <a:pt x="323" y="218"/>
                        </a:lnTo>
                        <a:lnTo>
                          <a:pt x="323" y="207"/>
                        </a:lnTo>
                        <a:lnTo>
                          <a:pt x="329" y="202"/>
                        </a:lnTo>
                        <a:lnTo>
                          <a:pt x="329" y="196"/>
                        </a:lnTo>
                        <a:lnTo>
                          <a:pt x="334" y="191"/>
                        </a:lnTo>
                        <a:lnTo>
                          <a:pt x="334" y="186"/>
                        </a:lnTo>
                        <a:lnTo>
                          <a:pt x="340" y="180"/>
                        </a:lnTo>
                        <a:lnTo>
                          <a:pt x="340" y="170"/>
                        </a:lnTo>
                        <a:lnTo>
                          <a:pt x="346" y="159"/>
                        </a:lnTo>
                        <a:lnTo>
                          <a:pt x="346" y="154"/>
                        </a:lnTo>
                        <a:lnTo>
                          <a:pt x="351" y="149"/>
                        </a:lnTo>
                        <a:lnTo>
                          <a:pt x="351" y="143"/>
                        </a:lnTo>
                        <a:lnTo>
                          <a:pt x="357" y="138"/>
                        </a:lnTo>
                        <a:lnTo>
                          <a:pt x="357" y="133"/>
                        </a:lnTo>
                        <a:lnTo>
                          <a:pt x="363" y="127"/>
                        </a:lnTo>
                        <a:lnTo>
                          <a:pt x="363" y="117"/>
                        </a:lnTo>
                        <a:lnTo>
                          <a:pt x="368" y="111"/>
                        </a:lnTo>
                        <a:lnTo>
                          <a:pt x="368" y="106"/>
                        </a:lnTo>
                        <a:lnTo>
                          <a:pt x="374" y="101"/>
                        </a:lnTo>
                        <a:lnTo>
                          <a:pt x="374" y="95"/>
                        </a:lnTo>
                        <a:lnTo>
                          <a:pt x="380" y="90"/>
                        </a:lnTo>
                        <a:lnTo>
                          <a:pt x="380" y="80"/>
                        </a:lnTo>
                        <a:lnTo>
                          <a:pt x="385" y="69"/>
                        </a:lnTo>
                        <a:lnTo>
                          <a:pt x="385" y="64"/>
                        </a:lnTo>
                        <a:lnTo>
                          <a:pt x="391" y="58"/>
                        </a:lnTo>
                        <a:lnTo>
                          <a:pt x="391" y="53"/>
                        </a:lnTo>
                        <a:lnTo>
                          <a:pt x="397" y="48"/>
                        </a:lnTo>
                        <a:lnTo>
                          <a:pt x="397" y="37"/>
                        </a:lnTo>
                        <a:lnTo>
                          <a:pt x="403" y="32"/>
                        </a:lnTo>
                        <a:lnTo>
                          <a:pt x="403" y="26"/>
                        </a:lnTo>
                        <a:lnTo>
                          <a:pt x="408" y="21"/>
                        </a:lnTo>
                        <a:lnTo>
                          <a:pt x="408" y="16"/>
                        </a:lnTo>
                        <a:lnTo>
                          <a:pt x="414" y="10"/>
                        </a:lnTo>
                        <a:lnTo>
                          <a:pt x="414" y="5"/>
                        </a:lnTo>
                        <a:lnTo>
                          <a:pt x="42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</p:grpSp>
            <p:grpSp>
              <p:nvGrpSpPr>
                <p:cNvPr id="110975" name="Group 383">
                  <a:extLst>
                    <a:ext uri="{FF2B5EF4-FFF2-40B4-BE49-F238E27FC236}">
                      <a16:creationId xmlns:a16="http://schemas.microsoft.com/office/drawing/2014/main" id="{FBC6A704-7676-7C9D-9D55-59DDB732FE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89" y="2642"/>
                  <a:ext cx="1134" cy="735"/>
                  <a:chOff x="2358" y="1423"/>
                  <a:chExt cx="2461" cy="1812"/>
                </a:xfrm>
              </p:grpSpPr>
              <p:sp>
                <p:nvSpPr>
                  <p:cNvPr id="110976" name="Freeform 384">
                    <a:extLst>
                      <a:ext uri="{FF2B5EF4-FFF2-40B4-BE49-F238E27FC236}">
                        <a16:creationId xmlns:a16="http://schemas.microsoft.com/office/drawing/2014/main" id="{0AECE3AB-F20F-52DC-28CE-7AA9774784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58" y="1503"/>
                    <a:ext cx="442" cy="818"/>
                  </a:xfrm>
                  <a:custGeom>
                    <a:avLst/>
                    <a:gdLst>
                      <a:gd name="T0" fmla="*/ 6 w 442"/>
                      <a:gd name="T1" fmla="*/ 808 h 818"/>
                      <a:gd name="T2" fmla="*/ 11 w 442"/>
                      <a:gd name="T3" fmla="*/ 792 h 818"/>
                      <a:gd name="T4" fmla="*/ 23 w 442"/>
                      <a:gd name="T5" fmla="*/ 770 h 818"/>
                      <a:gd name="T6" fmla="*/ 28 w 442"/>
                      <a:gd name="T7" fmla="*/ 754 h 818"/>
                      <a:gd name="T8" fmla="*/ 40 w 442"/>
                      <a:gd name="T9" fmla="*/ 728 h 818"/>
                      <a:gd name="T10" fmla="*/ 45 w 442"/>
                      <a:gd name="T11" fmla="*/ 712 h 818"/>
                      <a:gd name="T12" fmla="*/ 57 w 442"/>
                      <a:gd name="T13" fmla="*/ 691 h 818"/>
                      <a:gd name="T14" fmla="*/ 62 w 442"/>
                      <a:gd name="T15" fmla="*/ 675 h 818"/>
                      <a:gd name="T16" fmla="*/ 74 w 442"/>
                      <a:gd name="T17" fmla="*/ 653 h 818"/>
                      <a:gd name="T18" fmla="*/ 79 w 442"/>
                      <a:gd name="T19" fmla="*/ 632 h 818"/>
                      <a:gd name="T20" fmla="*/ 91 w 442"/>
                      <a:gd name="T21" fmla="*/ 616 h 818"/>
                      <a:gd name="T22" fmla="*/ 96 w 442"/>
                      <a:gd name="T23" fmla="*/ 595 h 818"/>
                      <a:gd name="T24" fmla="*/ 108 w 442"/>
                      <a:gd name="T25" fmla="*/ 579 h 818"/>
                      <a:gd name="T26" fmla="*/ 113 w 442"/>
                      <a:gd name="T27" fmla="*/ 558 h 818"/>
                      <a:gd name="T28" fmla="*/ 125 w 442"/>
                      <a:gd name="T29" fmla="*/ 542 h 818"/>
                      <a:gd name="T30" fmla="*/ 130 w 442"/>
                      <a:gd name="T31" fmla="*/ 521 h 818"/>
                      <a:gd name="T32" fmla="*/ 142 w 442"/>
                      <a:gd name="T33" fmla="*/ 505 h 818"/>
                      <a:gd name="T34" fmla="*/ 147 w 442"/>
                      <a:gd name="T35" fmla="*/ 483 h 818"/>
                      <a:gd name="T36" fmla="*/ 159 w 442"/>
                      <a:gd name="T37" fmla="*/ 467 h 818"/>
                      <a:gd name="T38" fmla="*/ 164 w 442"/>
                      <a:gd name="T39" fmla="*/ 446 h 818"/>
                      <a:gd name="T40" fmla="*/ 176 w 442"/>
                      <a:gd name="T41" fmla="*/ 430 h 818"/>
                      <a:gd name="T42" fmla="*/ 181 w 442"/>
                      <a:gd name="T43" fmla="*/ 409 h 818"/>
                      <a:gd name="T44" fmla="*/ 193 w 442"/>
                      <a:gd name="T45" fmla="*/ 393 h 818"/>
                      <a:gd name="T46" fmla="*/ 198 w 442"/>
                      <a:gd name="T47" fmla="*/ 377 h 818"/>
                      <a:gd name="T48" fmla="*/ 210 w 442"/>
                      <a:gd name="T49" fmla="*/ 356 h 818"/>
                      <a:gd name="T50" fmla="*/ 221 w 442"/>
                      <a:gd name="T51" fmla="*/ 340 h 818"/>
                      <a:gd name="T52" fmla="*/ 227 w 442"/>
                      <a:gd name="T53" fmla="*/ 319 h 818"/>
                      <a:gd name="T54" fmla="*/ 244 w 442"/>
                      <a:gd name="T55" fmla="*/ 292 h 818"/>
                      <a:gd name="T56" fmla="*/ 255 w 442"/>
                      <a:gd name="T57" fmla="*/ 271 h 818"/>
                      <a:gd name="T58" fmla="*/ 266 w 442"/>
                      <a:gd name="T59" fmla="*/ 250 h 818"/>
                      <a:gd name="T60" fmla="*/ 278 w 442"/>
                      <a:gd name="T61" fmla="*/ 234 h 818"/>
                      <a:gd name="T62" fmla="*/ 289 w 442"/>
                      <a:gd name="T63" fmla="*/ 212 h 818"/>
                      <a:gd name="T64" fmla="*/ 295 w 442"/>
                      <a:gd name="T65" fmla="*/ 196 h 818"/>
                      <a:gd name="T66" fmla="*/ 312 w 442"/>
                      <a:gd name="T67" fmla="*/ 175 h 818"/>
                      <a:gd name="T68" fmla="*/ 317 w 442"/>
                      <a:gd name="T69" fmla="*/ 159 h 818"/>
                      <a:gd name="T70" fmla="*/ 334 w 442"/>
                      <a:gd name="T71" fmla="*/ 133 h 818"/>
                      <a:gd name="T72" fmla="*/ 351 w 442"/>
                      <a:gd name="T73" fmla="*/ 106 h 818"/>
                      <a:gd name="T74" fmla="*/ 368 w 442"/>
                      <a:gd name="T75" fmla="*/ 90 h 818"/>
                      <a:gd name="T76" fmla="*/ 385 w 442"/>
                      <a:gd name="T77" fmla="*/ 69 h 818"/>
                      <a:gd name="T78" fmla="*/ 402 w 442"/>
                      <a:gd name="T79" fmla="*/ 48 h 818"/>
                      <a:gd name="T80" fmla="*/ 414 w 442"/>
                      <a:gd name="T81" fmla="*/ 32 h 818"/>
                      <a:gd name="T82" fmla="*/ 431 w 442"/>
                      <a:gd name="T83" fmla="*/ 10 h 8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442" h="818">
                        <a:moveTo>
                          <a:pt x="0" y="818"/>
                        </a:moveTo>
                        <a:lnTo>
                          <a:pt x="0" y="813"/>
                        </a:lnTo>
                        <a:lnTo>
                          <a:pt x="6" y="808"/>
                        </a:lnTo>
                        <a:lnTo>
                          <a:pt x="6" y="802"/>
                        </a:lnTo>
                        <a:lnTo>
                          <a:pt x="11" y="797"/>
                        </a:lnTo>
                        <a:lnTo>
                          <a:pt x="11" y="792"/>
                        </a:lnTo>
                        <a:lnTo>
                          <a:pt x="17" y="786"/>
                        </a:lnTo>
                        <a:lnTo>
                          <a:pt x="17" y="776"/>
                        </a:lnTo>
                        <a:lnTo>
                          <a:pt x="23" y="770"/>
                        </a:lnTo>
                        <a:lnTo>
                          <a:pt x="23" y="765"/>
                        </a:lnTo>
                        <a:lnTo>
                          <a:pt x="28" y="760"/>
                        </a:lnTo>
                        <a:lnTo>
                          <a:pt x="28" y="754"/>
                        </a:lnTo>
                        <a:lnTo>
                          <a:pt x="34" y="744"/>
                        </a:lnTo>
                        <a:lnTo>
                          <a:pt x="34" y="733"/>
                        </a:lnTo>
                        <a:lnTo>
                          <a:pt x="40" y="728"/>
                        </a:lnTo>
                        <a:lnTo>
                          <a:pt x="40" y="723"/>
                        </a:lnTo>
                        <a:lnTo>
                          <a:pt x="45" y="717"/>
                        </a:lnTo>
                        <a:lnTo>
                          <a:pt x="45" y="712"/>
                        </a:lnTo>
                        <a:lnTo>
                          <a:pt x="51" y="707"/>
                        </a:lnTo>
                        <a:lnTo>
                          <a:pt x="51" y="696"/>
                        </a:lnTo>
                        <a:lnTo>
                          <a:pt x="57" y="691"/>
                        </a:lnTo>
                        <a:lnTo>
                          <a:pt x="57" y="685"/>
                        </a:lnTo>
                        <a:lnTo>
                          <a:pt x="62" y="680"/>
                        </a:lnTo>
                        <a:lnTo>
                          <a:pt x="62" y="675"/>
                        </a:lnTo>
                        <a:lnTo>
                          <a:pt x="68" y="669"/>
                        </a:lnTo>
                        <a:lnTo>
                          <a:pt x="68" y="664"/>
                        </a:lnTo>
                        <a:lnTo>
                          <a:pt x="74" y="653"/>
                        </a:lnTo>
                        <a:lnTo>
                          <a:pt x="74" y="643"/>
                        </a:lnTo>
                        <a:lnTo>
                          <a:pt x="79" y="637"/>
                        </a:lnTo>
                        <a:lnTo>
                          <a:pt x="79" y="632"/>
                        </a:lnTo>
                        <a:lnTo>
                          <a:pt x="85" y="627"/>
                        </a:lnTo>
                        <a:lnTo>
                          <a:pt x="85" y="622"/>
                        </a:lnTo>
                        <a:lnTo>
                          <a:pt x="91" y="616"/>
                        </a:lnTo>
                        <a:lnTo>
                          <a:pt x="91" y="606"/>
                        </a:lnTo>
                        <a:lnTo>
                          <a:pt x="96" y="600"/>
                        </a:lnTo>
                        <a:lnTo>
                          <a:pt x="96" y="595"/>
                        </a:lnTo>
                        <a:lnTo>
                          <a:pt x="102" y="590"/>
                        </a:lnTo>
                        <a:lnTo>
                          <a:pt x="102" y="584"/>
                        </a:lnTo>
                        <a:lnTo>
                          <a:pt x="108" y="579"/>
                        </a:lnTo>
                        <a:lnTo>
                          <a:pt x="108" y="568"/>
                        </a:lnTo>
                        <a:lnTo>
                          <a:pt x="113" y="563"/>
                        </a:lnTo>
                        <a:lnTo>
                          <a:pt x="113" y="558"/>
                        </a:lnTo>
                        <a:lnTo>
                          <a:pt x="119" y="552"/>
                        </a:lnTo>
                        <a:lnTo>
                          <a:pt x="119" y="547"/>
                        </a:lnTo>
                        <a:lnTo>
                          <a:pt x="125" y="542"/>
                        </a:lnTo>
                        <a:lnTo>
                          <a:pt x="125" y="537"/>
                        </a:lnTo>
                        <a:lnTo>
                          <a:pt x="130" y="531"/>
                        </a:lnTo>
                        <a:lnTo>
                          <a:pt x="130" y="521"/>
                        </a:lnTo>
                        <a:lnTo>
                          <a:pt x="136" y="515"/>
                        </a:lnTo>
                        <a:lnTo>
                          <a:pt x="136" y="510"/>
                        </a:lnTo>
                        <a:lnTo>
                          <a:pt x="142" y="505"/>
                        </a:lnTo>
                        <a:lnTo>
                          <a:pt x="142" y="499"/>
                        </a:lnTo>
                        <a:lnTo>
                          <a:pt x="147" y="494"/>
                        </a:lnTo>
                        <a:lnTo>
                          <a:pt x="147" y="483"/>
                        </a:lnTo>
                        <a:lnTo>
                          <a:pt x="153" y="478"/>
                        </a:lnTo>
                        <a:lnTo>
                          <a:pt x="153" y="473"/>
                        </a:lnTo>
                        <a:lnTo>
                          <a:pt x="159" y="467"/>
                        </a:lnTo>
                        <a:lnTo>
                          <a:pt x="159" y="462"/>
                        </a:lnTo>
                        <a:lnTo>
                          <a:pt x="164" y="457"/>
                        </a:lnTo>
                        <a:lnTo>
                          <a:pt x="164" y="446"/>
                        </a:lnTo>
                        <a:lnTo>
                          <a:pt x="170" y="441"/>
                        </a:lnTo>
                        <a:lnTo>
                          <a:pt x="170" y="436"/>
                        </a:lnTo>
                        <a:lnTo>
                          <a:pt x="176" y="430"/>
                        </a:lnTo>
                        <a:lnTo>
                          <a:pt x="176" y="425"/>
                        </a:lnTo>
                        <a:lnTo>
                          <a:pt x="181" y="420"/>
                        </a:lnTo>
                        <a:lnTo>
                          <a:pt x="181" y="409"/>
                        </a:lnTo>
                        <a:lnTo>
                          <a:pt x="187" y="404"/>
                        </a:lnTo>
                        <a:lnTo>
                          <a:pt x="187" y="398"/>
                        </a:lnTo>
                        <a:lnTo>
                          <a:pt x="193" y="393"/>
                        </a:lnTo>
                        <a:lnTo>
                          <a:pt x="193" y="388"/>
                        </a:lnTo>
                        <a:lnTo>
                          <a:pt x="198" y="382"/>
                        </a:lnTo>
                        <a:lnTo>
                          <a:pt x="198" y="377"/>
                        </a:lnTo>
                        <a:lnTo>
                          <a:pt x="204" y="372"/>
                        </a:lnTo>
                        <a:lnTo>
                          <a:pt x="204" y="361"/>
                        </a:lnTo>
                        <a:lnTo>
                          <a:pt x="210" y="356"/>
                        </a:lnTo>
                        <a:lnTo>
                          <a:pt x="215" y="351"/>
                        </a:lnTo>
                        <a:lnTo>
                          <a:pt x="215" y="345"/>
                        </a:lnTo>
                        <a:lnTo>
                          <a:pt x="221" y="340"/>
                        </a:lnTo>
                        <a:lnTo>
                          <a:pt x="221" y="329"/>
                        </a:lnTo>
                        <a:lnTo>
                          <a:pt x="227" y="324"/>
                        </a:lnTo>
                        <a:lnTo>
                          <a:pt x="227" y="319"/>
                        </a:lnTo>
                        <a:lnTo>
                          <a:pt x="238" y="308"/>
                        </a:lnTo>
                        <a:lnTo>
                          <a:pt x="238" y="297"/>
                        </a:lnTo>
                        <a:lnTo>
                          <a:pt x="244" y="292"/>
                        </a:lnTo>
                        <a:lnTo>
                          <a:pt x="244" y="287"/>
                        </a:lnTo>
                        <a:lnTo>
                          <a:pt x="255" y="276"/>
                        </a:lnTo>
                        <a:lnTo>
                          <a:pt x="255" y="271"/>
                        </a:lnTo>
                        <a:lnTo>
                          <a:pt x="261" y="265"/>
                        </a:lnTo>
                        <a:lnTo>
                          <a:pt x="261" y="255"/>
                        </a:lnTo>
                        <a:lnTo>
                          <a:pt x="266" y="250"/>
                        </a:lnTo>
                        <a:lnTo>
                          <a:pt x="272" y="244"/>
                        </a:lnTo>
                        <a:lnTo>
                          <a:pt x="272" y="239"/>
                        </a:lnTo>
                        <a:lnTo>
                          <a:pt x="278" y="234"/>
                        </a:lnTo>
                        <a:lnTo>
                          <a:pt x="278" y="223"/>
                        </a:lnTo>
                        <a:lnTo>
                          <a:pt x="283" y="218"/>
                        </a:lnTo>
                        <a:lnTo>
                          <a:pt x="289" y="212"/>
                        </a:lnTo>
                        <a:lnTo>
                          <a:pt x="289" y="207"/>
                        </a:lnTo>
                        <a:lnTo>
                          <a:pt x="295" y="202"/>
                        </a:lnTo>
                        <a:lnTo>
                          <a:pt x="295" y="196"/>
                        </a:lnTo>
                        <a:lnTo>
                          <a:pt x="306" y="186"/>
                        </a:lnTo>
                        <a:lnTo>
                          <a:pt x="306" y="180"/>
                        </a:lnTo>
                        <a:lnTo>
                          <a:pt x="312" y="175"/>
                        </a:lnTo>
                        <a:lnTo>
                          <a:pt x="312" y="170"/>
                        </a:lnTo>
                        <a:lnTo>
                          <a:pt x="317" y="165"/>
                        </a:lnTo>
                        <a:lnTo>
                          <a:pt x="317" y="159"/>
                        </a:lnTo>
                        <a:lnTo>
                          <a:pt x="323" y="154"/>
                        </a:lnTo>
                        <a:lnTo>
                          <a:pt x="334" y="143"/>
                        </a:lnTo>
                        <a:lnTo>
                          <a:pt x="334" y="133"/>
                        </a:lnTo>
                        <a:lnTo>
                          <a:pt x="340" y="127"/>
                        </a:lnTo>
                        <a:lnTo>
                          <a:pt x="351" y="117"/>
                        </a:lnTo>
                        <a:lnTo>
                          <a:pt x="351" y="106"/>
                        </a:lnTo>
                        <a:lnTo>
                          <a:pt x="357" y="101"/>
                        </a:lnTo>
                        <a:lnTo>
                          <a:pt x="363" y="95"/>
                        </a:lnTo>
                        <a:lnTo>
                          <a:pt x="368" y="90"/>
                        </a:lnTo>
                        <a:lnTo>
                          <a:pt x="368" y="85"/>
                        </a:lnTo>
                        <a:lnTo>
                          <a:pt x="374" y="79"/>
                        </a:lnTo>
                        <a:lnTo>
                          <a:pt x="385" y="69"/>
                        </a:lnTo>
                        <a:lnTo>
                          <a:pt x="385" y="64"/>
                        </a:lnTo>
                        <a:lnTo>
                          <a:pt x="391" y="58"/>
                        </a:lnTo>
                        <a:lnTo>
                          <a:pt x="402" y="48"/>
                        </a:lnTo>
                        <a:lnTo>
                          <a:pt x="402" y="42"/>
                        </a:lnTo>
                        <a:lnTo>
                          <a:pt x="408" y="37"/>
                        </a:lnTo>
                        <a:lnTo>
                          <a:pt x="414" y="32"/>
                        </a:lnTo>
                        <a:lnTo>
                          <a:pt x="419" y="26"/>
                        </a:lnTo>
                        <a:lnTo>
                          <a:pt x="431" y="16"/>
                        </a:lnTo>
                        <a:lnTo>
                          <a:pt x="431" y="10"/>
                        </a:lnTo>
                        <a:lnTo>
                          <a:pt x="436" y="5"/>
                        </a:lnTo>
                        <a:lnTo>
                          <a:pt x="442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77" name="Freeform 385">
                    <a:extLst>
                      <a:ext uri="{FF2B5EF4-FFF2-40B4-BE49-F238E27FC236}">
                        <a16:creationId xmlns:a16="http://schemas.microsoft.com/office/drawing/2014/main" id="{D01806C6-15D6-76D7-5620-F3C9298081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0" y="1423"/>
                    <a:ext cx="612" cy="521"/>
                  </a:xfrm>
                  <a:custGeom>
                    <a:avLst/>
                    <a:gdLst>
                      <a:gd name="T0" fmla="*/ 11 w 612"/>
                      <a:gd name="T1" fmla="*/ 69 h 521"/>
                      <a:gd name="T2" fmla="*/ 28 w 612"/>
                      <a:gd name="T3" fmla="*/ 53 h 521"/>
                      <a:gd name="T4" fmla="*/ 45 w 612"/>
                      <a:gd name="T5" fmla="*/ 43 h 521"/>
                      <a:gd name="T6" fmla="*/ 62 w 612"/>
                      <a:gd name="T7" fmla="*/ 32 h 521"/>
                      <a:gd name="T8" fmla="*/ 79 w 612"/>
                      <a:gd name="T9" fmla="*/ 21 h 521"/>
                      <a:gd name="T10" fmla="*/ 97 w 612"/>
                      <a:gd name="T11" fmla="*/ 11 h 521"/>
                      <a:gd name="T12" fmla="*/ 114 w 612"/>
                      <a:gd name="T13" fmla="*/ 5 h 521"/>
                      <a:gd name="T14" fmla="*/ 131 w 612"/>
                      <a:gd name="T15" fmla="*/ 0 h 521"/>
                      <a:gd name="T16" fmla="*/ 148 w 612"/>
                      <a:gd name="T17" fmla="*/ 0 h 521"/>
                      <a:gd name="T18" fmla="*/ 165 w 612"/>
                      <a:gd name="T19" fmla="*/ 0 h 521"/>
                      <a:gd name="T20" fmla="*/ 182 w 612"/>
                      <a:gd name="T21" fmla="*/ 0 h 521"/>
                      <a:gd name="T22" fmla="*/ 199 w 612"/>
                      <a:gd name="T23" fmla="*/ 0 h 521"/>
                      <a:gd name="T24" fmla="*/ 216 w 612"/>
                      <a:gd name="T25" fmla="*/ 5 h 521"/>
                      <a:gd name="T26" fmla="*/ 233 w 612"/>
                      <a:gd name="T27" fmla="*/ 11 h 521"/>
                      <a:gd name="T28" fmla="*/ 250 w 612"/>
                      <a:gd name="T29" fmla="*/ 16 h 521"/>
                      <a:gd name="T30" fmla="*/ 267 w 612"/>
                      <a:gd name="T31" fmla="*/ 27 h 521"/>
                      <a:gd name="T32" fmla="*/ 284 w 612"/>
                      <a:gd name="T33" fmla="*/ 37 h 521"/>
                      <a:gd name="T34" fmla="*/ 301 w 612"/>
                      <a:gd name="T35" fmla="*/ 48 h 521"/>
                      <a:gd name="T36" fmla="*/ 318 w 612"/>
                      <a:gd name="T37" fmla="*/ 64 h 521"/>
                      <a:gd name="T38" fmla="*/ 335 w 612"/>
                      <a:gd name="T39" fmla="*/ 74 h 521"/>
                      <a:gd name="T40" fmla="*/ 352 w 612"/>
                      <a:gd name="T41" fmla="*/ 96 h 521"/>
                      <a:gd name="T42" fmla="*/ 369 w 612"/>
                      <a:gd name="T43" fmla="*/ 112 h 521"/>
                      <a:gd name="T44" fmla="*/ 386 w 612"/>
                      <a:gd name="T45" fmla="*/ 133 h 521"/>
                      <a:gd name="T46" fmla="*/ 403 w 612"/>
                      <a:gd name="T47" fmla="*/ 154 h 521"/>
                      <a:gd name="T48" fmla="*/ 414 w 612"/>
                      <a:gd name="T49" fmla="*/ 170 h 521"/>
                      <a:gd name="T50" fmla="*/ 431 w 612"/>
                      <a:gd name="T51" fmla="*/ 197 h 521"/>
                      <a:gd name="T52" fmla="*/ 448 w 612"/>
                      <a:gd name="T53" fmla="*/ 213 h 521"/>
                      <a:gd name="T54" fmla="*/ 459 w 612"/>
                      <a:gd name="T55" fmla="*/ 234 h 521"/>
                      <a:gd name="T56" fmla="*/ 471 w 612"/>
                      <a:gd name="T57" fmla="*/ 250 h 521"/>
                      <a:gd name="T58" fmla="*/ 482 w 612"/>
                      <a:gd name="T59" fmla="*/ 271 h 521"/>
                      <a:gd name="T60" fmla="*/ 493 w 612"/>
                      <a:gd name="T61" fmla="*/ 287 h 521"/>
                      <a:gd name="T62" fmla="*/ 505 w 612"/>
                      <a:gd name="T63" fmla="*/ 314 h 521"/>
                      <a:gd name="T64" fmla="*/ 516 w 612"/>
                      <a:gd name="T65" fmla="*/ 330 h 521"/>
                      <a:gd name="T66" fmla="*/ 533 w 612"/>
                      <a:gd name="T67" fmla="*/ 356 h 521"/>
                      <a:gd name="T68" fmla="*/ 539 w 612"/>
                      <a:gd name="T69" fmla="*/ 372 h 521"/>
                      <a:gd name="T70" fmla="*/ 550 w 612"/>
                      <a:gd name="T71" fmla="*/ 393 h 521"/>
                      <a:gd name="T72" fmla="*/ 561 w 612"/>
                      <a:gd name="T73" fmla="*/ 409 h 521"/>
                      <a:gd name="T74" fmla="*/ 567 w 612"/>
                      <a:gd name="T75" fmla="*/ 431 h 521"/>
                      <a:gd name="T76" fmla="*/ 584 w 612"/>
                      <a:gd name="T77" fmla="*/ 457 h 521"/>
                      <a:gd name="T78" fmla="*/ 590 w 612"/>
                      <a:gd name="T79" fmla="*/ 473 h 521"/>
                      <a:gd name="T80" fmla="*/ 601 w 612"/>
                      <a:gd name="T81" fmla="*/ 489 h 521"/>
                      <a:gd name="T82" fmla="*/ 607 w 612"/>
                      <a:gd name="T83" fmla="*/ 510 h 5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612" h="521">
                        <a:moveTo>
                          <a:pt x="0" y="80"/>
                        </a:moveTo>
                        <a:lnTo>
                          <a:pt x="6" y="74"/>
                        </a:lnTo>
                        <a:lnTo>
                          <a:pt x="11" y="69"/>
                        </a:lnTo>
                        <a:lnTo>
                          <a:pt x="17" y="64"/>
                        </a:lnTo>
                        <a:lnTo>
                          <a:pt x="23" y="59"/>
                        </a:lnTo>
                        <a:lnTo>
                          <a:pt x="28" y="53"/>
                        </a:lnTo>
                        <a:lnTo>
                          <a:pt x="34" y="53"/>
                        </a:lnTo>
                        <a:lnTo>
                          <a:pt x="40" y="48"/>
                        </a:lnTo>
                        <a:lnTo>
                          <a:pt x="45" y="43"/>
                        </a:lnTo>
                        <a:lnTo>
                          <a:pt x="51" y="37"/>
                        </a:lnTo>
                        <a:lnTo>
                          <a:pt x="57" y="32"/>
                        </a:lnTo>
                        <a:lnTo>
                          <a:pt x="62" y="32"/>
                        </a:lnTo>
                        <a:lnTo>
                          <a:pt x="68" y="27"/>
                        </a:lnTo>
                        <a:lnTo>
                          <a:pt x="74" y="27"/>
                        </a:lnTo>
                        <a:lnTo>
                          <a:pt x="79" y="21"/>
                        </a:lnTo>
                        <a:lnTo>
                          <a:pt x="85" y="16"/>
                        </a:lnTo>
                        <a:lnTo>
                          <a:pt x="91" y="16"/>
                        </a:lnTo>
                        <a:lnTo>
                          <a:pt x="97" y="11"/>
                        </a:lnTo>
                        <a:lnTo>
                          <a:pt x="102" y="11"/>
                        </a:lnTo>
                        <a:lnTo>
                          <a:pt x="108" y="11"/>
                        </a:lnTo>
                        <a:lnTo>
                          <a:pt x="114" y="5"/>
                        </a:lnTo>
                        <a:lnTo>
                          <a:pt x="119" y="5"/>
                        </a:lnTo>
                        <a:lnTo>
                          <a:pt x="125" y="5"/>
                        </a:lnTo>
                        <a:lnTo>
                          <a:pt x="131" y="0"/>
                        </a:lnTo>
                        <a:lnTo>
                          <a:pt x="136" y="0"/>
                        </a:lnTo>
                        <a:lnTo>
                          <a:pt x="142" y="0"/>
                        </a:lnTo>
                        <a:lnTo>
                          <a:pt x="148" y="0"/>
                        </a:lnTo>
                        <a:lnTo>
                          <a:pt x="153" y="0"/>
                        </a:lnTo>
                        <a:lnTo>
                          <a:pt x="159" y="0"/>
                        </a:lnTo>
                        <a:lnTo>
                          <a:pt x="165" y="0"/>
                        </a:lnTo>
                        <a:lnTo>
                          <a:pt x="170" y="0"/>
                        </a:lnTo>
                        <a:lnTo>
                          <a:pt x="176" y="0"/>
                        </a:lnTo>
                        <a:lnTo>
                          <a:pt x="182" y="0"/>
                        </a:lnTo>
                        <a:lnTo>
                          <a:pt x="187" y="0"/>
                        </a:lnTo>
                        <a:lnTo>
                          <a:pt x="193" y="0"/>
                        </a:lnTo>
                        <a:lnTo>
                          <a:pt x="199" y="0"/>
                        </a:lnTo>
                        <a:lnTo>
                          <a:pt x="204" y="0"/>
                        </a:lnTo>
                        <a:lnTo>
                          <a:pt x="210" y="0"/>
                        </a:lnTo>
                        <a:lnTo>
                          <a:pt x="216" y="5"/>
                        </a:lnTo>
                        <a:lnTo>
                          <a:pt x="221" y="5"/>
                        </a:lnTo>
                        <a:lnTo>
                          <a:pt x="227" y="5"/>
                        </a:lnTo>
                        <a:lnTo>
                          <a:pt x="233" y="11"/>
                        </a:lnTo>
                        <a:lnTo>
                          <a:pt x="238" y="11"/>
                        </a:lnTo>
                        <a:lnTo>
                          <a:pt x="244" y="16"/>
                        </a:lnTo>
                        <a:lnTo>
                          <a:pt x="250" y="16"/>
                        </a:lnTo>
                        <a:lnTo>
                          <a:pt x="255" y="21"/>
                        </a:lnTo>
                        <a:lnTo>
                          <a:pt x="261" y="21"/>
                        </a:lnTo>
                        <a:lnTo>
                          <a:pt x="267" y="27"/>
                        </a:lnTo>
                        <a:lnTo>
                          <a:pt x="272" y="27"/>
                        </a:lnTo>
                        <a:lnTo>
                          <a:pt x="278" y="32"/>
                        </a:lnTo>
                        <a:lnTo>
                          <a:pt x="284" y="37"/>
                        </a:lnTo>
                        <a:lnTo>
                          <a:pt x="289" y="43"/>
                        </a:lnTo>
                        <a:lnTo>
                          <a:pt x="295" y="43"/>
                        </a:lnTo>
                        <a:lnTo>
                          <a:pt x="301" y="48"/>
                        </a:lnTo>
                        <a:lnTo>
                          <a:pt x="306" y="53"/>
                        </a:lnTo>
                        <a:lnTo>
                          <a:pt x="312" y="59"/>
                        </a:lnTo>
                        <a:lnTo>
                          <a:pt x="318" y="64"/>
                        </a:lnTo>
                        <a:lnTo>
                          <a:pt x="323" y="69"/>
                        </a:lnTo>
                        <a:lnTo>
                          <a:pt x="329" y="74"/>
                        </a:lnTo>
                        <a:lnTo>
                          <a:pt x="335" y="74"/>
                        </a:lnTo>
                        <a:lnTo>
                          <a:pt x="340" y="85"/>
                        </a:lnTo>
                        <a:lnTo>
                          <a:pt x="346" y="90"/>
                        </a:lnTo>
                        <a:lnTo>
                          <a:pt x="352" y="96"/>
                        </a:lnTo>
                        <a:lnTo>
                          <a:pt x="357" y="101"/>
                        </a:lnTo>
                        <a:lnTo>
                          <a:pt x="363" y="106"/>
                        </a:lnTo>
                        <a:lnTo>
                          <a:pt x="369" y="112"/>
                        </a:lnTo>
                        <a:lnTo>
                          <a:pt x="380" y="122"/>
                        </a:lnTo>
                        <a:lnTo>
                          <a:pt x="380" y="128"/>
                        </a:lnTo>
                        <a:lnTo>
                          <a:pt x="386" y="133"/>
                        </a:lnTo>
                        <a:lnTo>
                          <a:pt x="397" y="144"/>
                        </a:lnTo>
                        <a:lnTo>
                          <a:pt x="397" y="149"/>
                        </a:lnTo>
                        <a:lnTo>
                          <a:pt x="403" y="154"/>
                        </a:lnTo>
                        <a:lnTo>
                          <a:pt x="408" y="159"/>
                        </a:lnTo>
                        <a:lnTo>
                          <a:pt x="414" y="165"/>
                        </a:lnTo>
                        <a:lnTo>
                          <a:pt x="414" y="170"/>
                        </a:lnTo>
                        <a:lnTo>
                          <a:pt x="420" y="175"/>
                        </a:lnTo>
                        <a:lnTo>
                          <a:pt x="431" y="186"/>
                        </a:lnTo>
                        <a:lnTo>
                          <a:pt x="431" y="197"/>
                        </a:lnTo>
                        <a:lnTo>
                          <a:pt x="437" y="202"/>
                        </a:lnTo>
                        <a:lnTo>
                          <a:pt x="442" y="207"/>
                        </a:lnTo>
                        <a:lnTo>
                          <a:pt x="448" y="213"/>
                        </a:lnTo>
                        <a:lnTo>
                          <a:pt x="448" y="223"/>
                        </a:lnTo>
                        <a:lnTo>
                          <a:pt x="454" y="229"/>
                        </a:lnTo>
                        <a:lnTo>
                          <a:pt x="459" y="234"/>
                        </a:lnTo>
                        <a:lnTo>
                          <a:pt x="465" y="239"/>
                        </a:lnTo>
                        <a:lnTo>
                          <a:pt x="465" y="245"/>
                        </a:lnTo>
                        <a:lnTo>
                          <a:pt x="471" y="250"/>
                        </a:lnTo>
                        <a:lnTo>
                          <a:pt x="471" y="255"/>
                        </a:lnTo>
                        <a:lnTo>
                          <a:pt x="482" y="266"/>
                        </a:lnTo>
                        <a:lnTo>
                          <a:pt x="482" y="271"/>
                        </a:lnTo>
                        <a:lnTo>
                          <a:pt x="488" y="276"/>
                        </a:lnTo>
                        <a:lnTo>
                          <a:pt x="488" y="282"/>
                        </a:lnTo>
                        <a:lnTo>
                          <a:pt x="493" y="287"/>
                        </a:lnTo>
                        <a:lnTo>
                          <a:pt x="493" y="292"/>
                        </a:lnTo>
                        <a:lnTo>
                          <a:pt x="505" y="303"/>
                        </a:lnTo>
                        <a:lnTo>
                          <a:pt x="505" y="314"/>
                        </a:lnTo>
                        <a:lnTo>
                          <a:pt x="510" y="319"/>
                        </a:lnTo>
                        <a:lnTo>
                          <a:pt x="510" y="324"/>
                        </a:lnTo>
                        <a:lnTo>
                          <a:pt x="516" y="330"/>
                        </a:lnTo>
                        <a:lnTo>
                          <a:pt x="522" y="335"/>
                        </a:lnTo>
                        <a:lnTo>
                          <a:pt x="522" y="345"/>
                        </a:lnTo>
                        <a:lnTo>
                          <a:pt x="533" y="356"/>
                        </a:lnTo>
                        <a:lnTo>
                          <a:pt x="533" y="361"/>
                        </a:lnTo>
                        <a:lnTo>
                          <a:pt x="539" y="367"/>
                        </a:lnTo>
                        <a:lnTo>
                          <a:pt x="539" y="372"/>
                        </a:lnTo>
                        <a:lnTo>
                          <a:pt x="544" y="377"/>
                        </a:lnTo>
                        <a:lnTo>
                          <a:pt x="544" y="388"/>
                        </a:lnTo>
                        <a:lnTo>
                          <a:pt x="550" y="393"/>
                        </a:lnTo>
                        <a:lnTo>
                          <a:pt x="556" y="399"/>
                        </a:lnTo>
                        <a:lnTo>
                          <a:pt x="556" y="404"/>
                        </a:lnTo>
                        <a:lnTo>
                          <a:pt x="561" y="409"/>
                        </a:lnTo>
                        <a:lnTo>
                          <a:pt x="561" y="420"/>
                        </a:lnTo>
                        <a:lnTo>
                          <a:pt x="567" y="425"/>
                        </a:lnTo>
                        <a:lnTo>
                          <a:pt x="567" y="431"/>
                        </a:lnTo>
                        <a:lnTo>
                          <a:pt x="578" y="441"/>
                        </a:lnTo>
                        <a:lnTo>
                          <a:pt x="578" y="452"/>
                        </a:lnTo>
                        <a:lnTo>
                          <a:pt x="584" y="457"/>
                        </a:lnTo>
                        <a:lnTo>
                          <a:pt x="584" y="462"/>
                        </a:lnTo>
                        <a:lnTo>
                          <a:pt x="590" y="468"/>
                        </a:lnTo>
                        <a:lnTo>
                          <a:pt x="590" y="473"/>
                        </a:lnTo>
                        <a:lnTo>
                          <a:pt x="595" y="478"/>
                        </a:lnTo>
                        <a:lnTo>
                          <a:pt x="595" y="484"/>
                        </a:lnTo>
                        <a:lnTo>
                          <a:pt x="601" y="489"/>
                        </a:lnTo>
                        <a:lnTo>
                          <a:pt x="601" y="500"/>
                        </a:lnTo>
                        <a:lnTo>
                          <a:pt x="607" y="505"/>
                        </a:lnTo>
                        <a:lnTo>
                          <a:pt x="607" y="510"/>
                        </a:lnTo>
                        <a:lnTo>
                          <a:pt x="612" y="516"/>
                        </a:lnTo>
                        <a:lnTo>
                          <a:pt x="612" y="521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78" name="Freeform 386">
                    <a:extLst>
                      <a:ext uri="{FF2B5EF4-FFF2-40B4-BE49-F238E27FC236}">
                        <a16:creationId xmlns:a16="http://schemas.microsoft.com/office/drawing/2014/main" id="{BB6955F7-B399-5993-46C3-6FE1846E90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412" y="1944"/>
                    <a:ext cx="363" cy="808"/>
                  </a:xfrm>
                  <a:custGeom>
                    <a:avLst/>
                    <a:gdLst>
                      <a:gd name="T0" fmla="*/ 6 w 363"/>
                      <a:gd name="T1" fmla="*/ 16 h 808"/>
                      <a:gd name="T2" fmla="*/ 17 w 363"/>
                      <a:gd name="T3" fmla="*/ 32 h 808"/>
                      <a:gd name="T4" fmla="*/ 23 w 363"/>
                      <a:gd name="T5" fmla="*/ 53 h 808"/>
                      <a:gd name="T6" fmla="*/ 34 w 363"/>
                      <a:gd name="T7" fmla="*/ 69 h 808"/>
                      <a:gd name="T8" fmla="*/ 40 w 363"/>
                      <a:gd name="T9" fmla="*/ 90 h 808"/>
                      <a:gd name="T10" fmla="*/ 51 w 363"/>
                      <a:gd name="T11" fmla="*/ 106 h 808"/>
                      <a:gd name="T12" fmla="*/ 57 w 363"/>
                      <a:gd name="T13" fmla="*/ 122 h 808"/>
                      <a:gd name="T14" fmla="*/ 68 w 363"/>
                      <a:gd name="T15" fmla="*/ 143 h 808"/>
                      <a:gd name="T16" fmla="*/ 74 w 363"/>
                      <a:gd name="T17" fmla="*/ 159 h 808"/>
                      <a:gd name="T18" fmla="*/ 85 w 363"/>
                      <a:gd name="T19" fmla="*/ 181 h 808"/>
                      <a:gd name="T20" fmla="*/ 91 w 363"/>
                      <a:gd name="T21" fmla="*/ 196 h 808"/>
                      <a:gd name="T22" fmla="*/ 102 w 363"/>
                      <a:gd name="T23" fmla="*/ 223 h 808"/>
                      <a:gd name="T24" fmla="*/ 108 w 363"/>
                      <a:gd name="T25" fmla="*/ 239 h 808"/>
                      <a:gd name="T26" fmla="*/ 120 w 363"/>
                      <a:gd name="T27" fmla="*/ 255 h 808"/>
                      <a:gd name="T28" fmla="*/ 125 w 363"/>
                      <a:gd name="T29" fmla="*/ 276 h 808"/>
                      <a:gd name="T30" fmla="*/ 137 w 363"/>
                      <a:gd name="T31" fmla="*/ 292 h 808"/>
                      <a:gd name="T32" fmla="*/ 142 w 363"/>
                      <a:gd name="T33" fmla="*/ 319 h 808"/>
                      <a:gd name="T34" fmla="*/ 154 w 363"/>
                      <a:gd name="T35" fmla="*/ 335 h 808"/>
                      <a:gd name="T36" fmla="*/ 159 w 363"/>
                      <a:gd name="T37" fmla="*/ 356 h 808"/>
                      <a:gd name="T38" fmla="*/ 171 w 363"/>
                      <a:gd name="T39" fmla="*/ 372 h 808"/>
                      <a:gd name="T40" fmla="*/ 176 w 363"/>
                      <a:gd name="T41" fmla="*/ 398 h 808"/>
                      <a:gd name="T42" fmla="*/ 188 w 363"/>
                      <a:gd name="T43" fmla="*/ 414 h 808"/>
                      <a:gd name="T44" fmla="*/ 193 w 363"/>
                      <a:gd name="T45" fmla="*/ 436 h 808"/>
                      <a:gd name="T46" fmla="*/ 205 w 363"/>
                      <a:gd name="T47" fmla="*/ 452 h 808"/>
                      <a:gd name="T48" fmla="*/ 210 w 363"/>
                      <a:gd name="T49" fmla="*/ 478 h 808"/>
                      <a:gd name="T50" fmla="*/ 222 w 363"/>
                      <a:gd name="T51" fmla="*/ 494 h 808"/>
                      <a:gd name="T52" fmla="*/ 227 w 363"/>
                      <a:gd name="T53" fmla="*/ 515 h 808"/>
                      <a:gd name="T54" fmla="*/ 239 w 363"/>
                      <a:gd name="T55" fmla="*/ 531 h 808"/>
                      <a:gd name="T56" fmla="*/ 244 w 363"/>
                      <a:gd name="T57" fmla="*/ 547 h 808"/>
                      <a:gd name="T58" fmla="*/ 256 w 363"/>
                      <a:gd name="T59" fmla="*/ 574 h 808"/>
                      <a:gd name="T60" fmla="*/ 261 w 363"/>
                      <a:gd name="T61" fmla="*/ 590 h 808"/>
                      <a:gd name="T62" fmla="*/ 273 w 363"/>
                      <a:gd name="T63" fmla="*/ 611 h 808"/>
                      <a:gd name="T64" fmla="*/ 278 w 363"/>
                      <a:gd name="T65" fmla="*/ 627 h 808"/>
                      <a:gd name="T66" fmla="*/ 290 w 363"/>
                      <a:gd name="T67" fmla="*/ 648 h 808"/>
                      <a:gd name="T68" fmla="*/ 295 w 363"/>
                      <a:gd name="T69" fmla="*/ 664 h 808"/>
                      <a:gd name="T70" fmla="*/ 307 w 363"/>
                      <a:gd name="T71" fmla="*/ 680 h 808"/>
                      <a:gd name="T72" fmla="*/ 312 w 363"/>
                      <a:gd name="T73" fmla="*/ 701 h 808"/>
                      <a:gd name="T74" fmla="*/ 324 w 363"/>
                      <a:gd name="T75" fmla="*/ 717 h 808"/>
                      <a:gd name="T76" fmla="*/ 329 w 363"/>
                      <a:gd name="T77" fmla="*/ 739 h 808"/>
                      <a:gd name="T78" fmla="*/ 341 w 363"/>
                      <a:gd name="T79" fmla="*/ 754 h 808"/>
                      <a:gd name="T80" fmla="*/ 346 w 363"/>
                      <a:gd name="T81" fmla="*/ 776 h 808"/>
                      <a:gd name="T82" fmla="*/ 358 w 363"/>
                      <a:gd name="T83" fmla="*/ 792 h 8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63" h="808">
                        <a:moveTo>
                          <a:pt x="0" y="0"/>
                        </a:moveTo>
                        <a:lnTo>
                          <a:pt x="6" y="5"/>
                        </a:lnTo>
                        <a:lnTo>
                          <a:pt x="6" y="16"/>
                        </a:lnTo>
                        <a:lnTo>
                          <a:pt x="12" y="21"/>
                        </a:lnTo>
                        <a:lnTo>
                          <a:pt x="12" y="26"/>
                        </a:lnTo>
                        <a:lnTo>
                          <a:pt x="17" y="32"/>
                        </a:lnTo>
                        <a:lnTo>
                          <a:pt x="17" y="37"/>
                        </a:lnTo>
                        <a:lnTo>
                          <a:pt x="23" y="42"/>
                        </a:lnTo>
                        <a:lnTo>
                          <a:pt x="23" y="53"/>
                        </a:lnTo>
                        <a:lnTo>
                          <a:pt x="29" y="58"/>
                        </a:lnTo>
                        <a:lnTo>
                          <a:pt x="29" y="64"/>
                        </a:lnTo>
                        <a:lnTo>
                          <a:pt x="34" y="69"/>
                        </a:lnTo>
                        <a:lnTo>
                          <a:pt x="34" y="74"/>
                        </a:lnTo>
                        <a:lnTo>
                          <a:pt x="40" y="80"/>
                        </a:lnTo>
                        <a:lnTo>
                          <a:pt x="40" y="90"/>
                        </a:lnTo>
                        <a:lnTo>
                          <a:pt x="46" y="96"/>
                        </a:lnTo>
                        <a:lnTo>
                          <a:pt x="46" y="101"/>
                        </a:lnTo>
                        <a:lnTo>
                          <a:pt x="51" y="106"/>
                        </a:lnTo>
                        <a:lnTo>
                          <a:pt x="51" y="111"/>
                        </a:lnTo>
                        <a:lnTo>
                          <a:pt x="57" y="117"/>
                        </a:lnTo>
                        <a:lnTo>
                          <a:pt x="57" y="122"/>
                        </a:lnTo>
                        <a:lnTo>
                          <a:pt x="63" y="127"/>
                        </a:lnTo>
                        <a:lnTo>
                          <a:pt x="63" y="138"/>
                        </a:lnTo>
                        <a:lnTo>
                          <a:pt x="68" y="143"/>
                        </a:lnTo>
                        <a:lnTo>
                          <a:pt x="68" y="149"/>
                        </a:lnTo>
                        <a:lnTo>
                          <a:pt x="74" y="154"/>
                        </a:lnTo>
                        <a:lnTo>
                          <a:pt x="74" y="159"/>
                        </a:lnTo>
                        <a:lnTo>
                          <a:pt x="80" y="165"/>
                        </a:lnTo>
                        <a:lnTo>
                          <a:pt x="80" y="175"/>
                        </a:lnTo>
                        <a:lnTo>
                          <a:pt x="85" y="181"/>
                        </a:lnTo>
                        <a:lnTo>
                          <a:pt x="85" y="186"/>
                        </a:lnTo>
                        <a:lnTo>
                          <a:pt x="91" y="191"/>
                        </a:lnTo>
                        <a:lnTo>
                          <a:pt x="91" y="196"/>
                        </a:lnTo>
                        <a:lnTo>
                          <a:pt x="97" y="202"/>
                        </a:lnTo>
                        <a:lnTo>
                          <a:pt x="97" y="212"/>
                        </a:lnTo>
                        <a:lnTo>
                          <a:pt x="102" y="223"/>
                        </a:lnTo>
                        <a:lnTo>
                          <a:pt x="102" y="228"/>
                        </a:lnTo>
                        <a:lnTo>
                          <a:pt x="108" y="234"/>
                        </a:lnTo>
                        <a:lnTo>
                          <a:pt x="108" y="239"/>
                        </a:lnTo>
                        <a:lnTo>
                          <a:pt x="114" y="244"/>
                        </a:lnTo>
                        <a:lnTo>
                          <a:pt x="114" y="250"/>
                        </a:lnTo>
                        <a:lnTo>
                          <a:pt x="120" y="255"/>
                        </a:lnTo>
                        <a:lnTo>
                          <a:pt x="120" y="266"/>
                        </a:lnTo>
                        <a:lnTo>
                          <a:pt x="125" y="271"/>
                        </a:lnTo>
                        <a:lnTo>
                          <a:pt x="125" y="276"/>
                        </a:lnTo>
                        <a:lnTo>
                          <a:pt x="131" y="282"/>
                        </a:lnTo>
                        <a:lnTo>
                          <a:pt x="131" y="287"/>
                        </a:lnTo>
                        <a:lnTo>
                          <a:pt x="137" y="292"/>
                        </a:lnTo>
                        <a:lnTo>
                          <a:pt x="137" y="303"/>
                        </a:lnTo>
                        <a:lnTo>
                          <a:pt x="142" y="313"/>
                        </a:lnTo>
                        <a:lnTo>
                          <a:pt x="142" y="319"/>
                        </a:lnTo>
                        <a:lnTo>
                          <a:pt x="148" y="324"/>
                        </a:lnTo>
                        <a:lnTo>
                          <a:pt x="148" y="329"/>
                        </a:lnTo>
                        <a:lnTo>
                          <a:pt x="154" y="335"/>
                        </a:lnTo>
                        <a:lnTo>
                          <a:pt x="154" y="345"/>
                        </a:lnTo>
                        <a:lnTo>
                          <a:pt x="159" y="351"/>
                        </a:lnTo>
                        <a:lnTo>
                          <a:pt x="159" y="356"/>
                        </a:lnTo>
                        <a:lnTo>
                          <a:pt x="165" y="361"/>
                        </a:lnTo>
                        <a:lnTo>
                          <a:pt x="165" y="367"/>
                        </a:lnTo>
                        <a:lnTo>
                          <a:pt x="171" y="372"/>
                        </a:lnTo>
                        <a:lnTo>
                          <a:pt x="171" y="377"/>
                        </a:lnTo>
                        <a:lnTo>
                          <a:pt x="176" y="382"/>
                        </a:lnTo>
                        <a:lnTo>
                          <a:pt x="176" y="398"/>
                        </a:lnTo>
                        <a:lnTo>
                          <a:pt x="182" y="404"/>
                        </a:lnTo>
                        <a:lnTo>
                          <a:pt x="182" y="409"/>
                        </a:lnTo>
                        <a:lnTo>
                          <a:pt x="188" y="414"/>
                        </a:lnTo>
                        <a:lnTo>
                          <a:pt x="188" y="420"/>
                        </a:lnTo>
                        <a:lnTo>
                          <a:pt x="193" y="425"/>
                        </a:lnTo>
                        <a:lnTo>
                          <a:pt x="193" y="436"/>
                        </a:lnTo>
                        <a:lnTo>
                          <a:pt x="199" y="441"/>
                        </a:lnTo>
                        <a:lnTo>
                          <a:pt x="199" y="446"/>
                        </a:lnTo>
                        <a:lnTo>
                          <a:pt x="205" y="452"/>
                        </a:lnTo>
                        <a:lnTo>
                          <a:pt x="205" y="457"/>
                        </a:lnTo>
                        <a:lnTo>
                          <a:pt x="210" y="468"/>
                        </a:lnTo>
                        <a:lnTo>
                          <a:pt x="210" y="478"/>
                        </a:lnTo>
                        <a:lnTo>
                          <a:pt x="216" y="483"/>
                        </a:lnTo>
                        <a:lnTo>
                          <a:pt x="216" y="489"/>
                        </a:lnTo>
                        <a:lnTo>
                          <a:pt x="222" y="494"/>
                        </a:lnTo>
                        <a:lnTo>
                          <a:pt x="222" y="499"/>
                        </a:lnTo>
                        <a:lnTo>
                          <a:pt x="227" y="505"/>
                        </a:lnTo>
                        <a:lnTo>
                          <a:pt x="227" y="515"/>
                        </a:lnTo>
                        <a:lnTo>
                          <a:pt x="233" y="521"/>
                        </a:lnTo>
                        <a:lnTo>
                          <a:pt x="233" y="526"/>
                        </a:lnTo>
                        <a:lnTo>
                          <a:pt x="239" y="531"/>
                        </a:lnTo>
                        <a:lnTo>
                          <a:pt x="239" y="537"/>
                        </a:lnTo>
                        <a:lnTo>
                          <a:pt x="244" y="542"/>
                        </a:lnTo>
                        <a:lnTo>
                          <a:pt x="244" y="547"/>
                        </a:lnTo>
                        <a:lnTo>
                          <a:pt x="250" y="558"/>
                        </a:lnTo>
                        <a:lnTo>
                          <a:pt x="250" y="568"/>
                        </a:lnTo>
                        <a:lnTo>
                          <a:pt x="256" y="574"/>
                        </a:lnTo>
                        <a:lnTo>
                          <a:pt x="256" y="579"/>
                        </a:lnTo>
                        <a:lnTo>
                          <a:pt x="261" y="584"/>
                        </a:lnTo>
                        <a:lnTo>
                          <a:pt x="261" y="590"/>
                        </a:lnTo>
                        <a:lnTo>
                          <a:pt x="267" y="595"/>
                        </a:lnTo>
                        <a:lnTo>
                          <a:pt x="267" y="606"/>
                        </a:lnTo>
                        <a:lnTo>
                          <a:pt x="273" y="611"/>
                        </a:lnTo>
                        <a:lnTo>
                          <a:pt x="273" y="616"/>
                        </a:lnTo>
                        <a:lnTo>
                          <a:pt x="278" y="622"/>
                        </a:lnTo>
                        <a:lnTo>
                          <a:pt x="278" y="627"/>
                        </a:lnTo>
                        <a:lnTo>
                          <a:pt x="284" y="632"/>
                        </a:lnTo>
                        <a:lnTo>
                          <a:pt x="284" y="643"/>
                        </a:lnTo>
                        <a:lnTo>
                          <a:pt x="290" y="648"/>
                        </a:lnTo>
                        <a:lnTo>
                          <a:pt x="290" y="654"/>
                        </a:lnTo>
                        <a:lnTo>
                          <a:pt x="295" y="659"/>
                        </a:lnTo>
                        <a:lnTo>
                          <a:pt x="295" y="664"/>
                        </a:lnTo>
                        <a:lnTo>
                          <a:pt x="301" y="669"/>
                        </a:lnTo>
                        <a:lnTo>
                          <a:pt x="301" y="675"/>
                        </a:lnTo>
                        <a:lnTo>
                          <a:pt x="307" y="680"/>
                        </a:lnTo>
                        <a:lnTo>
                          <a:pt x="307" y="691"/>
                        </a:lnTo>
                        <a:lnTo>
                          <a:pt x="312" y="696"/>
                        </a:lnTo>
                        <a:lnTo>
                          <a:pt x="312" y="701"/>
                        </a:lnTo>
                        <a:lnTo>
                          <a:pt x="318" y="707"/>
                        </a:lnTo>
                        <a:lnTo>
                          <a:pt x="318" y="712"/>
                        </a:lnTo>
                        <a:lnTo>
                          <a:pt x="324" y="717"/>
                        </a:lnTo>
                        <a:lnTo>
                          <a:pt x="324" y="728"/>
                        </a:lnTo>
                        <a:lnTo>
                          <a:pt x="329" y="733"/>
                        </a:lnTo>
                        <a:lnTo>
                          <a:pt x="329" y="739"/>
                        </a:lnTo>
                        <a:lnTo>
                          <a:pt x="335" y="744"/>
                        </a:lnTo>
                        <a:lnTo>
                          <a:pt x="335" y="749"/>
                        </a:lnTo>
                        <a:lnTo>
                          <a:pt x="341" y="754"/>
                        </a:lnTo>
                        <a:lnTo>
                          <a:pt x="341" y="765"/>
                        </a:lnTo>
                        <a:lnTo>
                          <a:pt x="346" y="770"/>
                        </a:lnTo>
                        <a:lnTo>
                          <a:pt x="346" y="776"/>
                        </a:lnTo>
                        <a:lnTo>
                          <a:pt x="352" y="781"/>
                        </a:lnTo>
                        <a:lnTo>
                          <a:pt x="352" y="786"/>
                        </a:lnTo>
                        <a:lnTo>
                          <a:pt x="358" y="792"/>
                        </a:lnTo>
                        <a:lnTo>
                          <a:pt x="358" y="802"/>
                        </a:lnTo>
                        <a:lnTo>
                          <a:pt x="363" y="808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79" name="Freeform 387">
                    <a:extLst>
                      <a:ext uri="{FF2B5EF4-FFF2-40B4-BE49-F238E27FC236}">
                        <a16:creationId xmlns:a16="http://schemas.microsoft.com/office/drawing/2014/main" id="{EE11A81B-9807-28A9-8C73-B86A8E3234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75" y="2752"/>
                    <a:ext cx="624" cy="483"/>
                  </a:xfrm>
                  <a:custGeom>
                    <a:avLst/>
                    <a:gdLst>
                      <a:gd name="T0" fmla="*/ 6 w 624"/>
                      <a:gd name="T1" fmla="*/ 10 h 483"/>
                      <a:gd name="T2" fmla="*/ 12 w 624"/>
                      <a:gd name="T3" fmla="*/ 26 h 483"/>
                      <a:gd name="T4" fmla="*/ 23 w 624"/>
                      <a:gd name="T5" fmla="*/ 47 h 483"/>
                      <a:gd name="T6" fmla="*/ 34 w 624"/>
                      <a:gd name="T7" fmla="*/ 63 h 483"/>
                      <a:gd name="T8" fmla="*/ 40 w 624"/>
                      <a:gd name="T9" fmla="*/ 85 h 483"/>
                      <a:gd name="T10" fmla="*/ 57 w 624"/>
                      <a:gd name="T11" fmla="*/ 111 h 483"/>
                      <a:gd name="T12" fmla="*/ 68 w 624"/>
                      <a:gd name="T13" fmla="*/ 132 h 483"/>
                      <a:gd name="T14" fmla="*/ 80 w 624"/>
                      <a:gd name="T15" fmla="*/ 154 h 483"/>
                      <a:gd name="T16" fmla="*/ 91 w 624"/>
                      <a:gd name="T17" fmla="*/ 170 h 483"/>
                      <a:gd name="T18" fmla="*/ 102 w 624"/>
                      <a:gd name="T19" fmla="*/ 191 h 483"/>
                      <a:gd name="T20" fmla="*/ 108 w 624"/>
                      <a:gd name="T21" fmla="*/ 207 h 483"/>
                      <a:gd name="T22" fmla="*/ 125 w 624"/>
                      <a:gd name="T23" fmla="*/ 228 h 483"/>
                      <a:gd name="T24" fmla="*/ 131 w 624"/>
                      <a:gd name="T25" fmla="*/ 244 h 483"/>
                      <a:gd name="T26" fmla="*/ 148 w 624"/>
                      <a:gd name="T27" fmla="*/ 271 h 483"/>
                      <a:gd name="T28" fmla="*/ 165 w 624"/>
                      <a:gd name="T29" fmla="*/ 297 h 483"/>
                      <a:gd name="T30" fmla="*/ 182 w 624"/>
                      <a:gd name="T31" fmla="*/ 313 h 483"/>
                      <a:gd name="T32" fmla="*/ 199 w 624"/>
                      <a:gd name="T33" fmla="*/ 334 h 483"/>
                      <a:gd name="T34" fmla="*/ 216 w 624"/>
                      <a:gd name="T35" fmla="*/ 356 h 483"/>
                      <a:gd name="T36" fmla="*/ 227 w 624"/>
                      <a:gd name="T37" fmla="*/ 372 h 483"/>
                      <a:gd name="T38" fmla="*/ 244 w 624"/>
                      <a:gd name="T39" fmla="*/ 393 h 483"/>
                      <a:gd name="T40" fmla="*/ 261 w 624"/>
                      <a:gd name="T41" fmla="*/ 409 h 483"/>
                      <a:gd name="T42" fmla="*/ 278 w 624"/>
                      <a:gd name="T43" fmla="*/ 425 h 483"/>
                      <a:gd name="T44" fmla="*/ 295 w 624"/>
                      <a:gd name="T45" fmla="*/ 435 h 483"/>
                      <a:gd name="T46" fmla="*/ 312 w 624"/>
                      <a:gd name="T47" fmla="*/ 451 h 483"/>
                      <a:gd name="T48" fmla="*/ 329 w 624"/>
                      <a:gd name="T49" fmla="*/ 457 h 483"/>
                      <a:gd name="T50" fmla="*/ 346 w 624"/>
                      <a:gd name="T51" fmla="*/ 467 h 483"/>
                      <a:gd name="T52" fmla="*/ 363 w 624"/>
                      <a:gd name="T53" fmla="*/ 473 h 483"/>
                      <a:gd name="T54" fmla="*/ 380 w 624"/>
                      <a:gd name="T55" fmla="*/ 478 h 483"/>
                      <a:gd name="T56" fmla="*/ 397 w 624"/>
                      <a:gd name="T57" fmla="*/ 483 h 483"/>
                      <a:gd name="T58" fmla="*/ 414 w 624"/>
                      <a:gd name="T59" fmla="*/ 483 h 483"/>
                      <a:gd name="T60" fmla="*/ 426 w 624"/>
                      <a:gd name="T61" fmla="*/ 483 h 483"/>
                      <a:gd name="T62" fmla="*/ 443 w 624"/>
                      <a:gd name="T63" fmla="*/ 483 h 483"/>
                      <a:gd name="T64" fmla="*/ 460 w 624"/>
                      <a:gd name="T65" fmla="*/ 483 h 483"/>
                      <a:gd name="T66" fmla="*/ 477 w 624"/>
                      <a:gd name="T67" fmla="*/ 478 h 483"/>
                      <a:gd name="T68" fmla="*/ 494 w 624"/>
                      <a:gd name="T69" fmla="*/ 473 h 483"/>
                      <a:gd name="T70" fmla="*/ 511 w 624"/>
                      <a:gd name="T71" fmla="*/ 462 h 483"/>
                      <a:gd name="T72" fmla="*/ 528 w 624"/>
                      <a:gd name="T73" fmla="*/ 457 h 483"/>
                      <a:gd name="T74" fmla="*/ 545 w 624"/>
                      <a:gd name="T75" fmla="*/ 441 h 483"/>
                      <a:gd name="T76" fmla="*/ 562 w 624"/>
                      <a:gd name="T77" fmla="*/ 430 h 483"/>
                      <a:gd name="T78" fmla="*/ 579 w 624"/>
                      <a:gd name="T79" fmla="*/ 414 h 483"/>
                      <a:gd name="T80" fmla="*/ 596 w 624"/>
                      <a:gd name="T81" fmla="*/ 398 h 483"/>
                      <a:gd name="T82" fmla="*/ 613 w 624"/>
                      <a:gd name="T83" fmla="*/ 382 h 4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624" h="483"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6" y="10"/>
                        </a:lnTo>
                        <a:lnTo>
                          <a:pt x="6" y="16"/>
                        </a:lnTo>
                        <a:lnTo>
                          <a:pt x="12" y="21"/>
                        </a:lnTo>
                        <a:lnTo>
                          <a:pt x="12" y="26"/>
                        </a:lnTo>
                        <a:lnTo>
                          <a:pt x="17" y="32"/>
                        </a:lnTo>
                        <a:lnTo>
                          <a:pt x="17" y="42"/>
                        </a:lnTo>
                        <a:lnTo>
                          <a:pt x="23" y="47"/>
                        </a:lnTo>
                        <a:lnTo>
                          <a:pt x="29" y="53"/>
                        </a:lnTo>
                        <a:lnTo>
                          <a:pt x="29" y="58"/>
                        </a:lnTo>
                        <a:lnTo>
                          <a:pt x="34" y="63"/>
                        </a:lnTo>
                        <a:lnTo>
                          <a:pt x="34" y="74"/>
                        </a:lnTo>
                        <a:lnTo>
                          <a:pt x="40" y="79"/>
                        </a:lnTo>
                        <a:lnTo>
                          <a:pt x="40" y="85"/>
                        </a:lnTo>
                        <a:lnTo>
                          <a:pt x="51" y="95"/>
                        </a:lnTo>
                        <a:lnTo>
                          <a:pt x="51" y="106"/>
                        </a:lnTo>
                        <a:lnTo>
                          <a:pt x="57" y="111"/>
                        </a:lnTo>
                        <a:lnTo>
                          <a:pt x="57" y="117"/>
                        </a:lnTo>
                        <a:lnTo>
                          <a:pt x="68" y="127"/>
                        </a:lnTo>
                        <a:lnTo>
                          <a:pt x="68" y="132"/>
                        </a:lnTo>
                        <a:lnTo>
                          <a:pt x="74" y="138"/>
                        </a:lnTo>
                        <a:lnTo>
                          <a:pt x="74" y="148"/>
                        </a:lnTo>
                        <a:lnTo>
                          <a:pt x="80" y="154"/>
                        </a:lnTo>
                        <a:lnTo>
                          <a:pt x="85" y="159"/>
                        </a:lnTo>
                        <a:lnTo>
                          <a:pt x="85" y="164"/>
                        </a:lnTo>
                        <a:lnTo>
                          <a:pt x="91" y="170"/>
                        </a:lnTo>
                        <a:lnTo>
                          <a:pt x="91" y="180"/>
                        </a:lnTo>
                        <a:lnTo>
                          <a:pt x="97" y="186"/>
                        </a:lnTo>
                        <a:lnTo>
                          <a:pt x="102" y="191"/>
                        </a:lnTo>
                        <a:lnTo>
                          <a:pt x="102" y="196"/>
                        </a:lnTo>
                        <a:lnTo>
                          <a:pt x="108" y="202"/>
                        </a:lnTo>
                        <a:lnTo>
                          <a:pt x="108" y="207"/>
                        </a:lnTo>
                        <a:lnTo>
                          <a:pt x="119" y="218"/>
                        </a:lnTo>
                        <a:lnTo>
                          <a:pt x="119" y="223"/>
                        </a:lnTo>
                        <a:lnTo>
                          <a:pt x="125" y="228"/>
                        </a:lnTo>
                        <a:lnTo>
                          <a:pt x="125" y="233"/>
                        </a:lnTo>
                        <a:lnTo>
                          <a:pt x="131" y="239"/>
                        </a:lnTo>
                        <a:lnTo>
                          <a:pt x="131" y="244"/>
                        </a:lnTo>
                        <a:lnTo>
                          <a:pt x="136" y="249"/>
                        </a:lnTo>
                        <a:lnTo>
                          <a:pt x="148" y="260"/>
                        </a:lnTo>
                        <a:lnTo>
                          <a:pt x="148" y="271"/>
                        </a:lnTo>
                        <a:lnTo>
                          <a:pt x="153" y="276"/>
                        </a:lnTo>
                        <a:lnTo>
                          <a:pt x="165" y="287"/>
                        </a:lnTo>
                        <a:lnTo>
                          <a:pt x="165" y="297"/>
                        </a:lnTo>
                        <a:lnTo>
                          <a:pt x="170" y="303"/>
                        </a:lnTo>
                        <a:lnTo>
                          <a:pt x="176" y="308"/>
                        </a:lnTo>
                        <a:lnTo>
                          <a:pt x="182" y="313"/>
                        </a:lnTo>
                        <a:lnTo>
                          <a:pt x="182" y="318"/>
                        </a:lnTo>
                        <a:lnTo>
                          <a:pt x="187" y="324"/>
                        </a:lnTo>
                        <a:lnTo>
                          <a:pt x="199" y="334"/>
                        </a:lnTo>
                        <a:lnTo>
                          <a:pt x="199" y="340"/>
                        </a:lnTo>
                        <a:lnTo>
                          <a:pt x="204" y="345"/>
                        </a:lnTo>
                        <a:lnTo>
                          <a:pt x="216" y="356"/>
                        </a:lnTo>
                        <a:lnTo>
                          <a:pt x="216" y="361"/>
                        </a:lnTo>
                        <a:lnTo>
                          <a:pt x="221" y="366"/>
                        </a:lnTo>
                        <a:lnTo>
                          <a:pt x="227" y="372"/>
                        </a:lnTo>
                        <a:lnTo>
                          <a:pt x="233" y="377"/>
                        </a:lnTo>
                        <a:lnTo>
                          <a:pt x="244" y="388"/>
                        </a:lnTo>
                        <a:lnTo>
                          <a:pt x="244" y="393"/>
                        </a:lnTo>
                        <a:lnTo>
                          <a:pt x="250" y="398"/>
                        </a:lnTo>
                        <a:lnTo>
                          <a:pt x="255" y="404"/>
                        </a:lnTo>
                        <a:lnTo>
                          <a:pt x="261" y="409"/>
                        </a:lnTo>
                        <a:lnTo>
                          <a:pt x="267" y="414"/>
                        </a:lnTo>
                        <a:lnTo>
                          <a:pt x="272" y="419"/>
                        </a:lnTo>
                        <a:lnTo>
                          <a:pt x="278" y="425"/>
                        </a:lnTo>
                        <a:lnTo>
                          <a:pt x="284" y="430"/>
                        </a:lnTo>
                        <a:lnTo>
                          <a:pt x="289" y="430"/>
                        </a:lnTo>
                        <a:lnTo>
                          <a:pt x="295" y="435"/>
                        </a:lnTo>
                        <a:lnTo>
                          <a:pt x="301" y="441"/>
                        </a:lnTo>
                        <a:lnTo>
                          <a:pt x="306" y="446"/>
                        </a:lnTo>
                        <a:lnTo>
                          <a:pt x="312" y="451"/>
                        </a:lnTo>
                        <a:lnTo>
                          <a:pt x="318" y="451"/>
                        </a:lnTo>
                        <a:lnTo>
                          <a:pt x="323" y="457"/>
                        </a:lnTo>
                        <a:lnTo>
                          <a:pt x="329" y="457"/>
                        </a:lnTo>
                        <a:lnTo>
                          <a:pt x="335" y="462"/>
                        </a:lnTo>
                        <a:lnTo>
                          <a:pt x="340" y="467"/>
                        </a:lnTo>
                        <a:lnTo>
                          <a:pt x="346" y="467"/>
                        </a:lnTo>
                        <a:lnTo>
                          <a:pt x="352" y="473"/>
                        </a:lnTo>
                        <a:lnTo>
                          <a:pt x="357" y="473"/>
                        </a:lnTo>
                        <a:lnTo>
                          <a:pt x="363" y="473"/>
                        </a:lnTo>
                        <a:lnTo>
                          <a:pt x="369" y="478"/>
                        </a:lnTo>
                        <a:lnTo>
                          <a:pt x="374" y="478"/>
                        </a:lnTo>
                        <a:lnTo>
                          <a:pt x="380" y="478"/>
                        </a:lnTo>
                        <a:lnTo>
                          <a:pt x="386" y="483"/>
                        </a:lnTo>
                        <a:lnTo>
                          <a:pt x="392" y="483"/>
                        </a:lnTo>
                        <a:lnTo>
                          <a:pt x="397" y="483"/>
                        </a:lnTo>
                        <a:lnTo>
                          <a:pt x="403" y="483"/>
                        </a:lnTo>
                        <a:lnTo>
                          <a:pt x="409" y="483"/>
                        </a:lnTo>
                        <a:lnTo>
                          <a:pt x="414" y="483"/>
                        </a:lnTo>
                        <a:lnTo>
                          <a:pt x="420" y="483"/>
                        </a:lnTo>
                        <a:lnTo>
                          <a:pt x="431" y="483"/>
                        </a:lnTo>
                        <a:lnTo>
                          <a:pt x="426" y="483"/>
                        </a:lnTo>
                        <a:lnTo>
                          <a:pt x="431" y="483"/>
                        </a:lnTo>
                        <a:lnTo>
                          <a:pt x="437" y="483"/>
                        </a:lnTo>
                        <a:lnTo>
                          <a:pt x="443" y="483"/>
                        </a:lnTo>
                        <a:lnTo>
                          <a:pt x="448" y="483"/>
                        </a:lnTo>
                        <a:lnTo>
                          <a:pt x="454" y="483"/>
                        </a:lnTo>
                        <a:lnTo>
                          <a:pt x="460" y="483"/>
                        </a:lnTo>
                        <a:lnTo>
                          <a:pt x="465" y="483"/>
                        </a:lnTo>
                        <a:lnTo>
                          <a:pt x="471" y="478"/>
                        </a:lnTo>
                        <a:lnTo>
                          <a:pt x="477" y="478"/>
                        </a:lnTo>
                        <a:lnTo>
                          <a:pt x="482" y="478"/>
                        </a:lnTo>
                        <a:lnTo>
                          <a:pt x="488" y="473"/>
                        </a:lnTo>
                        <a:lnTo>
                          <a:pt x="494" y="473"/>
                        </a:lnTo>
                        <a:lnTo>
                          <a:pt x="499" y="467"/>
                        </a:lnTo>
                        <a:lnTo>
                          <a:pt x="505" y="467"/>
                        </a:lnTo>
                        <a:lnTo>
                          <a:pt x="511" y="462"/>
                        </a:lnTo>
                        <a:lnTo>
                          <a:pt x="516" y="462"/>
                        </a:lnTo>
                        <a:lnTo>
                          <a:pt x="522" y="457"/>
                        </a:lnTo>
                        <a:lnTo>
                          <a:pt x="528" y="457"/>
                        </a:lnTo>
                        <a:lnTo>
                          <a:pt x="533" y="451"/>
                        </a:lnTo>
                        <a:lnTo>
                          <a:pt x="539" y="446"/>
                        </a:lnTo>
                        <a:lnTo>
                          <a:pt x="545" y="441"/>
                        </a:lnTo>
                        <a:lnTo>
                          <a:pt x="550" y="441"/>
                        </a:lnTo>
                        <a:lnTo>
                          <a:pt x="556" y="435"/>
                        </a:lnTo>
                        <a:lnTo>
                          <a:pt x="562" y="430"/>
                        </a:lnTo>
                        <a:lnTo>
                          <a:pt x="567" y="425"/>
                        </a:lnTo>
                        <a:lnTo>
                          <a:pt x="573" y="419"/>
                        </a:lnTo>
                        <a:lnTo>
                          <a:pt x="579" y="414"/>
                        </a:lnTo>
                        <a:lnTo>
                          <a:pt x="584" y="409"/>
                        </a:lnTo>
                        <a:lnTo>
                          <a:pt x="590" y="409"/>
                        </a:lnTo>
                        <a:lnTo>
                          <a:pt x="596" y="398"/>
                        </a:lnTo>
                        <a:lnTo>
                          <a:pt x="601" y="393"/>
                        </a:lnTo>
                        <a:lnTo>
                          <a:pt x="607" y="388"/>
                        </a:lnTo>
                        <a:lnTo>
                          <a:pt x="613" y="382"/>
                        </a:lnTo>
                        <a:lnTo>
                          <a:pt x="618" y="377"/>
                        </a:lnTo>
                        <a:lnTo>
                          <a:pt x="624" y="372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  <p:sp>
                <p:nvSpPr>
                  <p:cNvPr id="110980" name="Freeform 388">
                    <a:extLst>
                      <a:ext uri="{FF2B5EF4-FFF2-40B4-BE49-F238E27FC236}">
                        <a16:creationId xmlns:a16="http://schemas.microsoft.com/office/drawing/2014/main" id="{EBDE8670-AF20-CF03-164F-B905509F5B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9" y="2332"/>
                    <a:ext cx="420" cy="792"/>
                  </a:xfrm>
                  <a:custGeom>
                    <a:avLst/>
                    <a:gdLst>
                      <a:gd name="T0" fmla="*/ 11 w 420"/>
                      <a:gd name="T1" fmla="*/ 781 h 792"/>
                      <a:gd name="T2" fmla="*/ 17 w 420"/>
                      <a:gd name="T3" fmla="*/ 770 h 792"/>
                      <a:gd name="T4" fmla="*/ 28 w 420"/>
                      <a:gd name="T5" fmla="*/ 754 h 792"/>
                      <a:gd name="T6" fmla="*/ 40 w 420"/>
                      <a:gd name="T7" fmla="*/ 744 h 792"/>
                      <a:gd name="T8" fmla="*/ 45 w 420"/>
                      <a:gd name="T9" fmla="*/ 733 h 792"/>
                      <a:gd name="T10" fmla="*/ 62 w 420"/>
                      <a:gd name="T11" fmla="*/ 717 h 792"/>
                      <a:gd name="T12" fmla="*/ 68 w 420"/>
                      <a:gd name="T13" fmla="*/ 701 h 792"/>
                      <a:gd name="T14" fmla="*/ 79 w 420"/>
                      <a:gd name="T15" fmla="*/ 691 h 792"/>
                      <a:gd name="T16" fmla="*/ 85 w 420"/>
                      <a:gd name="T17" fmla="*/ 675 h 792"/>
                      <a:gd name="T18" fmla="*/ 96 w 420"/>
                      <a:gd name="T19" fmla="*/ 664 h 792"/>
                      <a:gd name="T20" fmla="*/ 102 w 420"/>
                      <a:gd name="T21" fmla="*/ 653 h 792"/>
                      <a:gd name="T22" fmla="*/ 113 w 420"/>
                      <a:gd name="T23" fmla="*/ 638 h 792"/>
                      <a:gd name="T24" fmla="*/ 119 w 420"/>
                      <a:gd name="T25" fmla="*/ 627 h 792"/>
                      <a:gd name="T26" fmla="*/ 125 w 420"/>
                      <a:gd name="T27" fmla="*/ 616 h 792"/>
                      <a:gd name="T28" fmla="*/ 136 w 420"/>
                      <a:gd name="T29" fmla="*/ 600 h 792"/>
                      <a:gd name="T30" fmla="*/ 142 w 420"/>
                      <a:gd name="T31" fmla="*/ 584 h 792"/>
                      <a:gd name="T32" fmla="*/ 147 w 420"/>
                      <a:gd name="T33" fmla="*/ 574 h 792"/>
                      <a:gd name="T34" fmla="*/ 153 w 420"/>
                      <a:gd name="T35" fmla="*/ 558 h 792"/>
                      <a:gd name="T36" fmla="*/ 164 w 420"/>
                      <a:gd name="T37" fmla="*/ 542 h 792"/>
                      <a:gd name="T38" fmla="*/ 170 w 420"/>
                      <a:gd name="T39" fmla="*/ 531 h 792"/>
                      <a:gd name="T40" fmla="*/ 176 w 420"/>
                      <a:gd name="T41" fmla="*/ 515 h 792"/>
                      <a:gd name="T42" fmla="*/ 187 w 420"/>
                      <a:gd name="T43" fmla="*/ 505 h 792"/>
                      <a:gd name="T44" fmla="*/ 193 w 420"/>
                      <a:gd name="T45" fmla="*/ 494 h 792"/>
                      <a:gd name="T46" fmla="*/ 198 w 420"/>
                      <a:gd name="T47" fmla="*/ 478 h 792"/>
                      <a:gd name="T48" fmla="*/ 210 w 420"/>
                      <a:gd name="T49" fmla="*/ 462 h 792"/>
                      <a:gd name="T50" fmla="*/ 215 w 420"/>
                      <a:gd name="T51" fmla="*/ 446 h 792"/>
                      <a:gd name="T52" fmla="*/ 221 w 420"/>
                      <a:gd name="T53" fmla="*/ 436 h 792"/>
                      <a:gd name="T54" fmla="*/ 227 w 420"/>
                      <a:gd name="T55" fmla="*/ 425 h 792"/>
                      <a:gd name="T56" fmla="*/ 232 w 420"/>
                      <a:gd name="T57" fmla="*/ 414 h 792"/>
                      <a:gd name="T58" fmla="*/ 238 w 420"/>
                      <a:gd name="T59" fmla="*/ 398 h 792"/>
                      <a:gd name="T60" fmla="*/ 244 w 420"/>
                      <a:gd name="T61" fmla="*/ 388 h 792"/>
                      <a:gd name="T62" fmla="*/ 249 w 420"/>
                      <a:gd name="T63" fmla="*/ 377 h 792"/>
                      <a:gd name="T64" fmla="*/ 255 w 420"/>
                      <a:gd name="T65" fmla="*/ 361 h 792"/>
                      <a:gd name="T66" fmla="*/ 261 w 420"/>
                      <a:gd name="T67" fmla="*/ 351 h 792"/>
                      <a:gd name="T68" fmla="*/ 266 w 420"/>
                      <a:gd name="T69" fmla="*/ 340 h 792"/>
                      <a:gd name="T70" fmla="*/ 272 w 420"/>
                      <a:gd name="T71" fmla="*/ 324 h 792"/>
                      <a:gd name="T72" fmla="*/ 278 w 420"/>
                      <a:gd name="T73" fmla="*/ 313 h 792"/>
                      <a:gd name="T74" fmla="*/ 283 w 420"/>
                      <a:gd name="T75" fmla="*/ 303 h 792"/>
                      <a:gd name="T76" fmla="*/ 289 w 420"/>
                      <a:gd name="T77" fmla="*/ 287 h 792"/>
                      <a:gd name="T78" fmla="*/ 295 w 420"/>
                      <a:gd name="T79" fmla="*/ 276 h 792"/>
                      <a:gd name="T80" fmla="*/ 300 w 420"/>
                      <a:gd name="T81" fmla="*/ 266 h 792"/>
                      <a:gd name="T82" fmla="*/ 306 w 420"/>
                      <a:gd name="T83" fmla="*/ 255 h 792"/>
                      <a:gd name="T84" fmla="*/ 312 w 420"/>
                      <a:gd name="T85" fmla="*/ 239 h 792"/>
                      <a:gd name="T86" fmla="*/ 317 w 420"/>
                      <a:gd name="T87" fmla="*/ 228 h 792"/>
                      <a:gd name="T88" fmla="*/ 323 w 420"/>
                      <a:gd name="T89" fmla="*/ 218 h 792"/>
                      <a:gd name="T90" fmla="*/ 329 w 420"/>
                      <a:gd name="T91" fmla="*/ 202 h 792"/>
                      <a:gd name="T92" fmla="*/ 334 w 420"/>
                      <a:gd name="T93" fmla="*/ 191 h 792"/>
                      <a:gd name="T94" fmla="*/ 340 w 420"/>
                      <a:gd name="T95" fmla="*/ 180 h 792"/>
                      <a:gd name="T96" fmla="*/ 346 w 420"/>
                      <a:gd name="T97" fmla="*/ 159 h 792"/>
                      <a:gd name="T98" fmla="*/ 351 w 420"/>
                      <a:gd name="T99" fmla="*/ 149 h 792"/>
                      <a:gd name="T100" fmla="*/ 357 w 420"/>
                      <a:gd name="T101" fmla="*/ 138 h 792"/>
                      <a:gd name="T102" fmla="*/ 363 w 420"/>
                      <a:gd name="T103" fmla="*/ 127 h 792"/>
                      <a:gd name="T104" fmla="*/ 368 w 420"/>
                      <a:gd name="T105" fmla="*/ 111 h 792"/>
                      <a:gd name="T106" fmla="*/ 374 w 420"/>
                      <a:gd name="T107" fmla="*/ 101 h 792"/>
                      <a:gd name="T108" fmla="*/ 380 w 420"/>
                      <a:gd name="T109" fmla="*/ 90 h 792"/>
                      <a:gd name="T110" fmla="*/ 385 w 420"/>
                      <a:gd name="T111" fmla="*/ 69 h 792"/>
                      <a:gd name="T112" fmla="*/ 391 w 420"/>
                      <a:gd name="T113" fmla="*/ 58 h 792"/>
                      <a:gd name="T114" fmla="*/ 397 w 420"/>
                      <a:gd name="T115" fmla="*/ 48 h 792"/>
                      <a:gd name="T116" fmla="*/ 403 w 420"/>
                      <a:gd name="T117" fmla="*/ 32 h 792"/>
                      <a:gd name="T118" fmla="*/ 408 w 420"/>
                      <a:gd name="T119" fmla="*/ 21 h 792"/>
                      <a:gd name="T120" fmla="*/ 414 w 420"/>
                      <a:gd name="T121" fmla="*/ 10 h 792"/>
                      <a:gd name="T122" fmla="*/ 420 w 420"/>
                      <a:gd name="T123" fmla="*/ 0 h 7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420" h="792">
                        <a:moveTo>
                          <a:pt x="0" y="792"/>
                        </a:moveTo>
                        <a:lnTo>
                          <a:pt x="11" y="781"/>
                        </a:lnTo>
                        <a:lnTo>
                          <a:pt x="11" y="776"/>
                        </a:lnTo>
                        <a:lnTo>
                          <a:pt x="17" y="770"/>
                        </a:lnTo>
                        <a:lnTo>
                          <a:pt x="28" y="760"/>
                        </a:lnTo>
                        <a:lnTo>
                          <a:pt x="28" y="754"/>
                        </a:lnTo>
                        <a:lnTo>
                          <a:pt x="34" y="749"/>
                        </a:lnTo>
                        <a:lnTo>
                          <a:pt x="40" y="744"/>
                        </a:lnTo>
                        <a:lnTo>
                          <a:pt x="45" y="738"/>
                        </a:lnTo>
                        <a:lnTo>
                          <a:pt x="45" y="733"/>
                        </a:lnTo>
                        <a:lnTo>
                          <a:pt x="51" y="728"/>
                        </a:lnTo>
                        <a:lnTo>
                          <a:pt x="62" y="717"/>
                        </a:lnTo>
                        <a:lnTo>
                          <a:pt x="62" y="707"/>
                        </a:lnTo>
                        <a:lnTo>
                          <a:pt x="68" y="701"/>
                        </a:lnTo>
                        <a:lnTo>
                          <a:pt x="74" y="696"/>
                        </a:lnTo>
                        <a:lnTo>
                          <a:pt x="79" y="691"/>
                        </a:lnTo>
                        <a:lnTo>
                          <a:pt x="79" y="680"/>
                        </a:lnTo>
                        <a:lnTo>
                          <a:pt x="85" y="675"/>
                        </a:lnTo>
                        <a:lnTo>
                          <a:pt x="91" y="669"/>
                        </a:lnTo>
                        <a:lnTo>
                          <a:pt x="96" y="664"/>
                        </a:lnTo>
                        <a:lnTo>
                          <a:pt x="96" y="659"/>
                        </a:lnTo>
                        <a:lnTo>
                          <a:pt x="102" y="653"/>
                        </a:lnTo>
                        <a:lnTo>
                          <a:pt x="102" y="648"/>
                        </a:lnTo>
                        <a:lnTo>
                          <a:pt x="113" y="638"/>
                        </a:lnTo>
                        <a:lnTo>
                          <a:pt x="113" y="632"/>
                        </a:lnTo>
                        <a:lnTo>
                          <a:pt x="119" y="627"/>
                        </a:lnTo>
                        <a:lnTo>
                          <a:pt x="119" y="622"/>
                        </a:lnTo>
                        <a:lnTo>
                          <a:pt x="125" y="616"/>
                        </a:lnTo>
                        <a:lnTo>
                          <a:pt x="125" y="611"/>
                        </a:lnTo>
                        <a:lnTo>
                          <a:pt x="136" y="600"/>
                        </a:lnTo>
                        <a:lnTo>
                          <a:pt x="136" y="590"/>
                        </a:lnTo>
                        <a:lnTo>
                          <a:pt x="142" y="584"/>
                        </a:lnTo>
                        <a:lnTo>
                          <a:pt x="142" y="579"/>
                        </a:lnTo>
                        <a:lnTo>
                          <a:pt x="147" y="574"/>
                        </a:lnTo>
                        <a:lnTo>
                          <a:pt x="153" y="568"/>
                        </a:lnTo>
                        <a:lnTo>
                          <a:pt x="153" y="558"/>
                        </a:lnTo>
                        <a:lnTo>
                          <a:pt x="164" y="547"/>
                        </a:lnTo>
                        <a:lnTo>
                          <a:pt x="164" y="542"/>
                        </a:lnTo>
                        <a:lnTo>
                          <a:pt x="170" y="537"/>
                        </a:lnTo>
                        <a:lnTo>
                          <a:pt x="170" y="531"/>
                        </a:lnTo>
                        <a:lnTo>
                          <a:pt x="176" y="526"/>
                        </a:lnTo>
                        <a:lnTo>
                          <a:pt x="176" y="515"/>
                        </a:lnTo>
                        <a:lnTo>
                          <a:pt x="181" y="510"/>
                        </a:lnTo>
                        <a:lnTo>
                          <a:pt x="187" y="505"/>
                        </a:lnTo>
                        <a:lnTo>
                          <a:pt x="187" y="499"/>
                        </a:lnTo>
                        <a:lnTo>
                          <a:pt x="193" y="494"/>
                        </a:lnTo>
                        <a:lnTo>
                          <a:pt x="193" y="483"/>
                        </a:lnTo>
                        <a:lnTo>
                          <a:pt x="198" y="478"/>
                        </a:lnTo>
                        <a:lnTo>
                          <a:pt x="198" y="473"/>
                        </a:lnTo>
                        <a:lnTo>
                          <a:pt x="210" y="462"/>
                        </a:lnTo>
                        <a:lnTo>
                          <a:pt x="210" y="452"/>
                        </a:lnTo>
                        <a:lnTo>
                          <a:pt x="215" y="446"/>
                        </a:lnTo>
                        <a:lnTo>
                          <a:pt x="215" y="441"/>
                        </a:lnTo>
                        <a:lnTo>
                          <a:pt x="221" y="436"/>
                        </a:lnTo>
                        <a:lnTo>
                          <a:pt x="221" y="430"/>
                        </a:lnTo>
                        <a:lnTo>
                          <a:pt x="227" y="425"/>
                        </a:lnTo>
                        <a:lnTo>
                          <a:pt x="227" y="420"/>
                        </a:lnTo>
                        <a:lnTo>
                          <a:pt x="232" y="414"/>
                        </a:lnTo>
                        <a:lnTo>
                          <a:pt x="232" y="404"/>
                        </a:lnTo>
                        <a:lnTo>
                          <a:pt x="238" y="398"/>
                        </a:lnTo>
                        <a:lnTo>
                          <a:pt x="238" y="393"/>
                        </a:lnTo>
                        <a:lnTo>
                          <a:pt x="244" y="388"/>
                        </a:lnTo>
                        <a:lnTo>
                          <a:pt x="244" y="382"/>
                        </a:lnTo>
                        <a:lnTo>
                          <a:pt x="249" y="377"/>
                        </a:lnTo>
                        <a:lnTo>
                          <a:pt x="249" y="366"/>
                        </a:lnTo>
                        <a:lnTo>
                          <a:pt x="255" y="361"/>
                        </a:lnTo>
                        <a:lnTo>
                          <a:pt x="255" y="356"/>
                        </a:lnTo>
                        <a:lnTo>
                          <a:pt x="261" y="351"/>
                        </a:lnTo>
                        <a:lnTo>
                          <a:pt x="261" y="345"/>
                        </a:lnTo>
                        <a:lnTo>
                          <a:pt x="266" y="340"/>
                        </a:lnTo>
                        <a:lnTo>
                          <a:pt x="266" y="329"/>
                        </a:lnTo>
                        <a:lnTo>
                          <a:pt x="272" y="324"/>
                        </a:lnTo>
                        <a:lnTo>
                          <a:pt x="272" y="319"/>
                        </a:lnTo>
                        <a:lnTo>
                          <a:pt x="278" y="313"/>
                        </a:lnTo>
                        <a:lnTo>
                          <a:pt x="278" y="308"/>
                        </a:lnTo>
                        <a:lnTo>
                          <a:pt x="283" y="303"/>
                        </a:lnTo>
                        <a:lnTo>
                          <a:pt x="283" y="292"/>
                        </a:lnTo>
                        <a:lnTo>
                          <a:pt x="289" y="287"/>
                        </a:lnTo>
                        <a:lnTo>
                          <a:pt x="289" y="281"/>
                        </a:lnTo>
                        <a:lnTo>
                          <a:pt x="295" y="276"/>
                        </a:lnTo>
                        <a:lnTo>
                          <a:pt x="295" y="271"/>
                        </a:lnTo>
                        <a:lnTo>
                          <a:pt x="300" y="266"/>
                        </a:lnTo>
                        <a:lnTo>
                          <a:pt x="300" y="260"/>
                        </a:lnTo>
                        <a:lnTo>
                          <a:pt x="306" y="255"/>
                        </a:lnTo>
                        <a:lnTo>
                          <a:pt x="306" y="244"/>
                        </a:lnTo>
                        <a:lnTo>
                          <a:pt x="312" y="239"/>
                        </a:lnTo>
                        <a:lnTo>
                          <a:pt x="312" y="234"/>
                        </a:lnTo>
                        <a:lnTo>
                          <a:pt x="317" y="228"/>
                        </a:lnTo>
                        <a:lnTo>
                          <a:pt x="317" y="223"/>
                        </a:lnTo>
                        <a:lnTo>
                          <a:pt x="323" y="218"/>
                        </a:lnTo>
                        <a:lnTo>
                          <a:pt x="323" y="207"/>
                        </a:lnTo>
                        <a:lnTo>
                          <a:pt x="329" y="202"/>
                        </a:lnTo>
                        <a:lnTo>
                          <a:pt x="329" y="196"/>
                        </a:lnTo>
                        <a:lnTo>
                          <a:pt x="334" y="191"/>
                        </a:lnTo>
                        <a:lnTo>
                          <a:pt x="334" y="186"/>
                        </a:lnTo>
                        <a:lnTo>
                          <a:pt x="340" y="180"/>
                        </a:lnTo>
                        <a:lnTo>
                          <a:pt x="340" y="170"/>
                        </a:lnTo>
                        <a:lnTo>
                          <a:pt x="346" y="159"/>
                        </a:lnTo>
                        <a:lnTo>
                          <a:pt x="346" y="154"/>
                        </a:lnTo>
                        <a:lnTo>
                          <a:pt x="351" y="149"/>
                        </a:lnTo>
                        <a:lnTo>
                          <a:pt x="351" y="143"/>
                        </a:lnTo>
                        <a:lnTo>
                          <a:pt x="357" y="138"/>
                        </a:lnTo>
                        <a:lnTo>
                          <a:pt x="357" y="133"/>
                        </a:lnTo>
                        <a:lnTo>
                          <a:pt x="363" y="127"/>
                        </a:lnTo>
                        <a:lnTo>
                          <a:pt x="363" y="117"/>
                        </a:lnTo>
                        <a:lnTo>
                          <a:pt x="368" y="111"/>
                        </a:lnTo>
                        <a:lnTo>
                          <a:pt x="368" y="106"/>
                        </a:lnTo>
                        <a:lnTo>
                          <a:pt x="374" y="101"/>
                        </a:lnTo>
                        <a:lnTo>
                          <a:pt x="374" y="95"/>
                        </a:lnTo>
                        <a:lnTo>
                          <a:pt x="380" y="90"/>
                        </a:lnTo>
                        <a:lnTo>
                          <a:pt x="380" y="80"/>
                        </a:lnTo>
                        <a:lnTo>
                          <a:pt x="385" y="69"/>
                        </a:lnTo>
                        <a:lnTo>
                          <a:pt x="385" y="64"/>
                        </a:lnTo>
                        <a:lnTo>
                          <a:pt x="391" y="58"/>
                        </a:lnTo>
                        <a:lnTo>
                          <a:pt x="391" y="53"/>
                        </a:lnTo>
                        <a:lnTo>
                          <a:pt x="397" y="48"/>
                        </a:lnTo>
                        <a:lnTo>
                          <a:pt x="397" y="37"/>
                        </a:lnTo>
                        <a:lnTo>
                          <a:pt x="403" y="32"/>
                        </a:lnTo>
                        <a:lnTo>
                          <a:pt x="403" y="26"/>
                        </a:lnTo>
                        <a:lnTo>
                          <a:pt x="408" y="21"/>
                        </a:lnTo>
                        <a:lnTo>
                          <a:pt x="408" y="16"/>
                        </a:lnTo>
                        <a:lnTo>
                          <a:pt x="414" y="10"/>
                        </a:lnTo>
                        <a:lnTo>
                          <a:pt x="414" y="5"/>
                        </a:lnTo>
                        <a:lnTo>
                          <a:pt x="420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13"/>
                  </a:p>
                </p:txBody>
              </p:sp>
            </p:grpSp>
          </p:grpSp>
        </p:grpSp>
        <p:sp>
          <p:nvSpPr>
            <p:cNvPr id="110981" name="Line 389">
              <a:extLst>
                <a:ext uri="{FF2B5EF4-FFF2-40B4-BE49-F238E27FC236}">
                  <a16:creationId xmlns:a16="http://schemas.microsoft.com/office/drawing/2014/main" id="{B97F98F6-CE0F-92D8-E87F-5A3FC163A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8" y="1450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82" name="Line 390">
              <a:extLst>
                <a:ext uri="{FF2B5EF4-FFF2-40B4-BE49-F238E27FC236}">
                  <a16:creationId xmlns:a16="http://schemas.microsoft.com/office/drawing/2014/main" id="{442DE858-246A-F4B1-5EDD-680CFEFFD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9" y="1450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83" name="Line 391">
              <a:extLst>
                <a:ext uri="{FF2B5EF4-FFF2-40B4-BE49-F238E27FC236}">
                  <a16:creationId xmlns:a16="http://schemas.microsoft.com/office/drawing/2014/main" id="{E467E844-75DD-C798-CBD0-2739B0CCD9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0" y="1450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10984" name="Line 392">
              <a:extLst>
                <a:ext uri="{FF2B5EF4-FFF2-40B4-BE49-F238E27FC236}">
                  <a16:creationId xmlns:a16="http://schemas.microsoft.com/office/drawing/2014/main" id="{45884E38-65CF-2394-DDB0-AC50603EE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3657"/>
              <a:ext cx="2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985" name="Rectangle 393">
                <a:extLst>
                  <a:ext uri="{FF2B5EF4-FFF2-40B4-BE49-F238E27FC236}">
                    <a16:creationId xmlns:a16="http://schemas.microsoft.com/office/drawing/2014/main" id="{AD4DC86A-402A-40F7-3C8F-85BC6C54A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364" y="767953"/>
                <a:ext cx="6123384" cy="395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rgbClr val="0033CC"/>
                  </a:buClr>
                  <a:buFont typeface="Wingdings 2" panose="05020102010507070707" pitchFamily="18" charset="2"/>
                  <a:buChar char="¡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 2" panose="05020102010507070707" pitchFamily="18" charset="2"/>
                  <a:buChar char="¡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3399FF"/>
                  </a:buClr>
                  <a:buFont typeface="Wingdings 2" panose="05020102010507070707" pitchFamily="18" charset="2"/>
                  <a:buChar char="¡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ko-KR" sz="1350" dirty="0">
                    <a:ea typeface="굴림" panose="020B0600000101010101" pitchFamily="34" charset="-127"/>
                  </a:rPr>
                  <a:t>Selection of voltages in the structure of a single sideband: (a) for 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350" dirty="0">
                    <a:ea typeface="굴림" panose="020B0600000101010101" pitchFamily="34" charset="-127"/>
                  </a:rPr>
                  <a:t> sideband, (b) for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1350" dirty="0">
                    <a:ea typeface="굴림" panose="020B0600000101010101" pitchFamily="34" charset="-127"/>
                  </a:rPr>
                  <a:t> sideband, (c) for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sz="1350" dirty="0">
                    <a:ea typeface="굴림" panose="020B0600000101010101" pitchFamily="34" charset="-127"/>
                  </a:rPr>
                  <a:t> sideband.</a:t>
                </a:r>
                <a:endParaRPr lang="ko-KR" altLang="en-US" sz="1350" dirty="0"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10985" name="Rectangle 393">
                <a:extLst>
                  <a:ext uri="{FF2B5EF4-FFF2-40B4-BE49-F238E27FC236}">
                    <a16:creationId xmlns:a16="http://schemas.microsoft.com/office/drawing/2014/main" id="{AD4DC86A-402A-40F7-3C8F-85BC6C54A7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364" y="767953"/>
                <a:ext cx="6123384" cy="395288"/>
              </a:xfrm>
              <a:prstGeom prst="rect">
                <a:avLst/>
              </a:prstGeom>
              <a:blipFill>
                <a:blip r:embed="rId16"/>
                <a:stretch>
                  <a:fillRect t="-1538" r="-1692" b="-446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754ADF70-5646-7E13-FA96-7DD2F95A5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The ratio of V</a:t>
            </a:r>
            <a:r>
              <a:rPr lang="en-US" altLang="ko-KR" baseline="-25000">
                <a:ea typeface="굴림" panose="020B0600000101010101" pitchFamily="34" charset="-127"/>
              </a:rPr>
              <a:t>jp</a:t>
            </a:r>
            <a:r>
              <a:rPr lang="en-US" altLang="ko-KR">
                <a:ea typeface="굴림" panose="020B0600000101010101" pitchFamily="34" charset="-127"/>
              </a:rPr>
              <a:t> to V</a:t>
            </a:r>
            <a:r>
              <a:rPr lang="en-US" altLang="ko-KR" baseline="-25000">
                <a:ea typeface="굴림" panose="020B0600000101010101" pitchFamily="34" charset="-127"/>
              </a:rPr>
              <a:t>0 </a:t>
            </a:r>
            <a:r>
              <a:rPr lang="en-US" altLang="ko-KR">
                <a:ea typeface="굴림" panose="020B0600000101010101" pitchFamily="34" charset="-127"/>
              </a:rPr>
              <a:t>–</a:t>
            </a:r>
            <a:r>
              <a:rPr lang="en-US" altLang="ko-KR" baseline="-25000">
                <a:ea typeface="굴림" panose="020B0600000101010101" pitchFamily="34" charset="-127"/>
              </a:rPr>
              <a:t> </a:t>
            </a:r>
            <a:r>
              <a:rPr lang="en-US" altLang="ko-KR">
                <a:ea typeface="굴림" panose="020B0600000101010101" pitchFamily="34" charset="-127"/>
              </a:rPr>
              <a:t>Single Sideband</a:t>
            </a:r>
          </a:p>
        </p:txBody>
      </p:sp>
      <p:graphicFrame>
        <p:nvGraphicFramePr>
          <p:cNvPr id="112458" name="Object 842">
            <a:extLst>
              <a:ext uri="{FF2B5EF4-FFF2-40B4-BE49-F238E27FC236}">
                <a16:creationId xmlns:a16="http://schemas.microsoft.com/office/drawing/2014/main" id="{9F863643-368A-3F71-86E5-840256DABB66}"/>
              </a:ext>
            </a:extLst>
          </p:cNvPr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70884072"/>
              </p:ext>
            </p:extLst>
          </p:nvPr>
        </p:nvGraphicFramePr>
        <p:xfrm>
          <a:off x="554038" y="1611313"/>
          <a:ext cx="53467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347123" imgH="2362102" progId="Excel.Sheet.8">
                  <p:embed/>
                </p:oleObj>
              </mc:Choice>
              <mc:Fallback>
                <p:oleObj name="Worksheet" r:id="rId3" imgW="5347123" imgH="2362102" progId="Excel.Sheet.8">
                  <p:embed/>
                  <p:pic>
                    <p:nvPicPr>
                      <p:cNvPr id="112458" name="Object 842">
                        <a:extLst>
                          <a:ext uri="{FF2B5EF4-FFF2-40B4-BE49-F238E27FC236}">
                            <a16:creationId xmlns:a16="http://schemas.microsoft.com/office/drawing/2014/main" id="{9F863643-368A-3F71-86E5-840256DAB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1611313"/>
                        <a:ext cx="534670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>
            <a:extLst>
              <a:ext uri="{FF2B5EF4-FFF2-40B4-BE49-F238E27FC236}">
                <a16:creationId xmlns:a16="http://schemas.microsoft.com/office/drawing/2014/main" id="{ECCF97A1-5432-8244-7AAD-01B9002F0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III. Design of Electrooptic Matched Filter</a:t>
            </a:r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477F551A-DCF8-6B15-F2C1-9584EB263BD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1"/>
            <a:ext cx="8641655" cy="30110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The effect of polarization conversion in the </a:t>
            </a:r>
            <a:r>
              <a:rPr lang="en-US" altLang="ko-KR" dirty="0" err="1">
                <a:ea typeface="굴림" panose="020B0600000101010101" pitchFamily="34" charset="-127"/>
              </a:rPr>
              <a:t>j’th</a:t>
            </a:r>
            <a:r>
              <a:rPr lang="en-US" altLang="ko-KR" dirty="0">
                <a:ea typeface="굴림" panose="020B0600000101010101" pitchFamily="34" charset="-127"/>
              </a:rPr>
              <a:t> coupling region and of phase shift in the spacing between electrodes is written by</a:t>
            </a: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r>
              <a:rPr lang="en-US" altLang="ko-KR" dirty="0">
                <a:ea typeface="굴림" panose="020B0600000101010101" pitchFamily="34" charset="-127"/>
              </a:rPr>
              <a:t>             where </a:t>
            </a: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br>
              <a:rPr lang="en-US" altLang="ko-KR" dirty="0">
                <a:ea typeface="굴림" panose="020B0600000101010101" pitchFamily="34" charset="-127"/>
              </a:rPr>
            </a:br>
            <a:r>
              <a:rPr lang="en-US" altLang="ko-KR" dirty="0">
                <a:ea typeface="굴림" panose="020B0600000101010101" pitchFamily="34" charset="-127"/>
              </a:rPr>
              <a:t>     ,        : electric field amplitudes of two polarization modes just prior to the </a:t>
            </a:r>
            <a:r>
              <a:rPr lang="en-US" altLang="ko-KR" dirty="0" err="1">
                <a:ea typeface="굴림" panose="020B0600000101010101" pitchFamily="34" charset="-127"/>
              </a:rPr>
              <a:t>j’th</a:t>
            </a:r>
            <a:r>
              <a:rPr lang="en-US" altLang="ko-KR" dirty="0">
                <a:ea typeface="굴림" panose="020B0600000101010101" pitchFamily="34" charset="-127"/>
              </a:rPr>
              <a:t> coupling region 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130052" name="Text Box 4">
            <a:extLst>
              <a:ext uri="{FF2B5EF4-FFF2-40B4-BE49-F238E27FC236}">
                <a16:creationId xmlns:a16="http://schemas.microsoft.com/office/drawing/2014/main" id="{A73E28B4-98E0-5BC2-6E13-A6A0F00F9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643624"/>
            <a:ext cx="61769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1" dirty="0">
                <a:ea typeface="굴림" panose="020B0600000101010101" pitchFamily="34" charset="-127"/>
              </a:rPr>
              <a:t>D. </a:t>
            </a:r>
            <a:r>
              <a:rPr lang="en-US" altLang="en-US" sz="1400" b="1" noProof="1"/>
              <a:t>Matrix Formulation and Simulation Results</a:t>
            </a:r>
            <a:endParaRPr lang="en-US" altLang="ko-KR" sz="1400" b="1" dirty="0">
              <a:ea typeface="굴림" panose="020B06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055" name="Object 7">
                <a:extLst>
                  <a:ext uri="{FF2B5EF4-FFF2-40B4-BE49-F238E27FC236}">
                    <a16:creationId xmlns:a16="http://schemas.microsoft.com/office/drawing/2014/main" id="{C3ECF0C3-B0B9-1CEF-0A1D-BF62F6DBE431}"/>
                  </a:ext>
                </a:extLst>
              </p:cNvPr>
              <p:cNvSpPr txBox="1"/>
              <p:nvPr/>
            </p:nvSpPr>
            <p:spPr bwMode="auto">
              <a:xfrm>
                <a:off x="2047081" y="1638940"/>
                <a:ext cx="1346993" cy="29170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𝐌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sub>
                      </m:sSub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30055" name="Object 7">
                <a:extLst>
                  <a:ext uri="{FF2B5EF4-FFF2-40B4-BE49-F238E27FC236}">
                    <a16:creationId xmlns:a16="http://schemas.microsoft.com/office/drawing/2014/main" id="{C3ECF0C3-B0B9-1CEF-0A1D-BF62F6DBE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7081" y="1638940"/>
                <a:ext cx="1346993" cy="291703"/>
              </a:xfrm>
              <a:prstGeom prst="rect">
                <a:avLst/>
              </a:prstGeom>
              <a:blipFill>
                <a:blip r:embed="rId3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057" name="Object 9">
                <a:extLst>
                  <a:ext uri="{FF2B5EF4-FFF2-40B4-BE49-F238E27FC236}">
                    <a16:creationId xmlns:a16="http://schemas.microsoft.com/office/drawing/2014/main" id="{FC8777E2-0D45-1E9C-9CF9-C112A1E5BCA1}"/>
                  </a:ext>
                </a:extLst>
              </p:cNvPr>
              <p:cNvSpPr txBox="1"/>
              <p:nvPr/>
            </p:nvSpPr>
            <p:spPr bwMode="auto">
              <a:xfrm>
                <a:off x="2197100" y="2073322"/>
                <a:ext cx="2736850" cy="51792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𝑇𝐸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𝑇𝑀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=1, 2, 3,⋯, 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30057" name="Object 9">
                <a:extLst>
                  <a:ext uri="{FF2B5EF4-FFF2-40B4-BE49-F238E27FC236}">
                    <a16:creationId xmlns:a16="http://schemas.microsoft.com/office/drawing/2014/main" id="{FC8777E2-0D45-1E9C-9CF9-C112A1E5B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7100" y="2073322"/>
                <a:ext cx="2736850" cy="517922"/>
              </a:xfrm>
              <a:prstGeom prst="rect">
                <a:avLst/>
              </a:prstGeom>
              <a:blipFill>
                <a:blip r:embed="rId4"/>
                <a:stretch>
                  <a:fillRect b="-8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059" name="Object 11">
                <a:extLst>
                  <a:ext uri="{FF2B5EF4-FFF2-40B4-BE49-F238E27FC236}">
                    <a16:creationId xmlns:a16="http://schemas.microsoft.com/office/drawing/2014/main" id="{DAECD880-674A-BCFA-9F06-A5E6D4C2941E}"/>
                  </a:ext>
                </a:extLst>
              </p:cNvPr>
              <p:cNvSpPr txBox="1"/>
              <p:nvPr/>
            </p:nvSpPr>
            <p:spPr bwMode="auto">
              <a:xfrm>
                <a:off x="561975" y="2890837"/>
                <a:ext cx="323850" cy="28217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p>
                      </m:sSubSup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30059" name="Object 11">
                <a:extLst>
                  <a:ext uri="{FF2B5EF4-FFF2-40B4-BE49-F238E27FC236}">
                    <a16:creationId xmlns:a16="http://schemas.microsoft.com/office/drawing/2014/main" id="{DAECD880-674A-BCFA-9F06-A5E6D4C29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975" y="2890837"/>
                <a:ext cx="323850" cy="282179"/>
              </a:xfrm>
              <a:prstGeom prst="rect">
                <a:avLst/>
              </a:prstGeom>
              <a:blipFill>
                <a:blip r:embed="rId5"/>
                <a:stretch>
                  <a:fillRect r="-32075" b="-19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061" name="Object 13">
                <a:extLst>
                  <a:ext uri="{FF2B5EF4-FFF2-40B4-BE49-F238E27FC236}">
                    <a16:creationId xmlns:a16="http://schemas.microsoft.com/office/drawing/2014/main" id="{3D327CC1-603F-D992-4DF4-34A72B260BC0}"/>
                  </a:ext>
                </a:extLst>
              </p:cNvPr>
              <p:cNvSpPr txBox="1"/>
              <p:nvPr/>
            </p:nvSpPr>
            <p:spPr bwMode="auto">
              <a:xfrm>
                <a:off x="966788" y="2902744"/>
                <a:ext cx="304800" cy="29408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𝑇𝐸</m:t>
                          </m:r>
                        </m:sup>
                      </m:sSubSup>
                    </m:oMath>
                  </m:oMathPara>
                </a14:m>
                <a:endParaRPr lang="en-US" sz="1300"/>
              </a:p>
            </p:txBody>
          </p:sp>
        </mc:Choice>
        <mc:Fallback xmlns="">
          <p:sp>
            <p:nvSpPr>
              <p:cNvPr id="130061" name="Object 13">
                <a:extLst>
                  <a:ext uri="{FF2B5EF4-FFF2-40B4-BE49-F238E27FC236}">
                    <a16:creationId xmlns:a16="http://schemas.microsoft.com/office/drawing/2014/main" id="{3D327CC1-603F-D992-4DF4-34A72B260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6788" y="2902744"/>
                <a:ext cx="304800" cy="294085"/>
              </a:xfrm>
              <a:prstGeom prst="rect">
                <a:avLst/>
              </a:prstGeom>
              <a:blipFill>
                <a:blip r:embed="rId6"/>
                <a:stretch>
                  <a:fillRect r="-300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Rectangle 3">
            <a:extLst>
              <a:ext uri="{FF2B5EF4-FFF2-40B4-BE49-F238E27FC236}">
                <a16:creationId xmlns:a16="http://schemas.microsoft.com/office/drawing/2014/main" id="{2C207182-D184-F7C1-3191-8DC355F97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Matrix Formulation </a:t>
            </a:r>
            <a:r>
              <a:rPr lang="en-US" altLang="ko-KR">
                <a:ea typeface="굴림" panose="020B0600000101010101" pitchFamily="34" charset="-127"/>
              </a:rPr>
              <a:t>Continued…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686" name="Rectangle 14">
                <a:extLst>
                  <a:ext uri="{FF2B5EF4-FFF2-40B4-BE49-F238E27FC236}">
                    <a16:creationId xmlns:a16="http://schemas.microsoft.com/office/drawing/2014/main" id="{4CB7E657-0C2D-A217-D19F-B3F5207D6116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250825" y="956668"/>
                <a:ext cx="8641655" cy="52134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>
                    <a:ea typeface="굴림" panose="020B0600000101010101" pitchFamily="34" charset="-127"/>
                  </a:rPr>
                  <a:t>The 2</a:t>
                </a:r>
                <a:r>
                  <a:rPr lang="en-US" altLang="ko-KR" dirty="0">
                    <a:ea typeface="굴림" panose="020B0600000101010101" pitchFamily="34" charset="-127"/>
                    <a:sym typeface="Symbol" panose="05050102010706020507" pitchFamily="18" charset="2"/>
                  </a:rPr>
                  <a:t></a:t>
                </a:r>
                <a:r>
                  <a:rPr lang="en-US" altLang="ko-KR" dirty="0">
                    <a:ea typeface="굴림" panose="020B0600000101010101" pitchFamily="34" charset="-127"/>
                  </a:rPr>
                  <a:t>2 transfer matrix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is given by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𝐂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6686" name="Rectangle 14">
                <a:extLst>
                  <a:ext uri="{FF2B5EF4-FFF2-40B4-BE49-F238E27FC236}">
                    <a16:creationId xmlns:a16="http://schemas.microsoft.com/office/drawing/2014/main" id="{4CB7E657-0C2D-A217-D19F-B3F5207D61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0825" y="956668"/>
                <a:ext cx="8641655" cy="521342"/>
              </a:xfrm>
              <a:blipFill>
                <a:blip r:embed="rId3"/>
                <a:stretch>
                  <a:fillRect l="-1481" t="-1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691" name="Rectangle 19">
                <a:extLst>
                  <a:ext uri="{FF2B5EF4-FFF2-40B4-BE49-F238E27FC236}">
                    <a16:creationId xmlns:a16="http://schemas.microsoft.com/office/drawing/2014/main" id="{933F2112-EFB1-42AB-F820-5466A8612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225" y="1398985"/>
                <a:ext cx="7381875" cy="1645444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7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Here, the matrix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p>
                        <m:r>
                          <a:rPr lang="en-US" sz="1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</m:sup>
                    </m:sSup>
                  </m:oMath>
                </a14:m>
                <a:r>
                  <a:rPr lang="en-US" altLang="ko-KR" sz="17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describes the phase shift occurring at the propagation region between adjacent coupling regions, which is given by</a:t>
                </a:r>
                <a:br>
                  <a:rPr lang="en-US" altLang="ko-KR" sz="17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7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7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7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7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where </a:t>
                </a:r>
                <a:endParaRPr lang="ko-KR" altLang="en-US" sz="1700" dirty="0">
                  <a:latin typeface="Arial" panose="020B0604020202020204" pitchFamily="34" charset="0"/>
                  <a:ea typeface="굴림" panose="020B0600000101010101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6691" name="Rectangle 19">
                <a:extLst>
                  <a:ext uri="{FF2B5EF4-FFF2-40B4-BE49-F238E27FC236}">
                    <a16:creationId xmlns:a16="http://schemas.microsoft.com/office/drawing/2014/main" id="{933F2112-EFB1-42AB-F820-5466A8612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225" y="1398985"/>
                <a:ext cx="7381875" cy="1645444"/>
              </a:xfrm>
              <a:prstGeom prst="rect">
                <a:avLst/>
              </a:prstGeom>
              <a:blipFill>
                <a:blip r:embed="rId4"/>
                <a:stretch>
                  <a:fillRect l="-1652" t="-3704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694" name="Object 22">
                <a:extLst>
                  <a:ext uri="{FF2B5EF4-FFF2-40B4-BE49-F238E27FC236}">
                    <a16:creationId xmlns:a16="http://schemas.microsoft.com/office/drawing/2014/main" id="{DB77EAFC-3347-2AC8-5E5C-4BE7C2C8A596}"/>
                  </a:ext>
                </a:extLst>
              </p:cNvPr>
              <p:cNvSpPr txBox="1"/>
              <p:nvPr/>
            </p:nvSpPr>
            <p:spPr bwMode="auto">
              <a:xfrm>
                <a:off x="2566987" y="1927622"/>
                <a:ext cx="1347787" cy="745331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𝐌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694" name="Object 22">
                <a:extLst>
                  <a:ext uri="{FF2B5EF4-FFF2-40B4-BE49-F238E27FC236}">
                    <a16:creationId xmlns:a16="http://schemas.microsoft.com/office/drawing/2014/main" id="{DB77EAFC-3347-2AC8-5E5C-4BE7C2C8A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6987" y="1927622"/>
                <a:ext cx="1347787" cy="745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696" name="Object 24">
                <a:extLst>
                  <a:ext uri="{FF2B5EF4-FFF2-40B4-BE49-F238E27FC236}">
                    <a16:creationId xmlns:a16="http://schemas.microsoft.com/office/drawing/2014/main" id="{F8ED1536-EDE2-01BF-F8DD-EC07FC745840}"/>
                  </a:ext>
                </a:extLst>
              </p:cNvPr>
              <p:cNvSpPr txBox="1"/>
              <p:nvPr/>
            </p:nvSpPr>
            <p:spPr bwMode="auto">
              <a:xfrm>
                <a:off x="1347391" y="2695575"/>
                <a:ext cx="1427559" cy="22264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56696" name="Object 24">
                <a:extLst>
                  <a:ext uri="{FF2B5EF4-FFF2-40B4-BE49-F238E27FC236}">
                    <a16:creationId xmlns:a16="http://schemas.microsoft.com/office/drawing/2014/main" id="{F8ED1536-EDE2-01BF-F8DD-EC07FC745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7391" y="2695575"/>
                <a:ext cx="1427559" cy="222647"/>
              </a:xfrm>
              <a:prstGeom prst="rect">
                <a:avLst/>
              </a:prstGeom>
              <a:blipFill>
                <a:blip r:embed="rId6"/>
                <a:stretch>
                  <a:fillRect b="-43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698" name="Object 26">
                <a:extLst>
                  <a:ext uri="{FF2B5EF4-FFF2-40B4-BE49-F238E27FC236}">
                    <a16:creationId xmlns:a16="http://schemas.microsoft.com/office/drawing/2014/main" id="{C0A8DA63-9234-4A2A-B347-9E5A2FE87077}"/>
                  </a:ext>
                </a:extLst>
              </p:cNvPr>
              <p:cNvSpPr txBox="1"/>
              <p:nvPr/>
            </p:nvSpPr>
            <p:spPr bwMode="auto">
              <a:xfrm>
                <a:off x="2726929" y="2722959"/>
                <a:ext cx="1305321" cy="18811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𝜋𝜈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𝑇𝐸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300"/>
              </a:p>
            </p:txBody>
          </p:sp>
        </mc:Choice>
        <mc:Fallback xmlns="">
          <p:sp>
            <p:nvSpPr>
              <p:cNvPr id="156698" name="Object 26">
                <a:extLst>
                  <a:ext uri="{FF2B5EF4-FFF2-40B4-BE49-F238E27FC236}">
                    <a16:creationId xmlns:a16="http://schemas.microsoft.com/office/drawing/2014/main" id="{C0A8DA63-9234-4A2A-B347-9E5A2FE87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6929" y="2722959"/>
                <a:ext cx="1305321" cy="188119"/>
              </a:xfrm>
              <a:prstGeom prst="rect">
                <a:avLst/>
              </a:prstGeom>
              <a:blipFill>
                <a:blip r:embed="rId7"/>
                <a:stretch>
                  <a:fillRect b="-6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700" name="Object 28">
                <a:extLst>
                  <a:ext uri="{FF2B5EF4-FFF2-40B4-BE49-F238E27FC236}">
                    <a16:creationId xmlns:a16="http://schemas.microsoft.com/office/drawing/2014/main" id="{9B3BB91D-D968-9B30-FD99-AC19E5D7FD70}"/>
                  </a:ext>
                </a:extLst>
              </p:cNvPr>
              <p:cNvSpPr txBox="1"/>
              <p:nvPr/>
            </p:nvSpPr>
            <p:spPr bwMode="auto">
              <a:xfrm>
                <a:off x="4149367" y="2707481"/>
                <a:ext cx="1347787" cy="1952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𝜋𝜈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300"/>
              </a:p>
            </p:txBody>
          </p:sp>
        </mc:Choice>
        <mc:Fallback xmlns="">
          <p:sp>
            <p:nvSpPr>
              <p:cNvPr id="156700" name="Object 28">
                <a:extLst>
                  <a:ext uri="{FF2B5EF4-FFF2-40B4-BE49-F238E27FC236}">
                    <a16:creationId xmlns:a16="http://schemas.microsoft.com/office/drawing/2014/main" id="{9B3BB91D-D968-9B30-FD99-AC19E5D7F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9367" y="2707481"/>
                <a:ext cx="1347787" cy="195263"/>
              </a:xfrm>
              <a:prstGeom prst="rect">
                <a:avLst/>
              </a:prstGeom>
              <a:blipFill>
                <a:blip r:embed="rId8"/>
                <a:stretch>
                  <a:fillRect b="-6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702" name="Object 30">
                <a:extLst>
                  <a:ext uri="{FF2B5EF4-FFF2-40B4-BE49-F238E27FC236}">
                    <a16:creationId xmlns:a16="http://schemas.microsoft.com/office/drawing/2014/main" id="{468DF5F4-D1A3-C921-0DB5-96BC58BA5AC9}"/>
                  </a:ext>
                </a:extLst>
              </p:cNvPr>
              <p:cNvSpPr txBox="1"/>
              <p:nvPr/>
            </p:nvSpPr>
            <p:spPr bwMode="auto">
              <a:xfrm>
                <a:off x="5549107" y="2714625"/>
                <a:ext cx="1083468" cy="20359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56702" name="Object 30">
                <a:extLst>
                  <a:ext uri="{FF2B5EF4-FFF2-40B4-BE49-F238E27FC236}">
                    <a16:creationId xmlns:a16="http://schemas.microsoft.com/office/drawing/2014/main" id="{468DF5F4-D1A3-C921-0DB5-96BC58BA5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9107" y="2714625"/>
                <a:ext cx="1083468" cy="203597"/>
              </a:xfrm>
              <a:prstGeom prst="rect">
                <a:avLst/>
              </a:prstGeom>
              <a:blipFill>
                <a:blip r:embed="rId9"/>
                <a:stretch>
                  <a:fillRect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704" name="Rectangle 32">
                <a:extLst>
                  <a:ext uri="{FF2B5EF4-FFF2-40B4-BE49-F238E27FC236}">
                    <a16:creationId xmlns:a16="http://schemas.microsoft.com/office/drawing/2014/main" id="{580FEC7C-A359-A587-1306-B2BE9E7F7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225" y="3019425"/>
                <a:ext cx="7381875" cy="1645444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matrix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𝐂</m:t>
                        </m:r>
                      </m:sup>
                    </m:sSubSup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representing the effect of polarization conversion at the </a:t>
                </a:r>
                <a:r>
                  <a:rPr lang="en-US" altLang="ko-KR" sz="1800" dirty="0" err="1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j’th</a:t>
                </a: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coupling region is in general written by adapting the well known solution of the coupled mode equations </a:t>
                </a: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                                               where     </a:t>
                </a:r>
                <a:endParaRPr lang="ko-KR" altLang="en-US" sz="1800" dirty="0">
                  <a:latin typeface="Arial" panose="020B0604020202020204" pitchFamily="34" charset="0"/>
                  <a:ea typeface="굴림" panose="020B0600000101010101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6704" name="Rectangle 32">
                <a:extLst>
                  <a:ext uri="{FF2B5EF4-FFF2-40B4-BE49-F238E27FC236}">
                    <a16:creationId xmlns:a16="http://schemas.microsoft.com/office/drawing/2014/main" id="{580FEC7C-A359-A587-1306-B2BE9E7F71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225" y="3019425"/>
                <a:ext cx="7381875" cy="1645444"/>
              </a:xfrm>
              <a:prstGeom prst="rect">
                <a:avLst/>
              </a:prstGeom>
              <a:blipFill>
                <a:blip r:embed="rId10"/>
                <a:stretch>
                  <a:fillRect l="-1734" t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707" name="Object 35">
                <a:extLst>
                  <a:ext uri="{FF2B5EF4-FFF2-40B4-BE49-F238E27FC236}">
                    <a16:creationId xmlns:a16="http://schemas.microsoft.com/office/drawing/2014/main" id="{FDAB3141-AD03-E2F3-4EBE-F33C34DAC551}"/>
                  </a:ext>
                </a:extLst>
              </p:cNvPr>
              <p:cNvSpPr txBox="1"/>
              <p:nvPr/>
            </p:nvSpPr>
            <p:spPr bwMode="auto">
              <a:xfrm>
                <a:off x="771525" y="3932936"/>
                <a:ext cx="2875359" cy="72270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𝐌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sub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sup>
                      </m:sSubSup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b>
                                  <m:sSub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13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sSub>
                                  <m:sSub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56707" name="Object 35">
                <a:extLst>
                  <a:ext uri="{FF2B5EF4-FFF2-40B4-BE49-F238E27FC236}">
                    <a16:creationId xmlns:a16="http://schemas.microsoft.com/office/drawing/2014/main" id="{FDAB3141-AD03-E2F3-4EBE-F33C34DAC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1525" y="3932936"/>
                <a:ext cx="2875359" cy="7227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709" name="Object 37">
                <a:extLst>
                  <a:ext uri="{FF2B5EF4-FFF2-40B4-BE49-F238E27FC236}">
                    <a16:creationId xmlns:a16="http://schemas.microsoft.com/office/drawing/2014/main" id="{0710B466-5C40-2EEB-E1DB-6FAF5D0FAF4A}"/>
                  </a:ext>
                </a:extLst>
              </p:cNvPr>
              <p:cNvSpPr txBox="1"/>
              <p:nvPr/>
            </p:nvSpPr>
            <p:spPr bwMode="auto">
              <a:xfrm>
                <a:off x="4557712" y="3806381"/>
                <a:ext cx="3017838" cy="73699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ad>
                        <m:radPr>
                          <m:degHide m:val="on"/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p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>
                        <m:f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p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>
                        <m:f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p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3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ad>
                        <m:radPr>
                          <m:degHide m:val="on"/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p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56709" name="Object 37">
                <a:extLst>
                  <a:ext uri="{FF2B5EF4-FFF2-40B4-BE49-F238E27FC236}">
                    <a16:creationId xmlns:a16="http://schemas.microsoft.com/office/drawing/2014/main" id="{0710B466-5C40-2EEB-E1DB-6FAF5D0FA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7712" y="3806381"/>
                <a:ext cx="3017838" cy="736997"/>
              </a:xfrm>
              <a:prstGeom prst="rect">
                <a:avLst/>
              </a:prstGeom>
              <a:blipFill>
                <a:blip r:embed="rId12"/>
                <a:stretch>
                  <a:fillRect b="-24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563265C0-019C-AAD5-BBDA-25D2A228D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Conversion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704" name="Rectangle 8">
                <a:extLst>
                  <a:ext uri="{FF2B5EF4-FFF2-40B4-BE49-F238E27FC236}">
                    <a16:creationId xmlns:a16="http://schemas.microsoft.com/office/drawing/2014/main" id="{127368E3-24FE-6708-140F-A836C25AE718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250825" y="951310"/>
                <a:ext cx="8641655" cy="912019"/>
              </a:xfrm>
            </p:spPr>
            <p:txBody>
              <a:bodyPr/>
              <a:lstStyle/>
              <a:p>
                <a:r>
                  <a:rPr lang="en-US" altLang="ko-KR" dirty="0">
                    <a:ea typeface="굴림" panose="020B0600000101010101" pitchFamily="34" charset="-127"/>
                  </a:rPr>
                  <a:t>The EMF consists of the first coupling region and the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 pairs of alternating polarization conversion region and the spacing between them, so that the conversion matrix is given by </a:t>
                </a:r>
                <a:endParaRPr lang="ko-KR" altLang="en-US" dirty="0"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57704" name="Rectangle 8">
                <a:extLst>
                  <a:ext uri="{FF2B5EF4-FFF2-40B4-BE49-F238E27FC236}">
                    <a16:creationId xmlns:a16="http://schemas.microsoft.com/office/drawing/2014/main" id="{127368E3-24FE-6708-140F-A836C25AE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0825" y="951310"/>
                <a:ext cx="8641655" cy="912019"/>
              </a:xfrm>
              <a:blipFill>
                <a:blip r:embed="rId3"/>
                <a:stretch>
                  <a:fillRect l="-1481" t="-866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731" name="Object 35">
                <a:extLst>
                  <a:ext uri="{FF2B5EF4-FFF2-40B4-BE49-F238E27FC236}">
                    <a16:creationId xmlns:a16="http://schemas.microsoft.com/office/drawing/2014/main" id="{040921E6-CD3E-7833-EB9B-DD4B6D9E85CA}"/>
                  </a:ext>
                </a:extLst>
              </p:cNvPr>
              <p:cNvSpPr txBox="1"/>
              <p:nvPr/>
            </p:nvSpPr>
            <p:spPr bwMode="auto">
              <a:xfrm>
                <a:off x="2005807" y="1902771"/>
                <a:ext cx="1931193" cy="48815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sub>
                            <m:sup>
                              <m:r>
                                <a:rPr lang="en-US"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𝐌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  <m:sup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𝐂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𝐌</m:t>
                                  </m:r>
                                </m:e>
                                <m:sup>
                                  <m:r>
                                    <a:rPr lang="en-US" sz="1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𝚽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sSubSup>
                        <m:sSubSup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𝐌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sup>
                      </m:sSubSup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57731" name="Object 35">
                <a:extLst>
                  <a:ext uri="{FF2B5EF4-FFF2-40B4-BE49-F238E27FC236}">
                    <a16:creationId xmlns:a16="http://schemas.microsoft.com/office/drawing/2014/main" id="{040921E6-CD3E-7833-EB9B-DD4B6D9E8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5807" y="1902771"/>
                <a:ext cx="1931193" cy="488156"/>
              </a:xfrm>
              <a:prstGeom prst="rect">
                <a:avLst/>
              </a:prstGeom>
              <a:blipFill>
                <a:blip r:embed="rId4"/>
                <a:stretch>
                  <a:fillRect b="-4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733" name="Rectangle 37">
                <a:extLst>
                  <a:ext uri="{FF2B5EF4-FFF2-40B4-BE49-F238E27FC236}">
                    <a16:creationId xmlns:a16="http://schemas.microsoft.com/office/drawing/2014/main" id="{8340400A-B888-D708-815C-A5AC39CE5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575" y="2605088"/>
                <a:ext cx="7375525" cy="1924050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Assuming that the TE polarization mode is excited at the input of EMF and its amplitude is normalized to 1, the power coupling efficiency is written by</a:t>
                </a: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b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</a:b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is the off-diagonal element of the matrix C </a:t>
                </a:r>
                <a:endParaRPr lang="ko-KR" altLang="en-US" sz="1800" dirty="0">
                  <a:latin typeface="Arial" panose="020B0604020202020204" pitchFamily="34" charset="0"/>
                  <a:ea typeface="굴림" panose="020B0600000101010101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7733" name="Rectangle 37">
                <a:extLst>
                  <a:ext uri="{FF2B5EF4-FFF2-40B4-BE49-F238E27FC236}">
                    <a16:creationId xmlns:a16="http://schemas.microsoft.com/office/drawing/2014/main" id="{8340400A-B888-D708-815C-A5AC39CE5D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575" y="2605088"/>
                <a:ext cx="7375525" cy="1924050"/>
              </a:xfrm>
              <a:prstGeom prst="rect">
                <a:avLst/>
              </a:prstGeom>
              <a:blipFill>
                <a:blip r:embed="rId5"/>
                <a:stretch>
                  <a:fillRect l="-1736" t="-4114" r="-2397" b="-7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734" name="Object 38">
                <a:extLst>
                  <a:ext uri="{FF2B5EF4-FFF2-40B4-BE49-F238E27FC236}">
                    <a16:creationId xmlns:a16="http://schemas.microsoft.com/office/drawing/2014/main" id="{0428245F-8C44-3BB1-6A83-A647A33BB93B}"/>
                  </a:ext>
                </a:extLst>
              </p:cNvPr>
              <p:cNvSpPr txBox="1"/>
              <p:nvPr/>
            </p:nvSpPr>
            <p:spPr bwMode="auto">
              <a:xfrm>
                <a:off x="2108201" y="3380336"/>
                <a:ext cx="1609724" cy="3952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𝑃𝐶𝐸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7734" name="Object 38">
                <a:extLst>
                  <a:ext uri="{FF2B5EF4-FFF2-40B4-BE49-F238E27FC236}">
                    <a16:creationId xmlns:a16="http://schemas.microsoft.com/office/drawing/2014/main" id="{0428245F-8C44-3BB1-6A83-A647A33BB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8201" y="3380336"/>
                <a:ext cx="1609724" cy="3952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68" name="Picture 48">
            <a:extLst>
              <a:ext uri="{FF2B5EF4-FFF2-40B4-BE49-F238E27FC236}">
                <a16:creationId xmlns:a16="http://schemas.microsoft.com/office/drawing/2014/main" id="{F9A85513-1914-94AD-2877-2663AB4AC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4" y="2770188"/>
            <a:ext cx="2984897" cy="2097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8766" name="Picture 46">
            <a:extLst>
              <a:ext uri="{FF2B5EF4-FFF2-40B4-BE49-F238E27FC236}">
                <a16:creationId xmlns:a16="http://schemas.microsoft.com/office/drawing/2014/main" id="{E1EF4201-079F-6B9B-AE99-5E5920977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4" y="746126"/>
            <a:ext cx="2969419" cy="216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767" name="Picture 47">
            <a:extLst>
              <a:ext uri="{FF2B5EF4-FFF2-40B4-BE49-F238E27FC236}">
                <a16:creationId xmlns:a16="http://schemas.microsoft.com/office/drawing/2014/main" id="{3AEF5B8D-E1A6-D099-C618-DFF8101F4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719" y="749698"/>
            <a:ext cx="2984897" cy="2097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8722" name="Rectangle 2">
            <a:extLst>
              <a:ext uri="{FF2B5EF4-FFF2-40B4-BE49-F238E27FC236}">
                <a16:creationId xmlns:a16="http://schemas.microsoft.com/office/drawing/2014/main" id="{EE4D557E-E292-9734-AF95-D939BF41BA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Simulation Result – Two Sidebands</a:t>
            </a:r>
          </a:p>
        </p:txBody>
      </p:sp>
      <p:sp>
        <p:nvSpPr>
          <p:cNvPr id="158749" name="Text Box 29">
            <a:extLst>
              <a:ext uri="{FF2B5EF4-FFF2-40B4-BE49-F238E27FC236}">
                <a16:creationId xmlns:a16="http://schemas.microsoft.com/office/drawing/2014/main" id="{EA869772-0175-84DC-F72E-7B9FE775E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1640285"/>
            <a:ext cx="342900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750">
                <a:latin typeface="바탕" panose="02030600000101010101" pitchFamily="18" charset="-127"/>
                <a:ea typeface="바탕" panose="02030600000101010101" pitchFamily="18" charset="-127"/>
              </a:rPr>
              <a:t>(a)</a:t>
            </a:r>
            <a:endParaRPr lang="en-US" altLang="ko-KR" sz="1013">
              <a:ea typeface="굴림" panose="020B0600000101010101" pitchFamily="34" charset="-127"/>
            </a:endParaRPr>
          </a:p>
        </p:txBody>
      </p:sp>
      <p:sp>
        <p:nvSpPr>
          <p:cNvPr id="158750" name="Text Box 30">
            <a:extLst>
              <a:ext uri="{FF2B5EF4-FFF2-40B4-BE49-F238E27FC236}">
                <a16:creationId xmlns:a16="http://schemas.microsoft.com/office/drawing/2014/main" id="{DAC1E1C9-3FFE-3EB3-C8E5-60E546D56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744" y="1628379"/>
            <a:ext cx="342900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750">
                <a:latin typeface="바탕" panose="02030600000101010101" pitchFamily="18" charset="-127"/>
                <a:ea typeface="바탕" panose="02030600000101010101" pitchFamily="18" charset="-127"/>
              </a:rPr>
              <a:t>(b)</a:t>
            </a:r>
            <a:endParaRPr lang="en-US" altLang="ko-KR" sz="1013">
              <a:ea typeface="굴림" panose="020B0600000101010101" pitchFamily="34" charset="-127"/>
            </a:endParaRPr>
          </a:p>
        </p:txBody>
      </p:sp>
      <p:sp>
        <p:nvSpPr>
          <p:cNvPr id="158751" name="Text Box 31">
            <a:extLst>
              <a:ext uri="{FF2B5EF4-FFF2-40B4-BE49-F238E27FC236}">
                <a16:creationId xmlns:a16="http://schemas.microsoft.com/office/drawing/2014/main" id="{27A941D5-82A3-00B1-B0A9-71D1A11A4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585766"/>
            <a:ext cx="342900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750">
                <a:latin typeface="바탕" panose="02030600000101010101" pitchFamily="18" charset="-127"/>
                <a:ea typeface="바탕" panose="02030600000101010101" pitchFamily="18" charset="-127"/>
              </a:rPr>
              <a:t>(c)</a:t>
            </a:r>
            <a:endParaRPr lang="en-US" altLang="ko-KR" sz="1013">
              <a:ea typeface="굴림" panose="020B0600000101010101" pitchFamily="34" charset="-127"/>
            </a:endParaRPr>
          </a:p>
        </p:txBody>
      </p:sp>
      <p:sp>
        <p:nvSpPr>
          <p:cNvPr id="158752" name="Rectangle 32">
            <a:extLst>
              <a:ext uri="{FF2B5EF4-FFF2-40B4-BE49-F238E27FC236}">
                <a16:creationId xmlns:a16="http://schemas.microsoft.com/office/drawing/2014/main" id="{98D4FD4C-EE93-D183-89ED-5C4262B18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947" y="3308858"/>
            <a:ext cx="2632472" cy="87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Simulated performances </a:t>
            </a:r>
            <a:b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in the structure of two sidebands: </a:t>
            </a:r>
            <a:b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(a) for channel 0, </a:t>
            </a:r>
            <a:b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(b) for channel 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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1, </a:t>
            </a:r>
            <a:b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(c) for channel 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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2.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D1CD7AF3-8604-9D04-3A31-B98614509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Matrix Formulation </a:t>
            </a:r>
            <a:r>
              <a:rPr lang="en-US" altLang="ko-KR" dirty="0">
                <a:ea typeface="굴림" panose="020B0600000101010101" pitchFamily="34" charset="-127"/>
              </a:rPr>
              <a:t>for Single Sideband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752" name="Rectangle 8">
                <a:extLst>
                  <a:ext uri="{FF2B5EF4-FFF2-40B4-BE49-F238E27FC236}">
                    <a16:creationId xmlns:a16="http://schemas.microsoft.com/office/drawing/2014/main" id="{68DCEBF9-BBA9-D3E6-4CC3-46B6EC183966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250825" y="951310"/>
                <a:ext cx="8641655" cy="71556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>
                    <a:ea typeface="굴림" panose="020B0600000101010101" pitchFamily="34" charset="-127"/>
                  </a:rPr>
                  <a:t>The transfer matrix for single sideband configuration can be described except that the matrix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𝚽𝛃</m:t>
                        </m:r>
                      </m:sup>
                    </m:sSup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 is replaced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</m:sup>
                    </m:sSup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if j is the even number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𝚽𝛂</m:t>
                        </m:r>
                      </m:sup>
                    </m:sSup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  otherwise. </a:t>
                </a:r>
                <a:endParaRPr lang="ko-KR" altLang="en-US" dirty="0"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159752" name="Rectangle 8">
                <a:extLst>
                  <a:ext uri="{FF2B5EF4-FFF2-40B4-BE49-F238E27FC236}">
                    <a16:creationId xmlns:a16="http://schemas.microsoft.com/office/drawing/2014/main" id="{68DCEBF9-BBA9-D3E6-4CC3-46B6EC1839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50825" y="951310"/>
                <a:ext cx="8641655" cy="715565"/>
              </a:xfrm>
              <a:blipFill>
                <a:blip r:embed="rId3"/>
                <a:stretch>
                  <a:fillRect l="-1481" t="-11111" r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791" name="Rectangle 47">
                <a:extLst>
                  <a:ext uri="{FF2B5EF4-FFF2-40B4-BE49-F238E27FC236}">
                    <a16:creationId xmlns:a16="http://schemas.microsoft.com/office/drawing/2014/main" id="{FBBE1F5C-40CC-36A3-F919-5713FE8D0D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076" y="1879997"/>
                <a:ext cx="6123384" cy="507206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</a:t>
                </a: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are used instead of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, respectively where   </a:t>
                </a:r>
              </a:p>
            </p:txBody>
          </p:sp>
        </mc:Choice>
        <mc:Fallback xmlns="">
          <p:sp>
            <p:nvSpPr>
              <p:cNvPr id="159791" name="Rectangle 47">
                <a:extLst>
                  <a:ext uri="{FF2B5EF4-FFF2-40B4-BE49-F238E27FC236}">
                    <a16:creationId xmlns:a16="http://schemas.microsoft.com/office/drawing/2014/main" id="{FBBE1F5C-40CC-36A3-F919-5713FE8D0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076" y="1879997"/>
                <a:ext cx="6123384" cy="507206"/>
              </a:xfrm>
              <a:prstGeom prst="rect">
                <a:avLst/>
              </a:prstGeom>
              <a:blipFill>
                <a:blip r:embed="rId4"/>
                <a:stretch>
                  <a:fillRect l="-2090" t="-15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798" name="Object 54">
                <a:extLst>
                  <a:ext uri="{FF2B5EF4-FFF2-40B4-BE49-F238E27FC236}">
                    <a16:creationId xmlns:a16="http://schemas.microsoft.com/office/drawing/2014/main" id="{870B4F57-8932-9047-E745-6EA8CE18FE3C}"/>
                  </a:ext>
                </a:extLst>
              </p:cNvPr>
              <p:cNvSpPr txBox="1"/>
              <p:nvPr/>
            </p:nvSpPr>
            <p:spPr bwMode="auto">
              <a:xfrm>
                <a:off x="1835150" y="2149078"/>
                <a:ext cx="1663700" cy="52149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en-US" sz="1300"/>
              </a:p>
            </p:txBody>
          </p:sp>
        </mc:Choice>
        <mc:Fallback xmlns="">
          <p:sp>
            <p:nvSpPr>
              <p:cNvPr id="159798" name="Object 54">
                <a:extLst>
                  <a:ext uri="{FF2B5EF4-FFF2-40B4-BE49-F238E27FC236}">
                    <a16:creationId xmlns:a16="http://schemas.microsoft.com/office/drawing/2014/main" id="{870B4F57-8932-9047-E745-6EA8CE18F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150" y="2149078"/>
                <a:ext cx="1663700" cy="521494"/>
              </a:xfrm>
              <a:prstGeom prst="rect">
                <a:avLst/>
              </a:prstGeom>
              <a:blipFill>
                <a:blip r:embed="rId5"/>
                <a:stretch>
                  <a:fillRect b="-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801" name="Rectangle 57">
            <a:extLst>
              <a:ext uri="{FF2B5EF4-FFF2-40B4-BE49-F238E27FC236}">
                <a16:creationId xmlns:a16="http://schemas.microsoft.com/office/drawing/2014/main" id="{0CC9B57D-4AB8-0C32-FE9E-8C2A44E9C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076" y="2765426"/>
            <a:ext cx="6750149" cy="387349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/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Simulated performance in the single sideband configuration for channel –2 </a:t>
            </a:r>
          </a:p>
        </p:txBody>
      </p:sp>
      <p:pic>
        <p:nvPicPr>
          <p:cNvPr id="159802" name="Picture 58">
            <a:extLst>
              <a:ext uri="{FF2B5EF4-FFF2-40B4-BE49-F238E27FC236}">
                <a16:creationId xmlns:a16="http://schemas.microsoft.com/office/drawing/2014/main" id="{014ECB01-49D1-38D0-30CB-041C1B782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541" y="2984500"/>
            <a:ext cx="2833688" cy="199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Rectangle 3">
            <a:extLst>
              <a:ext uri="{FF2B5EF4-FFF2-40B4-BE49-F238E27FC236}">
                <a16:creationId xmlns:a16="http://schemas.microsoft.com/office/drawing/2014/main" id="{126EC6DD-F205-5EB2-448B-9FC4341B3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IV. Electronic Driving Circuit for EMF</a:t>
            </a:r>
          </a:p>
        </p:txBody>
      </p:sp>
      <p:sp>
        <p:nvSpPr>
          <p:cNvPr id="183298" name="Rectangle 2">
            <a:extLst>
              <a:ext uri="{FF2B5EF4-FFF2-40B4-BE49-F238E27FC236}">
                <a16:creationId xmlns:a16="http://schemas.microsoft.com/office/drawing/2014/main" id="{1ADD36E5-0A5E-D0F5-E4D5-6C0F6957374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1"/>
            <a:ext cx="8956675" cy="845554"/>
          </a:xfrm>
        </p:spPr>
        <p:txBody>
          <a:bodyPr>
            <a:normAutofit/>
          </a:bodyPr>
          <a:lstStyle/>
          <a:p>
            <a:r>
              <a:rPr lang="en-US" altLang="ko-KR" sz="1600" dirty="0">
                <a:ea typeface="굴림" panose="020B0600000101010101" pitchFamily="34" charset="-127"/>
              </a:rPr>
              <a:t>The EMF is controlled by applying different voltages to each electrode set independently</a:t>
            </a:r>
          </a:p>
          <a:p>
            <a:r>
              <a:rPr lang="en-US" altLang="ko-KR" sz="1600" dirty="0">
                <a:ea typeface="굴림" panose="020B0600000101010101" pitchFamily="34" charset="-127"/>
              </a:rPr>
              <a:t>The AD5379 contains 40 DACs in one package and provides the maximum output voltages span of 17.5 V</a:t>
            </a:r>
            <a:endParaRPr lang="ko-KR" altLang="en-US" sz="1600" dirty="0">
              <a:ea typeface="굴림" panose="020B0600000101010101" pitchFamily="34" charset="-127"/>
            </a:endParaRPr>
          </a:p>
        </p:txBody>
      </p:sp>
      <p:sp>
        <p:nvSpPr>
          <p:cNvPr id="183300" name="Text Box 4">
            <a:extLst>
              <a:ext uri="{FF2B5EF4-FFF2-40B4-BE49-F238E27FC236}">
                <a16:creationId xmlns:a16="http://schemas.microsoft.com/office/drawing/2014/main" id="{8B52A5CE-C26B-73AD-FB9D-87E08072F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647968"/>
            <a:ext cx="61769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1" dirty="0">
                <a:ea typeface="굴림" panose="020B0600000101010101" pitchFamily="34" charset="-127"/>
              </a:rPr>
              <a:t>A. Digital-to-Analog Converter Driving Circuit</a:t>
            </a:r>
            <a:r>
              <a:rPr lang="en-US" altLang="ko-KR" sz="1400" dirty="0">
                <a:ea typeface="굴림" panose="020B0600000101010101" pitchFamily="34" charset="-127"/>
              </a:rPr>
              <a:t> </a:t>
            </a:r>
          </a:p>
        </p:txBody>
      </p:sp>
      <p:grpSp>
        <p:nvGrpSpPr>
          <p:cNvPr id="183412" name="Group 116">
            <a:extLst>
              <a:ext uri="{FF2B5EF4-FFF2-40B4-BE49-F238E27FC236}">
                <a16:creationId xmlns:a16="http://schemas.microsoft.com/office/drawing/2014/main" id="{EC772FD7-F6BB-57EC-85B5-ADD7EDF7BC79}"/>
              </a:ext>
            </a:extLst>
          </p:cNvPr>
          <p:cNvGrpSpPr>
            <a:grpSpLocks/>
          </p:cNvGrpSpPr>
          <p:nvPr/>
        </p:nvGrpSpPr>
        <p:grpSpPr bwMode="auto">
          <a:xfrm>
            <a:off x="960184" y="2004622"/>
            <a:ext cx="3444479" cy="2504227"/>
            <a:chOff x="1178" y="1705"/>
            <a:chExt cx="2723" cy="1962"/>
          </a:xfrm>
        </p:grpSpPr>
        <p:grpSp>
          <p:nvGrpSpPr>
            <p:cNvPr id="183391" name="Group 95">
              <a:extLst>
                <a:ext uri="{FF2B5EF4-FFF2-40B4-BE49-F238E27FC236}">
                  <a16:creationId xmlns:a16="http://schemas.microsoft.com/office/drawing/2014/main" id="{3F24437B-932F-EED3-CDD3-5AE72E58B848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202" y="2536"/>
              <a:ext cx="68" cy="255"/>
              <a:chOff x="2137" y="1735"/>
              <a:chExt cx="68" cy="255"/>
            </a:xfrm>
          </p:grpSpPr>
          <p:sp>
            <p:nvSpPr>
              <p:cNvPr id="183392" name="Line 96">
                <a:extLst>
                  <a:ext uri="{FF2B5EF4-FFF2-40B4-BE49-F238E27FC236}">
                    <a16:creationId xmlns:a16="http://schemas.microsoft.com/office/drawing/2014/main" id="{E7942E51-0BD1-E4D2-8F58-0A15FE0EA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7" y="173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grpSp>
            <p:nvGrpSpPr>
              <p:cNvPr id="183393" name="Group 97">
                <a:extLst>
                  <a:ext uri="{FF2B5EF4-FFF2-40B4-BE49-F238E27FC236}">
                    <a16:creationId xmlns:a16="http://schemas.microsoft.com/office/drawing/2014/main" id="{56CDCE91-019C-5D98-85D9-B2995ECF6A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7" y="1765"/>
                <a:ext cx="68" cy="73"/>
                <a:chOff x="822" y="3669"/>
                <a:chExt cx="68" cy="73"/>
              </a:xfrm>
            </p:grpSpPr>
            <p:sp>
              <p:nvSpPr>
                <p:cNvPr id="183394" name="Oval 98">
                  <a:extLst>
                    <a:ext uri="{FF2B5EF4-FFF2-40B4-BE49-F238E27FC236}">
                      <a16:creationId xmlns:a16="http://schemas.microsoft.com/office/drawing/2014/main" id="{E9400F6A-A5E9-B56C-4CBB-EE1F602292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" y="3669"/>
                  <a:ext cx="68" cy="7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  <p:sp>
              <p:nvSpPr>
                <p:cNvPr id="183395" name="Oval 99">
                  <a:extLst>
                    <a:ext uri="{FF2B5EF4-FFF2-40B4-BE49-F238E27FC236}">
                      <a16:creationId xmlns:a16="http://schemas.microsoft.com/office/drawing/2014/main" id="{98EC7E1B-E3AA-92A9-F774-9D9247DF0E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3691"/>
                  <a:ext cx="28" cy="2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</p:grpSp>
        </p:grpSp>
        <p:grpSp>
          <p:nvGrpSpPr>
            <p:cNvPr id="183386" name="Group 90">
              <a:extLst>
                <a:ext uri="{FF2B5EF4-FFF2-40B4-BE49-F238E27FC236}">
                  <a16:creationId xmlns:a16="http://schemas.microsoft.com/office/drawing/2014/main" id="{538C5CF2-FED2-3C97-D7FC-2DA0981FC35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199" y="2348"/>
              <a:ext cx="68" cy="255"/>
              <a:chOff x="2137" y="1735"/>
              <a:chExt cx="68" cy="255"/>
            </a:xfrm>
          </p:grpSpPr>
          <p:sp>
            <p:nvSpPr>
              <p:cNvPr id="183387" name="Line 91">
                <a:extLst>
                  <a:ext uri="{FF2B5EF4-FFF2-40B4-BE49-F238E27FC236}">
                    <a16:creationId xmlns:a16="http://schemas.microsoft.com/office/drawing/2014/main" id="{31EADE46-93AB-2DC6-CBBD-0978C1F0DA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7" y="173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grpSp>
            <p:nvGrpSpPr>
              <p:cNvPr id="183388" name="Group 92">
                <a:extLst>
                  <a:ext uri="{FF2B5EF4-FFF2-40B4-BE49-F238E27FC236}">
                    <a16:creationId xmlns:a16="http://schemas.microsoft.com/office/drawing/2014/main" id="{141AE785-8755-5636-C122-9236375C31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7" y="1765"/>
                <a:ext cx="68" cy="73"/>
                <a:chOff x="822" y="3669"/>
                <a:chExt cx="68" cy="73"/>
              </a:xfrm>
            </p:grpSpPr>
            <p:sp>
              <p:nvSpPr>
                <p:cNvPr id="183389" name="Oval 93">
                  <a:extLst>
                    <a:ext uri="{FF2B5EF4-FFF2-40B4-BE49-F238E27FC236}">
                      <a16:creationId xmlns:a16="http://schemas.microsoft.com/office/drawing/2014/main" id="{84A4BC20-B188-5E64-F4FC-B12C2B55DB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" y="3669"/>
                  <a:ext cx="68" cy="7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  <p:sp>
              <p:nvSpPr>
                <p:cNvPr id="183390" name="Oval 94">
                  <a:extLst>
                    <a:ext uri="{FF2B5EF4-FFF2-40B4-BE49-F238E27FC236}">
                      <a16:creationId xmlns:a16="http://schemas.microsoft.com/office/drawing/2014/main" id="{9E4DC1B1-DFDB-5C25-5224-35686E3EAB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3691"/>
                  <a:ext cx="28" cy="2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</p:grpSp>
        </p:grpSp>
        <p:grpSp>
          <p:nvGrpSpPr>
            <p:cNvPr id="183371" name="Group 75">
              <a:extLst>
                <a:ext uri="{FF2B5EF4-FFF2-40B4-BE49-F238E27FC236}">
                  <a16:creationId xmlns:a16="http://schemas.microsoft.com/office/drawing/2014/main" id="{A8788C10-03D8-351F-F24B-A92316AFF2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4" y="2074"/>
              <a:ext cx="68" cy="255"/>
              <a:chOff x="2137" y="1735"/>
              <a:chExt cx="68" cy="255"/>
            </a:xfrm>
          </p:grpSpPr>
          <p:sp>
            <p:nvSpPr>
              <p:cNvPr id="183362" name="Line 66">
                <a:extLst>
                  <a:ext uri="{FF2B5EF4-FFF2-40B4-BE49-F238E27FC236}">
                    <a16:creationId xmlns:a16="http://schemas.microsoft.com/office/drawing/2014/main" id="{D2382A20-335F-1027-55CA-8952419468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7" y="173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grpSp>
            <p:nvGrpSpPr>
              <p:cNvPr id="183367" name="Group 71">
                <a:extLst>
                  <a:ext uri="{FF2B5EF4-FFF2-40B4-BE49-F238E27FC236}">
                    <a16:creationId xmlns:a16="http://schemas.microsoft.com/office/drawing/2014/main" id="{8743A207-8F71-EBE0-4190-06A047B6FD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7" y="1765"/>
                <a:ext cx="68" cy="73"/>
                <a:chOff x="822" y="3669"/>
                <a:chExt cx="68" cy="73"/>
              </a:xfrm>
            </p:grpSpPr>
            <p:sp>
              <p:nvSpPr>
                <p:cNvPr id="183366" name="Oval 70">
                  <a:extLst>
                    <a:ext uri="{FF2B5EF4-FFF2-40B4-BE49-F238E27FC236}">
                      <a16:creationId xmlns:a16="http://schemas.microsoft.com/office/drawing/2014/main" id="{F4AFFBD5-F8D4-576D-AC4B-0D38C4097F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" y="3669"/>
                  <a:ext cx="68" cy="7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  <p:sp>
              <p:nvSpPr>
                <p:cNvPr id="183365" name="Oval 69">
                  <a:extLst>
                    <a:ext uri="{FF2B5EF4-FFF2-40B4-BE49-F238E27FC236}">
                      <a16:creationId xmlns:a16="http://schemas.microsoft.com/office/drawing/2014/main" id="{C0531F22-3798-B901-FE96-274D024E75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3691"/>
                  <a:ext cx="28" cy="2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</p:grpSp>
        </p:grpSp>
        <p:grpSp>
          <p:nvGrpSpPr>
            <p:cNvPr id="183372" name="Group 76">
              <a:extLst>
                <a:ext uri="{FF2B5EF4-FFF2-40B4-BE49-F238E27FC236}">
                  <a16:creationId xmlns:a16="http://schemas.microsoft.com/office/drawing/2014/main" id="{9C0AF000-025E-0AFF-875B-E0AEFE6163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1" y="2074"/>
              <a:ext cx="68" cy="255"/>
              <a:chOff x="2137" y="1735"/>
              <a:chExt cx="68" cy="255"/>
            </a:xfrm>
          </p:grpSpPr>
          <p:sp>
            <p:nvSpPr>
              <p:cNvPr id="183373" name="Line 77">
                <a:extLst>
                  <a:ext uri="{FF2B5EF4-FFF2-40B4-BE49-F238E27FC236}">
                    <a16:creationId xmlns:a16="http://schemas.microsoft.com/office/drawing/2014/main" id="{7BC38A61-2C32-D5DF-68B1-A6A69682A9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7" y="173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grpSp>
            <p:nvGrpSpPr>
              <p:cNvPr id="183374" name="Group 78">
                <a:extLst>
                  <a:ext uri="{FF2B5EF4-FFF2-40B4-BE49-F238E27FC236}">
                    <a16:creationId xmlns:a16="http://schemas.microsoft.com/office/drawing/2014/main" id="{2681D2C1-DC12-DF17-D157-9FA59F7EAE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7" y="1765"/>
                <a:ext cx="68" cy="73"/>
                <a:chOff x="822" y="3669"/>
                <a:chExt cx="68" cy="73"/>
              </a:xfrm>
            </p:grpSpPr>
            <p:sp>
              <p:nvSpPr>
                <p:cNvPr id="183375" name="Oval 79">
                  <a:extLst>
                    <a:ext uri="{FF2B5EF4-FFF2-40B4-BE49-F238E27FC236}">
                      <a16:creationId xmlns:a16="http://schemas.microsoft.com/office/drawing/2014/main" id="{68299409-9B90-4F5E-16C7-F48B8F01F0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" y="3669"/>
                  <a:ext cx="68" cy="7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  <p:sp>
              <p:nvSpPr>
                <p:cNvPr id="183376" name="Oval 80">
                  <a:extLst>
                    <a:ext uri="{FF2B5EF4-FFF2-40B4-BE49-F238E27FC236}">
                      <a16:creationId xmlns:a16="http://schemas.microsoft.com/office/drawing/2014/main" id="{04A4D6A3-DEF7-0D50-3410-28D81A13E9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3691"/>
                  <a:ext cx="28" cy="2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</p:grpSp>
        </p:grpSp>
        <p:grpSp>
          <p:nvGrpSpPr>
            <p:cNvPr id="183377" name="Group 81">
              <a:extLst>
                <a:ext uri="{FF2B5EF4-FFF2-40B4-BE49-F238E27FC236}">
                  <a16:creationId xmlns:a16="http://schemas.microsoft.com/office/drawing/2014/main" id="{3F5685C5-B473-12A1-EA6F-6CD6335C58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2" y="2074"/>
              <a:ext cx="68" cy="255"/>
              <a:chOff x="2137" y="1735"/>
              <a:chExt cx="68" cy="255"/>
            </a:xfrm>
          </p:grpSpPr>
          <p:sp>
            <p:nvSpPr>
              <p:cNvPr id="183378" name="Line 82">
                <a:extLst>
                  <a:ext uri="{FF2B5EF4-FFF2-40B4-BE49-F238E27FC236}">
                    <a16:creationId xmlns:a16="http://schemas.microsoft.com/office/drawing/2014/main" id="{962E492C-9434-C925-6EE8-2E4F78259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7" y="173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013"/>
              </a:p>
            </p:txBody>
          </p:sp>
          <p:grpSp>
            <p:nvGrpSpPr>
              <p:cNvPr id="183379" name="Group 83">
                <a:extLst>
                  <a:ext uri="{FF2B5EF4-FFF2-40B4-BE49-F238E27FC236}">
                    <a16:creationId xmlns:a16="http://schemas.microsoft.com/office/drawing/2014/main" id="{41918AA0-2E28-FEAC-336C-2DA672FCBC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7" y="1765"/>
                <a:ext cx="68" cy="73"/>
                <a:chOff x="822" y="3669"/>
                <a:chExt cx="68" cy="73"/>
              </a:xfrm>
            </p:grpSpPr>
            <p:sp>
              <p:nvSpPr>
                <p:cNvPr id="183380" name="Oval 84">
                  <a:extLst>
                    <a:ext uri="{FF2B5EF4-FFF2-40B4-BE49-F238E27FC236}">
                      <a16:creationId xmlns:a16="http://schemas.microsoft.com/office/drawing/2014/main" id="{4159E382-7C71-3AC5-E907-BC387D9974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" y="3669"/>
                  <a:ext cx="68" cy="7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  <p:sp>
              <p:nvSpPr>
                <p:cNvPr id="183381" name="Oval 85">
                  <a:extLst>
                    <a:ext uri="{FF2B5EF4-FFF2-40B4-BE49-F238E27FC236}">
                      <a16:creationId xmlns:a16="http://schemas.microsoft.com/office/drawing/2014/main" id="{72D7243C-51F6-D471-D413-2773467362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3691"/>
                  <a:ext cx="28" cy="2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013"/>
                </a:p>
              </p:txBody>
            </p:sp>
          </p:grpSp>
        </p:grpSp>
        <p:sp>
          <p:nvSpPr>
            <p:cNvPr id="183327" name="Rectangle 31">
              <a:extLst>
                <a:ext uri="{FF2B5EF4-FFF2-40B4-BE49-F238E27FC236}">
                  <a16:creationId xmlns:a16="http://schemas.microsoft.com/office/drawing/2014/main" id="{29F25DDD-6838-AB53-88F2-AFB025577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" y="2272"/>
              <a:ext cx="964" cy="13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AD5379</a:t>
              </a:r>
            </a:p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40-channel</a:t>
              </a:r>
            </a:p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DAC</a:t>
              </a:r>
            </a:p>
          </p:txBody>
        </p:sp>
        <p:sp>
          <p:nvSpPr>
            <p:cNvPr id="183328" name="Line 32">
              <a:extLst>
                <a:ext uri="{FF2B5EF4-FFF2-40B4-BE49-F238E27FC236}">
                  <a16:creationId xmlns:a16="http://schemas.microsoft.com/office/drawing/2014/main" id="{75EE0318-3B2D-49E3-5E51-E03189512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7" y="2471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3354" name="Text Box 58">
              <a:extLst>
                <a:ext uri="{FF2B5EF4-FFF2-40B4-BE49-F238E27FC236}">
                  <a16:creationId xmlns:a16="http://schemas.microsoft.com/office/drawing/2014/main" id="{47E46878-3FE6-A842-D14F-8A7F0A6E3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" y="2386"/>
              <a:ext cx="25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V0</a:t>
              </a:r>
            </a:p>
          </p:txBody>
        </p:sp>
        <p:sp>
          <p:nvSpPr>
            <p:cNvPr id="183355" name="Text Box 59">
              <a:extLst>
                <a:ext uri="{FF2B5EF4-FFF2-40B4-BE49-F238E27FC236}">
                  <a16:creationId xmlns:a16="http://schemas.microsoft.com/office/drawing/2014/main" id="{218D1C8A-E08B-F650-3494-C096044AE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2" y="3378"/>
              <a:ext cx="28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V39</a:t>
              </a:r>
            </a:p>
          </p:txBody>
        </p:sp>
        <p:sp>
          <p:nvSpPr>
            <p:cNvPr id="183356" name="Line 60">
              <a:extLst>
                <a:ext uri="{FF2B5EF4-FFF2-40B4-BE49-F238E27FC236}">
                  <a16:creationId xmlns:a16="http://schemas.microsoft.com/office/drawing/2014/main" id="{A02EB2E7-E17B-0B91-0FE9-A6B9CC6F6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7" y="3463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3357" name="Text Box 61">
              <a:extLst>
                <a:ext uri="{FF2B5EF4-FFF2-40B4-BE49-F238E27FC236}">
                  <a16:creationId xmlns:a16="http://schemas.microsoft.com/office/drawing/2014/main" id="{7C2FB202-FA90-67CB-1ACD-34C18633B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5" y="2697"/>
              <a:ext cx="255" cy="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50">
                  <a:ea typeface="굴림" panose="020B0600000101010101" pitchFamily="34" charset="-127"/>
                  <a:sym typeface="Wingdings 2" panose="05020102010507070707" pitchFamily="18" charset="2"/>
                </a:rPr>
                <a:t></a:t>
              </a:r>
              <a:endParaRPr lang="en-US" altLang="ko-KR" sz="1050">
                <a:latin typeface="Times New Roman" panose="02020603050405020304" pitchFamily="18" charset="0"/>
                <a:ea typeface="굴림" panose="020B0600000101010101" pitchFamily="34" charset="-127"/>
                <a:sym typeface="Wingdings 2" panose="05020102010507070707" pitchFamily="18" charset="2"/>
              </a:endParaRPr>
            </a:p>
            <a:p>
              <a:pPr>
                <a:spcBef>
                  <a:spcPct val="50000"/>
                </a:spcBef>
              </a:pPr>
              <a:r>
                <a:rPr lang="en-US" altLang="ko-KR" sz="1050">
                  <a:ea typeface="굴림" panose="020B0600000101010101" pitchFamily="34" charset="-127"/>
                  <a:sym typeface="Wingdings 2" panose="05020102010507070707" pitchFamily="18" charset="2"/>
                </a:rPr>
                <a:t>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1050">
                  <a:ea typeface="굴림" panose="020B0600000101010101" pitchFamily="34" charset="-127"/>
                  <a:sym typeface="Wingdings 2" panose="05020102010507070707" pitchFamily="18" charset="2"/>
                </a:rPr>
                <a:t></a:t>
              </a:r>
            </a:p>
          </p:txBody>
        </p:sp>
        <p:sp>
          <p:nvSpPr>
            <p:cNvPr id="183358" name="Text Box 62">
              <a:extLst>
                <a:ext uri="{FF2B5EF4-FFF2-40B4-BE49-F238E27FC236}">
                  <a16:creationId xmlns:a16="http://schemas.microsoft.com/office/drawing/2014/main" id="{2E78C03D-2FDB-4C28-72DF-A82E34275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5" y="2269"/>
              <a:ext cx="737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CC    </a:t>
              </a: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DD    </a:t>
              </a: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SS</a:t>
              </a:r>
            </a:p>
          </p:txBody>
        </p:sp>
        <p:sp>
          <p:nvSpPr>
            <p:cNvPr id="183360" name="Rectangle 64">
              <a:extLst>
                <a:ext uri="{FF2B5EF4-FFF2-40B4-BE49-F238E27FC236}">
                  <a16:creationId xmlns:a16="http://schemas.microsoft.com/office/drawing/2014/main" id="{29D6A409-025E-994D-85D8-CC163182C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" y="1705"/>
              <a:ext cx="1134" cy="3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Power Supply Inputs</a:t>
              </a:r>
            </a:p>
          </p:txBody>
        </p:sp>
        <p:sp>
          <p:nvSpPr>
            <p:cNvPr id="183361" name="Text Box 65">
              <a:extLst>
                <a:ext uri="{FF2B5EF4-FFF2-40B4-BE49-F238E27FC236}">
                  <a16:creationId xmlns:a16="http://schemas.microsoft.com/office/drawing/2014/main" id="{7ED6B2C4-F447-59F1-03D5-5584C9E74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7" y="1904"/>
              <a:ext cx="1105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5V  +12V   –12V</a:t>
              </a:r>
            </a:p>
          </p:txBody>
        </p:sp>
        <p:sp>
          <p:nvSpPr>
            <p:cNvPr id="183382" name="Text Box 86">
              <a:extLst>
                <a:ext uri="{FF2B5EF4-FFF2-40B4-BE49-F238E27FC236}">
                  <a16:creationId xmlns:a16="http://schemas.microsoft.com/office/drawing/2014/main" id="{6EE38C42-D5B9-9061-FEF1-74387F749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4" y="2382"/>
              <a:ext cx="397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REF(+)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V</a:t>
              </a:r>
              <a:r>
                <a:rPr lang="en-US" altLang="ko-KR" sz="900" baseline="-25000">
                  <a:latin typeface="Times New Roman" panose="02020603050405020304" pitchFamily="18" charset="0"/>
                  <a:ea typeface="굴림" panose="020B0600000101010101" pitchFamily="34" charset="-127"/>
                </a:rPr>
                <a:t>REF(-)</a:t>
              </a:r>
            </a:p>
          </p:txBody>
        </p:sp>
        <p:sp>
          <p:nvSpPr>
            <p:cNvPr id="183383" name="Rectangle 87">
              <a:extLst>
                <a:ext uri="{FF2B5EF4-FFF2-40B4-BE49-F238E27FC236}">
                  <a16:creationId xmlns:a16="http://schemas.microsoft.com/office/drawing/2014/main" id="{174A1134-142E-1C78-9BEC-E24F280CD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2" y="2380"/>
              <a:ext cx="311" cy="1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5V</a:t>
              </a:r>
            </a:p>
          </p:txBody>
        </p:sp>
        <p:sp>
          <p:nvSpPr>
            <p:cNvPr id="183385" name="Rectangle 89">
              <a:extLst>
                <a:ext uri="{FF2B5EF4-FFF2-40B4-BE49-F238E27FC236}">
                  <a16:creationId xmlns:a16="http://schemas.microsoft.com/office/drawing/2014/main" id="{133F9D4C-1FDD-A1C2-3289-EF2F55249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2" y="2578"/>
              <a:ext cx="311" cy="1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–3.5V</a:t>
              </a:r>
            </a:p>
          </p:txBody>
        </p:sp>
        <p:sp>
          <p:nvSpPr>
            <p:cNvPr id="183399" name="Text Box 103">
              <a:extLst>
                <a:ext uri="{FF2B5EF4-FFF2-40B4-BE49-F238E27FC236}">
                  <a16:creationId xmlns:a16="http://schemas.microsoft.com/office/drawing/2014/main" id="{349C0A7F-3F03-98B4-0A73-D058DA716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98"/>
              <a:ext cx="365" cy="7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Serial Interface 36 Pin Connector</a:t>
              </a:r>
              <a:endParaRPr lang="ko-KR" altLang="en-US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sp>
          <p:nvSpPr>
            <p:cNvPr id="183400" name="Line 104">
              <a:extLst>
                <a:ext uri="{FF2B5EF4-FFF2-40B4-BE49-F238E27FC236}">
                  <a16:creationId xmlns:a16="http://schemas.microsoft.com/office/drawing/2014/main" id="{0E6B79B0-29A5-FE11-E787-DCB3197E9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8" y="3265"/>
              <a:ext cx="23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3403" name="Line 107">
              <a:extLst>
                <a:ext uri="{FF2B5EF4-FFF2-40B4-BE49-F238E27FC236}">
                  <a16:creationId xmlns:a16="http://schemas.microsoft.com/office/drawing/2014/main" id="{5A35D4DD-242A-C1B8-8EE9-1979F48FD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3266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3407" name="Text Box 111">
              <a:extLst>
                <a:ext uri="{FF2B5EF4-FFF2-40B4-BE49-F238E27FC236}">
                  <a16:creationId xmlns:a16="http://schemas.microsoft.com/office/drawing/2014/main" id="{6FDBFB27-E428-C3E3-1613-9DA2AF04E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8" y="3067"/>
              <a:ext cx="482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Serial Data</a:t>
              </a:r>
              <a:b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</a:b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Input</a:t>
              </a:r>
            </a:p>
          </p:txBody>
        </p:sp>
        <p:sp>
          <p:nvSpPr>
            <p:cNvPr id="183410" name="Text Box 114">
              <a:extLst>
                <a:ext uri="{FF2B5EF4-FFF2-40B4-BE49-F238E27FC236}">
                  <a16:creationId xmlns:a16="http://schemas.microsoft.com/office/drawing/2014/main" id="{F30D3C58-16AA-938A-E6AD-F93A0FCF0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0" y="2840"/>
              <a:ext cx="51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Analog Outputs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Rectangle 3">
            <a:extLst>
              <a:ext uri="{FF2B5EF4-FFF2-40B4-BE49-F238E27FC236}">
                <a16:creationId xmlns:a16="http://schemas.microsoft.com/office/drawing/2014/main" id="{AC237EB8-6706-E9AD-6280-003DB2AB0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Electronic Driving Circuit Configuration</a:t>
            </a:r>
          </a:p>
        </p:txBody>
      </p:sp>
      <p:sp>
        <p:nvSpPr>
          <p:cNvPr id="185412" name="Rectangle 68">
            <a:extLst>
              <a:ext uri="{FF2B5EF4-FFF2-40B4-BE49-F238E27FC236}">
                <a16:creationId xmlns:a16="http://schemas.microsoft.com/office/drawing/2014/main" id="{36D79C68-6B86-A261-ADA7-4D672C9BB0C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1"/>
            <a:ext cx="8641655" cy="1114422"/>
          </a:xfrm>
          <a:noFill/>
          <a:ln/>
        </p:spPr>
        <p:txBody>
          <a:bodyPr>
            <a:normAutofit fontScale="92500" lnSpcReduction="20000"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In this research, programmable data inputs are loaded from a personal computer memory into the AD5379 input registers by serial interface</a:t>
            </a:r>
          </a:p>
          <a:p>
            <a:endParaRPr lang="en-US" altLang="ko-KR" dirty="0">
              <a:ea typeface="굴림" panose="020B0600000101010101" pitchFamily="34" charset="-127"/>
            </a:endParaRPr>
          </a:p>
          <a:p>
            <a:r>
              <a:rPr lang="en-US" altLang="ko-KR" dirty="0">
                <a:ea typeface="굴림" panose="020B0600000101010101" pitchFamily="34" charset="-127"/>
              </a:rPr>
              <a:t>The DAC output voltages are insufficient to directly drive the EMF, so an external op-amp array is utilized to obtain higher voltages</a:t>
            </a:r>
          </a:p>
        </p:txBody>
      </p:sp>
      <p:grpSp>
        <p:nvGrpSpPr>
          <p:cNvPr id="185411" name="Group 67">
            <a:extLst>
              <a:ext uri="{FF2B5EF4-FFF2-40B4-BE49-F238E27FC236}">
                <a16:creationId xmlns:a16="http://schemas.microsoft.com/office/drawing/2014/main" id="{61909ED3-FF27-BA2A-9F44-5FC336E160FA}"/>
              </a:ext>
            </a:extLst>
          </p:cNvPr>
          <p:cNvGrpSpPr>
            <a:grpSpLocks/>
          </p:cNvGrpSpPr>
          <p:nvPr/>
        </p:nvGrpSpPr>
        <p:grpSpPr bwMode="auto">
          <a:xfrm>
            <a:off x="1599803" y="2756299"/>
            <a:ext cx="3509963" cy="642937"/>
            <a:chOff x="1151" y="2132"/>
            <a:chExt cx="2948" cy="540"/>
          </a:xfrm>
        </p:grpSpPr>
        <p:sp>
          <p:nvSpPr>
            <p:cNvPr id="185401" name="Line 57">
              <a:extLst>
                <a:ext uri="{FF2B5EF4-FFF2-40B4-BE49-F238E27FC236}">
                  <a16:creationId xmlns:a16="http://schemas.microsoft.com/office/drawing/2014/main" id="{F7B5199B-F024-6ACD-F22A-4075E49CA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2529"/>
              <a:ext cx="5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5399" name="Line 55">
              <a:extLst>
                <a:ext uri="{FF2B5EF4-FFF2-40B4-BE49-F238E27FC236}">
                  <a16:creationId xmlns:a16="http://schemas.microsoft.com/office/drawing/2014/main" id="{CDC32F32-DD34-1C23-B6CA-A40252E3D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529"/>
              <a:ext cx="5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5400" name="Line 56">
              <a:extLst>
                <a:ext uri="{FF2B5EF4-FFF2-40B4-BE49-F238E27FC236}">
                  <a16:creationId xmlns:a16="http://schemas.microsoft.com/office/drawing/2014/main" id="{8896E275-60FE-0A9C-4056-C85CA369D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2529"/>
              <a:ext cx="5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5397" name="Rectangle 53">
              <a:extLst>
                <a:ext uri="{FF2B5EF4-FFF2-40B4-BE49-F238E27FC236}">
                  <a16:creationId xmlns:a16="http://schemas.microsoft.com/office/drawing/2014/main" id="{76CB212E-130E-ED1B-EEBC-EF834CF87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2160"/>
              <a:ext cx="454" cy="4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AD5379</a:t>
              </a:r>
            </a:p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Board</a:t>
              </a:r>
            </a:p>
          </p:txBody>
        </p:sp>
        <p:sp>
          <p:nvSpPr>
            <p:cNvPr id="185396" name="computr2">
              <a:extLst>
                <a:ext uri="{FF2B5EF4-FFF2-40B4-BE49-F238E27FC236}">
                  <a16:creationId xmlns:a16="http://schemas.microsoft.com/office/drawing/2014/main" id="{3E892CBB-8DCC-3295-E372-C0D504CA9D7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1151" y="2132"/>
              <a:ext cx="649" cy="511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5403" name="Text Box 59">
              <a:extLst>
                <a:ext uri="{FF2B5EF4-FFF2-40B4-BE49-F238E27FC236}">
                  <a16:creationId xmlns:a16="http://schemas.microsoft.com/office/drawing/2014/main" id="{6C319ACF-5BDC-DE5D-CF79-37149BFE4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8" y="2245"/>
              <a:ext cx="482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Serial Interface</a:t>
              </a:r>
            </a:p>
          </p:txBody>
        </p:sp>
        <p:sp>
          <p:nvSpPr>
            <p:cNvPr id="185404" name="Line 60">
              <a:extLst>
                <a:ext uri="{FF2B5EF4-FFF2-40B4-BE49-F238E27FC236}">
                  <a16:creationId xmlns:a16="http://schemas.microsoft.com/office/drawing/2014/main" id="{2A2CACB8-9570-C083-B8D7-39EF95B5B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9" y="2500"/>
              <a:ext cx="57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5405" name="Line 61">
              <a:extLst>
                <a:ext uri="{FF2B5EF4-FFF2-40B4-BE49-F238E27FC236}">
                  <a16:creationId xmlns:a16="http://schemas.microsoft.com/office/drawing/2014/main" id="{DD31293A-A878-8C09-2E49-B7CE991447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8" y="2500"/>
              <a:ext cx="57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85406" name="Text Box 62">
              <a:extLst>
                <a:ext uri="{FF2B5EF4-FFF2-40B4-BE49-F238E27FC236}">
                  <a16:creationId xmlns:a16="http://schemas.microsoft.com/office/drawing/2014/main" id="{71067F78-2751-A4D7-0610-F03BF28850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9" y="2356"/>
              <a:ext cx="31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ea typeface="굴림" panose="020B0600000101010101" pitchFamily="34" charset="-127"/>
                  <a:sym typeface="Symbol" panose="05050102010706020507" pitchFamily="18" charset="2"/>
                </a:rPr>
                <a:t></a:t>
              </a:r>
              <a:r>
                <a:rPr lang="en-US" altLang="ko-KR" sz="900">
                  <a:ea typeface="굴림" panose="020B0600000101010101" pitchFamily="34" charset="-127"/>
                </a:rPr>
                <a:t> </a:t>
              </a: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8</a:t>
              </a:r>
            </a:p>
          </p:txBody>
        </p:sp>
        <p:sp>
          <p:nvSpPr>
            <p:cNvPr id="185407" name="Text Box 63">
              <a:extLst>
                <a:ext uri="{FF2B5EF4-FFF2-40B4-BE49-F238E27FC236}">
                  <a16:creationId xmlns:a16="http://schemas.microsoft.com/office/drawing/2014/main" id="{01F4ACD8-AC58-6C54-35CA-A169D89DB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7" y="2358"/>
              <a:ext cx="28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ea typeface="굴림" panose="020B0600000101010101" pitchFamily="34" charset="-127"/>
                  <a:sym typeface="Symbol" panose="05050102010706020507" pitchFamily="18" charset="2"/>
                </a:rPr>
                <a:t></a:t>
              </a:r>
              <a:r>
                <a:rPr lang="en-US" altLang="ko-KR" sz="900">
                  <a:ea typeface="굴림" panose="020B0600000101010101" pitchFamily="34" charset="-127"/>
                </a:rPr>
                <a:t> </a:t>
              </a: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8</a:t>
              </a:r>
            </a:p>
          </p:txBody>
        </p:sp>
        <p:sp>
          <p:nvSpPr>
            <p:cNvPr id="185408" name="Rectangle 64">
              <a:extLst>
                <a:ext uri="{FF2B5EF4-FFF2-40B4-BE49-F238E27FC236}">
                  <a16:creationId xmlns:a16="http://schemas.microsoft.com/office/drawing/2014/main" id="{2A8C9AC5-84BC-8147-D4BA-467FC7ADA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2160"/>
              <a:ext cx="454" cy="4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Op-amp</a:t>
              </a:r>
            </a:p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array</a:t>
              </a:r>
            </a:p>
          </p:txBody>
        </p:sp>
        <p:sp>
          <p:nvSpPr>
            <p:cNvPr id="185409" name="Rectangle 65">
              <a:extLst>
                <a:ext uri="{FF2B5EF4-FFF2-40B4-BE49-F238E27FC236}">
                  <a16:creationId xmlns:a16="http://schemas.microsoft.com/office/drawing/2014/main" id="{17AA53AC-5BF9-AAA6-C376-9B6C2519E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160"/>
              <a:ext cx="595" cy="4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Electrooptic</a:t>
              </a:r>
            </a:p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 matched filter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D3AF1419-39BD-4253-73E2-55972248F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IV. Electronic Driving Circuit for EMF</a:t>
            </a:r>
          </a:p>
        </p:txBody>
      </p:sp>
      <p:graphicFrame>
        <p:nvGraphicFramePr>
          <p:cNvPr id="184488" name="Group 168">
            <a:extLst>
              <a:ext uri="{FF2B5EF4-FFF2-40B4-BE49-F238E27FC236}">
                <a16:creationId xmlns:a16="http://schemas.microsoft.com/office/drawing/2014/main" id="{0E191C07-0C8C-0C31-C2B2-DFD55213731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0649549"/>
              </p:ext>
            </p:extLst>
          </p:nvPr>
        </p:nvGraphicFramePr>
        <p:xfrm>
          <a:off x="4197351" y="2176462"/>
          <a:ext cx="3460750" cy="1524000"/>
        </p:xfrm>
        <a:graphic>
          <a:graphicData uri="http://schemas.openxmlformats.org/drawingml/2006/table">
            <a:tbl>
              <a:tblPr/>
              <a:tblGrid>
                <a:gridCol w="1457882">
                  <a:extLst>
                    <a:ext uri="{9D8B030D-6E8A-4147-A177-3AD203B41FA5}">
                      <a16:colId xmlns:a16="http://schemas.microsoft.com/office/drawing/2014/main" val="2856220374"/>
                    </a:ext>
                  </a:extLst>
                </a:gridCol>
                <a:gridCol w="1174214">
                  <a:extLst>
                    <a:ext uri="{9D8B030D-6E8A-4147-A177-3AD203B41FA5}">
                      <a16:colId xmlns:a16="http://schemas.microsoft.com/office/drawing/2014/main" val="1914630313"/>
                    </a:ext>
                  </a:extLst>
                </a:gridCol>
                <a:gridCol w="828654">
                  <a:extLst>
                    <a:ext uri="{9D8B030D-6E8A-4147-A177-3AD203B41FA5}">
                      <a16:colId xmlns:a16="http://schemas.microsoft.com/office/drawing/2014/main" val="1480264789"/>
                    </a:ext>
                  </a:extLst>
                </a:gridCol>
              </a:tblGrid>
              <a:tr h="18288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14-bit data word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Hexidecimal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Offset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134041"/>
                  </a:ext>
                </a:extLst>
              </a:tr>
              <a:tr h="18288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11 1111 1111 1111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3FFF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+8191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879574"/>
                  </a:ext>
                </a:extLst>
              </a:tr>
              <a:tr h="18288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11 1111 1111 1110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3FFE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+8190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608288"/>
                  </a:ext>
                </a:extLst>
              </a:tr>
              <a:tr h="18288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10 0000 0000 0001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2001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+1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96464"/>
                  </a:ext>
                </a:extLst>
              </a:tr>
              <a:tr h="18288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10 0000 0000 0000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2000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31229"/>
                  </a:ext>
                </a:extLst>
              </a:tr>
              <a:tr h="18288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01 1111 1111 1111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1FFF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-1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58325"/>
                  </a:ext>
                </a:extLst>
              </a:tr>
              <a:tr h="18288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00 0000 0000 0001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0001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-8191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759603"/>
                  </a:ext>
                </a:extLst>
              </a:tr>
              <a:tr h="18288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00 0000 0000 0000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0000</a:t>
                      </a:r>
                      <a:endParaRPr kumimoji="0" lang="en-US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rgbClr val="0033CC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 2" panose="05020102010507070707" pitchFamily="18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3399FF"/>
                        </a:buClr>
                        <a:buFont typeface="Wingdings 2" panose="05020102010507070707" pitchFamily="18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34" charset="-127"/>
                          <a:cs typeface="Arial" panose="020B0604020202020204" pitchFamily="34" charset="0"/>
                        </a:rPr>
                        <a:t>-8192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591539"/>
                  </a:ext>
                </a:extLst>
              </a:tr>
            </a:tbl>
          </a:graphicData>
        </a:graphic>
      </p:graphicFrame>
      <p:sp>
        <p:nvSpPr>
          <p:cNvPr id="184490" name="Rectangle 170">
            <a:extLst>
              <a:ext uri="{FF2B5EF4-FFF2-40B4-BE49-F238E27FC236}">
                <a16:creationId xmlns:a16="http://schemas.microsoft.com/office/drawing/2014/main" id="{30B18820-0F2C-31E1-53DC-DDF5DD5125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44489" y="1152526"/>
            <a:ext cx="8291512" cy="647699"/>
          </a:xfrm>
          <a:noFill/>
          <a:ln/>
        </p:spPr>
        <p:txBody>
          <a:bodyPr>
            <a:normAutofit fontScale="92500"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All channels or each channel can be loaded manually with the entered DAC code</a:t>
            </a:r>
          </a:p>
          <a:p>
            <a:r>
              <a:rPr lang="en-US" altLang="ko-KR" dirty="0">
                <a:ea typeface="굴림" panose="020B0600000101010101" pitchFamily="34" charset="-127"/>
              </a:rPr>
              <a:t>The AD5379 accepts 14-bit data word format for the serial interface</a:t>
            </a:r>
          </a:p>
        </p:txBody>
      </p:sp>
      <p:sp>
        <p:nvSpPr>
          <p:cNvPr id="184324" name="Text Box 4">
            <a:extLst>
              <a:ext uri="{FF2B5EF4-FFF2-40B4-BE49-F238E27FC236}">
                <a16:creationId xmlns:a16="http://schemas.microsoft.com/office/drawing/2014/main" id="{601C2AEF-C752-E26F-F009-C8A04D447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09" y="709557"/>
            <a:ext cx="61769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1" dirty="0">
                <a:ea typeface="굴림" panose="020B0600000101010101" pitchFamily="34" charset="-127"/>
              </a:rPr>
              <a:t>B. Loading DAC Channels</a:t>
            </a:r>
            <a:endParaRPr lang="en-US" altLang="ko-KR" sz="1400" dirty="0">
              <a:ea typeface="굴림" panose="020B0600000101010101" pitchFamily="34" charset="-127"/>
            </a:endParaRPr>
          </a:p>
        </p:txBody>
      </p:sp>
      <p:pic>
        <p:nvPicPr>
          <p:cNvPr id="184330" name="Picture 10">
            <a:extLst>
              <a:ext uri="{FF2B5EF4-FFF2-40B4-BE49-F238E27FC236}">
                <a16:creationId xmlns:a16="http://schemas.microsoft.com/office/drawing/2014/main" id="{D7E68555-A084-E0FB-7559-9C3ADDE74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179" y="2107011"/>
            <a:ext cx="2524125" cy="174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492" name="Rectangle 172">
            <a:extLst>
              <a:ext uri="{FF2B5EF4-FFF2-40B4-BE49-F238E27FC236}">
                <a16:creationId xmlns:a16="http://schemas.microsoft.com/office/drawing/2014/main" id="{04DF8D69-06F8-5DE4-E54C-FE64458C4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4090987"/>
            <a:ext cx="7359650" cy="404813"/>
          </a:xfrm>
          <a:prstGeom prst="rect">
            <a:avLst/>
          </a:prstGeom>
          <a:noFill/>
          <a:ln/>
        </p:spPr>
        <p:txBody>
          <a:bodyPr vert="horz" lIns="0" tIns="0" rIns="0" bIns="0" rtlCol="0">
            <a:normAutofit/>
          </a:bodyPr>
          <a:lstStyle/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The hexadecimal code can be decoded as follows:</a:t>
            </a:r>
          </a:p>
        </p:txBody>
      </p:sp>
      <p:graphicFrame>
        <p:nvGraphicFramePr>
          <p:cNvPr id="2" name="Object 173">
            <a:extLst>
              <a:ext uri="{FF2B5EF4-FFF2-40B4-BE49-F238E27FC236}">
                <a16:creationId xmlns:a16="http://schemas.microsoft.com/office/drawing/2014/main" id="{3FC165C3-690C-500D-15BF-84C358DD3B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859490"/>
              </p:ext>
            </p:extLst>
          </p:nvPr>
        </p:nvGraphicFramePr>
        <p:xfrm>
          <a:off x="2168524" y="4356481"/>
          <a:ext cx="3483373" cy="517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82900" imgH="431800" progId="Equation.DSMT4">
                  <p:embed/>
                </p:oleObj>
              </mc:Choice>
              <mc:Fallback>
                <p:oleObj name="Equation" r:id="rId4" imgW="2882900" imgH="431800" progId="Equation.DSMT4">
                  <p:embed/>
                  <p:pic>
                    <p:nvPicPr>
                      <p:cNvPr id="2" name="Object 173">
                        <a:extLst>
                          <a:ext uri="{FF2B5EF4-FFF2-40B4-BE49-F238E27FC236}">
                            <a16:creationId xmlns:a16="http://schemas.microsoft.com/office/drawing/2014/main" id="{3FC165C3-690C-500D-15BF-84C358DD3B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4" y="4356481"/>
                        <a:ext cx="3483373" cy="5173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Rectangle 3">
            <a:extLst>
              <a:ext uri="{FF2B5EF4-FFF2-40B4-BE49-F238E27FC236}">
                <a16:creationId xmlns:a16="http://schemas.microsoft.com/office/drawing/2014/main" id="{5087BE2E-BA68-3492-E4F1-C0EEFF9FB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V. Experimental Results</a:t>
            </a:r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FB779605-72FE-EA67-D018-F41D349E86A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0"/>
            <a:ext cx="8641655" cy="849359"/>
          </a:xfrm>
        </p:spPr>
        <p:txBody>
          <a:bodyPr>
            <a:normAutofit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Optical testing was carried out using the amplified spontaneous emission (ASE) from a broadband light source of an erbium-doped fiber pumped by a 980 nm laser diode 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131076" name="Text Box 4">
            <a:extLst>
              <a:ext uri="{FF2B5EF4-FFF2-40B4-BE49-F238E27FC236}">
                <a16:creationId xmlns:a16="http://schemas.microsoft.com/office/drawing/2014/main" id="{81597F79-03BB-230F-DF3C-13DE81228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540" y="681571"/>
            <a:ext cx="61769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1" dirty="0">
                <a:ea typeface="굴림" panose="020B0600000101010101" pitchFamily="34" charset="-127"/>
              </a:rPr>
              <a:t>A. </a:t>
            </a:r>
            <a:r>
              <a:rPr lang="en-US" altLang="en-US" sz="1400" b="1" noProof="1"/>
              <a:t>Experimental Configuration</a:t>
            </a:r>
            <a:endParaRPr lang="en-US" altLang="ko-KR" sz="1400" b="1" dirty="0">
              <a:ea typeface="굴림" panose="020B0600000101010101" pitchFamily="34" charset="-127"/>
            </a:endParaRPr>
          </a:p>
        </p:txBody>
      </p:sp>
      <p:grpSp>
        <p:nvGrpSpPr>
          <p:cNvPr id="131079" name="Group 7">
            <a:extLst>
              <a:ext uri="{FF2B5EF4-FFF2-40B4-BE49-F238E27FC236}">
                <a16:creationId xmlns:a16="http://schemas.microsoft.com/office/drawing/2014/main" id="{62A99F89-62C8-E515-9FBA-C81F014F7D24}"/>
              </a:ext>
            </a:extLst>
          </p:cNvPr>
          <p:cNvGrpSpPr>
            <a:grpSpLocks/>
          </p:cNvGrpSpPr>
          <p:nvPr/>
        </p:nvGrpSpPr>
        <p:grpSpPr bwMode="auto">
          <a:xfrm>
            <a:off x="1203722" y="2025253"/>
            <a:ext cx="4580334" cy="1259681"/>
            <a:chOff x="811" y="1514"/>
            <a:chExt cx="3847" cy="1058"/>
          </a:xfrm>
        </p:grpSpPr>
        <p:sp>
          <p:nvSpPr>
            <p:cNvPr id="131080" name="Line 8">
              <a:extLst>
                <a:ext uri="{FF2B5EF4-FFF2-40B4-BE49-F238E27FC236}">
                  <a16:creationId xmlns:a16="http://schemas.microsoft.com/office/drawing/2014/main" id="{64426980-3601-CE54-7C34-34F83AA5D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706"/>
              <a:ext cx="0" cy="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31081" name="Line 9">
              <a:extLst>
                <a:ext uri="{FF2B5EF4-FFF2-40B4-BE49-F238E27FC236}">
                  <a16:creationId xmlns:a16="http://schemas.microsoft.com/office/drawing/2014/main" id="{69562366-C53F-F2FB-E16C-B78FA6539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5" y="2118"/>
              <a:ext cx="1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31082" name="Line 10">
              <a:extLst>
                <a:ext uri="{FF2B5EF4-FFF2-40B4-BE49-F238E27FC236}">
                  <a16:creationId xmlns:a16="http://schemas.microsoft.com/office/drawing/2014/main" id="{3578DBDE-07F7-FED7-D33B-C0E7C2311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3" y="2118"/>
              <a:ext cx="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31083" name="Line 11">
              <a:extLst>
                <a:ext uri="{FF2B5EF4-FFF2-40B4-BE49-F238E27FC236}">
                  <a16:creationId xmlns:a16="http://schemas.microsoft.com/office/drawing/2014/main" id="{FE85C197-A424-B472-A103-B3DC5A89C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" y="2118"/>
              <a:ext cx="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31084" name="Rectangle 12">
              <a:extLst>
                <a:ext uri="{FF2B5EF4-FFF2-40B4-BE49-F238E27FC236}">
                  <a16:creationId xmlns:a16="http://schemas.microsoft.com/office/drawing/2014/main" id="{A5C29DBC-3F7B-33BB-C9BE-867413EC3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" y="2240"/>
              <a:ext cx="340" cy="8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31085" name="Freeform 13">
              <a:extLst>
                <a:ext uri="{FF2B5EF4-FFF2-40B4-BE49-F238E27FC236}">
                  <a16:creationId xmlns:a16="http://schemas.microsoft.com/office/drawing/2014/main" id="{D1E731DF-9B9B-A9B2-A513-F699DE922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118"/>
              <a:ext cx="244" cy="141"/>
            </a:xfrm>
            <a:custGeom>
              <a:avLst/>
              <a:gdLst>
                <a:gd name="T0" fmla="*/ 8 w 697"/>
                <a:gd name="T1" fmla="*/ 1 h 498"/>
                <a:gd name="T2" fmla="*/ 214 w 697"/>
                <a:gd name="T3" fmla="*/ 62 h 498"/>
                <a:gd name="T4" fmla="*/ 305 w 697"/>
                <a:gd name="T5" fmla="*/ 133 h 498"/>
                <a:gd name="T6" fmla="*/ 372 w 697"/>
                <a:gd name="T7" fmla="*/ 249 h 498"/>
                <a:gd name="T8" fmla="*/ 448 w 697"/>
                <a:gd name="T9" fmla="*/ 389 h 498"/>
                <a:gd name="T10" fmla="*/ 556 w 697"/>
                <a:gd name="T11" fmla="*/ 457 h 498"/>
                <a:gd name="T12" fmla="*/ 688 w 697"/>
                <a:gd name="T13" fmla="*/ 497 h 498"/>
                <a:gd name="T14" fmla="*/ 504 w 697"/>
                <a:gd name="T15" fmla="*/ 465 h 498"/>
                <a:gd name="T16" fmla="*/ 384 w 697"/>
                <a:gd name="T17" fmla="*/ 397 h 498"/>
                <a:gd name="T18" fmla="*/ 308 w 697"/>
                <a:gd name="T19" fmla="*/ 257 h 498"/>
                <a:gd name="T20" fmla="*/ 252 w 697"/>
                <a:gd name="T21" fmla="*/ 149 h 498"/>
                <a:gd name="T22" fmla="*/ 164 w 697"/>
                <a:gd name="T23" fmla="*/ 69 h 498"/>
                <a:gd name="T24" fmla="*/ 8 w 697"/>
                <a:gd name="T25" fmla="*/ 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7" h="498">
                  <a:moveTo>
                    <a:pt x="8" y="1"/>
                  </a:moveTo>
                  <a:cubicBezTo>
                    <a:pt x="16" y="0"/>
                    <a:pt x="165" y="40"/>
                    <a:pt x="214" y="62"/>
                  </a:cubicBezTo>
                  <a:cubicBezTo>
                    <a:pt x="263" y="84"/>
                    <a:pt x="279" y="102"/>
                    <a:pt x="305" y="133"/>
                  </a:cubicBezTo>
                  <a:cubicBezTo>
                    <a:pt x="331" y="164"/>
                    <a:pt x="348" y="206"/>
                    <a:pt x="372" y="249"/>
                  </a:cubicBezTo>
                  <a:cubicBezTo>
                    <a:pt x="396" y="292"/>
                    <a:pt x="417" y="354"/>
                    <a:pt x="448" y="389"/>
                  </a:cubicBezTo>
                  <a:cubicBezTo>
                    <a:pt x="479" y="424"/>
                    <a:pt x="516" y="439"/>
                    <a:pt x="556" y="457"/>
                  </a:cubicBezTo>
                  <a:cubicBezTo>
                    <a:pt x="596" y="475"/>
                    <a:pt x="697" y="496"/>
                    <a:pt x="688" y="497"/>
                  </a:cubicBezTo>
                  <a:cubicBezTo>
                    <a:pt x="679" y="498"/>
                    <a:pt x="555" y="482"/>
                    <a:pt x="504" y="465"/>
                  </a:cubicBezTo>
                  <a:cubicBezTo>
                    <a:pt x="453" y="448"/>
                    <a:pt x="417" y="432"/>
                    <a:pt x="384" y="397"/>
                  </a:cubicBezTo>
                  <a:cubicBezTo>
                    <a:pt x="351" y="362"/>
                    <a:pt x="330" y="298"/>
                    <a:pt x="308" y="257"/>
                  </a:cubicBezTo>
                  <a:cubicBezTo>
                    <a:pt x="286" y="216"/>
                    <a:pt x="276" y="180"/>
                    <a:pt x="252" y="149"/>
                  </a:cubicBezTo>
                  <a:cubicBezTo>
                    <a:pt x="228" y="118"/>
                    <a:pt x="205" y="94"/>
                    <a:pt x="164" y="69"/>
                  </a:cubicBezTo>
                  <a:cubicBezTo>
                    <a:pt x="123" y="44"/>
                    <a:pt x="0" y="2"/>
                    <a:pt x="8" y="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31086" name="Freeform 14">
              <a:extLst>
                <a:ext uri="{FF2B5EF4-FFF2-40B4-BE49-F238E27FC236}">
                  <a16:creationId xmlns:a16="http://schemas.microsoft.com/office/drawing/2014/main" id="{6FA63983-5EC6-FA87-20F2-449DE11F2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2300"/>
              <a:ext cx="244" cy="141"/>
            </a:xfrm>
            <a:custGeom>
              <a:avLst/>
              <a:gdLst>
                <a:gd name="T0" fmla="*/ 8 w 697"/>
                <a:gd name="T1" fmla="*/ 1 h 498"/>
                <a:gd name="T2" fmla="*/ 214 w 697"/>
                <a:gd name="T3" fmla="*/ 62 h 498"/>
                <a:gd name="T4" fmla="*/ 305 w 697"/>
                <a:gd name="T5" fmla="*/ 133 h 498"/>
                <a:gd name="T6" fmla="*/ 372 w 697"/>
                <a:gd name="T7" fmla="*/ 249 h 498"/>
                <a:gd name="T8" fmla="*/ 448 w 697"/>
                <a:gd name="T9" fmla="*/ 389 h 498"/>
                <a:gd name="T10" fmla="*/ 556 w 697"/>
                <a:gd name="T11" fmla="*/ 457 h 498"/>
                <a:gd name="T12" fmla="*/ 688 w 697"/>
                <a:gd name="T13" fmla="*/ 497 h 498"/>
                <a:gd name="T14" fmla="*/ 504 w 697"/>
                <a:gd name="T15" fmla="*/ 465 h 498"/>
                <a:gd name="T16" fmla="*/ 384 w 697"/>
                <a:gd name="T17" fmla="*/ 397 h 498"/>
                <a:gd name="T18" fmla="*/ 308 w 697"/>
                <a:gd name="T19" fmla="*/ 257 h 498"/>
                <a:gd name="T20" fmla="*/ 252 w 697"/>
                <a:gd name="T21" fmla="*/ 149 h 498"/>
                <a:gd name="T22" fmla="*/ 164 w 697"/>
                <a:gd name="T23" fmla="*/ 69 h 498"/>
                <a:gd name="T24" fmla="*/ 8 w 697"/>
                <a:gd name="T25" fmla="*/ 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7" h="498">
                  <a:moveTo>
                    <a:pt x="8" y="1"/>
                  </a:moveTo>
                  <a:cubicBezTo>
                    <a:pt x="16" y="0"/>
                    <a:pt x="165" y="40"/>
                    <a:pt x="214" y="62"/>
                  </a:cubicBezTo>
                  <a:cubicBezTo>
                    <a:pt x="263" y="84"/>
                    <a:pt x="279" y="102"/>
                    <a:pt x="305" y="133"/>
                  </a:cubicBezTo>
                  <a:cubicBezTo>
                    <a:pt x="331" y="164"/>
                    <a:pt x="348" y="206"/>
                    <a:pt x="372" y="249"/>
                  </a:cubicBezTo>
                  <a:cubicBezTo>
                    <a:pt x="396" y="292"/>
                    <a:pt x="417" y="354"/>
                    <a:pt x="448" y="389"/>
                  </a:cubicBezTo>
                  <a:cubicBezTo>
                    <a:pt x="479" y="424"/>
                    <a:pt x="516" y="439"/>
                    <a:pt x="556" y="457"/>
                  </a:cubicBezTo>
                  <a:cubicBezTo>
                    <a:pt x="596" y="475"/>
                    <a:pt x="697" y="496"/>
                    <a:pt x="688" y="497"/>
                  </a:cubicBezTo>
                  <a:cubicBezTo>
                    <a:pt x="679" y="498"/>
                    <a:pt x="555" y="482"/>
                    <a:pt x="504" y="465"/>
                  </a:cubicBezTo>
                  <a:cubicBezTo>
                    <a:pt x="453" y="448"/>
                    <a:pt x="417" y="432"/>
                    <a:pt x="384" y="397"/>
                  </a:cubicBezTo>
                  <a:cubicBezTo>
                    <a:pt x="351" y="362"/>
                    <a:pt x="330" y="298"/>
                    <a:pt x="308" y="257"/>
                  </a:cubicBezTo>
                  <a:cubicBezTo>
                    <a:pt x="286" y="216"/>
                    <a:pt x="276" y="180"/>
                    <a:pt x="252" y="149"/>
                  </a:cubicBezTo>
                  <a:cubicBezTo>
                    <a:pt x="228" y="118"/>
                    <a:pt x="205" y="94"/>
                    <a:pt x="164" y="69"/>
                  </a:cubicBezTo>
                  <a:cubicBezTo>
                    <a:pt x="123" y="44"/>
                    <a:pt x="0" y="2"/>
                    <a:pt x="8" y="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31087" name="Freeform 15">
              <a:extLst>
                <a:ext uri="{FF2B5EF4-FFF2-40B4-BE49-F238E27FC236}">
                  <a16:creationId xmlns:a16="http://schemas.microsoft.com/office/drawing/2014/main" id="{82696FF5-C813-6C75-DB13-A8590171B19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74" y="2118"/>
              <a:ext cx="244" cy="141"/>
            </a:xfrm>
            <a:custGeom>
              <a:avLst/>
              <a:gdLst>
                <a:gd name="T0" fmla="*/ 8 w 697"/>
                <a:gd name="T1" fmla="*/ 1 h 498"/>
                <a:gd name="T2" fmla="*/ 214 w 697"/>
                <a:gd name="T3" fmla="*/ 62 h 498"/>
                <a:gd name="T4" fmla="*/ 305 w 697"/>
                <a:gd name="T5" fmla="*/ 133 h 498"/>
                <a:gd name="T6" fmla="*/ 372 w 697"/>
                <a:gd name="T7" fmla="*/ 249 h 498"/>
                <a:gd name="T8" fmla="*/ 448 w 697"/>
                <a:gd name="T9" fmla="*/ 389 h 498"/>
                <a:gd name="T10" fmla="*/ 556 w 697"/>
                <a:gd name="T11" fmla="*/ 457 h 498"/>
                <a:gd name="T12" fmla="*/ 688 w 697"/>
                <a:gd name="T13" fmla="*/ 497 h 498"/>
                <a:gd name="T14" fmla="*/ 504 w 697"/>
                <a:gd name="T15" fmla="*/ 465 h 498"/>
                <a:gd name="T16" fmla="*/ 384 w 697"/>
                <a:gd name="T17" fmla="*/ 397 h 498"/>
                <a:gd name="T18" fmla="*/ 308 w 697"/>
                <a:gd name="T19" fmla="*/ 257 h 498"/>
                <a:gd name="T20" fmla="*/ 252 w 697"/>
                <a:gd name="T21" fmla="*/ 149 h 498"/>
                <a:gd name="T22" fmla="*/ 164 w 697"/>
                <a:gd name="T23" fmla="*/ 69 h 498"/>
                <a:gd name="T24" fmla="*/ 8 w 697"/>
                <a:gd name="T25" fmla="*/ 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7" h="498">
                  <a:moveTo>
                    <a:pt x="8" y="1"/>
                  </a:moveTo>
                  <a:cubicBezTo>
                    <a:pt x="16" y="0"/>
                    <a:pt x="165" y="40"/>
                    <a:pt x="214" y="62"/>
                  </a:cubicBezTo>
                  <a:cubicBezTo>
                    <a:pt x="263" y="84"/>
                    <a:pt x="279" y="102"/>
                    <a:pt x="305" y="133"/>
                  </a:cubicBezTo>
                  <a:cubicBezTo>
                    <a:pt x="331" y="164"/>
                    <a:pt x="348" y="206"/>
                    <a:pt x="372" y="249"/>
                  </a:cubicBezTo>
                  <a:cubicBezTo>
                    <a:pt x="396" y="292"/>
                    <a:pt x="417" y="354"/>
                    <a:pt x="448" y="389"/>
                  </a:cubicBezTo>
                  <a:cubicBezTo>
                    <a:pt x="479" y="424"/>
                    <a:pt x="516" y="439"/>
                    <a:pt x="556" y="457"/>
                  </a:cubicBezTo>
                  <a:cubicBezTo>
                    <a:pt x="596" y="475"/>
                    <a:pt x="697" y="496"/>
                    <a:pt x="688" y="497"/>
                  </a:cubicBezTo>
                  <a:cubicBezTo>
                    <a:pt x="679" y="498"/>
                    <a:pt x="555" y="482"/>
                    <a:pt x="504" y="465"/>
                  </a:cubicBezTo>
                  <a:cubicBezTo>
                    <a:pt x="453" y="448"/>
                    <a:pt x="417" y="432"/>
                    <a:pt x="384" y="397"/>
                  </a:cubicBezTo>
                  <a:cubicBezTo>
                    <a:pt x="351" y="362"/>
                    <a:pt x="330" y="298"/>
                    <a:pt x="308" y="257"/>
                  </a:cubicBezTo>
                  <a:cubicBezTo>
                    <a:pt x="286" y="216"/>
                    <a:pt x="276" y="180"/>
                    <a:pt x="252" y="149"/>
                  </a:cubicBezTo>
                  <a:cubicBezTo>
                    <a:pt x="228" y="118"/>
                    <a:pt x="205" y="94"/>
                    <a:pt x="164" y="69"/>
                  </a:cubicBezTo>
                  <a:cubicBezTo>
                    <a:pt x="123" y="44"/>
                    <a:pt x="0" y="2"/>
                    <a:pt x="8" y="1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31088" name="Text Box 16">
              <a:extLst>
                <a:ext uri="{FF2B5EF4-FFF2-40B4-BE49-F238E27FC236}">
                  <a16:creationId xmlns:a16="http://schemas.microsoft.com/office/drawing/2014/main" id="{72E1A6B2-7684-5B5E-B885-8B727A7A9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1917"/>
              <a:ext cx="93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Erbium doped fiber</a:t>
              </a:r>
            </a:p>
          </p:txBody>
        </p:sp>
        <p:sp>
          <p:nvSpPr>
            <p:cNvPr id="131089" name="Text Box 17">
              <a:extLst>
                <a:ext uri="{FF2B5EF4-FFF2-40B4-BE49-F238E27FC236}">
                  <a16:creationId xmlns:a16="http://schemas.microsoft.com/office/drawing/2014/main" id="{F7E5A031-D34D-A6B6-0102-94B45E2A2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2030"/>
              <a:ext cx="69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2</a:t>
              </a: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2 coupler</a:t>
              </a:r>
            </a:p>
          </p:txBody>
        </p:sp>
        <p:sp>
          <p:nvSpPr>
            <p:cNvPr id="131090" name="Rectangle 18">
              <a:extLst>
                <a:ext uri="{FF2B5EF4-FFF2-40B4-BE49-F238E27FC236}">
                  <a16:creationId xmlns:a16="http://schemas.microsoft.com/office/drawing/2014/main" id="{5E576244-71AA-3B8A-2805-C0738E6FC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317"/>
              <a:ext cx="454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980 nm </a:t>
              </a:r>
              <a:b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</a:b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pump laser</a:t>
              </a:r>
            </a:p>
          </p:txBody>
        </p:sp>
        <p:sp>
          <p:nvSpPr>
            <p:cNvPr id="131091" name="Rectangle 19">
              <a:extLst>
                <a:ext uri="{FF2B5EF4-FFF2-40B4-BE49-F238E27FC236}">
                  <a16:creationId xmlns:a16="http://schemas.microsoft.com/office/drawing/2014/main" id="{8DF858F4-15D3-112D-342B-645A71F25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046"/>
              <a:ext cx="292" cy="1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31092" name="AutoShape 20">
              <a:extLst>
                <a:ext uri="{FF2B5EF4-FFF2-40B4-BE49-F238E27FC236}">
                  <a16:creationId xmlns:a16="http://schemas.microsoft.com/office/drawing/2014/main" id="{79F92DEC-3D14-B862-8706-541FF518C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078"/>
              <a:ext cx="284" cy="85"/>
            </a:xfrm>
            <a:prstGeom prst="rightArrow">
              <a:avLst>
                <a:gd name="adj1" fmla="val 50000"/>
                <a:gd name="adj2" fmla="val 83529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31093" name="Text Box 21">
              <a:extLst>
                <a:ext uri="{FF2B5EF4-FFF2-40B4-BE49-F238E27FC236}">
                  <a16:creationId xmlns:a16="http://schemas.microsoft.com/office/drawing/2014/main" id="{C97F8F2D-B442-BD03-6CC2-CB7D17DE8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8" y="1807"/>
              <a:ext cx="59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Polarizing</a:t>
              </a:r>
              <a:b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</a:b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fiber</a:t>
              </a:r>
            </a:p>
          </p:txBody>
        </p:sp>
        <p:sp>
          <p:nvSpPr>
            <p:cNvPr id="131094" name="Rectangle 22">
              <a:extLst>
                <a:ext uri="{FF2B5EF4-FFF2-40B4-BE49-F238E27FC236}">
                  <a16:creationId xmlns:a16="http://schemas.microsoft.com/office/drawing/2014/main" id="{71C4DE20-0D11-CB14-16D9-56863247E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2029"/>
              <a:ext cx="380" cy="17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EMF</a:t>
              </a:r>
            </a:p>
          </p:txBody>
        </p:sp>
        <p:sp>
          <p:nvSpPr>
            <p:cNvPr id="131095" name="Rectangle 23">
              <a:extLst>
                <a:ext uri="{FF2B5EF4-FFF2-40B4-BE49-F238E27FC236}">
                  <a16:creationId xmlns:a16="http://schemas.microsoft.com/office/drawing/2014/main" id="{E1BA23F3-5D3F-64D7-A4B1-4D17143DF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4" y="1898"/>
              <a:ext cx="624" cy="4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Optical</a:t>
              </a:r>
              <a:b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</a:b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 spectrum</a:t>
              </a:r>
              <a:b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</a:b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 analyzer</a:t>
              </a:r>
            </a:p>
          </p:txBody>
        </p:sp>
        <p:sp>
          <p:nvSpPr>
            <p:cNvPr id="131096" name="Oval 24">
              <a:extLst>
                <a:ext uri="{FF2B5EF4-FFF2-40B4-BE49-F238E27FC236}">
                  <a16:creationId xmlns:a16="http://schemas.microsoft.com/office/drawing/2014/main" id="{C711ED7A-125D-E6E6-E9DD-69BCE42CD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1960"/>
              <a:ext cx="142" cy="3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31097" name="Line 25">
              <a:extLst>
                <a:ext uri="{FF2B5EF4-FFF2-40B4-BE49-F238E27FC236}">
                  <a16:creationId xmlns:a16="http://schemas.microsoft.com/office/drawing/2014/main" id="{651E2EBA-DA32-E222-037D-CD06E1C19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5" y="2033"/>
              <a:ext cx="114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31098" name="Text Box 26">
              <a:extLst>
                <a:ext uri="{FF2B5EF4-FFF2-40B4-BE49-F238E27FC236}">
                  <a16:creationId xmlns:a16="http://schemas.microsoft.com/office/drawing/2014/main" id="{08FCC230-D62B-B7BF-9DD1-716F77EBD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1805"/>
              <a:ext cx="57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Analyzer</a:t>
              </a:r>
            </a:p>
          </p:txBody>
        </p:sp>
        <p:sp>
          <p:nvSpPr>
            <p:cNvPr id="131099" name="Oval 27">
              <a:extLst>
                <a:ext uri="{FF2B5EF4-FFF2-40B4-BE49-F238E27FC236}">
                  <a16:creationId xmlns:a16="http://schemas.microsoft.com/office/drawing/2014/main" id="{7ADA2BE3-311E-9388-17B1-384145F04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" y="1962"/>
              <a:ext cx="85" cy="3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131100" name="Text Box 28">
              <a:extLst>
                <a:ext uri="{FF2B5EF4-FFF2-40B4-BE49-F238E27FC236}">
                  <a16:creationId xmlns:a16="http://schemas.microsoft.com/office/drawing/2014/main" id="{D90832E2-7A74-88FD-B988-6446A7015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0" y="2245"/>
              <a:ext cx="38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Lens</a:t>
              </a:r>
            </a:p>
          </p:txBody>
        </p:sp>
        <p:sp>
          <p:nvSpPr>
            <p:cNvPr id="131101" name="Rectangle 29">
              <a:extLst>
                <a:ext uri="{FF2B5EF4-FFF2-40B4-BE49-F238E27FC236}">
                  <a16:creationId xmlns:a16="http://schemas.microsoft.com/office/drawing/2014/main" id="{CCDF1549-9BF6-04FD-6FB9-50464FF51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" y="1514"/>
              <a:ext cx="652" cy="2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Electronic</a:t>
              </a:r>
              <a:b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</a:b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</a:rPr>
                <a:t> driving circuits</a:t>
              </a:r>
            </a:p>
          </p:txBody>
        </p:sp>
        <p:sp>
          <p:nvSpPr>
            <p:cNvPr id="131102" name="Line 30">
              <a:extLst>
                <a:ext uri="{FF2B5EF4-FFF2-40B4-BE49-F238E27FC236}">
                  <a16:creationId xmlns:a16="http://schemas.microsoft.com/office/drawing/2014/main" id="{C4F0BAD2-0357-AE1D-3B1A-1138CCA563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01" y="1877"/>
              <a:ext cx="61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13"/>
            </a:p>
          </p:txBody>
        </p:sp>
        <p:sp>
          <p:nvSpPr>
            <p:cNvPr id="131103" name="Text Box 31">
              <a:extLst>
                <a:ext uri="{FF2B5EF4-FFF2-40B4-BE49-F238E27FC236}">
                  <a16:creationId xmlns:a16="http://schemas.microsoft.com/office/drawing/2014/main" id="{D0280A5C-63FA-B157-B215-3D43A4289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7" y="1805"/>
              <a:ext cx="31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8</a:t>
              </a:r>
              <a:endParaRPr lang="en-US" altLang="ko-KR" sz="900"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</p:grpSp>
      <p:sp>
        <p:nvSpPr>
          <p:cNvPr id="131104" name="Rectangle 32">
            <a:extLst>
              <a:ext uri="{FF2B5EF4-FFF2-40B4-BE49-F238E27FC236}">
                <a16:creationId xmlns:a16="http://schemas.microsoft.com/office/drawing/2014/main" id="{70982BA4-FEA6-83D7-19BF-F8D36844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601640"/>
            <a:ext cx="8695630" cy="780607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/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External electronic circuits drive 8 independent sets of electrodes by using a DAC array</a:t>
            </a:r>
          </a:p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The transmitted beam, after it passes through the EMF and the optical polarizer, is monitored with an optical spectrum analyzer</a:t>
            </a:r>
            <a:endParaRPr lang="ko-KR" altLang="en-US" sz="1800" dirty="0">
              <a:latin typeface="Arial" panose="020B0604020202020204" pitchFamily="34" charset="0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8" name="Text Box 12">
            <a:extLst>
              <a:ext uri="{FF2B5EF4-FFF2-40B4-BE49-F238E27FC236}">
                <a16:creationId xmlns:a16="http://schemas.microsoft.com/office/drawing/2014/main" id="{D6A1B889-20D1-579B-989D-F8A65F390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62" y="2483644"/>
            <a:ext cx="357188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1500">
                <a:latin typeface="Times New Roman" panose="02020603050405020304" pitchFamily="18" charset="0"/>
                <a:ea typeface="바탕" panose="02030600000101010101" pitchFamily="18" charset="-127"/>
              </a:rPr>
              <a:t>(a)</a:t>
            </a:r>
            <a:endParaRPr lang="en-US" altLang="ko-KR" sz="150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32109" name="Text Box 13">
            <a:extLst>
              <a:ext uri="{FF2B5EF4-FFF2-40B4-BE49-F238E27FC236}">
                <a16:creationId xmlns:a16="http://schemas.microsoft.com/office/drawing/2014/main" id="{047EE458-28B0-BFEF-1C00-76D97F006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4223" y="2516981"/>
            <a:ext cx="410765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1500">
                <a:latin typeface="Times New Roman" panose="02020603050405020304" pitchFamily="18" charset="0"/>
                <a:ea typeface="바탕" panose="02030600000101010101" pitchFamily="18" charset="-127"/>
              </a:rPr>
              <a:t>(b)</a:t>
            </a:r>
            <a:endParaRPr lang="en-US" altLang="ko-KR" sz="150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5FC581BA-7D04-ABC6-B39E-075C300DC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V. Experimental Results</a:t>
            </a:r>
          </a:p>
        </p:txBody>
      </p:sp>
      <p:sp>
        <p:nvSpPr>
          <p:cNvPr id="132113" name="Rectangle 17">
            <a:extLst>
              <a:ext uri="{FF2B5EF4-FFF2-40B4-BE49-F238E27FC236}">
                <a16:creationId xmlns:a16="http://schemas.microsoft.com/office/drawing/2014/main" id="{0689C720-3F03-8AD9-E173-2A8BB7ECF76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0"/>
            <a:ext cx="8641655" cy="763545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The optical output power spectra of EMF for TE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</a:t>
            </a:r>
            <a:r>
              <a:rPr lang="en-US" altLang="ko-KR" dirty="0">
                <a:ea typeface="굴림" panose="020B0600000101010101" pitchFamily="34" charset="-127"/>
              </a:rPr>
              <a:t>TM polarization conversion in the structure for two sidebands: (a) </a:t>
            </a:r>
            <a:r>
              <a:rPr lang="en-US" altLang="ko-KR" dirty="0" err="1">
                <a:ea typeface="굴림" panose="020B0600000101010101" pitchFamily="34" charset="-127"/>
              </a:rPr>
              <a:t>unapodized</a:t>
            </a:r>
            <a:r>
              <a:rPr lang="en-US" altLang="ko-KR" dirty="0">
                <a:ea typeface="굴림" panose="020B0600000101010101" pitchFamily="34" charset="-127"/>
              </a:rPr>
              <a:t> and (b) </a:t>
            </a:r>
            <a:r>
              <a:rPr lang="en-US" altLang="ko-KR" dirty="0" err="1">
                <a:ea typeface="굴림" panose="020B0600000101010101" pitchFamily="34" charset="-127"/>
              </a:rPr>
              <a:t>apodized</a:t>
            </a:r>
            <a:r>
              <a:rPr lang="en-US" altLang="ko-KR" dirty="0">
                <a:ea typeface="굴림" panose="020B0600000101010101" pitchFamily="34" charset="-127"/>
              </a:rPr>
              <a:t> filter responses of TM mode at channel 0</a:t>
            </a:r>
            <a:r>
              <a:rPr lang="en-US" altLang="ko-KR" sz="1350" dirty="0">
                <a:ea typeface="굴림" panose="020B0600000101010101" pitchFamily="34" charset="-127"/>
              </a:rPr>
              <a:t> </a:t>
            </a:r>
            <a:endParaRPr lang="ko-KR" altLang="en-US" sz="1350" dirty="0">
              <a:ea typeface="굴림" panose="020B0600000101010101" pitchFamily="34" charset="-127"/>
            </a:endParaRPr>
          </a:p>
        </p:txBody>
      </p:sp>
      <p:sp>
        <p:nvSpPr>
          <p:cNvPr id="132100" name="Text Box 4">
            <a:extLst>
              <a:ext uri="{FF2B5EF4-FFF2-40B4-BE49-F238E27FC236}">
                <a16:creationId xmlns:a16="http://schemas.microsoft.com/office/drawing/2014/main" id="{9418ED7D-C506-9E4C-971A-30A388CC3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683269"/>
            <a:ext cx="61769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1" dirty="0">
                <a:ea typeface="굴림" panose="020B0600000101010101" pitchFamily="34" charset="-127"/>
              </a:rPr>
              <a:t>B. </a:t>
            </a:r>
            <a:r>
              <a:rPr lang="en-US" altLang="en-US" sz="1400" b="1" noProof="1"/>
              <a:t>Test Results</a:t>
            </a:r>
            <a:endParaRPr lang="en-US" altLang="ko-KR" sz="1400" b="1" dirty="0">
              <a:ea typeface="굴림" panose="020B0600000101010101" pitchFamily="34" charset="-127"/>
            </a:endParaRPr>
          </a:p>
        </p:txBody>
      </p:sp>
      <p:pic>
        <p:nvPicPr>
          <p:cNvPr id="132103" name="Picture 7">
            <a:extLst>
              <a:ext uri="{FF2B5EF4-FFF2-40B4-BE49-F238E27FC236}">
                <a16:creationId xmlns:a16="http://schemas.microsoft.com/office/drawing/2014/main" id="{122BE0CE-FC14-C195-1165-66D65CC0B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650" y="1808560"/>
            <a:ext cx="2743200" cy="185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4" name="Picture 8">
            <a:extLst>
              <a:ext uri="{FF2B5EF4-FFF2-40B4-BE49-F238E27FC236}">
                <a16:creationId xmlns:a16="http://schemas.microsoft.com/office/drawing/2014/main" id="{0E598AAB-1409-72D1-128B-420A814D0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463" y="1808560"/>
            <a:ext cx="2743200" cy="185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2114" name="Rectangle 18">
                <a:extLst>
                  <a:ext uri="{FF2B5EF4-FFF2-40B4-BE49-F238E27FC236}">
                    <a16:creationId xmlns:a16="http://schemas.microsoft.com/office/drawing/2014/main" id="{25788874-5D56-1F11-8D31-E8105649F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520" y="3955257"/>
                <a:ext cx="7838380" cy="804068"/>
              </a:xfrm>
              <a:prstGeom prst="rect">
                <a:avLst/>
              </a:prstGeom>
              <a:noFill/>
              <a:ln/>
            </p:spPr>
            <p:txBody>
              <a:bodyPr vert="horz" lIns="0" tIns="0" rIns="0" bIns="0" rtlCol="0">
                <a:normAutofit fontScale="85000" lnSpcReduction="10000"/>
              </a:bodyPr>
              <a:lstStyle/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A uniform coupling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 13 V </a:t>
                </a:r>
              </a:p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The optical bandwidth (FWHM) of 0.8 nm is in close agreement with the calculated value </a:t>
                </a:r>
              </a:p>
              <a:p>
                <a:pPr marL="288000" indent="-288000" fontAlgn="base"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›"/>
                </a:pPr>
                <a:r>
                  <a:rPr lang="en-US" altLang="ko-KR" sz="1800" dirty="0">
                    <a:latin typeface="Arial" panose="020B0604020202020204" pitchFamily="34" charset="0"/>
                    <a:ea typeface="굴림" panose="020B0600000101010101" pitchFamily="34" charset="-127"/>
                    <a:cs typeface="Arial" panose="020B0604020202020204" pitchFamily="34" charset="0"/>
                  </a:rPr>
                  <a:t>A sidelobe suppression level better than –17 dB is achieved </a:t>
                </a:r>
                <a:endParaRPr lang="ko-KR" altLang="en-US" sz="1800" dirty="0">
                  <a:latin typeface="Arial" panose="020B0604020202020204" pitchFamily="34" charset="0"/>
                  <a:ea typeface="굴림" panose="020B0600000101010101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2114" name="Rectangle 18">
                <a:extLst>
                  <a:ext uri="{FF2B5EF4-FFF2-40B4-BE49-F238E27FC236}">
                    <a16:creationId xmlns:a16="http://schemas.microsoft.com/office/drawing/2014/main" id="{25788874-5D56-1F11-8D31-E8105649F3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3955257"/>
                <a:ext cx="7838380" cy="804068"/>
              </a:xfrm>
              <a:prstGeom prst="rect">
                <a:avLst/>
              </a:prstGeom>
              <a:blipFill>
                <a:blip r:embed="rId5"/>
                <a:stretch>
                  <a:fillRect l="-1400" t="-9848" r="-101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8" name="Text Box 12">
            <a:extLst>
              <a:ext uri="{FF2B5EF4-FFF2-40B4-BE49-F238E27FC236}">
                <a16:creationId xmlns:a16="http://schemas.microsoft.com/office/drawing/2014/main" id="{EA1E8A7C-0CF2-52BE-7049-992935E57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2774156"/>
            <a:ext cx="434579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1500">
                <a:latin typeface="Times New Roman" panose="02020603050405020304" pitchFamily="18" charset="0"/>
                <a:ea typeface="바탕" panose="02030600000101010101" pitchFamily="18" charset="-127"/>
              </a:rPr>
              <a:t>(c)</a:t>
            </a:r>
            <a:endParaRPr lang="en-US" altLang="ko-KR" sz="150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CC892687-430B-FFAB-4448-7C3DAB979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Test Result at Channel 0 Continued…</a:t>
            </a:r>
          </a:p>
        </p:txBody>
      </p:sp>
      <p:sp>
        <p:nvSpPr>
          <p:cNvPr id="162829" name="Rectangle 13">
            <a:extLst>
              <a:ext uri="{FF2B5EF4-FFF2-40B4-BE49-F238E27FC236}">
                <a16:creationId xmlns:a16="http://schemas.microsoft.com/office/drawing/2014/main" id="{72417047-91E1-E525-8A05-A3B053B7CB9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noFill/>
          <a:ln/>
        </p:spPr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The optical output power spectra of EMF for TE</a:t>
            </a:r>
            <a:r>
              <a:rPr lang="en-US" altLang="ko-KR">
                <a:ea typeface="굴림" panose="020B0600000101010101" pitchFamily="34" charset="-127"/>
                <a:sym typeface="Symbol" panose="05050102010706020507" pitchFamily="18" charset="2"/>
              </a:rPr>
              <a:t></a:t>
            </a:r>
            <a:r>
              <a:rPr lang="en-US" altLang="ko-KR">
                <a:ea typeface="굴림" panose="020B0600000101010101" pitchFamily="34" charset="-127"/>
              </a:rPr>
              <a:t>TM polarization conversion in the structure for two sidebands: (c) apodized filter response of TE mode at channel 0 </a:t>
            </a:r>
            <a:endParaRPr lang="ko-KR" altLang="en-US">
              <a:ea typeface="굴림" panose="020B0600000101010101" pitchFamily="34" charset="-127"/>
            </a:endParaRPr>
          </a:p>
        </p:txBody>
      </p:sp>
      <p:pic>
        <p:nvPicPr>
          <p:cNvPr id="162824" name="Picture 8">
            <a:extLst>
              <a:ext uri="{FF2B5EF4-FFF2-40B4-BE49-F238E27FC236}">
                <a16:creationId xmlns:a16="http://schemas.microsoft.com/office/drawing/2014/main" id="{D324E9B0-A6B7-1A12-DFD5-0D587F703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969" y="2172892"/>
            <a:ext cx="2743200" cy="185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81" name="Text Box 13">
            <a:extLst>
              <a:ext uri="{FF2B5EF4-FFF2-40B4-BE49-F238E27FC236}">
                <a16:creationId xmlns:a16="http://schemas.microsoft.com/office/drawing/2014/main" id="{97F110AE-7954-0633-7BAC-05103AE8C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2683272"/>
            <a:ext cx="404813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1500">
                <a:latin typeface="Times New Roman" panose="02020603050405020304" pitchFamily="18" charset="0"/>
                <a:ea typeface="바탕" panose="02030600000101010101" pitchFamily="18" charset="-127"/>
              </a:rPr>
              <a:t>(d)</a:t>
            </a:r>
            <a:endParaRPr lang="en-US" altLang="ko-KR" sz="150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60782" name="Text Box 14">
            <a:extLst>
              <a:ext uri="{FF2B5EF4-FFF2-40B4-BE49-F238E27FC236}">
                <a16:creationId xmlns:a16="http://schemas.microsoft.com/office/drawing/2014/main" id="{8BF89FC1-FFF3-2D97-10FB-CF646927D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0" y="2696369"/>
            <a:ext cx="410766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1500">
                <a:latin typeface="Times New Roman" panose="02020603050405020304" pitchFamily="18" charset="0"/>
                <a:ea typeface="바탕" panose="02030600000101010101" pitchFamily="18" charset="-127"/>
              </a:rPr>
              <a:t>(e)</a:t>
            </a:r>
            <a:endParaRPr lang="en-US" altLang="ko-KR" sz="150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543CE2E1-DE32-F062-F8EB-51A2AE9322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Test Results at Channel </a:t>
            </a:r>
            <a:r>
              <a:rPr lang="en-US" altLang="ko-KR">
                <a:ea typeface="굴림" panose="020B0600000101010101" pitchFamily="34" charset="-127"/>
                <a:sym typeface="Symbol" panose="05050102010706020507" pitchFamily="18" charset="2"/>
              </a:rPr>
              <a:t></a:t>
            </a:r>
            <a:r>
              <a:rPr lang="en-US" altLang="ko-KR">
                <a:ea typeface="굴림" panose="020B0600000101010101" pitchFamily="34" charset="-127"/>
              </a:rPr>
              <a:t>1 and </a:t>
            </a:r>
            <a:r>
              <a:rPr lang="en-US" altLang="ko-KR">
                <a:ea typeface="굴림" panose="020B0600000101010101" pitchFamily="34" charset="-127"/>
                <a:sym typeface="Symbol" panose="05050102010706020507" pitchFamily="18" charset="2"/>
              </a:rPr>
              <a:t>2</a:t>
            </a:r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160777" name="Rectangle 9">
            <a:extLst>
              <a:ext uri="{FF2B5EF4-FFF2-40B4-BE49-F238E27FC236}">
                <a16:creationId xmlns:a16="http://schemas.microsoft.com/office/drawing/2014/main" id="{BC382FC1-E449-F9FC-F869-6C824C8E5BE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1"/>
            <a:ext cx="8641655" cy="882252"/>
          </a:xfrm>
        </p:spPr>
        <p:txBody>
          <a:bodyPr>
            <a:normAutofit fontScale="92500"/>
          </a:bodyPr>
          <a:lstStyle/>
          <a:p>
            <a:r>
              <a:rPr lang="en-US" altLang="ko-KR" dirty="0">
                <a:ea typeface="굴림" panose="020B0600000101010101" pitchFamily="34" charset="-127"/>
              </a:rPr>
              <a:t>The optical output power spectra of EMF for TE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</a:t>
            </a:r>
            <a:r>
              <a:rPr lang="en-US" altLang="ko-KR" dirty="0">
                <a:ea typeface="굴림" panose="020B0600000101010101" pitchFamily="34" charset="-127"/>
              </a:rPr>
              <a:t>TM polarization conversion in the structure for two sidebands: </a:t>
            </a:r>
            <a:br>
              <a:rPr lang="en-US" altLang="ko-KR" dirty="0">
                <a:ea typeface="굴림" panose="020B0600000101010101" pitchFamily="34" charset="-127"/>
              </a:rPr>
            </a:br>
            <a:r>
              <a:rPr lang="en-US" altLang="ko-KR" dirty="0">
                <a:ea typeface="굴림" panose="020B0600000101010101" pitchFamily="34" charset="-127"/>
              </a:rPr>
              <a:t>(d) </a:t>
            </a:r>
            <a:r>
              <a:rPr lang="en-US" altLang="ko-KR" dirty="0" err="1">
                <a:ea typeface="굴림" panose="020B0600000101010101" pitchFamily="34" charset="-127"/>
              </a:rPr>
              <a:t>apodized</a:t>
            </a:r>
            <a:r>
              <a:rPr lang="en-US" altLang="ko-KR" dirty="0">
                <a:ea typeface="굴림" panose="020B0600000101010101" pitchFamily="34" charset="-127"/>
              </a:rPr>
              <a:t> output power responses of TM mode at channel 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</a:t>
            </a:r>
            <a:r>
              <a:rPr lang="en-US" altLang="ko-KR" dirty="0">
                <a:ea typeface="굴림" panose="020B0600000101010101" pitchFamily="34" charset="-127"/>
              </a:rPr>
              <a:t>1 and (e) channel </a:t>
            </a:r>
            <a:r>
              <a:rPr lang="en-US" altLang="ko-KR" dirty="0">
                <a:ea typeface="굴림" panose="020B0600000101010101" pitchFamily="34" charset="-127"/>
                <a:sym typeface="Symbol" panose="05050102010706020507" pitchFamily="18" charset="2"/>
              </a:rPr>
              <a:t></a:t>
            </a:r>
            <a:r>
              <a:rPr lang="en-US" altLang="ko-KR" dirty="0">
                <a:ea typeface="굴림" panose="020B0600000101010101" pitchFamily="34" charset="-127"/>
              </a:rPr>
              <a:t>2 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pic>
        <p:nvPicPr>
          <p:cNvPr id="160779" name="Picture 11">
            <a:extLst>
              <a:ext uri="{FF2B5EF4-FFF2-40B4-BE49-F238E27FC236}">
                <a16:creationId xmlns:a16="http://schemas.microsoft.com/office/drawing/2014/main" id="{7673FE68-905B-7522-CB50-0596C209E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025" y="2008188"/>
            <a:ext cx="2743200" cy="185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780" name="Picture 12">
            <a:extLst>
              <a:ext uri="{FF2B5EF4-FFF2-40B4-BE49-F238E27FC236}">
                <a16:creationId xmlns:a16="http://schemas.microsoft.com/office/drawing/2014/main" id="{0CA676C3-CBC3-5DCA-49C3-BE3835D6C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838" y="2008188"/>
            <a:ext cx="2743200" cy="185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783" name="Rectangle 15">
            <a:extLst>
              <a:ext uri="{FF2B5EF4-FFF2-40B4-BE49-F238E27FC236}">
                <a16:creationId xmlns:a16="http://schemas.microsoft.com/office/drawing/2014/main" id="{F71F5D69-57D9-616A-32C6-B318637F5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4133851"/>
            <a:ext cx="7473950" cy="6988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88000" indent="-288000" fontAlgn="base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The filter performance of TM</a:t>
            </a: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TE polarization conversion is similar to that of TE</a:t>
            </a: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ko-KR" sz="1800" dirty="0"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TM conversion</a:t>
            </a:r>
            <a:endParaRPr lang="ko-KR" altLang="en-US" sz="1800" dirty="0">
              <a:latin typeface="Arial" panose="020B0604020202020204" pitchFamily="34" charset="0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50" name="Text Box 1434">
            <a:extLst>
              <a:ext uri="{FF2B5EF4-FFF2-40B4-BE49-F238E27FC236}">
                <a16:creationId xmlns:a16="http://schemas.microsoft.com/office/drawing/2014/main" id="{F6062B72-CBC6-821B-2117-64F9D1DE0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678385"/>
            <a:ext cx="342900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750">
                <a:latin typeface="바탕" panose="02030600000101010101" pitchFamily="18" charset="-127"/>
                <a:ea typeface="바탕" panose="02030600000101010101" pitchFamily="18" charset="-127"/>
              </a:rPr>
              <a:t>(a)</a:t>
            </a:r>
            <a:endParaRPr lang="en-US" altLang="ko-KR" sz="1013">
              <a:ea typeface="굴림" panose="020B0600000101010101" pitchFamily="34" charset="-127"/>
            </a:endParaRPr>
          </a:p>
        </p:txBody>
      </p:sp>
      <p:sp>
        <p:nvSpPr>
          <p:cNvPr id="189852" name="Text Box 1436">
            <a:extLst>
              <a:ext uri="{FF2B5EF4-FFF2-40B4-BE49-F238E27FC236}">
                <a16:creationId xmlns:a16="http://schemas.microsoft.com/office/drawing/2014/main" id="{EA2FF6CD-E95E-F3B4-CC99-4370D8887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623866"/>
            <a:ext cx="342900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750">
                <a:latin typeface="바탕" panose="02030600000101010101" pitchFamily="18" charset="-127"/>
                <a:ea typeface="바탕" panose="02030600000101010101" pitchFamily="18" charset="-127"/>
              </a:rPr>
              <a:t>(c)</a:t>
            </a:r>
            <a:endParaRPr lang="en-US" altLang="ko-KR" sz="1013">
              <a:ea typeface="굴림" panose="020B0600000101010101" pitchFamily="34" charset="-127"/>
            </a:endParaRPr>
          </a:p>
        </p:txBody>
      </p:sp>
      <p:sp>
        <p:nvSpPr>
          <p:cNvPr id="189851" name="Text Box 1435">
            <a:extLst>
              <a:ext uri="{FF2B5EF4-FFF2-40B4-BE49-F238E27FC236}">
                <a16:creationId xmlns:a16="http://schemas.microsoft.com/office/drawing/2014/main" id="{09AA1CE6-171E-052B-558A-FBFA4318B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651" y="1666479"/>
            <a:ext cx="342900" cy="257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ko-KR" sz="750">
                <a:latin typeface="바탕" panose="02030600000101010101" pitchFamily="18" charset="-127"/>
                <a:ea typeface="바탕" panose="02030600000101010101" pitchFamily="18" charset="-127"/>
              </a:rPr>
              <a:t>(b)</a:t>
            </a:r>
            <a:endParaRPr lang="en-US" altLang="ko-KR" sz="1013">
              <a:ea typeface="굴림" panose="020B0600000101010101" pitchFamily="34" charset="-127"/>
            </a:endParaRPr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D0CEC891-4412-3314-4BC0-D0C236FC9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Theoretical and Experimental Curves</a:t>
            </a:r>
          </a:p>
        </p:txBody>
      </p:sp>
      <p:pic>
        <p:nvPicPr>
          <p:cNvPr id="189846" name="Picture 1430">
            <a:extLst>
              <a:ext uri="{FF2B5EF4-FFF2-40B4-BE49-F238E27FC236}">
                <a16:creationId xmlns:a16="http://schemas.microsoft.com/office/drawing/2014/main" id="{3B6CF766-6BE3-4731-C394-8AD0B9103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58" y="754460"/>
            <a:ext cx="3095625" cy="209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847" name="Picture 1431">
            <a:extLst>
              <a:ext uri="{FF2B5EF4-FFF2-40B4-BE49-F238E27FC236}">
                <a16:creationId xmlns:a16="http://schemas.microsoft.com/office/drawing/2014/main" id="{EDC94F12-3D49-326C-7C65-3E6A26CD5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401" y="754460"/>
            <a:ext cx="3095625" cy="210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848" name="Picture 1432">
            <a:extLst>
              <a:ext uri="{FF2B5EF4-FFF2-40B4-BE49-F238E27FC236}">
                <a16:creationId xmlns:a16="http://schemas.microsoft.com/office/drawing/2014/main" id="{5124157C-CFB5-7475-D415-F04ED33BB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58" y="2814241"/>
            <a:ext cx="3095625" cy="210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9849" name="Rectangle 1433">
            <a:extLst>
              <a:ext uri="{FF2B5EF4-FFF2-40B4-BE49-F238E27FC236}">
                <a16:creationId xmlns:a16="http://schemas.microsoft.com/office/drawing/2014/main" id="{95281946-5B2A-9E74-E8CC-3A7C58C71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889" y="3269615"/>
            <a:ext cx="2632472" cy="1027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ko-KR" sz="1013">
                <a:ea typeface="굴림" panose="020B0600000101010101" pitchFamily="34" charset="-127"/>
                <a:sym typeface="Symbol" panose="05050102010706020507" pitchFamily="18" charset="2"/>
              </a:rPr>
              <a:t>Theoretical and experimental curves for apodized EMF</a:t>
            </a:r>
          </a:p>
          <a:p>
            <a:r>
              <a:rPr lang="en-US" altLang="ko-KR" sz="1013">
                <a:ea typeface="굴림" panose="020B0600000101010101" pitchFamily="34" charset="-127"/>
                <a:sym typeface="Symbol" panose="05050102010706020507" pitchFamily="18" charset="2"/>
              </a:rPr>
              <a:t>filter characteristic 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: </a:t>
            </a:r>
            <a:b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(a) at channel 0, </a:t>
            </a:r>
            <a:b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(b) at channel 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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1, </a:t>
            </a:r>
            <a:b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(c) at channel 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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</a:rPr>
              <a:t>2.</a:t>
            </a:r>
            <a:r>
              <a:rPr lang="en-US" altLang="ko-KR" sz="1013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3">
            <a:extLst>
              <a:ext uri="{FF2B5EF4-FFF2-40B4-BE49-F238E27FC236}">
                <a16:creationId xmlns:a16="http://schemas.microsoft.com/office/drawing/2014/main" id="{516E1305-25AF-FF9F-0B0C-785994126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VI. </a:t>
            </a:r>
            <a:r>
              <a:rPr lang="en-US" altLang="en-US" noProof="1"/>
              <a:t>C</a:t>
            </a:r>
            <a:r>
              <a:rPr lang="en-US" altLang="ko-KR">
                <a:ea typeface="굴림" panose="020B0600000101010101" pitchFamily="34" charset="-127"/>
              </a:rPr>
              <a:t>onclusions</a:t>
            </a:r>
          </a:p>
        </p:txBody>
      </p:sp>
      <p:sp>
        <p:nvSpPr>
          <p:cNvPr id="133127" name="Rectangle 7">
            <a:extLst>
              <a:ext uri="{FF2B5EF4-FFF2-40B4-BE49-F238E27FC236}">
                <a16:creationId xmlns:a16="http://schemas.microsoft.com/office/drawing/2014/main" id="{C4276786-0D16-9674-3382-19DAB35E717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951310"/>
            <a:ext cx="8641655" cy="36492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dirty="0">
                <a:ea typeface="굴림" panose="020B0600000101010101" pitchFamily="34" charset="-127"/>
              </a:rPr>
              <a:t>The EMF is designed for operation in the 1530 nm spectral regime</a:t>
            </a:r>
          </a:p>
          <a:p>
            <a:pPr>
              <a:lnSpc>
                <a:spcPct val="90000"/>
              </a:lnSpc>
            </a:pPr>
            <a:endParaRPr lang="ko-KR" altLang="en-US" sz="1400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400" dirty="0">
                <a:ea typeface="굴림" panose="020B0600000101010101" pitchFamily="34" charset="-127"/>
              </a:rPr>
              <a:t>The device utilizes TE↔TM polarization conversion in a single mode waveguide fabricated in LiNbO</a:t>
            </a:r>
            <a:r>
              <a:rPr lang="en-US" altLang="ko-KR" sz="1400" baseline="-25000" dirty="0">
                <a:ea typeface="굴림" panose="020B0600000101010101" pitchFamily="34" charset="-127"/>
              </a:rPr>
              <a:t>3</a:t>
            </a:r>
            <a:r>
              <a:rPr lang="en-US" altLang="ko-KR" sz="1400" dirty="0">
                <a:ea typeface="굴림" panose="020B0600000101010101" pitchFamily="34" charset="-127"/>
              </a:rPr>
              <a:t> by Ti diffusion</a:t>
            </a:r>
          </a:p>
          <a:p>
            <a:pPr>
              <a:lnSpc>
                <a:spcPct val="90000"/>
              </a:lnSpc>
            </a:pPr>
            <a:endParaRPr lang="ko-KR" altLang="en-US" sz="1400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400" dirty="0">
                <a:ea typeface="굴림" panose="020B0600000101010101" pitchFamily="34" charset="-127"/>
              </a:rPr>
              <a:t>The performance of EMF - inherently independent of the input polarization because of the reciprocal characteristic between TE and TM mode polarization conversion </a:t>
            </a:r>
          </a:p>
          <a:p>
            <a:pPr>
              <a:lnSpc>
                <a:spcPct val="90000"/>
              </a:lnSpc>
            </a:pPr>
            <a:endParaRPr lang="ko-KR" altLang="en-US" sz="1400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400" dirty="0">
                <a:ea typeface="굴림" panose="020B0600000101010101" pitchFamily="34" charset="-127"/>
              </a:rPr>
              <a:t>The spectral tuning range of 3.2 nm for 5 channels is demonstrated. More channels can be accommodated by increasing the number of electrode sets (e.g., if </a:t>
            </a:r>
            <a:r>
              <a:rPr lang="en-US" altLang="ko-KR" sz="1400" i="1" dirty="0">
                <a:ea typeface="굴림" panose="020B0600000101010101" pitchFamily="34" charset="-127"/>
              </a:rPr>
              <a:t>P </a:t>
            </a:r>
            <a:r>
              <a:rPr lang="en-US" altLang="ko-KR" sz="1400" dirty="0">
                <a:ea typeface="굴림" panose="020B0600000101010101" pitchFamily="34" charset="-127"/>
              </a:rPr>
              <a:t>= 198, then </a:t>
            </a:r>
            <a:r>
              <a:rPr lang="en-US" altLang="ko-KR" sz="1400" i="1" dirty="0">
                <a:ea typeface="굴림" panose="020B0600000101010101" pitchFamily="34" charset="-127"/>
              </a:rPr>
              <a:t>N </a:t>
            </a:r>
            <a:r>
              <a:rPr lang="en-US" altLang="ko-KR" sz="1400" dirty="0">
                <a:ea typeface="굴림" panose="020B0600000101010101" pitchFamily="34" charset="-127"/>
              </a:rPr>
              <a:t>= 100 ) with the length of the device unchanged</a:t>
            </a:r>
          </a:p>
          <a:p>
            <a:pPr>
              <a:lnSpc>
                <a:spcPct val="90000"/>
              </a:lnSpc>
            </a:pPr>
            <a:endParaRPr lang="en-US" altLang="ko-KR" sz="1400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400" dirty="0">
                <a:ea typeface="굴림" panose="020B0600000101010101" pitchFamily="34" charset="-127"/>
              </a:rPr>
              <a:t>A tuning speed of less than 50 ns was achieved previously in a LiNbO3 tunable filter, and similar fast tuning is expected in the EMF</a:t>
            </a:r>
          </a:p>
          <a:p>
            <a:pPr>
              <a:lnSpc>
                <a:spcPct val="90000"/>
              </a:lnSpc>
            </a:pPr>
            <a:endParaRPr lang="en-US" altLang="ko-KR" sz="1400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en-US" sz="1400" dirty="0"/>
              <a:t>Apodization improves the sidelobe suppression from –8.6 dB to –17.2 dB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3">
            <a:extLst>
              <a:ext uri="{FF2B5EF4-FFF2-40B4-BE49-F238E27FC236}">
                <a16:creationId xmlns:a16="http://schemas.microsoft.com/office/drawing/2014/main" id="{83777AA4-4563-D882-BAA9-D809569E7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VII. Recommendations</a:t>
            </a:r>
          </a:p>
        </p:txBody>
      </p:sp>
      <p:sp>
        <p:nvSpPr>
          <p:cNvPr id="134151" name="Rectangle 7">
            <a:extLst>
              <a:ext uri="{FF2B5EF4-FFF2-40B4-BE49-F238E27FC236}">
                <a16:creationId xmlns:a16="http://schemas.microsoft.com/office/drawing/2014/main" id="{5F2A3CD3-AD7B-8F23-1994-7B6D9C1855C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>
                <a:ea typeface="굴림" panose="020B0600000101010101" pitchFamily="34" charset="-127"/>
              </a:rPr>
              <a:t>The structure for single sideband with more than 8 electrode sets can realize good filter characteristics showing close agreement with prediction</a:t>
            </a:r>
            <a:endParaRPr lang="ko-KR" altLang="en-US" sz="1400" dirty="0">
              <a:ea typeface="굴림" panose="020B0600000101010101" pitchFamily="34" charset="-127"/>
            </a:endParaRP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r>
              <a:rPr lang="en-US" altLang="ko-KR" sz="1400" dirty="0">
                <a:ea typeface="굴림" panose="020B0600000101010101" pitchFamily="34" charset="-127"/>
              </a:rPr>
              <a:t>New electronic components to provide higher voltage supply can facilitate the experiments</a:t>
            </a:r>
          </a:p>
          <a:p>
            <a:endParaRPr lang="en-US" altLang="ko-KR" sz="1400" dirty="0">
              <a:ea typeface="굴림" panose="020B0600000101010101" pitchFamily="34" charset="-127"/>
            </a:endParaRPr>
          </a:p>
          <a:p>
            <a:r>
              <a:rPr lang="en-US" altLang="ko-KR" sz="1400" dirty="0">
                <a:ea typeface="굴림" panose="020B0600000101010101" pitchFamily="34" charset="-127"/>
              </a:rPr>
              <a:t>The EMF can be configured for a 4 port add-drop multiplexer and a two port bandpass filter of a Mach-Zehnder interferometer structure </a:t>
            </a:r>
          </a:p>
          <a:p>
            <a:endParaRPr lang="ko-KR" altLang="en-US" sz="1400" dirty="0">
              <a:ea typeface="굴림" panose="020B0600000101010101" pitchFamily="34" charset="-127"/>
            </a:endParaRPr>
          </a:p>
          <a:p>
            <a:r>
              <a:rPr lang="en-US" altLang="en-US" sz="1400" dirty="0"/>
              <a:t>The spectral tuning range of the EMF for coarse WDM application can be</a:t>
            </a:r>
            <a:r>
              <a:rPr lang="en-US" altLang="ko-KR" sz="1400" dirty="0">
                <a:ea typeface="굴림" panose="020B0600000101010101" pitchFamily="34" charset="-127"/>
              </a:rPr>
              <a:t> </a:t>
            </a:r>
            <a:r>
              <a:rPr lang="en-US" altLang="en-US" sz="1400" dirty="0"/>
              <a:t>improved by using a LiTaO3 substrate because the birefringence of</a:t>
            </a:r>
            <a:r>
              <a:rPr lang="en-US" altLang="ko-KR" sz="1400" dirty="0">
                <a:ea typeface="굴림" panose="020B0600000101010101" pitchFamily="34" charset="-127"/>
              </a:rPr>
              <a:t> </a:t>
            </a:r>
            <a:r>
              <a:rPr lang="en-US" altLang="en-US" sz="1400" dirty="0"/>
              <a:t>LiTaO</a:t>
            </a:r>
            <a:r>
              <a:rPr lang="en-US" altLang="ko-KR" sz="1400" baseline="-25000" dirty="0">
                <a:ea typeface="굴림" panose="020B0600000101010101" pitchFamily="34" charset="-127"/>
              </a:rPr>
              <a:t>3</a:t>
            </a:r>
            <a:r>
              <a:rPr lang="en-US" altLang="en-US" sz="1400" dirty="0"/>
              <a:t> is much</a:t>
            </a:r>
            <a:r>
              <a:rPr lang="en-US" altLang="ko-KR" sz="1400" dirty="0">
                <a:ea typeface="굴림" panose="020B0600000101010101" pitchFamily="34" charset="-127"/>
              </a:rPr>
              <a:t> </a:t>
            </a:r>
            <a:r>
              <a:rPr lang="en-US" altLang="en-US" sz="1400" dirty="0"/>
              <a:t>less than that of LiNbO</a:t>
            </a:r>
            <a:r>
              <a:rPr lang="en-US" altLang="ko-KR" sz="1400" baseline="-25000" dirty="0">
                <a:ea typeface="굴림" panose="020B0600000101010101" pitchFamily="34" charset="-127"/>
              </a:rPr>
              <a:t>3</a:t>
            </a:r>
            <a:endParaRPr lang="en-US" altLang="en-US" sz="1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FINEON_CATEGORY" val="{&quot;CategoryList&quot;:[],&quot;CategoryDictionary&quot;:{}}"/>
</p:tagLst>
</file>

<file path=ppt/theme/theme1.xml><?xml version="1.0" encoding="utf-8"?>
<a:theme xmlns:a="http://schemas.openxmlformats.org/drawingml/2006/main" name="2021">
  <a:themeElements>
    <a:clrScheme name="InfineonColors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Fonts">
      <a:majorFont>
        <a:latin typeface="Arial"/>
        <a:ea typeface=""/>
        <a:cs typeface="Verdana"/>
      </a:majorFont>
      <a:minorFont>
        <a:latin typeface="Arial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4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eaLnBrk="0" hangingPunct="0">
          <a:defRPr sz="1600" dirty="0" smtClean="0">
            <a:latin typeface="+mn-lt"/>
            <a:ea typeface="Verdana" pitchFamily="34" charset="0"/>
            <a:cs typeface="Verdana" pitchFamily="34" charset="0"/>
          </a:defRPr>
        </a:defPPr>
      </a:lst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none" lIns="0" tIns="0" rIns="0" bIns="0" rtlCol="0" anchor="ctr" anchorCtr="0">
        <a:spAutoFit/>
      </a:bodyPr>
      <a:lstStyle>
        <a:defPPr marL="285750" marR="0" indent="-285750" defTabSz="914400" eaLnBrk="0" fontAlgn="auto" latinLnBrk="0" hangingPunct="0">
          <a:spcBef>
            <a:spcPts val="0"/>
          </a:spcBef>
          <a:spcAft>
            <a:spcPts val="300"/>
          </a:spcAft>
          <a:buClr>
            <a:schemeClr val="accent1"/>
          </a:buClr>
          <a:buSzTx/>
          <a:buFont typeface="Arial" panose="020B0604020202020204" pitchFamily="34" charset="0"/>
          <a:buChar char="›"/>
          <a:tabLst/>
          <a:defRPr sz="1400" kern="0" dirty="0" smtClean="0">
            <a:latin typeface="Arial" panose="020B0604020202020204" pitchFamily="34" charset="0"/>
            <a:ea typeface="Verdana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E896296-E09A-41C4-9831-93D49B4493AA}" vid="{E0FB6992-A5AC-4984-979F-797A238FBC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22433</TotalTime>
  <Words>3817</Words>
  <Application>Microsoft Office PowerPoint</Application>
  <PresentationFormat>On-screen Show (16:9)</PresentationFormat>
  <Paragraphs>544</Paragraphs>
  <Slides>45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바탕</vt:lpstr>
      <vt:lpstr>굴림</vt:lpstr>
      <vt:lpstr>Arial</vt:lpstr>
      <vt:lpstr>Calibri</vt:lpstr>
      <vt:lpstr>Cambria Math</vt:lpstr>
      <vt:lpstr>Times New Roman</vt:lpstr>
      <vt:lpstr>Verdana</vt:lpstr>
      <vt:lpstr>Wingdings</vt:lpstr>
      <vt:lpstr>Wingdings 2</vt:lpstr>
      <vt:lpstr>2021</vt:lpstr>
      <vt:lpstr>Worksheet</vt:lpstr>
      <vt:lpstr>Equation</vt:lpstr>
      <vt:lpstr>PowerPoint Presentation</vt:lpstr>
      <vt:lpstr>Contents</vt:lpstr>
      <vt:lpstr>I. Introduction</vt:lpstr>
      <vt:lpstr>II. Mode Coupling in Optical Waveguide</vt:lpstr>
      <vt:lpstr>Wave Equation in Slab Waveguide</vt:lpstr>
      <vt:lpstr>TE and TM Modes</vt:lpstr>
      <vt:lpstr>II. Mode Coupling in Optical Waveguide</vt:lpstr>
      <vt:lpstr>Coupled Mode Theory Continued…</vt:lpstr>
      <vt:lpstr>Electrooptic Effect in a Uniaxial Crystal  </vt:lpstr>
      <vt:lpstr>Index Ellipsoid </vt:lpstr>
      <vt:lpstr>Index Ellipsoid of Uniaxial Crystal</vt:lpstr>
      <vt:lpstr>Electrooptic Tensor</vt:lpstr>
      <vt:lpstr>Axis transformation</vt:lpstr>
      <vt:lpstr>Axis transformation Continued…</vt:lpstr>
      <vt:lpstr>Axis transformation Continued…</vt:lpstr>
      <vt:lpstr>TE↔TM Mode Converter</vt:lpstr>
      <vt:lpstr>Solution of Coupled Mode Equations</vt:lpstr>
      <vt:lpstr>Power conversion over coupling length</vt:lpstr>
      <vt:lpstr>Power conversion over coupling length Continued…</vt:lpstr>
      <vt:lpstr>III. Design of Electrooptic Matched Filter</vt:lpstr>
      <vt:lpstr>Principal Characteristics of EMF Continued…</vt:lpstr>
      <vt:lpstr>III. Design of Electrooptic Matched Filter</vt:lpstr>
      <vt:lpstr>EMF Structure for Two Sidebands Continued…</vt:lpstr>
      <vt:lpstr>Coupling Strength Distribution</vt:lpstr>
      <vt:lpstr>Applied Voltages to Eight Sets of Electrodes</vt:lpstr>
      <vt:lpstr>The Ratio of Vjp to V0 – Two Sidebands</vt:lpstr>
      <vt:lpstr>III. Design of Electrooptic Matched Filter</vt:lpstr>
      <vt:lpstr>Coupling Strength Distribution</vt:lpstr>
      <vt:lpstr>Applied Voltages to Eight Sets of Electrodes</vt:lpstr>
      <vt:lpstr>The ratio of Vjp to V0 – Single Sideband</vt:lpstr>
      <vt:lpstr>III. Design of Electrooptic Matched Filter</vt:lpstr>
      <vt:lpstr>Matrix Formulation Continued…</vt:lpstr>
      <vt:lpstr>Conversion Matrix</vt:lpstr>
      <vt:lpstr>Simulation Result – Two Sidebands</vt:lpstr>
      <vt:lpstr>Matrix Formulation for Single Sideband</vt:lpstr>
      <vt:lpstr>IV. Electronic Driving Circuit for EMF</vt:lpstr>
      <vt:lpstr>Electronic Driving Circuit Configuration</vt:lpstr>
      <vt:lpstr>IV. Electronic Driving Circuit for EMF</vt:lpstr>
      <vt:lpstr>V. Experimental Results</vt:lpstr>
      <vt:lpstr>V. Experimental Results</vt:lpstr>
      <vt:lpstr>Test Result at Channel 0 Continued…</vt:lpstr>
      <vt:lpstr>Test Results at Channel 1 and 2</vt:lpstr>
      <vt:lpstr>Theoretical and Experimental Curves</vt:lpstr>
      <vt:lpstr>VI. Conclusions</vt:lpstr>
      <vt:lpstr>VII. Recommendations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Cypress Corporate Presentation Template</dc:title>
  <dc:creator>Cypress</dc:creator>
  <cp:keywords>Cypress PowerPoint Template</cp:keywords>
  <cp:lastModifiedBy>Ed Kim</cp:lastModifiedBy>
  <cp:revision>1031</cp:revision>
  <cp:lastPrinted>2026-01-15T14:46:19Z</cp:lastPrinted>
  <dcterms:created xsi:type="dcterms:W3CDTF">2016-09-11T22:21:54Z</dcterms:created>
  <dcterms:modified xsi:type="dcterms:W3CDTF">2026-01-15T14:46:40Z</dcterms:modified>
  <cp:category>Marketing Template</cp:category>
</cp:coreProperties>
</file>